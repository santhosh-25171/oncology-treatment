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76" r:id="rId3"/>
    <p:sldId id="277" r:id="rId4"/>
    <p:sldId id="256" r:id="rId5"/>
    <p:sldId id="257" r:id="rId7"/>
    <p:sldId id="258" r:id="rId8"/>
    <p:sldId id="259" r:id="rId9"/>
    <p:sldId id="260" r:id="rId10"/>
    <p:sldId id="261" r:id="rId11"/>
    <p:sldId id="275" r:id="rId12"/>
    <p:sldId id="300" r:id="rId13"/>
    <p:sldId id="262" r:id="rId14"/>
    <p:sldId id="274" r:id="rId15"/>
    <p:sldId id="301" r:id="rId16"/>
    <p:sldId id="30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 the tone: this is a mission, not a lecture. Speak slowly, like a control-room briefing. Do not mention 'Small Language Model' by name yet — let the story carry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the question out loud and pause. Let the room sit in the uncertainty for a few seconds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Take a real show-of-hands vote for A / B / C. Do not reveal which is correct — the reveal comes naturally two slides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Let students say 'no human can do this' in their own words before you reveal the ocean-blue statement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three example rows left to right before asking the closing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for a quick vote (Low / Moderate / Severe) before revealing the red SEVERE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7 already said we're using PEFT/LoRA Fine-Tuning — now zoom out and show all three types side by side before narrowing back in. Read each card's briefing example out loud; ask students to guess a fourth example for each type before revealing.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RAG/RLHF to one line each — they are context, not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Don't dwell equally on all techniques — the point is 'many strategies exist.' Spend most of the time on card 3, Instruction Fine-Tuning, since it's circled in gold and is exactly what the class builds together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 this pipeline live with the class — ask 'what should we check next?' after each 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Point at the duplicate row and the missing cell — let students name the problems before you label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back to Slide 9's messy table — this role fixes exactly what students just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Let students argue both sides — 'plausible' vs 'invented' — before naming the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slide where 'fine-tuning' finally gets a face — the SLM Engineer, not magic.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analogy: memorizing exam answers vs actually understanding the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offline app demo is the payoff moment — this is what all five roles were building toward.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full chain slowly, left to right, top row then bottom row — this is the 'aha' recap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Take the vote, then transition straight into the live code / offline app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bridge slide before opening the notebook / offline app for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asking students to say, in one sentence, which role they'd want to be on a real SLM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640080"/>
            <a:ext cx="1554480" cy="1554480"/>
          </a:xfrm>
          <a:prstGeom prst="ellipse">
            <a:avLst/>
          </a:prstGeom>
          <a:solidFill>
            <a:srgbClr val="13233D"/>
          </a:solidFill>
          <a:ln w="19050">
            <a:solidFill>
              <a:srgbClr val="FFB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640080"/>
            <a:ext cx="15544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 panose="020F0502020204030204"/>
              </a:rPr>
              <a:t>💬</a:t>
            </a:r>
            <a:endParaRPr sz="36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863065"/>
            <a:ext cx="9500000" cy="73850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Cambria" panose="02040503050406030204"/>
              </a:rPr>
              <a:t>SMALL</a:t>
            </a:r>
            <a:r>
              <a:rPr lang="en-US" sz="4800" b="1">
                <a:solidFill>
                  <a:srgbClr val="FFFFFF"/>
                </a:solidFill>
                <a:latin typeface="Cambria" panose="02040503050406030204"/>
              </a:rPr>
              <a:t> </a:t>
            </a:r>
            <a:r>
              <a:rPr sz="4800" b="1">
                <a:solidFill>
                  <a:srgbClr val="FFB627"/>
                </a:solidFill>
                <a:latin typeface="Cambria" panose="02040503050406030204"/>
              </a:rPr>
              <a:t>LANGUAGE MODEL</a:t>
            </a:r>
            <a:endParaRPr sz="4800" b="1">
              <a:solidFill>
                <a:srgbClr val="FFB627"/>
              </a:solidFill>
              <a:latin typeface="Cambria" panose="02040503050406030204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3839210"/>
            <a:ext cx="8686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FC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4 · Disaster Response Coordination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FFB627"/>
                </a:solidFill>
                <a:latin typeface="Calibri" panose="020F0502020204030204"/>
              </a:rPr>
              <a:t>TODAY'S AGENDA</a:t>
            </a:r>
            <a:endParaRPr sz="1200" b="1" spc="200">
              <a:solidFill>
                <a:srgbClr val="FFB627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00000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 panose="02040503050406030204"/>
              </a:rPr>
              <a:t>What We'll Cover Today</a:t>
            </a:r>
            <a:endParaRPr sz="2400" b="1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3000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C9D6E8"/>
                </a:solidFill>
                <a:latin typeface="Calibri" panose="020F0502020204030204"/>
              </a:rPr>
              <a:t>Six stages — from a flood emergency to an offline AI briefing system</a:t>
            </a:r>
            <a:endParaRPr sz="1400" b="0">
              <a:solidFill>
                <a:srgbClr val="C9D6E8"/>
              </a:solidFill>
              <a:latin typeface="Calibri" panose="020F0502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850000"/>
            <a:ext cx="10908792" cy="720000"/>
          </a:xfrm>
          <a:prstGeom prst="roundRect">
            <a:avLst>
              <a:gd name="adj" fmla="val 12000"/>
            </a:avLst>
          </a:prstGeom>
          <a:solidFill>
            <a:srgbClr val="13233D"/>
          </a:solidFill>
          <a:ln w="9525">
            <a:solidFill>
              <a:srgbClr val="13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0000" y="2000000"/>
            <a:ext cx="420000" cy="42000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00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081527"/>
                </a:solidFill>
                <a:latin typeface="Cambria" panose="02040503050406030204"/>
              </a:rPr>
              <a:t>1</a:t>
            </a:r>
            <a:endParaRPr sz="1600" b="1">
              <a:solidFill>
                <a:srgbClr val="081527"/>
              </a:solidFill>
              <a:latin typeface="Cambria" panose="02040503050406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0000" y="1910000"/>
            <a:ext cx="420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 panose="020F0502020204030204"/>
              </a:rPr>
              <a:t>The Emergency</a:t>
            </a:r>
            <a:endParaRPr sz="15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00000" y="1910000"/>
            <a:ext cx="57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AEBBD1"/>
                </a:solidFill>
                <a:latin typeface="Calibri" panose="020F0502020204030204"/>
              </a:rPr>
              <a:t>Why a commander can't read every report in real time</a:t>
            </a:r>
            <a:endParaRPr sz="1250" b="0">
              <a:solidFill>
                <a:srgbClr val="AEBBD1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2600000"/>
            <a:ext cx="10908792" cy="720000"/>
          </a:xfrm>
          <a:prstGeom prst="roundRect">
            <a:avLst>
              <a:gd name="adj" fmla="val 12000"/>
            </a:avLst>
          </a:prstGeom>
          <a:solidFill>
            <a:srgbClr val="13233D"/>
          </a:solidFill>
          <a:ln w="9525">
            <a:solidFill>
              <a:srgbClr val="13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0000" y="2750000"/>
            <a:ext cx="420000" cy="42000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000" y="275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081527"/>
                </a:solidFill>
                <a:latin typeface="Cambria" panose="02040503050406030204"/>
              </a:rPr>
              <a:t>2</a:t>
            </a:r>
            <a:endParaRPr sz="1600" b="1">
              <a:solidFill>
                <a:srgbClr val="081527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0000" y="2660000"/>
            <a:ext cx="420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 panose="020F0502020204030204"/>
              </a:rPr>
              <a:t>What Is a Small Language Model?</a:t>
            </a:r>
            <a:endParaRPr sz="15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00000" y="2660000"/>
            <a:ext cx="57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AEBBD1"/>
                </a:solidFill>
                <a:latin typeface="Calibri" panose="020F0502020204030204"/>
              </a:rPr>
              <a:t>Compressing dense reports into instant, actionable briefings</a:t>
            </a:r>
            <a:endParaRPr sz="1250" b="0">
              <a:solidFill>
                <a:srgbClr val="AEBBD1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350000"/>
            <a:ext cx="10908792" cy="720000"/>
          </a:xfrm>
          <a:prstGeom prst="roundRect">
            <a:avLst>
              <a:gd name="adj" fmla="val 12000"/>
            </a:avLst>
          </a:prstGeom>
          <a:solidFill>
            <a:srgbClr val="13233D"/>
          </a:solidFill>
          <a:ln w="9525">
            <a:solidFill>
              <a:srgbClr val="13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0000" y="3500000"/>
            <a:ext cx="420000" cy="42000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50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081527"/>
                </a:solidFill>
                <a:latin typeface="Cambria" panose="02040503050406030204"/>
              </a:rPr>
              <a:t>3</a:t>
            </a:r>
            <a:endParaRPr sz="1600" b="1">
              <a:solidFill>
                <a:srgbClr val="081527"/>
              </a:solidFill>
              <a:latin typeface="Cambria" panose="02040503050406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80000" y="3410000"/>
            <a:ext cx="420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 panose="020F0502020204030204"/>
              </a:rPr>
              <a:t>Types &amp; Techniques of SLM</a:t>
            </a:r>
            <a:endParaRPr sz="15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00000" y="3410000"/>
            <a:ext cx="57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AEBBD1"/>
                </a:solidFill>
                <a:latin typeface="Calibri" panose="020F0502020204030204"/>
              </a:rPr>
              <a:t>Fine-Tuning, Retrieval, Preference Learning — and what powers each</a:t>
            </a:r>
            <a:endParaRPr sz="1250" b="0">
              <a:solidFill>
                <a:srgbClr val="AEBBD1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4100000"/>
            <a:ext cx="10908792" cy="720000"/>
          </a:xfrm>
          <a:prstGeom prst="roundRect">
            <a:avLst>
              <a:gd name="adj" fmla="val 12000"/>
            </a:avLst>
          </a:prstGeom>
          <a:solidFill>
            <a:srgbClr val="13233D"/>
          </a:solidFill>
          <a:ln w="9525">
            <a:solidFill>
              <a:srgbClr val="13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0000" y="4250000"/>
            <a:ext cx="420000" cy="42000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000" y="425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081527"/>
                </a:solidFill>
                <a:latin typeface="Cambria" panose="02040503050406030204"/>
              </a:rPr>
              <a:t>4</a:t>
            </a:r>
            <a:endParaRPr sz="1600" b="1">
              <a:solidFill>
                <a:srgbClr val="081527"/>
              </a:solidFill>
              <a:latin typeface="Cambria" panose="02040503050406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80000" y="4160000"/>
            <a:ext cx="420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 panose="020F0502020204030204"/>
              </a:rPr>
              <a:t>Meet the 5 SLM Roles</a:t>
            </a:r>
            <a:endParaRPr sz="15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00000" y="4160000"/>
            <a:ext cx="57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AEBBD1"/>
                </a:solidFill>
                <a:latin typeface="Calibri" panose="020F0502020204030204"/>
              </a:rPr>
              <a:t>Data Engineer → EDA → SLM → Evaluation → Integration Engineer</a:t>
            </a:r>
            <a:endParaRPr sz="1250" b="0">
              <a:solidFill>
                <a:srgbClr val="AEBBD1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" y="4850000"/>
            <a:ext cx="10908792" cy="720000"/>
          </a:xfrm>
          <a:prstGeom prst="roundRect">
            <a:avLst>
              <a:gd name="adj" fmla="val 12000"/>
            </a:avLst>
          </a:prstGeom>
          <a:solidFill>
            <a:srgbClr val="13233D"/>
          </a:solidFill>
          <a:ln w="9525">
            <a:solidFill>
              <a:srgbClr val="13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0000" y="5000000"/>
            <a:ext cx="420000" cy="42000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0000" y="500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081527"/>
                </a:solidFill>
                <a:latin typeface="Cambria" panose="02040503050406030204"/>
              </a:rPr>
              <a:t>5</a:t>
            </a:r>
            <a:endParaRPr sz="1600" b="1">
              <a:solidFill>
                <a:srgbClr val="081527"/>
              </a:solidFill>
              <a:latin typeface="Cambria" panose="02040503050406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80000" y="4910000"/>
            <a:ext cx="420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 panose="020F0502020204030204"/>
              </a:rPr>
              <a:t>Building &amp; Trusting the Model</a:t>
            </a:r>
            <a:endParaRPr sz="15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00000" y="4910000"/>
            <a:ext cx="57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AEBBD1"/>
                </a:solidFill>
                <a:latin typeface="Calibri" panose="020F0502020204030204"/>
              </a:rPr>
              <a:t>Fine-tuning a compact model together, then testing if its briefings can be trusted</a:t>
            </a:r>
            <a:endParaRPr sz="1250" b="0">
              <a:solidFill>
                <a:srgbClr val="AEBBD1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" y="5600000"/>
            <a:ext cx="10908792" cy="720000"/>
          </a:xfrm>
          <a:prstGeom prst="roundRect">
            <a:avLst>
              <a:gd name="adj" fmla="val 12000"/>
            </a:avLst>
          </a:prstGeom>
          <a:solidFill>
            <a:srgbClr val="13233D"/>
          </a:solidFill>
          <a:ln w="9525">
            <a:solidFill>
              <a:srgbClr val="13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0000" y="5750000"/>
            <a:ext cx="420000" cy="420000"/>
          </a:xfrm>
          <a:prstGeom prst="ellipse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0000" y="5750000"/>
            <a:ext cx="42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081527"/>
                </a:solidFill>
                <a:latin typeface="Cambria" panose="02040503050406030204"/>
              </a:rPr>
              <a:t>6</a:t>
            </a:r>
            <a:endParaRPr sz="1600" b="1">
              <a:solidFill>
                <a:srgbClr val="081527"/>
              </a:solidFill>
              <a:latin typeface="Cambria" panose="02040503050406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80000" y="5660000"/>
            <a:ext cx="420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 panose="020F0502020204030204"/>
              </a:rPr>
              <a:t>Live Case &amp; Recap</a:t>
            </a:r>
            <a:endParaRPr sz="15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600000" y="5660000"/>
            <a:ext cx="57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AEBBD1"/>
                </a:solidFill>
                <a:latin typeface="Calibri" panose="020F0502020204030204"/>
              </a:rPr>
              <a:t>Watch the fine-tuned model generate a briefing — then recap the full journey</a:t>
            </a:r>
            <a:endParaRPr sz="1250" b="0">
              <a:solidFill>
                <a:srgbClr val="AEBBD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619" y="0"/>
            <a:ext cx="0" cy="6858000"/>
          </a:xfrm>
          <a:prstGeom prst="line">
            <a:avLst/>
          </a:prstGeom>
          <a:noFill/>
          <a:ln w="6350">
            <a:solidFill>
              <a:srgbClr val="132A4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047238" y="0"/>
            <a:ext cx="0" cy="6858000"/>
          </a:xfrm>
          <a:prstGeom prst="line">
            <a:avLst/>
          </a:prstGeom>
          <a:noFill/>
          <a:ln w="6350">
            <a:solidFill>
              <a:srgbClr val="132A4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0857" y="0"/>
            <a:ext cx="0" cy="6858000"/>
          </a:xfrm>
          <a:prstGeom prst="line">
            <a:avLst/>
          </a:prstGeom>
          <a:noFill/>
          <a:ln w="6350">
            <a:solidFill>
              <a:srgbClr val="132A4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6350">
            <a:solidFill>
              <a:srgbClr val="132A4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18095" y="0"/>
            <a:ext cx="0" cy="6858000"/>
          </a:xfrm>
          <a:prstGeom prst="line">
            <a:avLst/>
          </a:prstGeom>
          <a:noFill/>
          <a:ln w="6350">
            <a:solidFill>
              <a:srgbClr val="132A4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1714" y="0"/>
            <a:ext cx="0" cy="6858000"/>
          </a:xfrm>
          <a:prstGeom prst="line">
            <a:avLst/>
          </a:prstGeom>
          <a:noFill/>
          <a:ln w="6350">
            <a:solidFill>
              <a:srgbClr val="132A4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65333" y="0"/>
            <a:ext cx="0" cy="6858000"/>
          </a:xfrm>
          <a:prstGeom prst="line">
            <a:avLst/>
          </a:prstGeom>
          <a:noFill/>
          <a:ln w="6350">
            <a:solidFill>
              <a:srgbClr val="132A4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966960" y="457200"/>
            <a:ext cx="1554480" cy="155448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966960" y="457200"/>
            <a:ext cx="15544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📻</a:t>
            </a:r>
            <a:endParaRPr lang="en-US" sz="6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286000"/>
            <a:ext cx="969264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AI BRIEF A COMMANDER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 5 SECONDS DURING A FLOOD?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85800" y="4343400"/>
            <a:ext cx="2011680" cy="0"/>
          </a:xfrm>
          <a:prstGeom prst="line">
            <a:avLst/>
          </a:prstGeom>
          <a:noFill/>
          <a:ln w="38100">
            <a:solidFill>
              <a:srgbClr val="FFB62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40080" y="452628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Language Models through a Real Disaster Response Case Study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9052560" cy="960120"/>
          </a:xfrm>
          <a:prstGeom prst="roundRect">
            <a:avLst>
              <a:gd name="adj" fmla="val 9524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14400" y="539496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Today, you are not just students.
</a:t>
            </a:r>
            <a:r>
              <a:rPr lang="en-US" sz="1900" b="1" dirty="0">
                <a:solidFill>
                  <a:srgbClr val="FFB6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You are the AI Disaster Response Team.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Emergency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841248"/>
          </a:xfrm>
          <a:prstGeom prst="roundRect">
            <a:avLst>
              <a:gd name="adj" fmla="val 10870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1883664"/>
            <a:ext cx="548640" cy="54864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188366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📵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37360"/>
            <a:ext cx="40233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Signal, No Cloud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5212080" cy="841248"/>
          </a:xfrm>
          <a:prstGeom prst="roundRect">
            <a:avLst>
              <a:gd name="adj" fmla="val 10870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1248" y="2871216"/>
            <a:ext cx="548640" cy="54864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41248" y="287121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724912"/>
            <a:ext cx="40233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Dense, Multi-Page Reports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712464"/>
            <a:ext cx="5212080" cy="841248"/>
          </a:xfrm>
          <a:prstGeom prst="roundRect">
            <a:avLst>
              <a:gd name="adj" fmla="val 10870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41248" y="3858768"/>
            <a:ext cx="548640" cy="54864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8587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⏱️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712464"/>
            <a:ext cx="40233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Seconds to Decide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700016"/>
            <a:ext cx="5212080" cy="841248"/>
          </a:xfrm>
          <a:prstGeom prst="roundRect">
            <a:avLst>
              <a:gd name="adj" fmla="val 10870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41248" y="4846320"/>
            <a:ext cx="548640" cy="54864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1248" y="4846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🎙️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00016"/>
            <a:ext cx="40233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Radio Channel to the Field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0" y="1737360"/>
            <a:ext cx="5148072" cy="3429000"/>
          </a:xfrm>
          <a:prstGeom prst="roundRect">
            <a:avLst>
              <a:gd name="adj" fmla="val 3200"/>
            </a:avLst>
          </a:prstGeom>
          <a:solidFill>
            <a:srgbClr val="13233D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675120" y="1737360"/>
            <a:ext cx="4599432" cy="342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You have only TEN SECONDS on the radio.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report should the commander hear first?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8580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Report Would You Prioritize?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55448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1874520"/>
            <a:ext cx="3520440" cy="320040"/>
          </a:xfrm>
          <a:prstGeom prst="rect">
            <a:avLst/>
          </a:prstGeom>
          <a:solidFill>
            <a:srgbClr val="2A9D8F"/>
          </a:solidFill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0080" y="1554480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REPORT 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4688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 Count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74320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240 words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24612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Urgency Words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52044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flagged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02336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Locations Named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29768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480560" y="15544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480560" y="155448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480560" y="1874520"/>
            <a:ext cx="3520440" cy="320040"/>
          </a:xfrm>
          <a:prstGeom prst="rect">
            <a:avLst/>
          </a:prstGeom>
          <a:solidFill>
            <a:srgbClr val="E63946"/>
          </a:solidFill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480560" y="1554480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REPORT B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24688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 Count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274320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410 words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24612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Urgency Words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52044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 flagged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402336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Locations Named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429768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8321040" y="15544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321040" y="1554480"/>
            <a:ext cx="3520440" cy="640080"/>
          </a:xfrm>
          <a:prstGeom prst="roundRect">
            <a:avLst>
              <a:gd name="adj" fmla="val 17143"/>
            </a:avLst>
          </a:prstGeom>
          <a:solidFill>
            <a:srgbClr val="F4A300"/>
          </a:solidFill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321040" y="1874520"/>
            <a:ext cx="3520440" cy="320040"/>
          </a:xfrm>
          <a:prstGeom prst="rect">
            <a:avLst/>
          </a:prstGeom>
          <a:solidFill>
            <a:srgbClr val="F4A300"/>
          </a:solidFill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8321040" y="1554480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REPORT C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595360" y="24688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 Count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595360" y="274320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180 words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8595360" y="324612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Urgency Words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595360" y="352044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 flagged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8595360" y="402336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Locations Named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595360" y="429768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REAL PROBLEM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31520"/>
            <a:ext cx="10908792" cy="1051560"/>
          </a:xfrm>
          <a:prstGeom prst="roundRect">
            <a:avLst>
              <a:gd name="adj" fmla="val 10435"/>
            </a:avLst>
          </a:prstGeom>
          <a:solidFill>
            <a:srgbClr val="0B2A4A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14400" y="731520"/>
            <a:ext cx="103601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a commander read thousands of words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across dozens of reports, in real time?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Thousands of words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2148840"/>
            <a:ext cx="256032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3D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10712" y="21488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547872" y="2148840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Multiple reports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925312" y="2148840"/>
            <a:ext cx="256032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3D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181344" y="21488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318504" y="2148840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stable internet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95944" y="2148840"/>
            <a:ext cx="256032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3D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951976" y="21488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9089136" y="2148840"/>
            <a:ext cx="22402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Need for instant briefings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05840" y="3977640"/>
            <a:ext cx="10177272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 need a system that can compress dense reports</a:t>
            </a:r>
            <a:endParaRPr lang="en-US" sz="2200" dirty="0"/>
          </a:p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into instant, spoken-ready briefings.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6235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where the Small Language Model enters the story.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2179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a Small Language Model?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FULL REPORT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(200+ words)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325880"/>
            <a:ext cx="320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37560" y="13258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337560" y="132588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EXTRACT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FACTS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1325880"/>
            <a:ext cx="320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035040" y="132588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COMPACT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MODEL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1325880"/>
            <a:ext cx="320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732520" y="13258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732520" y="132588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GENERATE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BRIEFING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46888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3233D"/>
          </a:solidFill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14400" y="2468880"/>
            <a:ext cx="1036015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Small Language Model means compressing a large model's knowledge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into a compact model fine-tuned for one job: fast, offline summaries.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7589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68680" y="342900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 report (30 words)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66760" y="3429000"/>
            <a:ext cx="3182112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366760" y="3429000"/>
            <a:ext cx="3182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1-LINE BRIEF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995928"/>
            <a:ext cx="7589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68680" y="3995928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report (120 words)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66760" y="3995928"/>
            <a:ext cx="3182112" cy="457200"/>
          </a:xfrm>
          <a:prstGeom prst="roundRect">
            <a:avLst>
              <a:gd name="adj" fmla="val 12000"/>
            </a:avLst>
          </a:prstGeom>
          <a:solidFill>
            <a:srgbClr val="F4A300"/>
          </a:solidFill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8366760" y="3995928"/>
            <a:ext cx="3182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1-SENTENCE BRIEF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562856"/>
            <a:ext cx="7589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868680" y="4562856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 report (300+ words)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66760" y="4562856"/>
            <a:ext cx="3182112" cy="457200"/>
          </a:xfrm>
          <a:prstGeom prst="roundRect">
            <a:avLst>
              <a:gd name="adj" fmla="val 12000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8366760" y="4562856"/>
            <a:ext cx="3182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2-SENTENCE BRIEF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name="adj" fmla="val 12632"/>
            </a:avLst>
          </a:prstGeom>
          <a:solidFill>
            <a:srgbClr val="0B2A4A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914400" y="5440680"/>
            <a:ext cx="1036015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If a new report is 300 words long, what should the model generate?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FIRST BRIEFING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New Report Incoming...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852160" cy="2926080"/>
          </a:xfrm>
          <a:prstGeom prst="roundRect">
            <a:avLst>
              <a:gd name="adj" fmla="val 4375"/>
            </a:avLst>
          </a:prstGeom>
          <a:solidFill>
            <a:srgbClr val="0F2843"/>
          </a:solidFill>
          <a:ln w="12700">
            <a:solidFill>
              <a:srgbClr val="16697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7830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Length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7830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340 words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231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Urgency Words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4231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 flagged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6324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Locations Named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0632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60120" y="3749040"/>
            <a:ext cx="5257800" cy="0"/>
          </a:xfrm>
          <a:prstGeom prst="line">
            <a:avLst/>
          </a:prstGeom>
          <a:noFill/>
          <a:ln w="12700">
            <a:solidFill>
              <a:srgbClr val="16697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0080" y="379476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6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BRIEFING = ???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766560" y="1554480"/>
            <a:ext cx="4782312" cy="2926080"/>
          </a:xfrm>
          <a:prstGeom prst="roundRect">
            <a:avLst>
              <a:gd name="adj" fmla="val 4375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040880" y="1783080"/>
            <a:ext cx="4297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E3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Based on past report-summary pairs,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E3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generate: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514600"/>
            <a:ext cx="42976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🎙️ 2-SENTENCE BRIEF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10908792" cy="1234440"/>
          </a:xfrm>
          <a:prstGeom prst="roundRect">
            <a:avLst>
              <a:gd name="adj" fmla="val 8889"/>
            </a:avLst>
          </a:prstGeom>
          <a:solidFill>
            <a:srgbClr val="0F2843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14400" y="4754880"/>
            <a:ext cx="10360152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You just performed the basic idea of a Small Language Model: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Learn from past report-summary pairs → Generate a new briefing.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217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Types of Small Language Model Training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different ways a model can be adapted — before we pick one for our briefing project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5349240"/>
            <a:ext cx="10908792" cy="731520"/>
          </a:xfrm>
          <a:prstGeom prst="roundRect">
            <a:avLst>
              <a:gd name="adj" fmla="val 15000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822960" y="534924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Our briefing project uses PEFT/LoRA Fine-Tuning — because we already have report-to-summary pairs.</a:t>
            </a:r>
            <a:endParaRPr lang="en-US" sz="1600" dirty="0"/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40080" y="1691640"/>
          <a:ext cx="10908792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000"/>
                <a:gridCol w="2902931"/>
                <a:gridCol w="2902931"/>
                <a:gridCol w="2902930"/>
              </a:tblGrid>
              <a:tr h="500000">
                <a:tc>
                  <a:txBody>
                    <a:bodyPr wrap="square"/>
                    <a:lstStyle/>
                    <a:p>
                      <a:pPr algn="l"/>
                      <a:endParaRPr sz="1300" b="1">
                        <a:solidFill>
                          <a:srgbClr val="FFFFFF"/>
                        </a:solidFill>
                        <a:latin typeface="Cambria" panose="02040503050406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mbria" panose="02040503050406030204"/>
                        </a:rPr>
                        <a:t>PEFT / LoRA</a:t>
                      </a:r>
                      <a:endParaRPr sz="1300" b="1">
                        <a:solidFill>
                          <a:srgbClr val="FFFFFF"/>
                        </a:solidFill>
                        <a:latin typeface="Cambria" panose="02040503050406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mbria" panose="02040503050406030204"/>
                        </a:rPr>
                        <a:t>RETRIEVAL (RAG)</a:t>
                      </a:r>
                      <a:endParaRPr sz="1300" b="1">
                        <a:solidFill>
                          <a:srgbClr val="FFFFFF"/>
                        </a:solidFill>
                        <a:latin typeface="Cambria" panose="02040503050406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mbria" panose="02040503050406030204"/>
                        </a:rPr>
                        <a:t>RLHF / DPO</a:t>
                      </a:r>
                      <a:endParaRPr sz="1300" b="1">
                        <a:solidFill>
                          <a:srgbClr val="FFFFFF"/>
                        </a:solidFill>
                        <a:latin typeface="Cambria" panose="02040503050406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E63946"/>
                    </a:solidFill>
                  </a:tcPr>
                </a:tc>
              </a:tr>
              <a:tr h="750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Data given</a:t>
                      </a:r>
                      <a:endParaRPr sz="1200" b="1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Has correct answers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(report-summary pairs)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No fine-tuning —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looks up raw text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No single answer —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learns from preferences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0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How it learns</a:t>
                      </a:r>
                      <a:endParaRPr sz="1200" b="1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Learns lightweight adapters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on top of a frozen base model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Retrieves similar passages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at query time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Ranks outputs, guided by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human preference scores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0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Real briefing example</a:t>
                      </a:r>
                      <a:endParaRPr sz="1200" b="1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Full report →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2-sentence briefing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Searching past reports for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similar incident wording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A briefing style ranked by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commanders as clearer, better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32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Used in our project</a:t>
                      </a:r>
                      <a:endParaRPr sz="1200" b="1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✅ Yes — our approach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—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7263B"/>
                          </a:solidFill>
                          <a:latin typeface="Calibri" panose="020F0502020204030204"/>
                        </a:rPr>
                        <a:t>—</a:t>
                      </a:r>
                      <a:endParaRPr sz="1150" b="0">
                        <a:solidFill>
                          <a:srgbClr val="17263B"/>
                        </a:solidFill>
                        <a:latin typeface="Calibri" panose="020F0502020204030204"/>
                      </a:endParaRPr>
                    </a:p>
                  </a:txBody>
                  <a:tcPr marL="137160" marR="137160" marT="91440" marB="91440" anchor="ctr">
                    <a:lnL w="9525" cap="flat">
                      <a:solidFill>
                        <a:srgbClr val="E3E9F2"/>
                      </a:solidFill>
                    </a:lnL>
                    <a:lnR w="9525" cap="flat">
                      <a:solidFill>
                        <a:srgbClr val="E3E9F2"/>
                      </a:solidFill>
                    </a:lnR>
                    <a:lnT w="9525" cap="flat">
                      <a:solidFill>
                        <a:srgbClr val="E3E9F2"/>
                      </a:solidFill>
                    </a:lnT>
                    <a:lnB w="9525" cap="flat">
                      <a:solidFill>
                        <a:srgbClr val="E3E9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21792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Full Fine-Tuning vs PEFT/LoRA — Same Report Data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key difference: how many parameters does training actually touch?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02920" y="169164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🟢 PEFT / LoRA FINE-TUNING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309360" y="169164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🔵  FULL FINE-TUNING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02920" y="2377440"/>
          <a:ext cx="5212080" cy="1737360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  <a:gridCol w="1303020"/>
                <a:gridCol w="1303020"/>
              </a:tblGrid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Report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Length (words)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Adapter 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Summary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220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Moderate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410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Severe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350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Severe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02920" y="4251960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FROZEN BASE + TINY ADAPTER → MODEL LEARNS
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to compress reports by training less than 1% of parameters.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80" y="5029200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68680" y="5029200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REPORT:  320 words  |  Adapter only
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Model generates:  2-sentence briefing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/>
        </p:nvGraphicFramePr>
        <p:xfrm>
          <a:off x="6858000" y="2377440"/>
          <a:ext cx="4114800" cy="173736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Report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Length (words)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Params Updated 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3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130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410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380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309360" y="4251960"/>
            <a:ext cx="5212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WEIGHTS RETRAINED → MODEL LEARNS SLOWLY
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parameter is touched and updated.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46520" y="493776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6446520" y="493776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
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GPU cluster, hours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9098280" y="493776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9098280" y="493776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
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accuracy, far slower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502920" y="6108192"/>
            <a:ext cx="1118311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PEFT/LoRA = ADAPT FAST WITH FEW PARAMS   |   FULL FINE-TUNE = RETRAIN EVERYTHING, SLOWLY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 We Already Have Report-Summary Pairs?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303020" cy="457200"/>
          </a:xfrm>
          <a:prstGeom prst="rect">
            <a:avLst/>
          </a:prstGeom>
          <a:solidFill>
            <a:srgbClr val="0F3D5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Report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43100" y="1371600"/>
            <a:ext cx="1303020" cy="457200"/>
          </a:xfrm>
          <a:prstGeom prst="rect">
            <a:avLst/>
          </a:prstGeom>
          <a:solidFill>
            <a:srgbClr val="0F3D5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Length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371600"/>
            <a:ext cx="1303020" cy="457200"/>
          </a:xfrm>
          <a:prstGeom prst="rect">
            <a:avLst/>
          </a:prstGeom>
          <a:solidFill>
            <a:srgbClr val="0F3D5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Urgency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49140" y="1371600"/>
            <a:ext cx="1303020" cy="457200"/>
          </a:xfrm>
          <a:prstGeom prst="rect">
            <a:avLst/>
          </a:prstGeom>
          <a:solidFill>
            <a:srgbClr val="0F3D5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Summary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943100" y="18288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90w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18288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49140" y="18288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"Minor delay, Zone 1 clear."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2860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943100" y="22860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220w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22860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49140" y="22860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"Zone 4 access blocked, monitor."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7432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943100" y="27432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410w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27432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49140" y="2743200"/>
            <a:ext cx="13030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"Zone 3 flooding, evacuate now."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1371600"/>
            <a:ext cx="5422392" cy="960120"/>
          </a:xfrm>
          <a:prstGeom prst="roundRect">
            <a:avLst>
              <a:gd name="adj" fmla="val 11429"/>
            </a:avLst>
          </a:prstGeom>
          <a:solidFill>
            <a:srgbClr val="0B2A4A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400800" y="1371600"/>
            <a:ext cx="487375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 we already have human-written summaries for past reports?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2423160"/>
            <a:ext cx="54223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YES.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0080" y="3337560"/>
            <a:ext cx="731520" cy="73152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33375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📘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34290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PEFT / LoRA FINE-TUNING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114800"/>
            <a:ext cx="1090879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already have past reports and their human-written summaries.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learns the mapping from a full report to a compact briefing.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93776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822960" y="493776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RAG:  </a:t>
            </a: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retrieves similar text, no training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43400" y="493776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4526280" y="493776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RLHF:  </a:t>
            </a: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from ranked preference feedback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760720"/>
            <a:ext cx="10908792" cy="685800"/>
          </a:xfrm>
          <a:prstGeom prst="roundRect">
            <a:avLst>
              <a:gd name="adj" fmla="val 13333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40080" y="5760720"/>
            <a:ext cx="1090879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Our briefing project uses PEFT/LoRA Fine-Tuning.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21792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SLM Fine-Tuning </a:t>
            </a:r>
            <a:r>
              <a:rPr lang="en-US" sz="22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— Techniques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report-summary pairs • Different strategies for compact, fast models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11183112" cy="457200"/>
          </a:xfrm>
          <a:prstGeom prst="roundRect">
            <a:avLst>
              <a:gd name="adj" fmla="val 24000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02920" y="1627632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 SAME REPORT DATA:   Full Text  •  Urgency Tags  •  Locations   →   Generate Briefing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672334" cy="1769364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377440"/>
            <a:ext cx="292608" cy="292608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331720"/>
            <a:ext cx="203225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LoRA (Low-Rank Adaptation)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43200"/>
            <a:ext cx="239801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TINY ADAPTER LAYERS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017520"/>
            <a:ext cx="239801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we fine-tune without touching all weights?"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43884"/>
            <a:ext cx="239801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 0.3% params trained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9846" y="2240280"/>
            <a:ext cx="2672334" cy="1769364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477006" y="2377440"/>
            <a:ext cx="292608" cy="292608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3477006" y="23774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42766" y="2331720"/>
            <a:ext cx="203225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QLoRA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77006" y="2743200"/>
            <a:ext cx="239801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QUANTIZE THEN ADAPT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477006" y="3017520"/>
            <a:ext cx="239801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we fit a fine-tune on a laptop GPU?"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477006" y="3643884"/>
            <a:ext cx="239801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 4-bit + adapter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6772" y="2240280"/>
            <a:ext cx="2672334" cy="1769364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9050">
            <a:solidFill>
              <a:srgbClr val="FFB627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313932" y="2377440"/>
            <a:ext cx="292608" cy="292608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313932" y="23774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9692" y="2331720"/>
            <a:ext cx="203225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Instruction Fine-Tuning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13932" y="2743200"/>
            <a:ext cx="239801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 FORMAT &amp; TONE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313932" y="3017520"/>
            <a:ext cx="239801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"Should output always be 2 tactical sentences?"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313932" y="3643884"/>
            <a:ext cx="239801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 Consistent briefing format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313932" y="3387852"/>
            <a:ext cx="239801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86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NEXT →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013698" y="2240280"/>
            <a:ext cx="2672334" cy="1769364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150858" y="2377440"/>
            <a:ext cx="292608" cy="292608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9150858" y="23774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516618" y="2331720"/>
            <a:ext cx="203225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Knowledge Distillation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150858" y="2743200"/>
            <a:ext cx="239801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 TEACHES STUDENT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150858" y="3017520"/>
            <a:ext cx="239801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“Can a tiny model learn from a giant model's outputs?”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9150858" y="3643884"/>
            <a:ext cx="239801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 Compact student model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4174236"/>
            <a:ext cx="2672334" cy="1769364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40080" y="4311396"/>
            <a:ext cx="292608" cy="292608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640080" y="43113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" y="4265676"/>
            <a:ext cx="203225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Quantization (INT8/INT4)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4677156"/>
            <a:ext cx="239801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SHRINK THE NUMBERS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951476"/>
            <a:ext cx="239801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we compress weights to fit on-device?"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5577840"/>
            <a:ext cx="239801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 4x smaller model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339846" y="4174236"/>
            <a:ext cx="2672334" cy="1769364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3477006" y="4311396"/>
            <a:ext cx="292608" cy="292608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3477006" y="43113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3842766" y="4265676"/>
            <a:ext cx="203225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Pruning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3477006" y="4677156"/>
            <a:ext cx="239801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THE USELESS PARTS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3477006" y="4951476"/>
            <a:ext cx="239801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"Which neurons rarely fire?"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3477006" y="5577840"/>
            <a:ext cx="239801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 Sparse, smaller network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76772" y="4174236"/>
            <a:ext cx="2672334" cy="1769364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6313932" y="4311396"/>
            <a:ext cx="292608" cy="292608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52" name="Text 50"/>
          <p:cNvSpPr txBox="1"/>
          <p:nvPr/>
        </p:nvSpPr>
        <p:spPr>
          <a:xfrm>
            <a:off x="6313932" y="43113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679692" y="4265676"/>
            <a:ext cx="203225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Prompt Tuning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313932" y="4677156"/>
            <a:ext cx="239801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A SOFT PROMPT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6313932" y="4951476"/>
            <a:ext cx="239801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we steer style without changing weights?"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6313932" y="5577840"/>
            <a:ext cx="239801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 Learned embeddings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013698" y="4174236"/>
            <a:ext cx="2672334" cy="1769364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9150858" y="4311396"/>
            <a:ext cx="292608" cy="292608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59" name="Text 57"/>
          <p:cNvSpPr txBox="1"/>
          <p:nvPr/>
        </p:nvSpPr>
        <p:spPr>
          <a:xfrm>
            <a:off x="9150858" y="43113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9516618" y="4265676"/>
            <a:ext cx="203225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GGUF / ONNX Export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9150858" y="4677156"/>
            <a:ext cx="239801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PACKAGE FOR OFFLINE USE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9150858" y="4951476"/>
            <a:ext cx="239801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this run without internet on a laptop?"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9150858" y="5577840"/>
            <a:ext cx="239801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 Deployable edge binary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02920" y="6053328"/>
            <a:ext cx="11183112" cy="347472"/>
          </a:xfrm>
          <a:prstGeom prst="roundRect">
            <a:avLst>
              <a:gd name="adj" fmla="val 15789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65" name="Text 63"/>
          <p:cNvSpPr txBox="1"/>
          <p:nvPr/>
        </p:nvSpPr>
        <p:spPr>
          <a:xfrm>
            <a:off x="502920" y="6053328"/>
            <a:ext cx="111831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REMEMBER:  ADAPTER • QUANTIZE • FORMAT • DISTILL • SHRINK • PRUNE • PROMPT • EXPORT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21792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Retrieval-Based Approaches </a:t>
            </a:r>
            <a:r>
              <a:rPr lang="en-US" sz="22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— Techniques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fine-tuning • No training pairs needed • The model looks up relevant text at query 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11183112" cy="457200"/>
          </a:xfrm>
          <a:prstGeom prst="roundRect">
            <a:avLst>
              <a:gd name="adj" fmla="val 24000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02920" y="1627632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📚  REPORT ARCHIVE:   Past Logs  •  SOPs  •  Radio Transcripts   →   NO FINE-TUNING DONE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2486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41832" y="2295144"/>
            <a:ext cx="347472" cy="347472"/>
          </a:xfrm>
          <a:prstGeom prst="ellipse">
            <a:avLst/>
          </a:prstGeom>
          <a:solidFill>
            <a:srgbClr val="2A9D8F"/>
          </a:solidFill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41832" y="229514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99032" y="2267712"/>
            <a:ext cx="44439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Retrieval-Augmented Generation (RAG)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941832" y="2642616"/>
            <a:ext cx="4919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 RELEVANT PASSAGES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2862072"/>
            <a:ext cx="4919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"Which past report matches this one?"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41832" y="3044952"/>
            <a:ext cx="49194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RETRIEVES → Matching SOP excerpt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2148840"/>
            <a:ext cx="52486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27648" y="2295144"/>
            <a:ext cx="347472" cy="347472"/>
          </a:xfrm>
          <a:prstGeom prst="ellipse">
            <a:avLst/>
          </a:prstGeom>
          <a:solidFill>
            <a:srgbClr val="2A9D8F"/>
          </a:solidFill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327648" y="229514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84848" y="2267712"/>
            <a:ext cx="44439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Semantic Search Index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327648" y="2642616"/>
            <a:ext cx="4919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 BY MEANING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327648" y="2862072"/>
            <a:ext cx="4919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"Which sentence is closest in meaning?"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3044952"/>
            <a:ext cx="49194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RETRIEVES → Top-k similar sentences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3456432"/>
            <a:ext cx="52486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41832" y="3602736"/>
            <a:ext cx="347472" cy="347472"/>
          </a:xfrm>
          <a:prstGeom prst="ellipse">
            <a:avLst/>
          </a:prstGeom>
          <a:solidFill>
            <a:srgbClr val="2A9D8F"/>
          </a:solidFill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941832" y="36027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99032" y="3575304"/>
            <a:ext cx="44439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Vector Database Lookup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50208"/>
            <a:ext cx="4919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&amp; SEARCH EMBEDDINGS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41832" y="4169664"/>
            <a:ext cx="4919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"Where is this phrase stored in memory?"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4352544"/>
            <a:ext cx="49194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RETRIEVES → Nearest embedding match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63056" y="3456432"/>
            <a:ext cx="52486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327648" y="3602736"/>
            <a:ext cx="347472" cy="347472"/>
          </a:xfrm>
          <a:prstGeom prst="ellipse">
            <a:avLst/>
          </a:prstGeom>
          <a:solidFill>
            <a:srgbClr val="2A9D8F"/>
          </a:solidFill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6327648" y="36027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84848" y="3575304"/>
            <a:ext cx="44439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Few-Shot Prompting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6327648" y="3950208"/>
            <a:ext cx="4919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A FEW EXAMPLES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327648" y="4169664"/>
            <a:ext cx="4919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2-3 examples teach the format?"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327648" y="4352544"/>
            <a:ext cx="49194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RETRIEVES → Style from examples in the prompt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51276" y="4764024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515868" y="4910328"/>
            <a:ext cx="347472" cy="347472"/>
          </a:xfrm>
          <a:prstGeom prst="ellipse">
            <a:avLst/>
          </a:prstGeom>
          <a:solidFill>
            <a:srgbClr val="2A9D8F"/>
          </a:solidFill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3515868" y="491032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973068" y="4882896"/>
            <a:ext cx="46817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Prompt Engineering Only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3515868" y="5257800"/>
            <a:ext cx="51572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HAND-CRAFT THE INSTRUCTIONS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3515868" y="5477256"/>
            <a:ext cx="515721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careful wording alone shrink the output?"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3515868" y="5660136"/>
            <a:ext cx="5157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PRODUCES → No new model, prompt only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6071616"/>
            <a:ext cx="11183112" cy="347472"/>
          </a:xfrm>
          <a:prstGeom prst="roundRect">
            <a:avLst>
              <a:gd name="adj" fmla="val 15789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502920" y="6071616"/>
            <a:ext cx="111831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REMEMBER:  RETRIEVE • RANK • STORE • EXAMPLES • INSTRUCT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21792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Preference Learning (RLHF) — Algorithms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single correct summary. The model learns from ranked human preferences.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11183112" cy="457200"/>
          </a:xfrm>
          <a:prstGeom prst="roundRect">
            <a:avLst>
              <a:gd name="adj" fmla="val 24000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02920" y="1627632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🎙️  BRIEFING QUALITY:   Clarity  •  Accuracy  •  Length  →  NO FIXED ANSWER, ONLY RANKINGS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2486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41832" y="2295144"/>
            <a:ext cx="347472" cy="347472"/>
          </a:xfrm>
          <a:prstGeom prst="ellipse">
            <a:avLst/>
          </a:prstGeom>
          <a:solidFill>
            <a:srgbClr val="E63946"/>
          </a:solidFill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41832" y="229514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99032" y="2267712"/>
            <a:ext cx="44439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RLHF (Reward Model)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941832" y="2642616"/>
            <a:ext cx="4919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THE BEST PHRASING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2862072"/>
            <a:ext cx="4919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"Which of two briefings do commanders prefer?"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41832" y="3044952"/>
            <a:ext cx="49194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→ A reward score per briefing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2148840"/>
            <a:ext cx="52486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27648" y="2295144"/>
            <a:ext cx="347472" cy="347472"/>
          </a:xfrm>
          <a:prstGeom prst="ellipse">
            <a:avLst/>
          </a:prstGeom>
          <a:solidFill>
            <a:srgbClr val="E63946"/>
          </a:solidFill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327648" y="229514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84848" y="2267712"/>
            <a:ext cx="44439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PPO (Proximal Policy Optimization)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327648" y="2642616"/>
            <a:ext cx="4919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THE REWARD MODEL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327648" y="2862072"/>
            <a:ext cx="4919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we safely nudge the model toward better output?"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3044952"/>
            <a:ext cx="49194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→ A policy update, step by step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3456432"/>
            <a:ext cx="52486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41832" y="3602736"/>
            <a:ext cx="347472" cy="347472"/>
          </a:xfrm>
          <a:prstGeom prst="ellipse">
            <a:avLst/>
          </a:prstGeom>
          <a:solidFill>
            <a:srgbClr val="E63946"/>
          </a:solidFill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941832" y="36027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99032" y="3575304"/>
            <a:ext cx="44439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DPO (Direct Preference Optimization)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50208"/>
            <a:ext cx="4919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DIRECTLY FROM PAIRS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41832" y="4169664"/>
            <a:ext cx="4919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we skip the reward model entirely?"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4352544"/>
            <a:ext cx="49194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→ Preferred vs rejected pairs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63056" y="3456432"/>
            <a:ext cx="52486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327648" y="3602736"/>
            <a:ext cx="347472" cy="347472"/>
          </a:xfrm>
          <a:prstGeom prst="ellipse">
            <a:avLst/>
          </a:prstGeom>
          <a:solidFill>
            <a:srgbClr val="E63946"/>
          </a:solidFill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6327648" y="36027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84848" y="3575304"/>
            <a:ext cx="44439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Reward Modeling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6327648" y="3950208"/>
            <a:ext cx="4919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SCORES OUTPUT QUALITY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327648" y="4169664"/>
            <a:ext cx="4919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makes one briefing better than another?"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327648" y="4352544"/>
            <a:ext cx="49194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→ A quality score function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51276" y="4764024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515868" y="4910328"/>
            <a:ext cx="347472" cy="347472"/>
          </a:xfrm>
          <a:prstGeom prst="ellipse">
            <a:avLst/>
          </a:prstGeom>
          <a:solidFill>
            <a:srgbClr val="E63946"/>
          </a:solidFill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3515868" y="491032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973068" y="4882896"/>
            <a:ext cx="46817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Actor-Critic Fine-Tuning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3515868" y="5257800"/>
            <a:ext cx="51572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MODELS COOPERATE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3515868" y="5477256"/>
            <a:ext cx="515721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one model write while another critiques it?"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3515868" y="5660136"/>
            <a:ext cx="5157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→ A combined writer + critic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6071616"/>
            <a:ext cx="11183112" cy="347472"/>
          </a:xfrm>
          <a:prstGeom prst="roundRect">
            <a:avLst>
              <a:gd name="adj" fmla="val 15789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502920" y="6071616"/>
            <a:ext cx="111831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REMEMBER:  REWARD • POLICY • PREFERENCE • SCORE • COOPERATION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2179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Should the Model Condense the Report?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908792" cy="777240"/>
          </a:xfrm>
          <a:prstGeom prst="roundRect">
            <a:avLst>
              <a:gd name="adj" fmla="val 14118"/>
            </a:avLst>
          </a:prstGeom>
          <a:solidFill>
            <a:srgbClr val="0B2A4A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1234440"/>
            <a:ext cx="1036015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If a report is long, should we just chop it in half? What should we extract first?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14400" y="22860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Location mentioned?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33172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YES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17320" y="310896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417320" y="310896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Resource needed named?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154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YES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20240" y="39319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920240" y="393192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Headcount / urgency stated?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397764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YES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23160" y="475488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2423160" y="475488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🎙️ 2-SENTENCE BRIEFING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92240" y="2286000"/>
            <a:ext cx="5056632" cy="3154680"/>
          </a:xfrm>
          <a:prstGeom prst="roundRect">
            <a:avLst>
              <a:gd name="adj" fmla="val 3478"/>
            </a:avLst>
          </a:prstGeom>
          <a:solidFill>
            <a:srgbClr val="13233D"/>
          </a:solidFill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766560" y="25146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B6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You just built an extraction-to-briefing pipeline.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15468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checks a series of key facts — location, resource, urgency — one at a time, before generating a briefing.</a:t>
            </a:r>
            <a:endParaRPr lang="en-US" sz="1400" dirty="0"/>
          </a:p>
        </p:txBody>
      </p:sp>
      <p:sp>
        <p:nvSpPr>
          <p:cNvPr id="23" name="Rounded Rectangle 22"/>
          <p:cNvSpPr/>
          <p:nvPr/>
        </p:nvSpPr>
        <p:spPr>
          <a:xfrm>
            <a:off x="640080" y="5700000"/>
            <a:ext cx="10908792" cy="640080"/>
          </a:xfrm>
          <a:prstGeom prst="roundRect">
            <a:avLst>
              <a:gd name="adj" fmla="val 15000"/>
            </a:avLst>
          </a:prstGeom>
          <a:solidFill>
            <a:srgbClr val="FFC000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6"/>
          <p:cNvSpPr txBox="1"/>
          <p:nvPr/>
        </p:nvSpPr>
        <p:spPr>
          <a:xfrm>
            <a:off x="836930" y="5789218"/>
            <a:ext cx="10543032" cy="4616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81527"/>
                </a:solidFill>
                <a:latin typeface="Cambria" panose="02040503050406030204"/>
              </a:rPr>
              <a:t>For this project, we use</a:t>
            </a:r>
            <a:r>
              <a:rPr sz="1500" b="1">
                <a:solidFill>
                  <a:srgbClr val="FF0000"/>
                </a:solidFill>
                <a:latin typeface="Cambria" panose="02040503050406030204"/>
              </a:rPr>
              <a:t> I</a:t>
            </a:r>
            <a:r>
              <a:rPr lang="en-US" sz="1500" b="1">
                <a:solidFill>
                  <a:srgbClr val="FF0000"/>
                </a:solidFill>
                <a:latin typeface="Cambria" panose="02040503050406030204"/>
              </a:rPr>
              <a:t>NSTRUCTION-TUNED PEFT/LoRA ( SUPERVISED-STYLE )</a:t>
            </a:r>
            <a:r>
              <a:rPr sz="1500" b="1">
                <a:solidFill>
                  <a:schemeClr val="bg1"/>
                </a:solidFill>
                <a:latin typeface="Cambria" panose="02040503050406030204"/>
              </a:rPr>
              <a:t> </a:t>
            </a:r>
            <a:r>
              <a:rPr sz="1500" b="1">
                <a:solidFill>
                  <a:srgbClr val="081527"/>
                </a:solidFill>
                <a:latin typeface="Cambria" panose="02040503050406030204"/>
              </a:rPr>
              <a:t>— fast, offline-capable, and easy to deploy on any laptop.</a:t>
            </a:r>
            <a:endParaRPr sz="1500" b="1">
              <a:solidFill>
                <a:srgbClr val="081527"/>
              </a:solidFill>
              <a:latin typeface="Cambria" panose="02040503050406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We Fine-Tune on Messy Report-Summary Pairs?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6809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344168" cy="548640"/>
          </a:xfrm>
          <a:prstGeom prst="rect">
            <a:avLst/>
          </a:prstGeom>
          <a:solidFill>
            <a:srgbClr val="0F3D5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Pair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84248" y="1417320"/>
            <a:ext cx="1344168" cy="548640"/>
          </a:xfrm>
          <a:prstGeom prst="rect">
            <a:avLst/>
          </a:prstGeom>
          <a:solidFill>
            <a:srgbClr val="0F3D5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Report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328416" y="1417320"/>
            <a:ext cx="1344168" cy="548640"/>
          </a:xfrm>
          <a:prstGeom prst="rect">
            <a:avLst/>
          </a:prstGeom>
          <a:solidFill>
            <a:srgbClr val="0F3D5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Summary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672584" y="1417320"/>
            <a:ext cx="1344168" cy="548640"/>
          </a:xfrm>
          <a:prstGeom prst="rect">
            <a:avLst/>
          </a:prstGeom>
          <a:solidFill>
            <a:srgbClr val="0F3D5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Words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16752" y="1417320"/>
            <a:ext cx="2304288" cy="548640"/>
          </a:xfrm>
          <a:prstGeom prst="rect">
            <a:avLst/>
          </a:prstGeom>
          <a:solidFill>
            <a:srgbClr val="0F3D5C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6596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Pair 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84248" y="196596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text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328416" y="196596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"Zone 3 flooding..."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196596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16752" y="196596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51460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Pair 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984248" y="251460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text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328416" y="251460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"Zone 3 flooding..."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72584" y="251460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016752" y="251460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Duplicate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06324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Pair 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984248" y="306324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text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328416" y="306324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72584" y="3063240"/>
            <a:ext cx="1344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016752" y="306324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49640" y="1417320"/>
            <a:ext cx="2999232" cy="2194560"/>
          </a:xfrm>
          <a:prstGeom prst="roundRect">
            <a:avLst>
              <a:gd name="adj" fmla="val 5000"/>
            </a:avLst>
          </a:prstGeom>
          <a:solidFill>
            <a:srgbClr val="0B2A4A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8823960" y="1417320"/>
            <a:ext cx="2450592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we directly fine-tune an SLM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using messy pairs?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549640" y="3749040"/>
            <a:ext cx="29992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NO.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40080" y="448056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40080" y="4480560"/>
            <a:ext cx="1090879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Every SLM system needs someone to prepare the training pairs first.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ROLE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914400" cy="91440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🧹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77724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ENGINEER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FDEDEC"/>
          </a:solidFill>
          <a:ln w="127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14400" y="1920240"/>
            <a:ext cx="1036015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 </a:t>
            </a:r>
            <a:r>
              <a:rPr lang="en-US" sz="15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report-summary pairs are messy and come from different sources.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51760" y="2971800"/>
            <a:ext cx="6885432" cy="448056"/>
          </a:xfrm>
          <a:prstGeom prst="roundRect">
            <a:avLst>
              <a:gd name="adj" fmla="val 14286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651760" y="2971800"/>
            <a:ext cx="688543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Multiple raw pair files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3511296"/>
            <a:ext cx="6885432" cy="448056"/>
          </a:xfrm>
          <a:prstGeom prst="roundRect">
            <a:avLst>
              <a:gd name="adj" fmla="val 14286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651760" y="3511296"/>
            <a:ext cx="688543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Remove duplicate pairs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51760" y="4050792"/>
            <a:ext cx="6885432" cy="448056"/>
          </a:xfrm>
          <a:prstGeom prst="roundRect">
            <a:avLst>
              <a:gd name="adj" fmla="val 14286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2651760" y="4050792"/>
            <a:ext cx="688543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Handle missing summaries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4590288"/>
            <a:ext cx="6885432" cy="448056"/>
          </a:xfrm>
          <a:prstGeom prst="roundRect">
            <a:avLst>
              <a:gd name="adj" fmla="val 14286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651760" y="4590288"/>
            <a:ext cx="688543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Combine into one set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51760" y="5129784"/>
            <a:ext cx="6885432" cy="448056"/>
          </a:xfrm>
          <a:prstGeom prst="roundRect">
            <a:avLst>
              <a:gd name="adj" fmla="val 14286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2651760" y="5129784"/>
            <a:ext cx="6885432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CLEAN FINE-TUNING DATASET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760720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914400" y="576072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Data Engineer prepares clean, usable report-summary pairs for the next stage.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Does the Summary Make Sense?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1206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5544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554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"Zone 1 minor delay"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9339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99339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"Zone 1 catastrophic, all units!"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43230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243230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871216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87121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Hallucination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5513832" cy="2011680"/>
          </a:xfrm>
          <a:prstGeom prst="roundRect">
            <a:avLst>
              <a:gd name="adj" fmla="val 5455"/>
            </a:avLst>
          </a:prstGeom>
          <a:solidFill>
            <a:srgbClr val="0B2A4A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309360" y="1417320"/>
            <a:ext cx="4965192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Does this summary match the report? Or did the model invent details?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777240" cy="77724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70332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79476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ENGINEER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526280"/>
            <a:ext cx="1090879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EDA Engineer explores the pairs, checks token patterns, and flags summaries that drift from the source.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40080" y="5349240"/>
            <a:ext cx="2514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Clean Pairs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5349240"/>
            <a:ext cx="29260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447288" y="534924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3447288" y="5349240"/>
            <a:ext cx="2514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Explore Token Patterns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961888" y="5349240"/>
            <a:ext cx="29260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54496" y="534924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254496" y="5349240"/>
            <a:ext cx="2514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Find Hallucinations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769096" y="5349240"/>
            <a:ext cx="29260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061704" y="534924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9061704" y="5349240"/>
            <a:ext cx="2514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Verified Pairs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ROLE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640080"/>
            <a:ext cx="10908792" cy="777240"/>
          </a:xfrm>
          <a:prstGeom prst="roundRect">
            <a:avLst>
              <a:gd name="adj" fmla="val 14118"/>
            </a:avLst>
          </a:prstGeom>
          <a:solidFill>
            <a:srgbClr val="0B2A4A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14400" y="640080"/>
            <a:ext cx="1036015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Now our pairs are clean and verified. What should we do next?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914400" cy="91440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6916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⚙️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6916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SLM ENGINEER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Report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209544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Radio Shorthand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630168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22960" y="363016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Urgency Tags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050792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2960" y="405079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2918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206240" y="2971800"/>
            <a:ext cx="2834640" cy="1188720"/>
          </a:xfrm>
          <a:prstGeom prst="roundRect">
            <a:avLst>
              <a:gd name="adj" fmla="val 7692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206240" y="297180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SLM MODEL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(PEFT / LoRA Fine-Tuned)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32918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0" y="278892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772400" y="2788920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Short brief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0" y="3209544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F4A300"/>
          </a:solidFill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772400" y="3209544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Tactical brief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3630168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772400" y="3630168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2-sentence brief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709160"/>
            <a:ext cx="10908792" cy="822960"/>
          </a:xfrm>
          <a:prstGeom prst="roundRect">
            <a:avLst>
              <a:gd name="adj" fmla="val 11111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40080" y="470916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SLM Engineer fine-tunes the model using past pairs so it can generate a briefing for a new report.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TRUST IT?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640080"/>
            <a:ext cx="10908792" cy="822960"/>
          </a:xfrm>
          <a:prstGeom prst="roundRect">
            <a:avLst>
              <a:gd name="adj" fmla="val 13333"/>
            </a:avLst>
          </a:prstGeom>
          <a:solidFill>
            <a:srgbClr val="0B2A4A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14400" y="640080"/>
            <a:ext cx="1036015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model sounds fluent and confident on training reports. Should we trust it immediately?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6697A"/>
          </a:solidFill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TRAINING DATA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has already seen 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05740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217920" y="224028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UNSEEN TEST DATA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6517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has never seen 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777240" cy="77724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32918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83280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EVALUATION ENGINEER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069080"/>
            <a:ext cx="1090879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the model on unseen reports to check whether summaries stay accurate — or only sound fluent.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0080" y="480060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Facts  vs  Generated Summary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4800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3233D"/>
          </a:solidFill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355080" y="4800600"/>
            <a:ext cx="24231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
</a:t>
            </a: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many key facts are kept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52560" y="4800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3233D"/>
          </a:solidFill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189720" y="4800600"/>
            <a:ext cx="24231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Overconfidence
</a:t>
            </a: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sounds fluent but drops or invents facts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PROBLEM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621792"/>
            <a:ext cx="10908792" cy="822960"/>
          </a:xfrm>
          <a:prstGeom prst="roundRect">
            <a:avLst>
              <a:gd name="adj" fmla="val 13333"/>
            </a:avLst>
          </a:prstGeom>
          <a:solidFill>
            <a:srgbClr val="0B2A4A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14400" y="621792"/>
            <a:ext cx="1036015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the commander open a laptop and read raw model output during an emergency?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777240" cy="77724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10312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🔌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194560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INTEGRATION ENGINEER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4023360" cy="457200"/>
          </a:xfrm>
          <a:prstGeom prst="roundRect">
            <a:avLst>
              <a:gd name="adj" fmla="val 14000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0080" y="297180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Incident Report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29000"/>
            <a:ext cx="40233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4023360" cy="457200"/>
          </a:xfrm>
          <a:prstGeom prst="roundRect">
            <a:avLst>
              <a:gd name="adj" fmla="val 14000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0080" y="35204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Fine-Tuned SLM (Offline)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77640"/>
            <a:ext cx="40233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4023360" cy="457200"/>
          </a:xfrm>
          <a:prstGeom prst="roundRect">
            <a:avLst>
              <a:gd name="adj" fmla="val 14000"/>
            </a:avLst>
          </a:prstGeom>
          <a:solidFill>
            <a:srgbClr val="0F2843"/>
          </a:solidFill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0080" y="40690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Briefing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4023360" cy="457200"/>
          </a:xfrm>
          <a:prstGeom prst="roundRect">
            <a:avLst>
              <a:gd name="adj" fmla="val 14000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40080" y="470916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 Tactical App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20640" y="2926080"/>
            <a:ext cx="6428232" cy="2331720"/>
          </a:xfrm>
          <a:prstGeom prst="roundRect">
            <a:avLst>
              <a:gd name="adj" fmla="val 5490"/>
            </a:avLst>
          </a:prstGeom>
          <a:solidFill>
            <a:srgbClr val="081527"/>
          </a:solidFill>
          <a:ln w="1905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394960" y="3108960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🎙️ "Zone 3 flooding, evacuate now."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365760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in 1.2s, offline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94960" y="4114800"/>
            <a:ext cx="5852160" cy="0"/>
          </a:xfrm>
          <a:prstGeom prst="line">
            <a:avLst/>
          </a:prstGeom>
          <a:noFill/>
          <a:ln w="12700">
            <a:solidFill>
              <a:srgbClr val="2A3F5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394960" y="420624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Action: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4526280"/>
            <a:ext cx="5852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Relay briefing to field commander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Log summary to incident record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349240"/>
            <a:ext cx="10908792" cy="685800"/>
          </a:xfrm>
          <a:prstGeom prst="roundRect">
            <a:avLst>
              <a:gd name="adj" fmla="val 13333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914400" y="5349240"/>
            <a:ext cx="1036015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Integration Engineer packages the fine-tuned model into an offline tactical briefing app.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FULL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Dense Report to Voice Briefing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02920" y="123444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EMERGENCY PROBLEM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0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FB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report needs a briefing?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1234440"/>
            <a:ext cx="12801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18688" y="123444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218688" y="123444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REPORT PAIRS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218688" y="1920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FB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from report-summary pairs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824728" y="1234440"/>
            <a:ext cx="12801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34456" y="123444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934456" y="123444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SMALL LANGUAGE MODEL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34456" y="1920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FB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 are the raw pairs clean?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540496" y="1234440"/>
            <a:ext cx="12801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50224" y="123444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650224" y="123444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ENGINEER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650224" y="1920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FB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the summary make sense?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65176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02920" y="265176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ENGINEER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33375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FB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fine-tune the model?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2651760"/>
            <a:ext cx="12801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18688" y="265176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3218688" y="265176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SLM ENGINEER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218688" y="33375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FB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trust the model?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824728" y="2651760"/>
            <a:ext cx="12801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34456" y="265176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0F3D5C"/>
          </a:solidFill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5934456" y="265176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EVALUATION ENGINEER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934456" y="33375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FB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the field commander use it, offline?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540496" y="2651760"/>
            <a:ext cx="12801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650224" y="265176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8650224" y="265176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INTEGRATION ENGINEER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4160520"/>
            <a:ext cx="11183112" cy="1051560"/>
          </a:xfrm>
          <a:prstGeom prst="roundRect">
            <a:avLst>
              <a:gd name="adj" fmla="val 12174"/>
            </a:avLst>
          </a:prstGeom>
          <a:solidFill>
            <a:srgbClr val="E63946"/>
          </a:solidFill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502920" y="4160520"/>
            <a:ext cx="1118311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🎙️ OFFLINE TACTICAL BRIEFING APP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You Are the SLM Model.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120640" cy="2286000"/>
          </a:xfrm>
          <a:prstGeom prst="roundRect">
            <a:avLst>
              <a:gd name="adj" fmla="val 4800"/>
            </a:avLst>
          </a:prstGeom>
          <a:solidFill>
            <a:srgbClr val="0F2843"/>
          </a:solidFill>
          <a:ln w="12700">
            <a:solidFill>
              <a:srgbClr val="16697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16459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Length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64592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380 words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Urgency Words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14884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 flagged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517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Locations Named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65176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1546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Resources Named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15468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5513832" cy="2286000"/>
          </a:xfrm>
          <a:prstGeom prst="roundRect">
            <a:avLst>
              <a:gd name="adj" fmla="val 4800"/>
            </a:avLst>
          </a:prstGeom>
          <a:solidFill>
            <a:srgbClr val="0F2843"/>
          </a:solidFill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309360" y="1463040"/>
            <a:ext cx="4965192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the generated briefing?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520440" cy="1005840"/>
          </a:xfrm>
          <a:prstGeom prst="roundRect">
            <a:avLst>
              <a:gd name="adj" fmla="val 50000"/>
            </a:avLst>
          </a:prstGeom>
          <a:solidFill>
            <a:srgbClr val="2A9D8F"/>
          </a:solidFill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0080" y="4023360"/>
            <a:ext cx="3520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🟢 Short &amp; Accurate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434840" y="4023360"/>
            <a:ext cx="3520440" cy="1005840"/>
          </a:xfrm>
          <a:prstGeom prst="roundRect">
            <a:avLst>
              <a:gd name="adj" fmla="val 50000"/>
            </a:avLst>
          </a:prstGeom>
          <a:solidFill>
            <a:srgbClr val="F4A300"/>
          </a:solidFill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434840" y="4023360"/>
            <a:ext cx="3520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🟡 Too Long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229600" y="4023360"/>
            <a:ext cx="3520440" cy="1005840"/>
          </a:xfrm>
          <a:prstGeom prst="roundRect">
            <a:avLst>
              <a:gd name="adj" fmla="val 50000"/>
            </a:avLst>
          </a:prstGeom>
          <a:solidFill>
            <a:srgbClr val="E63946"/>
          </a:solidFill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0" y="4023360"/>
            <a:ext cx="3520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🔴 Missing Key Facts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40080" y="5760720"/>
            <a:ext cx="10908792" cy="731520"/>
          </a:xfrm>
          <a:prstGeom prst="roundRect">
            <a:avLst>
              <a:gd name="adj" fmla="val 12500"/>
            </a:avLst>
          </a:prstGeom>
          <a:solidFill>
            <a:srgbClr val="FFB627"/>
          </a:solidFill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40080" y="576072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Let's see if our fine-tuned model agrees with you.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6217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You Did Manually → What Python Does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089904" y="1417320"/>
            <a:ext cx="0" cy="329184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14400" y="1417320"/>
            <a:ext cx="4937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identified duplicate pairs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815584" y="1417320"/>
            <a:ext cx="548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417320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cleans duplicate pairs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10908792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14400" y="2075688"/>
            <a:ext cx="4937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found token patterns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815584" y="2075688"/>
            <a:ext cx="548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075688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analyzes patterns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734056"/>
            <a:ext cx="10908792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14400" y="2734056"/>
            <a:ext cx="4937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predicted the briefing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15584" y="2734056"/>
            <a:ext cx="548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734056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SLM model generates the briefing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392424"/>
            <a:ext cx="10908792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914400" y="3392424"/>
            <a:ext cx="4937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checked the summary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15584" y="3392424"/>
            <a:ext cx="548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392424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tests fidelity &amp; latency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050792"/>
            <a:ext cx="10908792" cy="0"/>
          </a:xfrm>
          <a:prstGeom prst="line">
            <a:avLst/>
          </a:prstGeom>
          <a:noFill/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914400" y="4050792"/>
            <a:ext cx="4937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gave an action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815584" y="4050792"/>
            <a:ext cx="548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050792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 sends briefing to the offline app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983480"/>
            <a:ext cx="10908792" cy="1051560"/>
          </a:xfrm>
          <a:prstGeom prst="roundRect">
            <a:avLst>
              <a:gd name="adj" fmla="val 10435"/>
            </a:avLst>
          </a:prstGeom>
          <a:solidFill>
            <a:srgbClr val="0B2A4A"/>
          </a:solidFill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914400" y="4983480"/>
            <a:ext cx="1036015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First, you understood the process manually.</a:t>
            </a:r>
            <a:endParaRPr lang="en-US" sz="1700" dirty="0"/>
          </a:p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Now, the computer automates the same process.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FB6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"Today, You Didn't Just Learn Small Language Models."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65760" cy="36576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were the field commander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65760" cy="36576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9202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selected the most urgent report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365760" cy="36576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423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42316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learned to compress reports into briefings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9260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fine-tuned a compact model with PEFT/LoRA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4290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discovered why training pairs must be cleaned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365760" cy="36576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9319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tested whether the summary could be trusted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434840"/>
            <a:ext cx="365760" cy="365760"/>
          </a:xfrm>
          <a:prstGeom prst="ellipse">
            <a:avLst/>
          </a:prstGeom>
          <a:solidFill>
            <a:srgbClr val="0F3D5C"/>
          </a:solidFill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4348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saw how AI runs offline in the field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10908792" cy="1234440"/>
          </a:xfrm>
          <a:prstGeom prst="roundRect">
            <a:avLst>
              <a:gd name="adj" fmla="val 10370"/>
            </a:avLst>
          </a:prstGeom>
          <a:solidFill>
            <a:srgbClr val="0F2843"/>
          </a:solidFill>
          <a:ln w="12700">
            <a:solidFill>
              <a:srgbClr val="FFB62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914400" y="5257800"/>
            <a:ext cx="10360152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Small Language Models are not just about being smaller.</a:t>
            </a:r>
            <a:endParaRPr lang="en-US" sz="1600" dirty="0"/>
          </a:p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They are about being fast, private, and reliable when the cloud isn't there.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11682</Words>
  <Application>WPS Presentation</Application>
  <PresentationFormat>On-screen Show (16:9)</PresentationFormat>
  <Paragraphs>995</Paragraphs>
  <Slides>25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9" baseType="lpstr">
      <vt:lpstr>Arial</vt:lpstr>
      <vt:lpstr>SimSun</vt:lpstr>
      <vt:lpstr>Wingdings</vt:lpstr>
      <vt:lpstr>Calibri</vt:lpstr>
      <vt:lpstr>Cambria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Nivatha selvan</cp:lastModifiedBy>
  <cp:revision>10</cp:revision>
  <dcterms:created xsi:type="dcterms:W3CDTF">2026-08-27T03:58:00Z</dcterms:created>
  <dcterms:modified xsi:type="dcterms:W3CDTF">2026-08-28T06:15:38Z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F0FC24788FAF459A944C91BD58DADE71_12</vt:lpwstr>
  </property>
  <property fmtid="{D5CDD505-2E9C-101B-9397-08002B2CF9AE}" pid="3" name="KSOProductBuildVer">
    <vt:lpwstr>1033-12.1.0.28032</vt:lpwstr>
  </property>
</Properties>
</file>
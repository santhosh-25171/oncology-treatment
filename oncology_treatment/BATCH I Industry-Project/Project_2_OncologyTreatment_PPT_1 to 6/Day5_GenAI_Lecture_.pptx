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502920"/>
            <a:ext cx="960120" cy="960120"/>
          </a:xfrm>
          <a:prstGeom prst="ellipse">
            <a:avLst/>
          </a:prstGeom>
          <a:solidFill>
            <a:srgbClr val="132A45"/>
          </a:solidFill>
          <a:ln w="19050">
            <a:solidFill>
              <a:srgbClr val="FFB6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502920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8346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GENERATIVE </a:t>
            </a:r>
            <a:r>
              <a:rPr lang="en-US" sz="4000" b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61188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5 · Personalized Precision Medicine for Oncology Treatment Optimization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TODAY'S 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stages — from sparse rare-mutation data to a working synthetic stress-test 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3233D"/>
          </a:solidFill>
        </p:spPr>
      </p:sp>
      <p:sp>
        <p:nvSpPr>
          <p:cNvPr id="6" name="Shape 4"/>
          <p:cNvSpPr/>
          <p:nvPr/>
        </p:nvSpPr>
        <p:spPr>
          <a:xfrm>
            <a:off x="777240" y="1947672"/>
            <a:ext cx="512064" cy="51206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7" name="Text 5"/>
          <p:cNvSpPr txBox="1"/>
          <p:nvPr/>
        </p:nvSpPr>
        <p:spPr>
          <a:xfrm>
            <a:off x="777240" y="194767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38528"/>
            <a:ext cx="9875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Emergency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212848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a handful of real rare-mutation cases can't cover every failure mode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3233D"/>
          </a:solidFill>
        </p:spPr>
      </p:sp>
      <p:sp>
        <p:nvSpPr>
          <p:cNvPr id="11" name="Shape 9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2" name="Text 10"/>
          <p:cNvSpPr txBox="1"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688336"/>
            <a:ext cx="9875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Generative AI?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96265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patterns from past patient cases to imagine new genomic profiles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741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3233D"/>
          </a:solidFill>
        </p:spPr>
      </p:sp>
      <p:sp>
        <p:nvSpPr>
          <p:cNvPr id="16" name="Shape 14"/>
          <p:cNvSpPr/>
          <p:nvPr/>
        </p:nvSpPr>
        <p:spPr>
          <a:xfrm>
            <a:off x="777240" y="3447288"/>
            <a:ext cx="512064" cy="51206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7" name="Text 15"/>
          <p:cNvSpPr txBox="1"/>
          <p:nvPr/>
        </p:nvSpPr>
        <p:spPr>
          <a:xfrm>
            <a:off x="777240" y="344728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438144"/>
            <a:ext cx="9875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&amp; Approaches of GenAI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71246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models, sequence/LLM models, simulation — and what powers each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3233D"/>
          </a:solidFill>
        </p:spPr>
      </p:sp>
      <p:sp>
        <p:nvSpPr>
          <p:cNvPr id="21" name="Shape 19"/>
          <p:cNvSpPr/>
          <p:nvPr/>
        </p:nvSpPr>
        <p:spPr>
          <a:xfrm>
            <a:off x="777240" y="4197096"/>
            <a:ext cx="512064" cy="51206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2" name="Text 20"/>
          <p:cNvSpPr txBox="1"/>
          <p:nvPr/>
        </p:nvSpPr>
        <p:spPr>
          <a:xfrm>
            <a:off x="777240" y="419709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187952"/>
            <a:ext cx="9875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5 GenAI Roles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462272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 → EDA/Prompt Eng → GenAI → Evaluation → Integration Engineer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7375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3233D"/>
          </a:solidFill>
        </p:spPr>
      </p:sp>
      <p:sp>
        <p:nvSpPr>
          <p:cNvPr id="26" name="Shape 24"/>
          <p:cNvSpPr/>
          <p:nvPr/>
        </p:nvSpPr>
        <p:spPr>
          <a:xfrm>
            <a:off x="777240" y="4946904"/>
            <a:ext cx="512064" cy="51206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7" name="Text 25"/>
          <p:cNvSpPr txBox="1"/>
          <p:nvPr/>
        </p:nvSpPr>
        <p:spPr>
          <a:xfrm>
            <a:off x="777240" y="494690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4937760"/>
            <a:ext cx="9875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&amp; Trusting the Generator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521208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a scenario generator together, then testing if it's realistic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3233D"/>
          </a:solidFill>
        </p:spPr>
      </p:sp>
      <p:sp>
        <p:nvSpPr>
          <p:cNvPr id="31" name="Shape 29"/>
          <p:cNvSpPr/>
          <p:nvPr/>
        </p:nvSpPr>
        <p:spPr>
          <a:xfrm>
            <a:off x="777240" y="5696712"/>
            <a:ext cx="512064" cy="512064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32" name="Text 30"/>
          <p:cNvSpPr txBox="1"/>
          <p:nvPr/>
        </p:nvSpPr>
        <p:spPr>
          <a:xfrm>
            <a:off x="777240" y="569671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463040" y="5687568"/>
            <a:ext cx="9875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Case &amp; Recap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463040" y="5961888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 the generator imagine a rare mutation case — then recap the full journey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🧬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AN AI IMAGINE A RESISTANT TUMOR BEFORE IT EMERGES?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AI through a Real Precision-Oncology Case Study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Today, you are not just students.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are the AI Precision Oncology Team.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Emergency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13233D"/>
          </a:solidFill>
        </p:spPr>
      </p:sp>
      <p:sp>
        <p:nvSpPr>
          <p:cNvPr id="4" name="Text 2"/>
          <p:cNvSpPr txBox="1"/>
          <p:nvPr/>
        </p:nvSpPr>
        <p:spPr>
          <a:xfrm>
            <a:off x="731520" y="143560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2588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a Handful of Rare Mutation Cases on Record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21992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13233D"/>
          </a:solidFill>
        </p:spPr>
      </p:sp>
      <p:sp>
        <p:nvSpPr>
          <p:cNvPr id="7" name="Text 5"/>
          <p:cNvSpPr txBox="1"/>
          <p:nvPr/>
        </p:nvSpPr>
        <p:spPr>
          <a:xfrm>
            <a:off x="731520" y="23317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21992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 Mutations That Have Never Co-Occurred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13233D"/>
          </a:solidFill>
        </p:spPr>
      </p:sp>
      <p:sp>
        <p:nvSpPr>
          <p:cNvPr id="10" name="Text 8"/>
          <p:cNvSpPr txBox="1"/>
          <p:nvPr/>
        </p:nvSpPr>
        <p:spPr>
          <a:xfrm>
            <a:off x="731520" y="32278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🕳️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118104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Untested Blind Spots in the Treatment Pipeline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14216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13233D"/>
          </a:solidFill>
        </p:spPr>
      </p:sp>
      <p:sp>
        <p:nvSpPr>
          <p:cNvPr id="13" name="Text 11"/>
          <p:cNvSpPr txBox="1"/>
          <p:nvPr/>
        </p:nvSpPr>
        <p:spPr>
          <a:xfrm>
            <a:off x="731520" y="412394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⏳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14216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Time to Wait for the Next Resistant Tumor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1325880"/>
            <a:ext cx="4846320" cy="3063240"/>
          </a:xfrm>
          <a:prstGeom prst="roundRect">
            <a:avLst>
              <a:gd name="adj" fmla="val 2388"/>
            </a:avLst>
          </a:prstGeom>
          <a:solidFill>
            <a:srgbClr val="17263B"/>
          </a:solidFill>
        </p:spPr>
      </p:sp>
      <p:sp>
        <p:nvSpPr>
          <p:cNvPr id="16" name="Text 14"/>
          <p:cNvSpPr txBox="1"/>
          <p:nvPr/>
        </p:nvSpPr>
        <p:spPr>
          <a:xfrm>
            <a:off x="7086600" y="164592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have only 4 real cases of this EGFR+MET co-mutation on record.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301752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you test your system against a resistance pattern that hasn't emerged yet?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Training Set Would You Trust?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2A9D8F"/>
          </a:solidFill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Scenarios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420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17296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 Mutations Covered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290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68496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05993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Diversity of Conditions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31596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43400" y="137160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E63946"/>
          </a:solidFill>
        </p:spPr>
      </p:sp>
      <p:sp>
        <p:nvSpPr>
          <p:cNvPr id="15" name="Text 13"/>
          <p:cNvSpPr txBox="1"/>
          <p:nvPr/>
        </p:nvSpPr>
        <p:spPr>
          <a:xfrm>
            <a:off x="4343400" y="1371600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219456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228600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Scenarios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5420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343400" y="3081528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317296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 Mutations Covered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4290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343400" y="3968496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405993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Diversity of Conditions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31596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138160" y="1371600"/>
            <a:ext cx="3520440" cy="685800"/>
          </a:xfrm>
          <a:prstGeom prst="roundRect">
            <a:avLst>
              <a:gd name="adj" fmla="val 10667"/>
            </a:avLst>
          </a:prstGeom>
          <a:solidFill>
            <a:srgbClr val="FFB627"/>
          </a:solidFill>
        </p:spPr>
      </p:sp>
      <p:sp>
        <p:nvSpPr>
          <p:cNvPr id="26" name="Text 24"/>
          <p:cNvSpPr txBox="1"/>
          <p:nvPr/>
        </p:nvSpPr>
        <p:spPr>
          <a:xfrm>
            <a:off x="8138160" y="1371600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C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138160" y="219456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0" y="228600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Scenarios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25420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138160" y="3081528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317296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 Mutations Covered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34290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138160" y="3968496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21040" y="405993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Diversity of Conditions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31596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REAL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4 real resistant-tumor cases possibly cover every failure mode </a:t>
            </a:r>
            <a:r>
              <a:rPr lang="en-US" sz="2600" b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 treatment engine might face?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136038" cy="548640"/>
          </a:xfrm>
          <a:prstGeom prst="roundRect">
            <a:avLst>
              <a:gd name="adj" fmla="val 50000"/>
            </a:avLst>
          </a:prstGeom>
          <a:solidFill>
            <a:srgbClr val="13233D"/>
          </a:solidFill>
          <a:ln w="9525">
            <a:solidFill>
              <a:srgbClr val="5B6B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68880"/>
            <a:ext cx="213603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Rare compound mutations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776118" y="251460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50438" y="2468880"/>
            <a:ext cx="1911096" cy="548640"/>
          </a:xfrm>
          <a:prstGeom prst="roundRect">
            <a:avLst>
              <a:gd name="adj" fmla="val 50000"/>
            </a:avLst>
          </a:prstGeom>
          <a:solidFill>
            <a:srgbClr val="13233D"/>
          </a:solidFill>
          <a:ln w="9525">
            <a:solidFill>
              <a:srgbClr val="5B6B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50438" y="2468880"/>
            <a:ext cx="19110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real history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52974" y="251460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27294" y="2468880"/>
            <a:ext cx="2136038" cy="548640"/>
          </a:xfrm>
          <a:prstGeom prst="roundRect">
            <a:avLst>
              <a:gd name="adj" fmla="val 50000"/>
            </a:avLst>
          </a:prstGeom>
          <a:solidFill>
            <a:srgbClr val="13233D"/>
          </a:solidFill>
          <a:ln w="9525">
            <a:solidFill>
              <a:srgbClr val="5B6B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27294" y="2468880"/>
            <a:ext cx="213603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for stress-testing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554773" y="251460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29093" y="24688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13233D"/>
          </a:solidFill>
          <a:ln w="9525">
            <a:solidFill>
              <a:srgbClr val="5B6B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29093" y="24688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margin for blind spots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32A45"/>
          </a:solidFill>
        </p:spPr>
      </p:sp>
      <p:sp>
        <p:nvSpPr>
          <p:cNvPr id="16" name="Text 14"/>
          <p:cNvSpPr txBox="1"/>
          <p:nvPr/>
        </p:nvSpPr>
        <p:spPr>
          <a:xfrm>
            <a:off x="868680" y="36576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need a system that can imagine new, plausible resistant-tumor scenarios before they occur.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20624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where Generative AI enters the story.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Generative AI?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0F3D5C"/>
          </a:solidFill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 PATIENT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80360" y="1234440"/>
            <a:ext cx="320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0F3D5C"/>
          </a:solidFill>
        </p:spPr>
      </p:sp>
      <p:sp>
        <p:nvSpPr>
          <p:cNvPr id="7" name="Text 5"/>
          <p:cNvSpPr txBox="1"/>
          <p:nvPr/>
        </p:nvSpPr>
        <p:spPr>
          <a:xfrm>
            <a:off x="3200400" y="123444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THE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1234440"/>
            <a:ext cx="320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52160" y="12344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0F3D5C"/>
          </a:solidFill>
        </p:spPr>
      </p:sp>
      <p:sp>
        <p:nvSpPr>
          <p:cNvPr id="10" name="Text 8"/>
          <p:cNvSpPr txBox="1"/>
          <p:nvPr/>
        </p:nvSpPr>
        <p:spPr>
          <a:xfrm>
            <a:off x="5852160" y="123444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SEED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1234440"/>
            <a:ext cx="320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0" y="12344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B627"/>
          </a:solidFill>
        </p:spPr>
      </p:sp>
      <p:sp>
        <p:nvSpPr>
          <p:cNvPr id="13" name="Text 11"/>
          <p:cNvSpPr txBox="1"/>
          <p:nvPr/>
        </p:nvSpPr>
        <p:spPr>
          <a:xfrm>
            <a:off x="8503920" y="123444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IMAGINE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2331720"/>
            <a:ext cx="10332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AI means learning the pattern behind past patient cases to create a brand-new, realistic genomic profile.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154680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tumor burden + stable renal function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23760" y="315468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2A9D8F"/>
          </a:solidFill>
        </p:spPr>
      </p:sp>
      <p:sp>
        <p:nvSpPr>
          <p:cNvPr id="19" name="Text 17"/>
          <p:cNvSpPr txBox="1"/>
          <p:nvPr/>
        </p:nvSpPr>
        <p:spPr>
          <a:xfrm>
            <a:off x="7223760" y="3154680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MILD, ISOLATED PROFILE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13048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813048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 tumor burden + partial renal impairment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3813048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FFB627"/>
          </a:solidFill>
        </p:spPr>
      </p:sp>
      <p:sp>
        <p:nvSpPr>
          <p:cNvPr id="23" name="Text 21"/>
          <p:cNvSpPr txBox="1"/>
          <p:nvPr/>
        </p:nvSpPr>
        <p:spPr>
          <a:xfrm>
            <a:off x="7223760" y="3813048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MODERATE, MULTI-GENE PROFILE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71416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471416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tumor burden + severe renal impairment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23760" y="4471416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E63946"/>
          </a:solidFill>
        </p:spPr>
      </p:sp>
      <p:sp>
        <p:nvSpPr>
          <p:cNvPr id="27" name="Text 25"/>
          <p:cNvSpPr txBox="1"/>
          <p:nvPr/>
        </p:nvSpPr>
        <p:spPr>
          <a:xfrm>
            <a:off x="7223760" y="4471416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 COMPOUND PROFILE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17550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0F3D5C"/>
          </a:solidFill>
        </p:spPr>
      </p:sp>
      <p:sp>
        <p:nvSpPr>
          <p:cNvPr id="29" name="Text 27"/>
          <p:cNvSpPr txBox="1"/>
          <p:nvPr/>
        </p:nvSpPr>
        <p:spPr>
          <a:xfrm>
            <a:off x="822960" y="5175504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we combine two rare conditions that never occurred together, what should the generator imagine?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FIRST GENERATION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New Seed Incoming...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13233D"/>
          </a:solidFill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2834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Historical Pattern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691640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EGFR+MET Co-Mutation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13233D"/>
          </a:solidFill>
        </p:spPr>
      </p:sp>
      <p:sp>
        <p:nvSpPr>
          <p:cNvPr id="8" name="Text 6"/>
          <p:cNvSpPr txBox="1"/>
          <p:nvPr/>
        </p:nvSpPr>
        <p:spPr>
          <a:xfrm>
            <a:off x="777240" y="2468880"/>
            <a:ext cx="2834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Renal Status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468880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 Impairment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13233D"/>
          </a:solidFill>
        </p:spPr>
      </p:sp>
      <p:sp>
        <p:nvSpPr>
          <p:cNvPr id="11" name="Text 9"/>
          <p:cNvSpPr txBox="1"/>
          <p:nvPr/>
        </p:nvSpPr>
        <p:spPr>
          <a:xfrm>
            <a:off x="777240" y="3246120"/>
            <a:ext cx="2834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Organs Affected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46120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(compound)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691640"/>
            <a:ext cx="4846320" cy="2194560"/>
          </a:xfrm>
          <a:prstGeom prst="roundRect">
            <a:avLst>
              <a:gd name="adj" fmla="val 4167"/>
            </a:avLst>
          </a:prstGeom>
          <a:solidFill>
            <a:srgbClr val="132A45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18745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Based on past patterns, we generate: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28600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SEVERE COMPOUND SCENARIO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880360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Dual-driver mutation + renal impairment, generated end-to-end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7263B"/>
          </a:solidFill>
        </p:spPr>
      </p:sp>
      <p:sp>
        <p:nvSpPr>
          <p:cNvPr id="18" name="Text 16"/>
          <p:cNvSpPr txBox="1"/>
          <p:nvPr/>
        </p:nvSpPr>
        <p:spPr>
          <a:xfrm>
            <a:off x="822960" y="42062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just performed the basic idea of Generative AI: </a:t>
            </a: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from past patterns → Generate a new, realistic example.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Types of Generative Approaches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different ways a model can create — before we pick one for our oncology project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2A9D8F"/>
          </a:solidFill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MODELS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41732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F3D5C"/>
          </a:solidFill>
        </p:spPr>
      </p:sp>
      <p:sp>
        <p:nvSpPr>
          <p:cNvPr id="7" name="Text 5"/>
          <p:cNvSpPr txBox="1"/>
          <p:nvPr/>
        </p:nvSpPr>
        <p:spPr>
          <a:xfrm>
            <a:off x="4343400" y="1417320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 / LANGUAGE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38160" y="141732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E63946"/>
          </a:solidFill>
        </p:spPr>
      </p:sp>
      <p:sp>
        <p:nvSpPr>
          <p:cNvPr id="9" name="Text 7"/>
          <p:cNvSpPr txBox="1"/>
          <p:nvPr/>
        </p:nvSpPr>
        <p:spPr>
          <a:xfrm>
            <a:off x="8138160" y="1417320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SIMULATION-BASED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35204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965960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a compressed distribution of real patient cases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965960"/>
            <a:ext cx="35204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965960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token-by-token patterns in reports &amp; notes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204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965960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the rules &amp; behaviors of tumor biology and drugs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35204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606040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Compresses &amp; resamples from a learned latent space (GAN/VAE/Diffusion)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2606040"/>
            <a:ext cx="35204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0560" y="2606040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Predicts the next likely detail in a sequence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2606040"/>
            <a:ext cx="35204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2606040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interacting agents/rules forward in time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35204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337560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Sampling a new biomarker trajectory that 'looks like' real ctDNA curves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337560"/>
            <a:ext cx="35204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3337560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a new pathology note + matching genomic profile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3337560"/>
            <a:ext cx="35204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75320" y="3337560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Simulating how a tumor evolves under treatment pressure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3520440" cy="502920"/>
          </a:xfrm>
          <a:prstGeom prst="roundRect">
            <a:avLst>
              <a:gd name="adj" fmla="val 9091"/>
            </a:avLst>
          </a:prstGeom>
          <a:solidFill>
            <a:srgbClr val="E9EEF5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0690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43400" y="4069080"/>
            <a:ext cx="3520440" cy="502920"/>
          </a:xfrm>
          <a:prstGeom prst="roundRect">
            <a:avLst>
              <a:gd name="adj" fmla="val 9091"/>
            </a:avLst>
          </a:prstGeom>
          <a:solidFill>
            <a:srgbClr val="E9EEF5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80560" y="40690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 — our approach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69080"/>
            <a:ext cx="3520440" cy="502920"/>
          </a:xfrm>
          <a:prstGeom prst="roundRect">
            <a:avLst>
              <a:gd name="adj" fmla="val 9091"/>
            </a:avLst>
          </a:prstGeom>
          <a:solidFill>
            <a:srgbClr val="E9EEF5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5320" y="40690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6634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FB627"/>
          </a:solidFill>
        </p:spPr>
      </p:sp>
      <p:sp>
        <p:nvSpPr>
          <p:cNvPr id="35" name="Text 33"/>
          <p:cNvSpPr txBox="1"/>
          <p:nvPr/>
        </p:nvSpPr>
        <p:spPr>
          <a:xfrm>
            <a:off x="822960" y="46634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oncology project uses LLM-based Sequence Generation — because we need paired genomic data AND realistic clinical narrative text.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Statistical vs LLM-Based Generation — Same Tumor Data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key difference: does the output include realistic language, not just numbers?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STATISTICAL GENERATION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solidFill>
            <a:srgbClr val="E9EEF5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0116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VAF (%)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01168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ctDNA (ng/mL)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4937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3774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EGFR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23774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3774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2743200"/>
            <a:ext cx="4937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2743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KRAS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27432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274320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108960"/>
            <a:ext cx="4937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1089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31089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310896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6118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DISTRIBUTION → MODEL SAMPLES NUMBERS ONLY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97764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the numeric spread of tumor-marker patterns and samples new values that fit.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4173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🔵 LLM-BASED GENERATION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20116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 — VAF 68%, ctDNA 9.2 ng/mL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237744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F0F4FA"/>
          </a:solidFill>
        </p:spPr>
      </p:sp>
      <p:sp>
        <p:nvSpPr>
          <p:cNvPr id="28" name="Text 26"/>
          <p:cNvSpPr txBox="1"/>
          <p:nvPr/>
        </p:nvSpPr>
        <p:spPr>
          <a:xfrm>
            <a:off x="6675120" y="246888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"Pathology note: Progressive disease with rising ctDNA burden and new liver lesions. Patient reporting increased fatigue and jaundice. Recommend urgent regimen reassessment."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7947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+ LANGUAGE → MODEL GENERATES NUMBERS + NARRATIVE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416052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matching biomarker values AND a realistic pathology-style report together.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F3D5C"/>
          </a:solidFill>
        </p:spPr>
      </p:sp>
      <p:sp>
        <p:nvSpPr>
          <p:cNvPr id="32" name="Text 30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SEED: Tumor Mutation Burden 18 mut/Mb, Renal Function: Impaired  →  Generates: Severe compound mutation profile + pathology-note narrative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 We Already Have Every Combination?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035040" cy="502920"/>
          </a:xfrm>
          <a:prstGeom prst="roundRect">
            <a:avLst>
              <a:gd name="adj" fmla="val 9091"/>
            </a:avLst>
          </a:prstGeom>
          <a:solidFill>
            <a:srgbClr val="132A45"/>
          </a:solidFill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Tumor Mutation Burden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37160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Renal Function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37160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47672"/>
            <a:ext cx="603504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</p:spPr>
      </p:sp>
      <p:sp>
        <p:nvSpPr>
          <p:cNvPr id="8" name="Text 6"/>
          <p:cNvSpPr txBox="1"/>
          <p:nvPr/>
        </p:nvSpPr>
        <p:spPr>
          <a:xfrm>
            <a:off x="731520" y="194767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mut/Mb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947672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94767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23744"/>
            <a:ext cx="603504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</p:spPr>
      </p:sp>
      <p:sp>
        <p:nvSpPr>
          <p:cNvPr id="12" name="Text 10"/>
          <p:cNvSpPr txBox="1"/>
          <p:nvPr/>
        </p:nvSpPr>
        <p:spPr>
          <a:xfrm>
            <a:off x="731520" y="2523744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mut/Mb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523744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Mild Impairment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523744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99816"/>
            <a:ext cx="603504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</p:spPr>
      </p:sp>
      <p:sp>
        <p:nvSpPr>
          <p:cNvPr id="16" name="Text 14"/>
          <p:cNvSpPr txBox="1"/>
          <p:nvPr/>
        </p:nvSpPr>
        <p:spPr>
          <a:xfrm>
            <a:off x="731520" y="3099816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mut/Mb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3099816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 Impairment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099816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??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947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we already have an example of THIS exact combination in our historical data?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4340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858000" y="1371600"/>
            <a:ext cx="4754880" cy="3520440"/>
          </a:xfrm>
          <a:prstGeom prst="roundRect">
            <a:avLst>
              <a:gd name="adj" fmla="val 2597"/>
            </a:avLst>
          </a:prstGeom>
          <a:solidFill>
            <a:srgbClr val="17263B"/>
          </a:solidFill>
        </p:spPr>
      </p:sp>
      <p:sp>
        <p:nvSpPr>
          <p:cNvPr id="22" name="Text 20"/>
          <p:cNvSpPr txBox="1"/>
          <p:nvPr/>
        </p:nvSpPr>
        <p:spPr>
          <a:xfrm>
            <a:off x="7132320" y="15544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📘 GENERATIVE AI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192024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don't have every combination — the model imagines plausible new ones consistent with what it has learned from real oncology patterns.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30175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(GAN/VAE):  Samples from a learned distribution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34747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Simulation-based:  Runs rules &amp; agents (tumor/drug dynamics) forward in time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41605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oncology project uses LLM-based Generative AI.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Sequence / Language Approaches — Algorithms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oncology data • Known patterns • Different strategies for generating a scenario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F3D5C"/>
          </a:solidFill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 SAME ONCOLOGY DATA:  Genomic Panel • ctDNA Levels • Pathology Notes • NCCN Guidelines   →   GENERATE PROFILE + NARRATIVE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8" name="Text 6"/>
          <p:cNvSpPr txBox="1"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0253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Autoregressive LLM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40487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THE NEXT TOKEN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51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logically follows in this pathology note?"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9718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Narrative + structured pair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87452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01168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5" name="Text 13"/>
          <p:cNvSpPr txBox="1"/>
          <p:nvPr/>
        </p:nvSpPr>
        <p:spPr>
          <a:xfrm>
            <a:off x="3474720" y="2011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00253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Prompt-Engineered Gen.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40487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SHAPE OUTPUT WITH INSTRUCTIONS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2651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if we specify gene, severity, organ?"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29718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Profile matching the spec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87452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01168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2" name="Text 20"/>
          <p:cNvSpPr txBox="1"/>
          <p:nvPr/>
        </p:nvSpPr>
        <p:spPr>
          <a:xfrm>
            <a:off x="6263640" y="2011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200253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Few-Shot Generation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240487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FROM A HANDFUL OF EXAMPLES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651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pattern do these 3 cases share?"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9718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New profile, same style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915400" y="187452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52560" y="201168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9" name="Text 27"/>
          <p:cNvSpPr txBox="1"/>
          <p:nvPr/>
        </p:nvSpPr>
        <p:spPr>
          <a:xfrm>
            <a:off x="9052560" y="2011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509760" y="200253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Retrieval-Augmented (RAG)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240487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 IN REAL RECORDS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2651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did similar past patients look like?"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29718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Profile grounded in history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335584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3493008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36" name="Text 34"/>
          <p:cNvSpPr txBox="1"/>
          <p:nvPr/>
        </p:nvSpPr>
        <p:spPr>
          <a:xfrm>
            <a:off x="685800" y="34930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3483864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Fine-Tuned Domain LLM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38862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SPECIALIZE ON ONCOLOGY DATA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413308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language do oncology notes use?"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445312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Domain-accurate profile text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35584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0" y="3493008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43" name="Text 41"/>
          <p:cNvSpPr txBox="1"/>
          <p:nvPr/>
        </p:nvSpPr>
        <p:spPr>
          <a:xfrm>
            <a:off x="3474720" y="34930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3931920" y="3483864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Chain-of-Thought Prompt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3474720" y="38862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REASON STEP-BY-STEP FIRST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3474720" y="413308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conditions create a compound mutation?"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3474720" y="445312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Logically consistent profile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26480" y="335584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3493008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50" name="Text 48"/>
          <p:cNvSpPr txBox="1"/>
          <p:nvPr/>
        </p:nvSpPr>
        <p:spPr>
          <a:xfrm>
            <a:off x="6263640" y="34930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720840" y="3483864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Constrained Decoding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263640" y="38862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OUTPUT VALID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6263640" y="413308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we force the JSON schema to stay correct?"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263640" y="445312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Structured, parseable data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915400" y="335584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52560" y="3493008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57" name="Text 55"/>
          <p:cNvSpPr txBox="1"/>
          <p:nvPr/>
        </p:nvSpPr>
        <p:spPr>
          <a:xfrm>
            <a:off x="9052560" y="34930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9509760" y="3483864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Sampling / Temperature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9052560" y="38862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TUNE HOW WILD IT GETS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9052560" y="413308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"Do we want a safe variant or a wildcard case?"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9052560" y="445312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Controlled profile diversity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8640" y="4864608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FB627"/>
          </a:solidFill>
        </p:spPr>
      </p:sp>
      <p:sp>
        <p:nvSpPr>
          <p:cNvPr id="63" name="Text 61"/>
          <p:cNvSpPr txBox="1"/>
          <p:nvPr/>
        </p:nvSpPr>
        <p:spPr>
          <a:xfrm>
            <a:off x="822960" y="4864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REMEMBER:  TOKEN • INSTRUCTIONS • EXAMPLES • GROUNDING • SPECIALIZATION • REASONING • VALIDITY • DIVERSITY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Statistical / Latent Models — Algorithms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language output • No fixed script • The model samples new numbers from learned structure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2A9D8F"/>
          </a:solidFill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🧬  GENOMIC DATA:  VAF • ctDNA • Tumor Mutation Burden • Biomarker Panels   →   NO REAL EXAMPLE OF THIS EXACT COMBO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5740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87168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0360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NETWORKS COMPETE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127248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a discriminator tell real from fake?"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01568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DISCOVERS → Increasingly realistic fakes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79776" y="192024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16936" y="205740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5" name="Text 13"/>
          <p:cNvSpPr txBox="1"/>
          <p:nvPr/>
        </p:nvSpPr>
        <p:spPr>
          <a:xfrm>
            <a:off x="2916936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16936" y="2487168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916936" y="2880360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COMPRESS THEN SAMPLE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916936" y="3127248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"What's the essence of a resistant profile?"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2916936" y="3401568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DISCOVERS → New profile from latent space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10912" y="192024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8072" y="205740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2" name="Text 20"/>
          <p:cNvSpPr txBox="1"/>
          <p:nvPr/>
        </p:nvSpPr>
        <p:spPr>
          <a:xfrm>
            <a:off x="5148072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48072" y="2487168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Diffusion Model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148072" y="2880360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DENOISE STEP BY STEP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148072" y="3127248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we sculpt a profile out of noise?"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148072" y="3401568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DISCOVERS → High-fidelity synthetic sequence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42048" y="192024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79208" y="205740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9" name="Text 27"/>
          <p:cNvSpPr txBox="1"/>
          <p:nvPr/>
        </p:nvSpPr>
        <p:spPr>
          <a:xfrm>
            <a:off x="7379208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79208" y="2487168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 Perturb.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379208" y="2880360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TWEAK A REAL CASE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379208" y="3127248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if last patient's TMB was 20% higher?"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7379208" y="3401568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DISCOVERS → Modified historical profile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473184" y="192024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10344" y="205740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36" name="Text 34"/>
          <p:cNvSpPr txBox="1"/>
          <p:nvPr/>
        </p:nvSpPr>
        <p:spPr>
          <a:xfrm>
            <a:off x="9610344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10344" y="2487168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Gaussian Mixture Sampling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610344" y="2880360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FROM KNOWN CLUSTERS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610344" y="3127248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does a 'typical severe' profile look like?"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9610344" y="3401568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DISCOVERS → New numeric biomarker profile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" y="388620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FB627"/>
          </a:solidFill>
        </p:spPr>
      </p:sp>
      <p:sp>
        <p:nvSpPr>
          <p:cNvPr id="42" name="Text 40"/>
          <p:cNvSpPr txBox="1"/>
          <p:nvPr/>
        </p:nvSpPr>
        <p:spPr>
          <a:xfrm>
            <a:off x="822960" y="38862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REMEMBER:  COMPETE • COMPRESS • DENOISE • TWEAK • SAMPLE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Simulation-Based Generation — Algorithms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fixed answers. The model generates scenarios by running rules and agents forward.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63946"/>
          </a:solidFill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💊  TUMOR RESPONSE:  Genes • Drugs • Tumor Cells • Immune System   →   NO SCRIPT, ONLY RULES &amp; INTERACTIONS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5740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87168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Agent-Based Simulation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26080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 ACTORS INTERACTING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172968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"How would tumor cells &amp; drugs interact?"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10712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→ Emergent resistance scenario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79776" y="192024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16936" y="205740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5" name="Text 13"/>
          <p:cNvSpPr txBox="1"/>
          <p:nvPr/>
        </p:nvSpPr>
        <p:spPr>
          <a:xfrm>
            <a:off x="2916936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16936" y="2487168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Monte Carlo Simulation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916936" y="2926080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THE SAME EVENT 1,000 TIMES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916936" y="3172968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"What's the range of possible outcomes?"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916936" y="3410712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→ Distribution of variants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10912" y="192024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8072" y="205740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2" name="Text 20"/>
          <p:cNvSpPr txBox="1"/>
          <p:nvPr/>
        </p:nvSpPr>
        <p:spPr>
          <a:xfrm>
            <a:off x="5148072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48072" y="2487168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Event Injection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148072" y="2926080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FORCE A KNOWN FAILURE MODE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148072" y="3172968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if renal function declines mid-treatment?"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148072" y="3410712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→ Scenario with disruption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242048" y="192024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79208" y="205740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9" name="Text 27"/>
          <p:cNvSpPr txBox="1"/>
          <p:nvPr/>
        </p:nvSpPr>
        <p:spPr>
          <a:xfrm>
            <a:off x="7379208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79208" y="2487168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Markov Chain Simulation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379208" y="2926080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 OF PROBABLE STATES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379208" y="3172968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disease state follows this one?"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379208" y="3410712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→ Plausible progression sequence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473184" y="192024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10344" y="2057400"/>
            <a:ext cx="365760" cy="365760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36" name="Text 34"/>
          <p:cNvSpPr txBox="1"/>
          <p:nvPr/>
        </p:nvSpPr>
        <p:spPr>
          <a:xfrm>
            <a:off x="9610344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10344" y="2487168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Twin Replay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610344" y="2926080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MIRROR THE REAL PATIENT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9610344" y="3172968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"How would our actual patient cohort respond?"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9610344" y="3410712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→ Clinically grounded scenario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48640" y="388620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FB627"/>
          </a:solidFill>
        </p:spPr>
      </p:sp>
      <p:sp>
        <p:nvSpPr>
          <p:cNvPr id="42" name="Text 40"/>
          <p:cNvSpPr txBox="1"/>
          <p:nvPr/>
        </p:nvSpPr>
        <p:spPr>
          <a:xfrm>
            <a:off x="822960" y="38862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REMEMBER:  INTERACT • REPEAT • INJECT • CHAIN • MIRROR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Should the Generator Decide What to Create?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tumor mutation burden is high, should we immediately generate Severe? What should we check next?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13233D"/>
          </a:solidFill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Tumor Mutation Burden &gt; 15 mut/Mb?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6712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YES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13233D"/>
          </a:solidFill>
        </p:spPr>
      </p:sp>
      <p:sp>
        <p:nvSpPr>
          <p:cNvPr id="8" name="Text 6"/>
          <p:cNvSpPr txBox="1"/>
          <p:nvPr/>
        </p:nvSpPr>
        <p:spPr>
          <a:xfrm>
            <a:off x="777240" y="2468880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ctDNA Rising &gt; 20% per cycle?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3580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YES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13233D"/>
          </a:solidFill>
        </p:spPr>
      </p:sp>
      <p:sp>
        <p:nvSpPr>
          <p:cNvPr id="11" name="Text 9"/>
          <p:cNvSpPr txBox="1"/>
          <p:nvPr/>
        </p:nvSpPr>
        <p:spPr>
          <a:xfrm>
            <a:off x="777240" y="3337560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Renal Function = Impaired?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90448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YES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6949440" cy="640080"/>
          </a:xfrm>
          <a:prstGeom prst="roundRect">
            <a:avLst>
              <a:gd name="adj" fmla="val 8571"/>
            </a:avLst>
          </a:prstGeom>
          <a:solidFill>
            <a:srgbClr val="E63946"/>
          </a:solidFill>
        </p:spPr>
      </p:sp>
      <p:sp>
        <p:nvSpPr>
          <p:cNvPr id="14" name="Text 12"/>
          <p:cNvSpPr txBox="1"/>
          <p:nvPr/>
        </p:nvSpPr>
        <p:spPr>
          <a:xfrm>
            <a:off x="777240" y="4251960"/>
            <a:ext cx="6492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GENERATE: SEVERE COMPOUND SCENARIO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18120" y="1600200"/>
            <a:ext cx="3794760" cy="3017520"/>
          </a:xfrm>
          <a:prstGeom prst="roundRect">
            <a:avLst>
              <a:gd name="adj" fmla="val 3030"/>
            </a:avLst>
          </a:prstGeom>
          <a:solidFill>
            <a:srgbClr val="132A45"/>
          </a:solidFill>
        </p:spPr>
      </p:sp>
      <p:sp>
        <p:nvSpPr>
          <p:cNvPr id="16" name="Text 14"/>
          <p:cNvSpPr txBox="1"/>
          <p:nvPr/>
        </p:nvSpPr>
        <p:spPr>
          <a:xfrm>
            <a:off x="8046720" y="17830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just built a Scenario Spec.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286000"/>
            <a:ext cx="33832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generator creates a scenario by combining conditions — one seed parameter at a time — until it reaches a coherent situation.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61188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this project, we use LLM-BASED GENERATION guided by prompts — flexible, realistic, and fast to iterate on.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We Generate From Messy Seed Data?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0F3D5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73736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VAF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3736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ctDNA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7373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313432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EGFR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313432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313432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31343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Impaired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9504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889504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EGFR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2889504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889504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889504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Impaired  ← Duplicate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465576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465576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3465576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465576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3465576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7880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directly generate profiles using this messy seed data?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59028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548640" y="5276088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0F3D5C"/>
          </a:solidFill>
        </p:spPr>
      </p:sp>
      <p:sp>
        <p:nvSpPr>
          <p:cNvPr id="27" name="Text 25"/>
          <p:cNvSpPr txBox="1"/>
          <p:nvPr/>
        </p:nvSpPr>
        <p:spPr>
          <a:xfrm>
            <a:off x="822960" y="5276088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GenAI system needs someone to prepare the seed data first.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ROLE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68680" cy="868680"/>
          </a:xfrm>
          <a:prstGeom prst="ellipse">
            <a:avLst/>
          </a:prstGeom>
          <a:solidFill>
            <a:srgbClr val="0F3D5C"/>
          </a:solidFill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🧹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82296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ENGINEER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FDEDEE"/>
          </a:solidFill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10332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 </a:t>
            </a:r>
            <a:r>
              <a:rPr lang="en-US" sz="1300" dirty="0">
                <a:solidFill>
                  <a:srgbClr val="8A3B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historical distributions and prompts come from different sources.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261747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</p:spPr>
      </p:sp>
      <p:sp>
        <p:nvSpPr>
          <p:cNvPr id="9" name="Text 7"/>
          <p:cNvSpPr txBox="1"/>
          <p:nvPr/>
        </p:nvSpPr>
        <p:spPr>
          <a:xfrm>
            <a:off x="548640" y="2651760"/>
            <a:ext cx="261747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Raw Files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03270" y="2651760"/>
            <a:ext cx="261747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</p:spPr>
      </p:sp>
      <p:sp>
        <p:nvSpPr>
          <p:cNvPr id="11" name="Text 9"/>
          <p:cNvSpPr txBox="1"/>
          <p:nvPr/>
        </p:nvSpPr>
        <p:spPr>
          <a:xfrm>
            <a:off x="3303270" y="2651760"/>
            <a:ext cx="261747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Duplicates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57900" y="2651760"/>
            <a:ext cx="261747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</p:spPr>
      </p:sp>
      <p:sp>
        <p:nvSpPr>
          <p:cNvPr id="13" name="Text 11"/>
          <p:cNvSpPr txBox="1"/>
          <p:nvPr/>
        </p:nvSpPr>
        <p:spPr>
          <a:xfrm>
            <a:off x="6057900" y="2651760"/>
            <a:ext cx="261747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 Missing Values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12530" y="2651760"/>
            <a:ext cx="2617470" cy="685800"/>
          </a:xfrm>
          <a:prstGeom prst="roundRect">
            <a:avLst>
              <a:gd name="adj" fmla="val 8000"/>
            </a:avLst>
          </a:prstGeom>
          <a:solidFill>
            <a:srgbClr val="FFB627"/>
          </a:solidFill>
        </p:spPr>
      </p:sp>
      <p:sp>
        <p:nvSpPr>
          <p:cNvPr id="15" name="Text 13"/>
          <p:cNvSpPr txBox="1"/>
          <p:nvPr/>
        </p:nvSpPr>
        <p:spPr>
          <a:xfrm>
            <a:off x="8812530" y="2651760"/>
            <a:ext cx="261747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0F3D5C"/>
          </a:solidFill>
        </p:spPr>
      </p:sp>
      <p:sp>
        <p:nvSpPr>
          <p:cNvPr id="17" name="Text 15"/>
          <p:cNvSpPr txBox="1"/>
          <p:nvPr/>
        </p:nvSpPr>
        <p:spPr>
          <a:xfrm>
            <a:off x="822960" y="356616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CLEAN SEED DATASET → The Data Engineer prepares clean baseline data for the generator to learn from.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Does the Generated Scenario Make Sense?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Tumor Mutation Burden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69164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mut/Mb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5120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67712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ctDNA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267712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 ng/mL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5120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843784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Renal Function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843784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5120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19856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Severity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419856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169164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0F3D5C"/>
          </a:solidFill>
        </p:spPr>
      </p:sp>
      <p:sp>
        <p:nvSpPr>
          <p:cNvPr id="17" name="Text 15"/>
          <p:cNvSpPr txBox="1"/>
          <p:nvPr/>
        </p:nvSpPr>
        <p:spPr>
          <a:xfrm>
            <a:off x="6172200" y="18745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this generated scenario look realistic?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237744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 is it a hallucination — low tumor burden and normal renal function, but labeled Severe?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777240" cy="777240"/>
          </a:xfrm>
          <a:prstGeom prst="ellipse">
            <a:avLst/>
          </a:prstGeom>
          <a:solidFill>
            <a:srgbClr val="0F3D5C"/>
          </a:solidFill>
        </p:spPr>
      </p:sp>
      <p:sp>
        <p:nvSpPr>
          <p:cNvPr id="20" name="Text 18"/>
          <p:cNvSpPr txBox="1"/>
          <p:nvPr/>
        </p:nvSpPr>
        <p:spPr>
          <a:xfrm>
            <a:off x="548640" y="434340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4348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/ PROMPT ENGINEER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0749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EDA/Prompt Engineer explores blind spots, crafts prompts, and checks generated scenarios for unrealistic outputs.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623560"/>
            <a:ext cx="2617470" cy="640080"/>
          </a:xfrm>
          <a:prstGeom prst="roundRect">
            <a:avLst>
              <a:gd name="adj" fmla="val 8571"/>
            </a:avLst>
          </a:prstGeom>
          <a:solidFill>
            <a:srgbClr val="0F3D5C"/>
          </a:solidFill>
        </p:spPr>
      </p:sp>
      <p:sp>
        <p:nvSpPr>
          <p:cNvPr id="24" name="Text 22"/>
          <p:cNvSpPr txBox="1"/>
          <p:nvPr/>
        </p:nvSpPr>
        <p:spPr>
          <a:xfrm>
            <a:off x="548640" y="5623560"/>
            <a:ext cx="261747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Seed Data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03270" y="5623560"/>
            <a:ext cx="2617470" cy="640080"/>
          </a:xfrm>
          <a:prstGeom prst="roundRect">
            <a:avLst>
              <a:gd name="adj" fmla="val 8571"/>
            </a:avLst>
          </a:prstGeom>
          <a:solidFill>
            <a:srgbClr val="0F3D5C"/>
          </a:solidFill>
        </p:spPr>
      </p:sp>
      <p:sp>
        <p:nvSpPr>
          <p:cNvPr id="26" name="Text 24"/>
          <p:cNvSpPr txBox="1"/>
          <p:nvPr/>
        </p:nvSpPr>
        <p:spPr>
          <a:xfrm>
            <a:off x="3303270" y="5623560"/>
            <a:ext cx="261747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Craft Prompts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57900" y="5623560"/>
            <a:ext cx="2617470" cy="640080"/>
          </a:xfrm>
          <a:prstGeom prst="roundRect">
            <a:avLst>
              <a:gd name="adj" fmla="val 8571"/>
            </a:avLst>
          </a:prstGeom>
          <a:solidFill>
            <a:srgbClr val="0F3D5C"/>
          </a:solidFill>
        </p:spPr>
      </p:sp>
      <p:sp>
        <p:nvSpPr>
          <p:cNvPr id="28" name="Text 26"/>
          <p:cNvSpPr txBox="1"/>
          <p:nvPr/>
        </p:nvSpPr>
        <p:spPr>
          <a:xfrm>
            <a:off x="6057900" y="5623560"/>
            <a:ext cx="261747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 Hallucinations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12530" y="5623560"/>
            <a:ext cx="2617470" cy="640080"/>
          </a:xfrm>
          <a:prstGeom prst="roundRect">
            <a:avLst>
              <a:gd name="adj" fmla="val 8571"/>
            </a:avLst>
          </a:prstGeom>
          <a:solidFill>
            <a:srgbClr val="FFB627"/>
          </a:solidFill>
        </p:spPr>
      </p:sp>
      <p:sp>
        <p:nvSpPr>
          <p:cNvPr id="30" name="Text 28"/>
          <p:cNvSpPr txBox="1"/>
          <p:nvPr/>
        </p:nvSpPr>
        <p:spPr>
          <a:xfrm>
            <a:off x="8812530" y="5623560"/>
            <a:ext cx="261747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Prompt Set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Now Our Seed Data and Prompts Are Ready. What Next?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777240" cy="777240"/>
          </a:xfrm>
          <a:prstGeom prst="ellipse">
            <a:avLst/>
          </a:prstGeom>
          <a:solidFill>
            <a:srgbClr val="0F3D5C"/>
          </a:solidFill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3716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GENAI ENGINEER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0F3D5C"/>
          </a:solidFill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Tumor Mutation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Burden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0" y="237744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0F3D5C"/>
          </a:solidFill>
        </p:spPr>
      </p:sp>
      <p:sp>
        <p:nvSpPr>
          <p:cNvPr id="9" name="Text 7"/>
          <p:cNvSpPr txBox="1"/>
          <p:nvPr/>
        </p:nvSpPr>
        <p:spPr>
          <a:xfrm>
            <a:off x="2011680" y="237744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ctDNA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237744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0F3D5C"/>
          </a:solidFill>
        </p:spPr>
      </p:sp>
      <p:sp>
        <p:nvSpPr>
          <p:cNvPr id="11" name="Text 9"/>
          <p:cNvSpPr txBox="1"/>
          <p:nvPr/>
        </p:nvSpPr>
        <p:spPr>
          <a:xfrm>
            <a:off x="3474720" y="237744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237744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0F3D5C"/>
          </a:solidFill>
        </p:spPr>
      </p:sp>
      <p:sp>
        <p:nvSpPr>
          <p:cNvPr id="13" name="Text 11"/>
          <p:cNvSpPr txBox="1"/>
          <p:nvPr/>
        </p:nvSpPr>
        <p:spPr>
          <a:xfrm>
            <a:off x="4937760" y="237744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Involvement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377440"/>
            <a:ext cx="320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20840" y="224028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B627"/>
          </a:solidFill>
        </p:spPr>
      </p:sp>
      <p:sp>
        <p:nvSpPr>
          <p:cNvPr id="16" name="Text 14"/>
          <p:cNvSpPr txBox="1"/>
          <p:nvPr/>
        </p:nvSpPr>
        <p:spPr>
          <a:xfrm>
            <a:off x="6720840" y="224028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(LLM-based)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377440"/>
            <a:ext cx="320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61120" y="2377440"/>
            <a:ext cx="658368" cy="914400"/>
          </a:xfrm>
          <a:prstGeom prst="roundRect">
            <a:avLst>
              <a:gd name="adj" fmla="val 8333"/>
            </a:avLst>
          </a:prstGeom>
          <a:solidFill>
            <a:srgbClr val="2A9D8F"/>
          </a:solidFill>
        </p:spPr>
      </p:sp>
      <p:sp>
        <p:nvSpPr>
          <p:cNvPr id="19" name="Text 17"/>
          <p:cNvSpPr txBox="1"/>
          <p:nvPr/>
        </p:nvSpPr>
        <p:spPr>
          <a:xfrm>
            <a:off x="8961120" y="2377440"/>
            <a:ext cx="65836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710928" y="2377440"/>
            <a:ext cx="658368" cy="914400"/>
          </a:xfrm>
          <a:prstGeom prst="roundRect">
            <a:avLst>
              <a:gd name="adj" fmla="val 8333"/>
            </a:avLst>
          </a:prstGeom>
          <a:solidFill>
            <a:srgbClr val="FFB627"/>
          </a:solidFill>
        </p:spPr>
      </p:sp>
      <p:sp>
        <p:nvSpPr>
          <p:cNvPr id="21" name="Text 19"/>
          <p:cNvSpPr txBox="1"/>
          <p:nvPr/>
        </p:nvSpPr>
        <p:spPr>
          <a:xfrm>
            <a:off x="9710928" y="2377440"/>
            <a:ext cx="65836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460736" y="2377440"/>
            <a:ext cx="658368" cy="914400"/>
          </a:xfrm>
          <a:prstGeom prst="roundRect">
            <a:avLst>
              <a:gd name="adj" fmla="val 8333"/>
            </a:avLst>
          </a:prstGeom>
          <a:solidFill>
            <a:srgbClr val="E63946"/>
          </a:solidFill>
        </p:spPr>
      </p:sp>
      <p:sp>
        <p:nvSpPr>
          <p:cNvPr id="23" name="Text 21"/>
          <p:cNvSpPr txBox="1"/>
          <p:nvPr/>
        </p:nvSpPr>
        <p:spPr>
          <a:xfrm>
            <a:off x="10460736" y="2377440"/>
            <a:ext cx="65836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210544" y="2377440"/>
            <a:ext cx="658368" cy="914400"/>
          </a:xfrm>
          <a:prstGeom prst="roundRect">
            <a:avLst>
              <a:gd name="adj" fmla="val 8333"/>
            </a:avLst>
          </a:prstGeom>
          <a:solidFill>
            <a:srgbClr val="0F3D5C"/>
          </a:solidFill>
        </p:spPr>
      </p:sp>
      <p:sp>
        <p:nvSpPr>
          <p:cNvPr id="25" name="Text 23"/>
          <p:cNvSpPr txBox="1"/>
          <p:nvPr/>
        </p:nvSpPr>
        <p:spPr>
          <a:xfrm>
            <a:off x="11210544" y="2377440"/>
            <a:ext cx="65836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Wildcard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32A45"/>
          </a:solidFill>
        </p:spPr>
      </p:sp>
      <p:sp>
        <p:nvSpPr>
          <p:cNvPr id="27" name="Text 25"/>
          <p:cNvSpPr txBox="1"/>
          <p:nvPr/>
        </p:nvSpPr>
        <p:spPr>
          <a:xfrm>
            <a:off x="822960" y="393192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GenAI Engineer builds the generation pipeline that turns seed conditions into full patient scenarios.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TRUST IT?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Generator Says Every Scenario Looks Realistic.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Should we trust it immediately?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82296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SCENARIO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Optimized to look convincing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874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CONSISTENCY CHECK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33172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checked against biological plausibility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777240" cy="77724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13" name="Text 11"/>
          <p:cNvSpPr txBox="1"/>
          <p:nvPr/>
        </p:nvSpPr>
        <p:spPr>
          <a:xfrm>
            <a:off x="548640" y="333756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4290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ENGINEER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690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generated scenarios against real-world plausibility &amp; NCCN SOP rules to check whether they're truly useful stress-tests — or just noise.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0F3D5C"/>
          </a:solidFill>
        </p:spPr>
      </p:sp>
      <p:sp>
        <p:nvSpPr>
          <p:cNvPr id="17" name="Text 15"/>
          <p:cNvSpPr txBox="1"/>
          <p:nvPr/>
        </p:nvSpPr>
        <p:spPr>
          <a:xfrm>
            <a:off x="731520" y="489204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Realism Score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21208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biologically plausible each scenario 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475488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0F3D5C"/>
          </a:solidFill>
        </p:spPr>
      </p:sp>
      <p:sp>
        <p:nvSpPr>
          <p:cNvPr id="20" name="Text 18"/>
          <p:cNvSpPr txBox="1"/>
          <p:nvPr/>
        </p:nvSpPr>
        <p:spPr>
          <a:xfrm>
            <a:off x="4526280" y="489204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Diversity Coverage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521208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many distinct resistance patterns are represented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8160" y="475488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0F3D5C"/>
          </a:solidFill>
        </p:spPr>
      </p:sp>
      <p:sp>
        <p:nvSpPr>
          <p:cNvPr id="23" name="Text 21"/>
          <p:cNvSpPr txBox="1"/>
          <p:nvPr/>
        </p:nvSpPr>
        <p:spPr>
          <a:xfrm>
            <a:off x="8321040" y="489204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Overconfidence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521208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Looks dramatic but is biologically impossible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the Tumor Board Read Raw Generator Logs Live?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77240" cy="777240"/>
          </a:xfrm>
          <a:prstGeom prst="ellipse">
            <a:avLst/>
          </a:prstGeom>
          <a:solidFill>
            <a:srgbClr val="0F3D5C"/>
          </a:solidFill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0312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INTEGRATION ENGINEER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F3D5C"/>
          </a:solidFill>
        </p:spPr>
      </p:sp>
      <p:sp>
        <p:nvSpPr>
          <p:cNvPr id="9" name="Text 7"/>
          <p:cNvSpPr txBox="1"/>
          <p:nvPr/>
        </p:nvSpPr>
        <p:spPr>
          <a:xfrm>
            <a:off x="548640" y="306324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Seed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306324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E63946"/>
          </a:solidFill>
        </p:spPr>
      </p:sp>
      <p:sp>
        <p:nvSpPr>
          <p:cNvPr id="11" name="Text 9"/>
          <p:cNvSpPr txBox="1"/>
          <p:nvPr/>
        </p:nvSpPr>
        <p:spPr>
          <a:xfrm>
            <a:off x="2697480" y="306324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🎬 Scenario: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 COMPOUND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06324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F3D5C"/>
          </a:solidFill>
        </p:spPr>
      </p:sp>
      <p:sp>
        <p:nvSpPr>
          <p:cNvPr id="13" name="Text 11"/>
          <p:cNvSpPr txBox="1"/>
          <p:nvPr/>
        </p:nvSpPr>
        <p:spPr>
          <a:xfrm>
            <a:off x="4846320" y="306324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306324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F3D5C"/>
          </a:solidFill>
        </p:spPr>
      </p:sp>
      <p:sp>
        <p:nvSpPr>
          <p:cNvPr id="15" name="Text 13"/>
          <p:cNvSpPr txBox="1"/>
          <p:nvPr/>
        </p:nvSpPr>
        <p:spPr>
          <a:xfrm>
            <a:off x="6995160" y="306324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Realism: 93%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306324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F3D5C"/>
          </a:solidFill>
        </p:spPr>
      </p:sp>
      <p:sp>
        <p:nvSpPr>
          <p:cNvPr id="17" name="Text 15"/>
          <p:cNvSpPr txBox="1"/>
          <p:nvPr/>
        </p:nvSpPr>
        <p:spPr>
          <a:xfrm>
            <a:off x="9144000" y="306324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Injected into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32A45"/>
          </a:solidFill>
        </p:spPr>
      </p:sp>
      <p:sp>
        <p:nvSpPr>
          <p:cNvPr id="19" name="Text 17"/>
          <p:cNvSpPr txBox="1"/>
          <p:nvPr/>
        </p:nvSpPr>
        <p:spPr>
          <a:xfrm>
            <a:off x="822960" y="438912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Test Coverage: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7548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Run treatment engine against scenario      •  Log system's decision &amp; timing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864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Integration Engineer feeds generated scenarios into the live testing / stress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FULL JOURNEY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Emergency to Synthetic Stress-Test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3233D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conditions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we need?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417320"/>
            <a:ext cx="274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3233D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41732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2402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from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 patterns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417320"/>
            <a:ext cx="274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3233D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41732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2402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 is the raw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seed data clean?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1417320"/>
            <a:ext cx="274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15400" y="141732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3233D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15400" y="141732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2402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the scenario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sense?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3233D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06324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/ PROMPT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8862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generate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scenario?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3063240"/>
            <a:ext cx="274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37560" y="30632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3233D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37560" y="306324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GENAI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337560" y="38862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trust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scenario?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3063240"/>
            <a:ext cx="274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26480" y="30632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3233D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26480" y="306324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38862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the 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use it?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641080" y="3063240"/>
            <a:ext cx="274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915400" y="30632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3233D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15400" y="306324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B627"/>
          </a:solidFill>
        </p:spPr>
      </p:sp>
      <p:sp>
        <p:nvSpPr>
          <p:cNvPr id="34" name="Text 32"/>
          <p:cNvSpPr txBox="1"/>
          <p:nvPr/>
        </p:nvSpPr>
        <p:spPr>
          <a:xfrm>
            <a:off x="822960" y="4709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LIVE SCENARIO STRESS-TEST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 Are the Generator.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852160" cy="594360"/>
          </a:xfrm>
          <a:prstGeom prst="roundRect">
            <a:avLst>
              <a:gd name="adj" fmla="val 9231"/>
            </a:avLst>
          </a:prstGeom>
          <a:solidFill>
            <a:srgbClr val="13233D"/>
          </a:solidFill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Tumor Mutation Burden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78308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 mut/Mb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852160" cy="594360"/>
          </a:xfrm>
          <a:prstGeom prst="roundRect">
            <a:avLst>
              <a:gd name="adj" fmla="val 9231"/>
            </a:avLst>
          </a:prstGeom>
          <a:solidFill>
            <a:srgbClr val="13233D"/>
          </a:solidFill>
        </p:spPr>
      </p:sp>
      <p:sp>
        <p:nvSpPr>
          <p:cNvPr id="8" name="Text 6"/>
          <p:cNvSpPr txBox="1"/>
          <p:nvPr/>
        </p:nvSpPr>
        <p:spPr>
          <a:xfrm>
            <a:off x="777240" y="246888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ctDNA Trend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46888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852160" cy="594360"/>
          </a:xfrm>
          <a:prstGeom prst="roundRect">
            <a:avLst>
              <a:gd name="adj" fmla="val 9231"/>
            </a:avLst>
          </a:prstGeom>
          <a:solidFill>
            <a:srgbClr val="13233D"/>
          </a:solidFill>
        </p:spPr>
      </p:sp>
      <p:sp>
        <p:nvSpPr>
          <p:cNvPr id="11" name="Text 9"/>
          <p:cNvSpPr txBox="1"/>
          <p:nvPr/>
        </p:nvSpPr>
        <p:spPr>
          <a:xfrm>
            <a:off x="777240" y="315468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Renal Function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5468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Impaired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852160" cy="594360"/>
          </a:xfrm>
          <a:prstGeom prst="roundRect">
            <a:avLst>
              <a:gd name="adj" fmla="val 9231"/>
            </a:avLst>
          </a:prstGeom>
          <a:solidFill>
            <a:srgbClr val="13233D"/>
          </a:solidFill>
        </p:spPr>
      </p:sp>
      <p:sp>
        <p:nvSpPr>
          <p:cNvPr id="14" name="Text 12"/>
          <p:cNvSpPr txBox="1"/>
          <p:nvPr/>
        </p:nvSpPr>
        <p:spPr>
          <a:xfrm>
            <a:off x="777240" y="384048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 Event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84048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7830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scenario severity should be generated?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66560" y="2468880"/>
            <a:ext cx="4846320" cy="594360"/>
          </a:xfrm>
          <a:prstGeom prst="roundRect">
            <a:avLst>
              <a:gd name="adj" fmla="val 9231"/>
            </a:avLst>
          </a:prstGeom>
          <a:solidFill>
            <a:srgbClr val="2A9D8F"/>
          </a:solidFill>
        </p:spPr>
      </p:sp>
      <p:sp>
        <p:nvSpPr>
          <p:cNvPr id="18" name="Text 16"/>
          <p:cNvSpPr txBox="1"/>
          <p:nvPr/>
        </p:nvSpPr>
        <p:spPr>
          <a:xfrm>
            <a:off x="6766560" y="246888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MILD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3182112"/>
            <a:ext cx="4846320" cy="594360"/>
          </a:xfrm>
          <a:prstGeom prst="roundRect">
            <a:avLst>
              <a:gd name="adj" fmla="val 9231"/>
            </a:avLst>
          </a:prstGeom>
          <a:solidFill>
            <a:srgbClr val="FFB627"/>
          </a:solidFill>
        </p:spPr>
      </p:sp>
      <p:sp>
        <p:nvSpPr>
          <p:cNvPr id="20" name="Text 18"/>
          <p:cNvSpPr txBox="1"/>
          <p:nvPr/>
        </p:nvSpPr>
        <p:spPr>
          <a:xfrm>
            <a:off x="6766560" y="3182112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🟡 MODERATE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3895344"/>
            <a:ext cx="4846320" cy="594360"/>
          </a:xfrm>
          <a:prstGeom prst="roundRect">
            <a:avLst>
              <a:gd name="adj" fmla="val 9231"/>
            </a:avLst>
          </a:prstGeom>
          <a:solidFill>
            <a:srgbClr val="E63946"/>
          </a:solidFill>
        </p:spPr>
      </p:sp>
      <p:sp>
        <p:nvSpPr>
          <p:cNvPr id="22" name="Text 20"/>
          <p:cNvSpPr txBox="1"/>
          <p:nvPr/>
        </p:nvSpPr>
        <p:spPr>
          <a:xfrm>
            <a:off x="6766560" y="3895344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SEVERE COMPOUND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32A45"/>
          </a:solidFill>
        </p:spPr>
      </p:sp>
      <p:sp>
        <p:nvSpPr>
          <p:cNvPr id="24" name="Text 22"/>
          <p:cNvSpPr txBox="1"/>
          <p:nvPr/>
        </p:nvSpPr>
        <p:spPr>
          <a:xfrm>
            <a:off x="822960" y="489204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Let's see if our generator agrees with you.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You Did Manually → What Python Does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identified duplicates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1371600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</p:spPr>
      </p:sp>
      <p:sp>
        <p:nvSpPr>
          <p:cNvPr id="7" name="Text 5"/>
          <p:cNvSpPr txBox="1"/>
          <p:nvPr/>
        </p:nvSpPr>
        <p:spPr>
          <a:xfrm>
            <a:off x="6492240" y="1371600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cleans duplicate seeds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76272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spotted unrealistic scenarios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176272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63640" y="2176272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</p:spPr>
      </p:sp>
      <p:sp>
        <p:nvSpPr>
          <p:cNvPr id="12" name="Text 10"/>
          <p:cNvSpPr txBox="1"/>
          <p:nvPr/>
        </p:nvSpPr>
        <p:spPr>
          <a:xfrm>
            <a:off x="6492240" y="2176272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/ Prompt Eng. audits hallucinations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80944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80944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imagined a new scenario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980944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2980944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</p:spPr>
      </p:sp>
      <p:sp>
        <p:nvSpPr>
          <p:cNvPr id="17" name="Text 15"/>
          <p:cNvSpPr txBox="1"/>
          <p:nvPr/>
        </p:nvSpPr>
        <p:spPr>
          <a:xfrm>
            <a:off x="6492240" y="2980944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GenAI model generates the scenario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85616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785616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checked if it was plausible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3785616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63640" y="3785616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</p:spPr>
      </p:sp>
      <p:sp>
        <p:nvSpPr>
          <p:cNvPr id="22" name="Text 20"/>
          <p:cNvSpPr txBox="1"/>
          <p:nvPr/>
        </p:nvSpPr>
        <p:spPr>
          <a:xfrm>
            <a:off x="6492240" y="3785616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tests realism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590288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590288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handed off the scenario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4590288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63640" y="4590288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</p:spPr>
      </p:sp>
      <p:sp>
        <p:nvSpPr>
          <p:cNvPr id="27" name="Text 25"/>
          <p:cNvSpPr txBox="1"/>
          <p:nvPr/>
        </p:nvSpPr>
        <p:spPr>
          <a:xfrm>
            <a:off x="6492240" y="4590288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sends result to test dashboard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321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First, you understood the process manually.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97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Now, the computer automates the same process.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“Today, You Didn't Just Learn Generative AI.”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89888"/>
            <a:ext cx="10424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were the precision-oncology officer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892808"/>
            <a:ext cx="10424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identified how rare real resistant-mutation cases truly are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10" name="Text 8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10424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learned patterns from past patient scenarios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13" name="Text 11"/>
          <p:cNvSpPr txBox="1"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898648"/>
            <a:ext cx="10424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built a scenario spec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16" name="Text 14"/>
          <p:cNvSpPr txBox="1"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401568"/>
            <a:ext cx="10424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discovered why seed data must be cleaned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19" name="Text 17"/>
          <p:cNvSpPr txBox="1"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904488"/>
            <a:ext cx="10424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tested whether a generated scenario can be trusted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365760" cy="36576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22" name="Text 20"/>
          <p:cNvSpPr txBox="1"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407408"/>
            <a:ext cx="10424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saw how AI imagines the resistance patterns we haven't faced yet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32A45"/>
          </a:solidFill>
        </p:spPr>
      </p:sp>
      <p:sp>
        <p:nvSpPr>
          <p:cNvPr id="25" name="Text 23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AI is not just calling generate().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55955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a complete journey from sparse real data to a trustworthy synthetic stress-test.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12715</Words>
  <Application>WPS Presentation</Application>
  <PresentationFormat>On-screen Show (16:9)</PresentationFormat>
  <Paragraphs>919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Nivatha selvan</cp:lastModifiedBy>
  <cp:revision>2</cp:revision>
  <dcterms:created xsi:type="dcterms:W3CDTF">2026-08-28T10:20:00Z</dcterms:created>
  <dcterms:modified xsi:type="dcterms:W3CDTF">2026-08-28T10:24:52Z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1FC2E376A98D4E25B5BF261E15A4E90F_12</vt:lpwstr>
  </property>
  <property fmtid="{D5CDD505-2E9C-101B-9397-08002B2CF9AE}" pid="3" name="KSOProductBuildVer">
    <vt:lpwstr>1033-12.1.0.28032</vt:lpwstr>
  </property>
</Properties>
</file>
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this is a mission, not a lecture. Speak slowly, like a command-center briefing. Do not mention 'Agentic AI' by name yet — let the story carry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out loud and pause. Let the room sit in the uncertainty for a few seconds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real show-of-hands vote for Zone 7 / Zone 12. Do not reveal which is correct — the reveal comes naturally two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say 'too much for one person to fuse in real time' in their own words before you reveal the navy statement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autonomy rows left to right before asking the closing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quick vote (Zone 7 / Zone 12 / Split) before revealing the red DISPATCH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already hinted we're using deliberative reasoning — now zoom out and show all three types side by side before narrowing back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reactive/multi-agent to one line each — they are context, not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dwell equally on all eight — the point is 'many strategies exist.' Spend most of the time on card 1, ReAct, since it's circled in gold and is exactly what the class builds together two slides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loop live with the class — ask 'what should we check next?' after each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duplicate row and the missing SOP — let students name the problems before you label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Slide 16's messy tool list — this role fixes exactly what students just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argue both sides — 'this is fine' vs 'this is a wasted step' — before naming the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'reasoning' finally gets a face — the Agent Engineer, not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analogy: rehearsing a script vs actually understanding the judgement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mock is the payoff moment — this is what all five roles were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full chain slowly, left to right, top row then bottom row — this is the 'aha' recap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vote, then transition straight into the live agent / dashboard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slide before opening the live agent demo / command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students to say, in one sentence, which role they'd want to be on a real agentic AI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527"/>
        </a:solidFill>
      </p:bgPr>
    </p:bg>
    <p:spTree>
      <p:nvGrpSpPr>
        <p:cNvPr id="1" name=""/>
        <p:cNvGrpSpPr/>
        <p:nvPr/>
      </p:nvGrpSpPr>
      <p:grpSpPr>
        <a:xfrm>
          <a:off x="0" y="0"/>
          <a:ext cx="0" cy="0"/>
          <a:chOff x="0" y="0"/>
          <a:chExt cx="0" cy="0"/>
        </a:xfrm>
      </p:grpSpPr>
      <p:sp>
        <p:nvSpPr>
          <p:cNvPr id="2" name="Shape 0"/>
          <p:cNvSpPr/>
          <p:nvPr/>
        </p:nvSpPr>
        <p:spPr>
          <a:xfrm>
            <a:off x="9966960" y="640080"/>
            <a:ext cx="1554480" cy="1554480"/>
          </a:xfrm>
          <a:prstGeom prst="ellipse">
            <a:avLst/>
          </a:prstGeom>
          <a:solidFill>
            <a:srgbClr val="17263B"/>
          </a:solidFill>
          <a:ln w="19050">
            <a:solidFill>
              <a:srgbClr val="FFB627"/>
            </a:solidFill>
            <a:prstDash val="solid"/>
          </a:ln>
        </p:spPr>
      </p:sp>
      <p:sp>
        <p:nvSpPr>
          <p:cNvPr id="3" name="Text 1"/>
          <p:cNvSpPr txBox="1"/>
          <p:nvPr/>
        </p:nvSpPr>
        <p:spPr>
          <a:xfrm>
            <a:off x="9966960" y="640080"/>
            <a:ext cx="1554480" cy="15544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4" name="Text 2"/>
          <p:cNvSpPr txBox="1"/>
          <p:nvPr/>
        </p:nvSpPr>
        <p:spPr>
          <a:xfrm>
            <a:off x="640080" y="2834640"/>
            <a:ext cx="9144000" cy="8229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AGENTIC </a:t>
            </a:r>
            <a:pPr indent="0" marL="0">
              <a:buNone/>
            </a:pPr>
            <a:r>
              <a:rPr lang="en-US" sz="4800" b="1" dirty="0">
                <a:solidFill>
                  <a:srgbClr val="FFB627"/>
                </a:solidFill>
                <a:latin typeface="Cambria" pitchFamily="34" charset="0"/>
                <a:ea typeface="Cambria" pitchFamily="34" charset="-122"/>
                <a:cs typeface="Cambria" pitchFamily="34" charset="-120"/>
              </a:rPr>
              <a:t>AI</a:t>
            </a:r>
            <a:endParaRPr lang="en-US" sz="4800" dirty="0"/>
          </a:p>
        </p:txBody>
      </p:sp>
      <p:sp>
        <p:nvSpPr>
          <p:cNvPr id="5" name="Text 3"/>
          <p:cNvSpPr txBox="1"/>
          <p:nvPr/>
        </p:nvSpPr>
        <p:spPr>
          <a:xfrm>
            <a:off x="640080" y="3703320"/>
            <a:ext cx="7315200" cy="457200"/>
          </a:xfrm>
          <a:prstGeom prst="rect">
            <a:avLst/>
          </a:prstGeom>
          <a:noFill/>
          <a:ln/>
        </p:spPr>
        <p:txBody>
          <a:bodyPr wrap="square" lIns="0" tIns="0" rIns="0" bIns="0" rtlCol="0" anchor="ctr"/>
          <a:lstStyle/>
          <a:p>
            <a:pPr indent="0" marL="0">
              <a:buNone/>
            </a:pPr>
            <a:r>
              <a:rPr lang="en-US" sz="1600" dirty="0">
                <a:solidFill>
                  <a:srgbClr val="9FB3CC"/>
                </a:solidFill>
                <a:latin typeface="Calibri" pitchFamily="34" charset="0"/>
                <a:ea typeface="Calibri" pitchFamily="34" charset="-122"/>
                <a:cs typeface="Calibri" pitchFamily="34" charset="-120"/>
              </a:rPr>
              <a:t>Day 6 · Disaster Response Coordination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1527"/>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TODAY'S AGENDA</a:t>
            </a:r>
            <a:endParaRPr lang="en-US" sz="1200" dirty="0"/>
          </a:p>
        </p:txBody>
      </p:sp>
      <p:sp>
        <p:nvSpPr>
          <p:cNvPr id="3" name="Text 1"/>
          <p:cNvSpPr txBox="1"/>
          <p:nvPr/>
        </p:nvSpPr>
        <p:spPr>
          <a:xfrm>
            <a:off x="640080" y="731520"/>
            <a:ext cx="91440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We'll Cover Today</a:t>
            </a:r>
            <a:endParaRPr lang="en-US" sz="3000" dirty="0"/>
          </a:p>
        </p:txBody>
      </p:sp>
      <p:sp>
        <p:nvSpPr>
          <p:cNvPr id="4" name="Text 2"/>
          <p:cNvSpPr txBox="1"/>
          <p:nvPr/>
        </p:nvSpPr>
        <p:spPr>
          <a:xfrm>
            <a:off x="640080" y="1207008"/>
            <a:ext cx="9144000" cy="365760"/>
          </a:xfrm>
          <a:prstGeom prst="rect">
            <a:avLst/>
          </a:prstGeom>
          <a:noFill/>
          <a:ln/>
        </p:spPr>
        <p:txBody>
          <a:bodyPr wrap="square" lIns="0" tIns="0" rIns="0" bIns="0" rtlCol="0" anchor="ctr"/>
          <a:lstStyle/>
          <a:p>
            <a:pPr indent="0" marL="0">
              <a:buNone/>
            </a:pPr>
            <a:r>
              <a:rPr lang="en-US" sz="1300" dirty="0">
                <a:solidFill>
                  <a:srgbClr val="9FB3CC"/>
                </a:solidFill>
                <a:latin typeface="Calibri" pitchFamily="34" charset="0"/>
                <a:ea typeface="Calibri" pitchFamily="34" charset="-122"/>
                <a:cs typeface="Calibri" pitchFamily="34" charset="-120"/>
              </a:rPr>
              <a:t>Six stages — from a two-zone emergency to an autonomous dispatch agent</a:t>
            </a:r>
            <a:endParaRPr lang="en-US" sz="1300" dirty="0"/>
          </a:p>
        </p:txBody>
      </p:sp>
      <p:sp>
        <p:nvSpPr>
          <p:cNvPr id="5" name="Shape 3"/>
          <p:cNvSpPr/>
          <p:nvPr/>
        </p:nvSpPr>
        <p:spPr>
          <a:xfrm>
            <a:off x="640080" y="1783080"/>
            <a:ext cx="9692640" cy="621792"/>
          </a:xfrm>
          <a:prstGeom prst="roundRect">
            <a:avLst>
              <a:gd name="adj" fmla="val 8824"/>
            </a:avLst>
          </a:prstGeom>
          <a:solidFill>
            <a:srgbClr val="17263B"/>
          </a:solidFill>
          <a:ln/>
        </p:spPr>
      </p:sp>
      <p:sp>
        <p:nvSpPr>
          <p:cNvPr id="6" name="Shape 4"/>
          <p:cNvSpPr/>
          <p:nvPr/>
        </p:nvSpPr>
        <p:spPr>
          <a:xfrm>
            <a:off x="868680" y="1920240"/>
            <a:ext cx="347472" cy="347472"/>
          </a:xfrm>
          <a:prstGeom prst="ellipse">
            <a:avLst/>
          </a:prstGeom>
          <a:solidFill>
            <a:srgbClr val="FFB627"/>
          </a:solidFill>
          <a:ln/>
        </p:spPr>
      </p:sp>
      <p:sp>
        <p:nvSpPr>
          <p:cNvPr id="7" name="Text 5"/>
          <p:cNvSpPr txBox="1"/>
          <p:nvPr/>
        </p:nvSpPr>
        <p:spPr>
          <a:xfrm>
            <a:off x="868680" y="1920240"/>
            <a:ext cx="347472" cy="347472"/>
          </a:xfrm>
          <a:prstGeom prst="rect">
            <a:avLst/>
          </a:prstGeom>
          <a:noFill/>
          <a:ln/>
        </p:spPr>
        <p:txBody>
          <a:bodyPr wrap="square" lIns="0" tIns="0" rIns="0" bIns="0" rtlCol="0" anchor="ctr"/>
          <a:lstStyle/>
          <a:p>
            <a:pPr algn="ctr" indent="0" marL="0">
              <a:buNone/>
            </a:pPr>
            <a:r>
              <a:rPr lang="en-US" sz="1400" b="1" dirty="0">
                <a:solidFill>
                  <a:srgbClr val="081527"/>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417320" y="1837944"/>
            <a:ext cx="85953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Command Decision</a:t>
            </a:r>
            <a:endParaRPr lang="en-US" sz="1400" dirty="0"/>
          </a:p>
        </p:txBody>
      </p:sp>
      <p:sp>
        <p:nvSpPr>
          <p:cNvPr id="9" name="Text 7"/>
          <p:cNvSpPr txBox="1"/>
          <p:nvPr/>
        </p:nvSpPr>
        <p:spPr>
          <a:xfrm>
            <a:off x="1417320" y="2130552"/>
            <a:ext cx="8595360" cy="292608"/>
          </a:xfrm>
          <a:prstGeom prst="rect">
            <a:avLst/>
          </a:prstGeom>
          <a:noFill/>
          <a:ln/>
        </p:spPr>
        <p:txBody>
          <a:bodyPr wrap="square" lIns="0" tIns="0" rIns="0" bIns="0" rtlCol="0" anchor="ctr"/>
          <a:lstStyle/>
          <a:p>
            <a:pPr indent="0" marL="0">
              <a:buNone/>
            </a:pPr>
            <a:r>
              <a:rPr lang="en-US" sz="1100" dirty="0">
                <a:solidFill>
                  <a:srgbClr val="9FB3CC"/>
                </a:solidFill>
                <a:latin typeface="Calibri" pitchFamily="34" charset="0"/>
                <a:ea typeface="Calibri" pitchFamily="34" charset="-122"/>
                <a:cs typeface="Calibri" pitchFamily="34" charset="-120"/>
              </a:rPr>
              <a:t>Why a human alone can't command a multi-zone response in real time</a:t>
            </a:r>
            <a:endParaRPr lang="en-US" sz="1100" dirty="0"/>
          </a:p>
        </p:txBody>
      </p:sp>
      <p:sp>
        <p:nvSpPr>
          <p:cNvPr id="10" name="Shape 8"/>
          <p:cNvSpPr/>
          <p:nvPr/>
        </p:nvSpPr>
        <p:spPr>
          <a:xfrm>
            <a:off x="640080" y="2532888"/>
            <a:ext cx="9692640" cy="621792"/>
          </a:xfrm>
          <a:prstGeom prst="roundRect">
            <a:avLst>
              <a:gd name="adj" fmla="val 8824"/>
            </a:avLst>
          </a:prstGeom>
          <a:solidFill>
            <a:srgbClr val="17263B"/>
          </a:solidFill>
          <a:ln/>
        </p:spPr>
      </p:sp>
      <p:sp>
        <p:nvSpPr>
          <p:cNvPr id="11" name="Shape 9"/>
          <p:cNvSpPr/>
          <p:nvPr/>
        </p:nvSpPr>
        <p:spPr>
          <a:xfrm>
            <a:off x="868680" y="2670048"/>
            <a:ext cx="347472" cy="347472"/>
          </a:xfrm>
          <a:prstGeom prst="ellipse">
            <a:avLst/>
          </a:prstGeom>
          <a:solidFill>
            <a:srgbClr val="FFB627"/>
          </a:solidFill>
          <a:ln/>
        </p:spPr>
      </p:sp>
      <p:sp>
        <p:nvSpPr>
          <p:cNvPr id="12" name="Text 10"/>
          <p:cNvSpPr txBox="1"/>
          <p:nvPr/>
        </p:nvSpPr>
        <p:spPr>
          <a:xfrm>
            <a:off x="868680" y="2670048"/>
            <a:ext cx="347472" cy="347472"/>
          </a:xfrm>
          <a:prstGeom prst="rect">
            <a:avLst/>
          </a:prstGeom>
          <a:noFill/>
          <a:ln/>
        </p:spPr>
        <p:txBody>
          <a:bodyPr wrap="square" lIns="0" tIns="0" rIns="0" bIns="0" rtlCol="0" anchor="ctr"/>
          <a:lstStyle/>
          <a:p>
            <a:pPr algn="ctr" indent="0" marL="0">
              <a:buNone/>
            </a:pPr>
            <a:r>
              <a:rPr lang="en-US" sz="1400" b="1" dirty="0">
                <a:solidFill>
                  <a:srgbClr val="081527"/>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417320" y="2587752"/>
            <a:ext cx="85953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Is Agentic AI?</a:t>
            </a:r>
            <a:endParaRPr lang="en-US" sz="1400" dirty="0"/>
          </a:p>
        </p:txBody>
      </p:sp>
      <p:sp>
        <p:nvSpPr>
          <p:cNvPr id="14" name="Text 12"/>
          <p:cNvSpPr txBox="1"/>
          <p:nvPr/>
        </p:nvSpPr>
        <p:spPr>
          <a:xfrm>
            <a:off x="1417320" y="2880360"/>
            <a:ext cx="8595360" cy="292608"/>
          </a:xfrm>
          <a:prstGeom prst="rect">
            <a:avLst/>
          </a:prstGeom>
          <a:noFill/>
          <a:ln/>
        </p:spPr>
        <p:txBody>
          <a:bodyPr wrap="square" lIns="0" tIns="0" rIns="0" bIns="0" rtlCol="0" anchor="ctr"/>
          <a:lstStyle/>
          <a:p>
            <a:pPr indent="0" marL="0">
              <a:buNone/>
            </a:pPr>
            <a:r>
              <a:rPr lang="en-US" sz="1100" dirty="0">
                <a:solidFill>
                  <a:srgbClr val="9FB3CC"/>
                </a:solidFill>
                <a:latin typeface="Calibri" pitchFamily="34" charset="0"/>
                <a:ea typeface="Calibri" pitchFamily="34" charset="-122"/>
                <a:cs typeface="Calibri" pitchFamily="34" charset="-120"/>
              </a:rPr>
              <a:t>Moving from prediction to autonomous reasoning and action</a:t>
            </a:r>
            <a:endParaRPr lang="en-US" sz="1100" dirty="0"/>
          </a:p>
        </p:txBody>
      </p:sp>
      <p:sp>
        <p:nvSpPr>
          <p:cNvPr id="15" name="Shape 13"/>
          <p:cNvSpPr/>
          <p:nvPr/>
        </p:nvSpPr>
        <p:spPr>
          <a:xfrm>
            <a:off x="640080" y="3282696"/>
            <a:ext cx="9692640" cy="621792"/>
          </a:xfrm>
          <a:prstGeom prst="roundRect">
            <a:avLst>
              <a:gd name="adj" fmla="val 8824"/>
            </a:avLst>
          </a:prstGeom>
          <a:solidFill>
            <a:srgbClr val="17263B"/>
          </a:solidFill>
          <a:ln/>
        </p:spPr>
      </p:sp>
      <p:sp>
        <p:nvSpPr>
          <p:cNvPr id="16" name="Shape 14"/>
          <p:cNvSpPr/>
          <p:nvPr/>
        </p:nvSpPr>
        <p:spPr>
          <a:xfrm>
            <a:off x="868680" y="3419856"/>
            <a:ext cx="347472" cy="347472"/>
          </a:xfrm>
          <a:prstGeom prst="ellipse">
            <a:avLst/>
          </a:prstGeom>
          <a:solidFill>
            <a:srgbClr val="FFB627"/>
          </a:solidFill>
          <a:ln/>
        </p:spPr>
      </p:sp>
      <p:sp>
        <p:nvSpPr>
          <p:cNvPr id="17" name="Text 15"/>
          <p:cNvSpPr txBox="1"/>
          <p:nvPr/>
        </p:nvSpPr>
        <p:spPr>
          <a:xfrm>
            <a:off x="868680" y="3419856"/>
            <a:ext cx="347472" cy="347472"/>
          </a:xfrm>
          <a:prstGeom prst="rect">
            <a:avLst/>
          </a:prstGeom>
          <a:noFill/>
          <a:ln/>
        </p:spPr>
        <p:txBody>
          <a:bodyPr wrap="square" lIns="0" tIns="0" rIns="0" bIns="0" rtlCol="0" anchor="ctr"/>
          <a:lstStyle/>
          <a:p>
            <a:pPr algn="ctr" indent="0" marL="0">
              <a:buNone/>
            </a:pPr>
            <a:r>
              <a:rPr lang="en-US" sz="1400" b="1" dirty="0">
                <a:solidFill>
                  <a:srgbClr val="081527"/>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417320" y="3337560"/>
            <a:ext cx="85953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Types &amp; Patterns of Agentic AI</a:t>
            </a:r>
            <a:endParaRPr lang="en-US" sz="1400" dirty="0"/>
          </a:p>
        </p:txBody>
      </p:sp>
      <p:sp>
        <p:nvSpPr>
          <p:cNvPr id="19" name="Text 17"/>
          <p:cNvSpPr txBox="1"/>
          <p:nvPr/>
        </p:nvSpPr>
        <p:spPr>
          <a:xfrm>
            <a:off x="1417320" y="3630168"/>
            <a:ext cx="8595360" cy="292608"/>
          </a:xfrm>
          <a:prstGeom prst="rect">
            <a:avLst/>
          </a:prstGeom>
          <a:noFill/>
          <a:ln/>
        </p:spPr>
        <p:txBody>
          <a:bodyPr wrap="square" lIns="0" tIns="0" rIns="0" bIns="0" rtlCol="0" anchor="ctr"/>
          <a:lstStyle/>
          <a:p>
            <a:pPr indent="0" marL="0">
              <a:buNone/>
            </a:pPr>
            <a:r>
              <a:rPr lang="en-US" sz="1100" dirty="0">
                <a:solidFill>
                  <a:srgbClr val="9FB3CC"/>
                </a:solidFill>
                <a:latin typeface="Calibri" pitchFamily="34" charset="0"/>
                <a:ea typeface="Calibri" pitchFamily="34" charset="-122"/>
                <a:cs typeface="Calibri" pitchFamily="34" charset="-120"/>
              </a:rPr>
              <a:t>Reactive, Deliberative, Multi-Agent — and what powers each</a:t>
            </a:r>
            <a:endParaRPr lang="en-US" sz="1100" dirty="0"/>
          </a:p>
        </p:txBody>
      </p:sp>
      <p:sp>
        <p:nvSpPr>
          <p:cNvPr id="20" name="Shape 18"/>
          <p:cNvSpPr/>
          <p:nvPr/>
        </p:nvSpPr>
        <p:spPr>
          <a:xfrm>
            <a:off x="640080" y="4032504"/>
            <a:ext cx="9692640" cy="621792"/>
          </a:xfrm>
          <a:prstGeom prst="roundRect">
            <a:avLst>
              <a:gd name="adj" fmla="val 8824"/>
            </a:avLst>
          </a:prstGeom>
          <a:solidFill>
            <a:srgbClr val="17263B"/>
          </a:solidFill>
          <a:ln/>
        </p:spPr>
      </p:sp>
      <p:sp>
        <p:nvSpPr>
          <p:cNvPr id="21" name="Shape 19"/>
          <p:cNvSpPr/>
          <p:nvPr/>
        </p:nvSpPr>
        <p:spPr>
          <a:xfrm>
            <a:off x="868680" y="4169664"/>
            <a:ext cx="347472" cy="347472"/>
          </a:xfrm>
          <a:prstGeom prst="ellipse">
            <a:avLst/>
          </a:prstGeom>
          <a:solidFill>
            <a:srgbClr val="FFB627"/>
          </a:solidFill>
          <a:ln/>
        </p:spPr>
      </p:sp>
      <p:sp>
        <p:nvSpPr>
          <p:cNvPr id="22" name="Text 20"/>
          <p:cNvSpPr txBox="1"/>
          <p:nvPr/>
        </p:nvSpPr>
        <p:spPr>
          <a:xfrm>
            <a:off x="868680" y="4169664"/>
            <a:ext cx="347472" cy="347472"/>
          </a:xfrm>
          <a:prstGeom prst="rect">
            <a:avLst/>
          </a:prstGeom>
          <a:noFill/>
          <a:ln/>
        </p:spPr>
        <p:txBody>
          <a:bodyPr wrap="square" lIns="0" tIns="0" rIns="0" bIns="0" rtlCol="0" anchor="ctr"/>
          <a:lstStyle/>
          <a:p>
            <a:pPr algn="ctr" indent="0" marL="0">
              <a:buNone/>
            </a:pPr>
            <a:r>
              <a:rPr lang="en-US" sz="1400" b="1" dirty="0">
                <a:solidFill>
                  <a:srgbClr val="081527"/>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1417320" y="4087368"/>
            <a:ext cx="85953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Meet the 5 Agentic AI Roles</a:t>
            </a:r>
            <a:endParaRPr lang="en-US" sz="1400" dirty="0"/>
          </a:p>
        </p:txBody>
      </p:sp>
      <p:sp>
        <p:nvSpPr>
          <p:cNvPr id="24" name="Text 22"/>
          <p:cNvSpPr txBox="1"/>
          <p:nvPr/>
        </p:nvSpPr>
        <p:spPr>
          <a:xfrm>
            <a:off x="1417320" y="4379976"/>
            <a:ext cx="8595360" cy="292608"/>
          </a:xfrm>
          <a:prstGeom prst="rect">
            <a:avLst/>
          </a:prstGeom>
          <a:noFill/>
          <a:ln/>
        </p:spPr>
        <p:txBody>
          <a:bodyPr wrap="square" lIns="0" tIns="0" rIns="0" bIns="0" rtlCol="0" anchor="ctr"/>
          <a:lstStyle/>
          <a:p>
            <a:pPr indent="0" marL="0">
              <a:buNone/>
            </a:pPr>
            <a:r>
              <a:rPr lang="en-US" sz="1100" dirty="0">
                <a:solidFill>
                  <a:srgbClr val="9FB3CC"/>
                </a:solidFill>
                <a:latin typeface="Calibri" pitchFamily="34" charset="0"/>
                <a:ea typeface="Calibri" pitchFamily="34" charset="-122"/>
                <a:cs typeface="Calibri" pitchFamily="34" charset="-120"/>
              </a:rPr>
              <a:t>Knowledge Engineer → Workflow → Agent → Evaluation → Integration Engineer</a:t>
            </a:r>
            <a:endParaRPr lang="en-US" sz="1100" dirty="0"/>
          </a:p>
        </p:txBody>
      </p:sp>
      <p:sp>
        <p:nvSpPr>
          <p:cNvPr id="25" name="Shape 23"/>
          <p:cNvSpPr/>
          <p:nvPr/>
        </p:nvSpPr>
        <p:spPr>
          <a:xfrm>
            <a:off x="640080" y="4782312"/>
            <a:ext cx="9692640" cy="621792"/>
          </a:xfrm>
          <a:prstGeom prst="roundRect">
            <a:avLst>
              <a:gd name="adj" fmla="val 8824"/>
            </a:avLst>
          </a:prstGeom>
          <a:solidFill>
            <a:srgbClr val="17263B"/>
          </a:solidFill>
          <a:ln/>
        </p:spPr>
      </p:sp>
      <p:sp>
        <p:nvSpPr>
          <p:cNvPr id="26" name="Shape 24"/>
          <p:cNvSpPr/>
          <p:nvPr/>
        </p:nvSpPr>
        <p:spPr>
          <a:xfrm>
            <a:off x="868680" y="4919472"/>
            <a:ext cx="347472" cy="347472"/>
          </a:xfrm>
          <a:prstGeom prst="ellipse">
            <a:avLst/>
          </a:prstGeom>
          <a:solidFill>
            <a:srgbClr val="FFB627"/>
          </a:solidFill>
          <a:ln/>
        </p:spPr>
      </p:sp>
      <p:sp>
        <p:nvSpPr>
          <p:cNvPr id="27" name="Text 25"/>
          <p:cNvSpPr txBox="1"/>
          <p:nvPr/>
        </p:nvSpPr>
        <p:spPr>
          <a:xfrm>
            <a:off x="868680" y="4919472"/>
            <a:ext cx="347472" cy="347472"/>
          </a:xfrm>
          <a:prstGeom prst="rect">
            <a:avLst/>
          </a:prstGeom>
          <a:noFill/>
          <a:ln/>
        </p:spPr>
        <p:txBody>
          <a:bodyPr wrap="square" lIns="0" tIns="0" rIns="0" bIns="0" rtlCol="0" anchor="ctr"/>
          <a:lstStyle/>
          <a:p>
            <a:pPr algn="ctr" indent="0" marL="0">
              <a:buNone/>
            </a:pPr>
            <a:r>
              <a:rPr lang="en-US" sz="1400" b="1" dirty="0">
                <a:solidFill>
                  <a:srgbClr val="081527"/>
                </a:solidFill>
                <a:latin typeface="Calibri" pitchFamily="34" charset="0"/>
                <a:ea typeface="Calibri" pitchFamily="34" charset="-122"/>
                <a:cs typeface="Calibri" pitchFamily="34" charset="-120"/>
              </a:rPr>
              <a:t>5</a:t>
            </a:r>
            <a:endParaRPr lang="en-US" sz="1400" dirty="0"/>
          </a:p>
        </p:txBody>
      </p:sp>
      <p:sp>
        <p:nvSpPr>
          <p:cNvPr id="28" name="Text 26"/>
          <p:cNvSpPr txBox="1"/>
          <p:nvPr/>
        </p:nvSpPr>
        <p:spPr>
          <a:xfrm>
            <a:off x="1417320" y="4837176"/>
            <a:ext cx="85953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Building &amp; Trusting the Agent</a:t>
            </a:r>
            <a:endParaRPr lang="en-US" sz="1400" dirty="0"/>
          </a:p>
        </p:txBody>
      </p:sp>
      <p:sp>
        <p:nvSpPr>
          <p:cNvPr id="29" name="Text 27"/>
          <p:cNvSpPr txBox="1"/>
          <p:nvPr/>
        </p:nvSpPr>
        <p:spPr>
          <a:xfrm>
            <a:off x="1417320" y="5129784"/>
            <a:ext cx="8595360" cy="292608"/>
          </a:xfrm>
          <a:prstGeom prst="rect">
            <a:avLst/>
          </a:prstGeom>
          <a:noFill/>
          <a:ln/>
        </p:spPr>
        <p:txBody>
          <a:bodyPr wrap="square" lIns="0" tIns="0" rIns="0" bIns="0" rtlCol="0" anchor="ctr"/>
          <a:lstStyle/>
          <a:p>
            <a:pPr indent="0" marL="0">
              <a:buNone/>
            </a:pPr>
            <a:r>
              <a:rPr lang="en-US" sz="1100" dirty="0">
                <a:solidFill>
                  <a:srgbClr val="9FB3CC"/>
                </a:solidFill>
                <a:latin typeface="Calibri" pitchFamily="34" charset="0"/>
                <a:ea typeface="Calibri" pitchFamily="34" charset="-122"/>
                <a:cs typeface="Calibri" pitchFamily="34" charset="-120"/>
              </a:rPr>
              <a:t>Building a ReAct reasoning loop together, then testing if it can be trusted</a:t>
            </a:r>
            <a:endParaRPr lang="en-US" sz="1100" dirty="0"/>
          </a:p>
        </p:txBody>
      </p:sp>
      <p:sp>
        <p:nvSpPr>
          <p:cNvPr id="30" name="Shape 28"/>
          <p:cNvSpPr/>
          <p:nvPr/>
        </p:nvSpPr>
        <p:spPr>
          <a:xfrm>
            <a:off x="640080" y="5532120"/>
            <a:ext cx="9692640" cy="621792"/>
          </a:xfrm>
          <a:prstGeom prst="roundRect">
            <a:avLst>
              <a:gd name="adj" fmla="val 8824"/>
            </a:avLst>
          </a:prstGeom>
          <a:solidFill>
            <a:srgbClr val="17263B"/>
          </a:solidFill>
          <a:ln/>
        </p:spPr>
      </p:sp>
      <p:sp>
        <p:nvSpPr>
          <p:cNvPr id="31" name="Shape 29"/>
          <p:cNvSpPr/>
          <p:nvPr/>
        </p:nvSpPr>
        <p:spPr>
          <a:xfrm>
            <a:off x="868680" y="5669280"/>
            <a:ext cx="347472" cy="347472"/>
          </a:xfrm>
          <a:prstGeom prst="ellipse">
            <a:avLst/>
          </a:prstGeom>
          <a:solidFill>
            <a:srgbClr val="FFB627"/>
          </a:solidFill>
          <a:ln/>
        </p:spPr>
      </p:sp>
      <p:sp>
        <p:nvSpPr>
          <p:cNvPr id="32" name="Text 30"/>
          <p:cNvSpPr txBox="1"/>
          <p:nvPr/>
        </p:nvSpPr>
        <p:spPr>
          <a:xfrm>
            <a:off x="868680" y="5669280"/>
            <a:ext cx="347472" cy="347472"/>
          </a:xfrm>
          <a:prstGeom prst="rect">
            <a:avLst/>
          </a:prstGeom>
          <a:noFill/>
          <a:ln/>
        </p:spPr>
        <p:txBody>
          <a:bodyPr wrap="square" lIns="0" tIns="0" rIns="0" bIns="0" rtlCol="0" anchor="ctr"/>
          <a:lstStyle/>
          <a:p>
            <a:pPr algn="ctr" indent="0" marL="0">
              <a:buNone/>
            </a:pPr>
            <a:r>
              <a:rPr lang="en-US" sz="1400" b="1" dirty="0">
                <a:solidFill>
                  <a:srgbClr val="081527"/>
                </a:solidFill>
                <a:latin typeface="Calibri" pitchFamily="34" charset="0"/>
                <a:ea typeface="Calibri" pitchFamily="34" charset="-122"/>
                <a:cs typeface="Calibri" pitchFamily="34" charset="-120"/>
              </a:rPr>
              <a:t>6</a:t>
            </a:r>
            <a:endParaRPr lang="en-US" sz="1400" dirty="0"/>
          </a:p>
        </p:txBody>
      </p:sp>
      <p:sp>
        <p:nvSpPr>
          <p:cNvPr id="33" name="Text 31"/>
          <p:cNvSpPr txBox="1"/>
          <p:nvPr/>
        </p:nvSpPr>
        <p:spPr>
          <a:xfrm>
            <a:off x="1417320" y="5586984"/>
            <a:ext cx="85953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Live Case &amp; Recap</a:t>
            </a:r>
            <a:endParaRPr lang="en-US" sz="1400" dirty="0"/>
          </a:p>
        </p:txBody>
      </p:sp>
      <p:sp>
        <p:nvSpPr>
          <p:cNvPr id="34" name="Text 32"/>
          <p:cNvSpPr txBox="1"/>
          <p:nvPr/>
        </p:nvSpPr>
        <p:spPr>
          <a:xfrm>
            <a:off x="1417320" y="5879592"/>
            <a:ext cx="8595360" cy="292608"/>
          </a:xfrm>
          <a:prstGeom prst="rect">
            <a:avLst/>
          </a:prstGeom>
          <a:noFill/>
          <a:ln/>
        </p:spPr>
        <p:txBody>
          <a:bodyPr wrap="square" lIns="0" tIns="0" rIns="0" bIns="0" rtlCol="0" anchor="ctr"/>
          <a:lstStyle/>
          <a:p>
            <a:pPr indent="0" marL="0">
              <a:buNone/>
            </a:pPr>
            <a:r>
              <a:rPr lang="en-US" sz="1100" dirty="0">
                <a:solidFill>
                  <a:srgbClr val="9FB3CC"/>
                </a:solidFill>
                <a:latin typeface="Calibri" pitchFamily="34" charset="0"/>
                <a:ea typeface="Calibri" pitchFamily="34" charset="-122"/>
                <a:cs typeface="Calibri" pitchFamily="34" charset="-120"/>
              </a:rPr>
              <a:t>Watch the agent decide a dispatch — then recap the full journey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527"/>
        </a:solidFill>
      </p:bgPr>
    </p:bg>
    <p:spTree>
      <p:nvGrpSpPr>
        <p:cNvPr id="1" name=""/>
        <p:cNvGrpSpPr/>
        <p:nvPr/>
      </p:nvGrpSpPr>
      <p:grpSpPr>
        <a:xfrm>
          <a:off x="0" y="0"/>
          <a:ext cx="0" cy="0"/>
          <a:chOff x="0" y="0"/>
          <a:chExt cx="0" cy="0"/>
        </a:xfrm>
      </p:grpSpPr>
      <p:sp>
        <p:nvSpPr>
          <p:cNvPr id="2" name="Shape 0"/>
          <p:cNvSpPr/>
          <p:nvPr/>
        </p:nvSpPr>
        <p:spPr>
          <a:xfrm>
            <a:off x="10332720" y="502920"/>
            <a:ext cx="1005840" cy="1005840"/>
          </a:xfrm>
          <a:prstGeom prst="ellipse">
            <a:avLst/>
          </a:prstGeom>
          <a:solidFill>
            <a:srgbClr val="17263B"/>
          </a:solidFill>
          <a:ln w="15240">
            <a:solidFill>
              <a:srgbClr val="FFB627"/>
            </a:solidFill>
            <a:prstDash val="solid"/>
          </a:ln>
        </p:spPr>
      </p:sp>
      <p:sp>
        <p:nvSpPr>
          <p:cNvPr id="3" name="Text 1"/>
          <p:cNvSpPr txBox="1"/>
          <p:nvPr/>
        </p:nvSpPr>
        <p:spPr>
          <a:xfrm>
            <a:off x="10332720" y="502920"/>
            <a:ext cx="1005840" cy="10058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4" name="Text 2"/>
          <p:cNvSpPr txBox="1"/>
          <p:nvPr/>
        </p:nvSpPr>
        <p:spPr>
          <a:xfrm>
            <a:off x="640080" y="1554480"/>
            <a:ext cx="1097280" cy="914400"/>
          </a:xfrm>
          <a:prstGeom prst="rect">
            <a:avLst/>
          </a:prstGeom>
          <a:noFill/>
          <a:ln/>
        </p:spPr>
        <p:txBody>
          <a:bodyPr wrap="square" lIns="0" tIns="0" rIns="0" bIns="0" rtlCol="0" anchor="ctr"/>
          <a:lstStyle/>
          <a:p>
            <a:pPr indent="0" marL="0">
              <a:buNone/>
            </a:pPr>
            <a:r>
              <a:rPr lang="en-US" sz="4000" dirty="0">
                <a:solidFill>
                  <a:srgbClr val="000000"/>
                </a:solidFill>
              </a:rPr>
              <a:t>🚨</a:t>
            </a:r>
            <a:endParaRPr lang="en-US" sz="4000" dirty="0"/>
          </a:p>
        </p:txBody>
      </p:sp>
      <p:sp>
        <p:nvSpPr>
          <p:cNvPr id="5" name="Text 3"/>
          <p:cNvSpPr txBox="1"/>
          <p:nvPr/>
        </p:nvSpPr>
        <p:spPr>
          <a:xfrm>
            <a:off x="640080" y="2377440"/>
            <a:ext cx="10515600" cy="118872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CAN AN AI AGENT COMMAND THE RESCUE —</a:t>
            </a:r>
            <a:endParaRPr lang="en-US" sz="3200" dirty="0"/>
          </a:p>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WITHOUT WAITING FOR ORDERS?</a:t>
            </a:r>
            <a:endParaRPr lang="en-US" sz="3200" dirty="0"/>
          </a:p>
        </p:txBody>
      </p:sp>
      <p:sp>
        <p:nvSpPr>
          <p:cNvPr id="6" name="Text 4"/>
          <p:cNvSpPr txBox="1"/>
          <p:nvPr/>
        </p:nvSpPr>
        <p:spPr>
          <a:xfrm>
            <a:off x="640080" y="3703320"/>
            <a:ext cx="9144000" cy="365760"/>
          </a:xfrm>
          <a:prstGeom prst="rect">
            <a:avLst/>
          </a:prstGeom>
          <a:noFill/>
          <a:ln/>
        </p:spPr>
        <p:txBody>
          <a:bodyPr wrap="square" lIns="0" tIns="0" rIns="0" bIns="0" rtlCol="0" anchor="ctr"/>
          <a:lstStyle/>
          <a:p>
            <a:pPr indent="0" marL="0">
              <a:buNone/>
            </a:pPr>
            <a:r>
              <a:rPr lang="en-US" sz="1400" i="1" dirty="0">
                <a:solidFill>
                  <a:srgbClr val="9FB3CC"/>
                </a:solidFill>
                <a:latin typeface="Calibri" pitchFamily="34" charset="0"/>
                <a:ea typeface="Calibri" pitchFamily="34" charset="-122"/>
                <a:cs typeface="Calibri" pitchFamily="34" charset="-120"/>
              </a:rPr>
              <a:t>Agentic AI through a Real Disaster Response Case Study</a:t>
            </a:r>
            <a:endParaRPr lang="en-US" sz="1400" dirty="0"/>
          </a:p>
        </p:txBody>
      </p:sp>
      <p:sp>
        <p:nvSpPr>
          <p:cNvPr id="7" name="Shape 5"/>
          <p:cNvSpPr/>
          <p:nvPr/>
        </p:nvSpPr>
        <p:spPr>
          <a:xfrm>
            <a:off x="640080" y="4297680"/>
            <a:ext cx="7863840" cy="868680"/>
          </a:xfrm>
          <a:prstGeom prst="roundRect">
            <a:avLst>
              <a:gd name="adj" fmla="val 6316"/>
            </a:avLst>
          </a:prstGeom>
          <a:solidFill>
            <a:srgbClr val="0F3D5C"/>
          </a:solidFill>
          <a:ln/>
        </p:spPr>
      </p:sp>
      <p:sp>
        <p:nvSpPr>
          <p:cNvPr id="8" name="Text 6"/>
          <p:cNvSpPr txBox="1"/>
          <p:nvPr/>
        </p:nvSpPr>
        <p:spPr>
          <a:xfrm>
            <a:off x="914400" y="4370832"/>
            <a:ext cx="7315200" cy="731520"/>
          </a:xfrm>
          <a:prstGeom prst="rect">
            <a:avLst/>
          </a:prstGeom>
          <a:noFill/>
          <a:ln/>
        </p:spPr>
        <p:txBody>
          <a:bodyPr wrap="square" lIns="0" tIns="0" rIns="0" bIns="0" rtlCol="0" anchor="ctr"/>
          <a:lstStyle/>
          <a:p>
            <a:pPr indent="0" marL="0">
              <a:buNone/>
            </a:pPr>
            <a:r>
              <a:rPr lang="en-US" sz="1300" dirty="0">
                <a:solidFill>
                  <a:srgbClr val="E3E9F2"/>
                </a:solidFill>
                <a:latin typeface="Calibri" pitchFamily="34" charset="0"/>
                <a:ea typeface="Calibri" pitchFamily="34" charset="-122"/>
                <a:cs typeface="Calibri" pitchFamily="34" charset="-120"/>
              </a:rPr>
              <a:t>Today, you are not just students.
</a:t>
            </a:r>
            <a:pPr indent="0" marL="0">
              <a:buNone/>
            </a:pPr>
            <a:r>
              <a:rPr lang="en-US" sz="1400" b="1" dirty="0">
                <a:solidFill>
                  <a:srgbClr val="FFB627"/>
                </a:solidFill>
                <a:latin typeface="Calibri" pitchFamily="34" charset="0"/>
                <a:ea typeface="Calibri" pitchFamily="34" charset="-122"/>
                <a:cs typeface="Calibri" pitchFamily="34" charset="-120"/>
              </a:rPr>
              <a:t>You are the AI Disaster Response Team.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548640"/>
          </a:xfrm>
          <a:prstGeom prst="rect">
            <a:avLst/>
          </a:prstGeom>
          <a:noFill/>
          <a:ln/>
        </p:spPr>
        <p:txBody>
          <a:bodyPr wrap="square" lIns="0" tIns="0" rIns="0" bIns="0" rtlCol="0" anchor="ctr"/>
          <a:lstStyle/>
          <a:p>
            <a:pPr indent="0" marL="0">
              <a:buNone/>
            </a:pPr>
            <a:r>
              <a:rPr lang="en-US" sz="3000" b="1" dirty="0">
                <a:solidFill>
                  <a:srgbClr val="0F2843"/>
                </a:solidFill>
                <a:latin typeface="Cambria" pitchFamily="34" charset="0"/>
                <a:ea typeface="Cambria" pitchFamily="34" charset="-122"/>
                <a:cs typeface="Cambria" pitchFamily="34" charset="-120"/>
              </a:rPr>
              <a:t>The Emergency</a:t>
            </a:r>
            <a:endParaRPr lang="en-US" sz="3000" dirty="0"/>
          </a:p>
        </p:txBody>
      </p:sp>
      <p:sp>
        <p:nvSpPr>
          <p:cNvPr id="3" name="Shape 1"/>
          <p:cNvSpPr/>
          <p:nvPr/>
        </p:nvSpPr>
        <p:spPr>
          <a:xfrm>
            <a:off x="640080" y="1463040"/>
            <a:ext cx="4754880" cy="1051560"/>
          </a:xfrm>
          <a:prstGeom prst="roundRect">
            <a:avLst>
              <a:gd name="adj" fmla="val 6087"/>
            </a:avLst>
          </a:prstGeom>
          <a:solidFill>
            <a:srgbClr val="FFFFFF"/>
          </a:solidFill>
          <a:ln w="12700">
            <a:solidFill>
              <a:srgbClr val="EEF2F7"/>
            </a:solidFill>
            <a:prstDash val="solid"/>
          </a:ln>
          <a:effectLst>
            <a:outerShdw sx="100000" sy="100000" kx="0" ky="0" algn="bl" rotWithShape="0" blurRad="76200" dist="25400" dir="5400000">
              <a:srgbClr val="9FB3CC">
                <a:alpha val="25000"/>
              </a:srgbClr>
            </a:outerShdw>
          </a:effectLst>
        </p:spPr>
      </p:sp>
      <p:sp>
        <p:nvSpPr>
          <p:cNvPr id="4" name="Text 2"/>
          <p:cNvSpPr txBox="1"/>
          <p:nvPr/>
        </p:nvSpPr>
        <p:spPr>
          <a:xfrm>
            <a:off x="822960" y="1627632"/>
            <a:ext cx="731520" cy="73152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5" name="Text 3"/>
          <p:cNvSpPr txBox="1"/>
          <p:nvPr/>
        </p:nvSpPr>
        <p:spPr>
          <a:xfrm>
            <a:off x="1600200" y="1627632"/>
            <a:ext cx="3657600" cy="365760"/>
          </a:xfrm>
          <a:prstGeom prst="rect">
            <a:avLst/>
          </a:prstGeom>
          <a:noFill/>
          <a:ln/>
        </p:spPr>
        <p:txBody>
          <a:bodyPr wrap="square" lIns="0" tIns="0" rIns="0" bIns="0" rtlCol="0" anchor="ctr"/>
          <a:lstStyle/>
          <a:p>
            <a:pPr indent="0" marL="0">
              <a:buNone/>
            </a:pPr>
            <a:r>
              <a:rPr lang="en-US" sz="1400" b="1" dirty="0">
                <a:solidFill>
                  <a:srgbClr val="0F2843"/>
                </a:solidFill>
                <a:latin typeface="Calibri" pitchFamily="34" charset="0"/>
                <a:ea typeface="Calibri" pitchFamily="34" charset="-122"/>
                <a:cs typeface="Calibri" pitchFamily="34" charset="-120"/>
              </a:rPr>
              <a:t>Zone 7 Flooding</a:t>
            </a:r>
            <a:endParaRPr lang="en-US" sz="1400" dirty="0"/>
          </a:p>
        </p:txBody>
      </p:sp>
      <p:sp>
        <p:nvSpPr>
          <p:cNvPr id="6" name="Text 4"/>
          <p:cNvSpPr txBox="1"/>
          <p:nvPr/>
        </p:nvSpPr>
        <p:spPr>
          <a:xfrm>
            <a:off x="1600200" y="1993392"/>
            <a:ext cx="3657600" cy="36576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Severe risk, 38 emergency calls</a:t>
            </a:r>
            <a:endParaRPr lang="en-US" sz="1100" dirty="0"/>
          </a:p>
        </p:txBody>
      </p:sp>
      <p:sp>
        <p:nvSpPr>
          <p:cNvPr id="7" name="Shape 5"/>
          <p:cNvSpPr/>
          <p:nvPr/>
        </p:nvSpPr>
        <p:spPr>
          <a:xfrm>
            <a:off x="640080" y="2788920"/>
            <a:ext cx="4754880" cy="1051560"/>
          </a:xfrm>
          <a:prstGeom prst="roundRect">
            <a:avLst>
              <a:gd name="adj" fmla="val 6087"/>
            </a:avLst>
          </a:prstGeom>
          <a:solidFill>
            <a:srgbClr val="FFFFFF"/>
          </a:solidFill>
          <a:ln w="12700">
            <a:solidFill>
              <a:srgbClr val="EEF2F7"/>
            </a:solidFill>
            <a:prstDash val="solid"/>
          </a:ln>
          <a:effectLst>
            <a:outerShdw sx="100000" sy="100000" kx="0" ky="0" algn="bl" rotWithShape="0" blurRad="76200" dist="25400" dir="5400000">
              <a:srgbClr val="9FB3CC">
                <a:alpha val="25000"/>
              </a:srgbClr>
            </a:outerShdw>
          </a:effectLst>
        </p:spPr>
      </p:sp>
      <p:sp>
        <p:nvSpPr>
          <p:cNvPr id="8" name="Text 6"/>
          <p:cNvSpPr txBox="1"/>
          <p:nvPr/>
        </p:nvSpPr>
        <p:spPr>
          <a:xfrm>
            <a:off x="822960" y="2953512"/>
            <a:ext cx="731520" cy="73152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9" name="Text 7"/>
          <p:cNvSpPr txBox="1"/>
          <p:nvPr/>
        </p:nvSpPr>
        <p:spPr>
          <a:xfrm>
            <a:off x="1600200" y="2953512"/>
            <a:ext cx="3657600" cy="365760"/>
          </a:xfrm>
          <a:prstGeom prst="rect">
            <a:avLst/>
          </a:prstGeom>
          <a:noFill/>
          <a:ln/>
        </p:spPr>
        <p:txBody>
          <a:bodyPr wrap="square" lIns="0" tIns="0" rIns="0" bIns="0" rtlCol="0" anchor="ctr"/>
          <a:lstStyle/>
          <a:p>
            <a:pPr indent="0" marL="0">
              <a:buNone/>
            </a:pPr>
            <a:r>
              <a:rPr lang="en-US" sz="1400" b="1" dirty="0">
                <a:solidFill>
                  <a:srgbClr val="0F2843"/>
                </a:solidFill>
                <a:latin typeface="Calibri" pitchFamily="34" charset="0"/>
                <a:ea typeface="Calibri" pitchFamily="34" charset="-122"/>
                <a:cs typeface="Calibri" pitchFamily="34" charset="-120"/>
              </a:rPr>
              <a:t>Zone 12 Flooding</a:t>
            </a:r>
            <a:endParaRPr lang="en-US" sz="1400" dirty="0"/>
          </a:p>
        </p:txBody>
      </p:sp>
      <p:sp>
        <p:nvSpPr>
          <p:cNvPr id="10" name="Text 8"/>
          <p:cNvSpPr txBox="1"/>
          <p:nvPr/>
        </p:nvSpPr>
        <p:spPr>
          <a:xfrm>
            <a:off x="1600200" y="3319272"/>
            <a:ext cx="3657600" cy="36576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Severe risk, 15 emergency calls</a:t>
            </a:r>
            <a:endParaRPr lang="en-US" sz="1100" dirty="0"/>
          </a:p>
        </p:txBody>
      </p:sp>
      <p:sp>
        <p:nvSpPr>
          <p:cNvPr id="11" name="Shape 9"/>
          <p:cNvSpPr/>
          <p:nvPr/>
        </p:nvSpPr>
        <p:spPr>
          <a:xfrm>
            <a:off x="640080" y="4114800"/>
            <a:ext cx="4754880" cy="1051560"/>
          </a:xfrm>
          <a:prstGeom prst="roundRect">
            <a:avLst>
              <a:gd name="adj" fmla="val 6087"/>
            </a:avLst>
          </a:prstGeom>
          <a:solidFill>
            <a:srgbClr val="FFFFFF"/>
          </a:solidFill>
          <a:ln w="12700">
            <a:solidFill>
              <a:srgbClr val="EEF2F7"/>
            </a:solidFill>
            <a:prstDash val="solid"/>
          </a:ln>
          <a:effectLst>
            <a:outerShdw sx="100000" sy="100000" kx="0" ky="0" algn="bl" rotWithShape="0" blurRad="76200" dist="25400" dir="5400000">
              <a:srgbClr val="9FB3CC">
                <a:alpha val="25000"/>
              </a:srgbClr>
            </a:outerShdw>
          </a:effectLst>
        </p:spPr>
      </p:sp>
      <p:sp>
        <p:nvSpPr>
          <p:cNvPr id="12" name="Text 10"/>
          <p:cNvSpPr txBox="1"/>
          <p:nvPr/>
        </p:nvSpPr>
        <p:spPr>
          <a:xfrm>
            <a:off x="822960" y="4279392"/>
            <a:ext cx="731520" cy="73152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3" name="Text 11"/>
          <p:cNvSpPr txBox="1"/>
          <p:nvPr/>
        </p:nvSpPr>
        <p:spPr>
          <a:xfrm>
            <a:off x="1600200" y="4279392"/>
            <a:ext cx="3657600" cy="365760"/>
          </a:xfrm>
          <a:prstGeom prst="rect">
            <a:avLst/>
          </a:prstGeom>
          <a:noFill/>
          <a:ln/>
        </p:spPr>
        <p:txBody>
          <a:bodyPr wrap="square" lIns="0" tIns="0" rIns="0" bIns="0" rtlCol="0" anchor="ctr"/>
          <a:lstStyle/>
          <a:p>
            <a:pPr indent="0" marL="0">
              <a:buNone/>
            </a:pPr>
            <a:r>
              <a:rPr lang="en-US" sz="1400" b="1" dirty="0">
                <a:solidFill>
                  <a:srgbClr val="0F2843"/>
                </a:solidFill>
                <a:latin typeface="Calibri" pitchFamily="34" charset="0"/>
                <a:ea typeface="Calibri" pitchFamily="34" charset="-122"/>
                <a:cs typeface="Calibri" pitchFamily="34" charset="-120"/>
              </a:rPr>
              <a:t>Only One Ambulance</a:t>
            </a:r>
            <a:endParaRPr lang="en-US" sz="1400" dirty="0"/>
          </a:p>
        </p:txBody>
      </p:sp>
      <p:sp>
        <p:nvSpPr>
          <p:cNvPr id="14" name="Text 12"/>
          <p:cNvSpPr txBox="1"/>
          <p:nvPr/>
        </p:nvSpPr>
        <p:spPr>
          <a:xfrm>
            <a:off x="1600200" y="4645152"/>
            <a:ext cx="3657600" cy="36576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The rest are already on other calls</a:t>
            </a:r>
            <a:endParaRPr lang="en-US" sz="1100" dirty="0"/>
          </a:p>
        </p:txBody>
      </p:sp>
      <p:sp>
        <p:nvSpPr>
          <p:cNvPr id="15" name="Shape 13"/>
          <p:cNvSpPr/>
          <p:nvPr/>
        </p:nvSpPr>
        <p:spPr>
          <a:xfrm>
            <a:off x="640080" y="5440680"/>
            <a:ext cx="4754880" cy="1051560"/>
          </a:xfrm>
          <a:prstGeom prst="roundRect">
            <a:avLst>
              <a:gd name="adj" fmla="val 6087"/>
            </a:avLst>
          </a:prstGeom>
          <a:solidFill>
            <a:srgbClr val="FFFFFF"/>
          </a:solidFill>
          <a:ln w="12700">
            <a:solidFill>
              <a:srgbClr val="EEF2F7"/>
            </a:solidFill>
            <a:prstDash val="solid"/>
          </a:ln>
          <a:effectLst>
            <a:outerShdw sx="100000" sy="100000" kx="0" ky="0" algn="bl" rotWithShape="0" blurRad="76200" dist="25400" dir="5400000">
              <a:srgbClr val="9FB3CC">
                <a:alpha val="25000"/>
              </a:srgbClr>
            </a:outerShdw>
          </a:effectLst>
        </p:spPr>
      </p:sp>
      <p:sp>
        <p:nvSpPr>
          <p:cNvPr id="16" name="Text 14"/>
          <p:cNvSpPr txBox="1"/>
          <p:nvPr/>
        </p:nvSpPr>
        <p:spPr>
          <a:xfrm>
            <a:off x="822960" y="5605272"/>
            <a:ext cx="731520" cy="73152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7" name="Text 15"/>
          <p:cNvSpPr txBox="1"/>
          <p:nvPr/>
        </p:nvSpPr>
        <p:spPr>
          <a:xfrm>
            <a:off x="1600200" y="5605272"/>
            <a:ext cx="3657600" cy="365760"/>
          </a:xfrm>
          <a:prstGeom prst="rect">
            <a:avLst/>
          </a:prstGeom>
          <a:noFill/>
          <a:ln/>
        </p:spPr>
        <p:txBody>
          <a:bodyPr wrap="square" lIns="0" tIns="0" rIns="0" bIns="0" rtlCol="0" anchor="ctr"/>
          <a:lstStyle/>
          <a:p>
            <a:pPr indent="0" marL="0">
              <a:buNone/>
            </a:pPr>
            <a:r>
              <a:rPr lang="en-US" sz="1400" b="1" dirty="0">
                <a:solidFill>
                  <a:srgbClr val="0F2843"/>
                </a:solidFill>
                <a:latin typeface="Calibri" pitchFamily="34" charset="0"/>
                <a:ea typeface="Calibri" pitchFamily="34" charset="-122"/>
                <a:cs typeface="Calibri" pitchFamily="34" charset="-120"/>
              </a:rPr>
              <a:t>Zero Time to Deliberate</a:t>
            </a:r>
            <a:endParaRPr lang="en-US" sz="1400" dirty="0"/>
          </a:p>
        </p:txBody>
      </p:sp>
      <p:sp>
        <p:nvSpPr>
          <p:cNvPr id="18" name="Text 16"/>
          <p:cNvSpPr txBox="1"/>
          <p:nvPr/>
        </p:nvSpPr>
        <p:spPr>
          <a:xfrm>
            <a:off x="1600200" y="5971032"/>
            <a:ext cx="3657600" cy="36576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Both zones need help right now</a:t>
            </a:r>
            <a:endParaRPr lang="en-US" sz="1100" dirty="0"/>
          </a:p>
        </p:txBody>
      </p:sp>
      <p:sp>
        <p:nvSpPr>
          <p:cNvPr id="19" name="Shape 17"/>
          <p:cNvSpPr/>
          <p:nvPr/>
        </p:nvSpPr>
        <p:spPr>
          <a:xfrm>
            <a:off x="5760720" y="1463040"/>
            <a:ext cx="5760720" cy="5029200"/>
          </a:xfrm>
          <a:prstGeom prst="roundRect">
            <a:avLst>
              <a:gd name="adj" fmla="val 1273"/>
            </a:avLst>
          </a:prstGeom>
          <a:solidFill>
            <a:srgbClr val="0F2843"/>
          </a:solidFill>
          <a:ln/>
        </p:spPr>
      </p:sp>
      <p:sp>
        <p:nvSpPr>
          <p:cNvPr id="20" name="Text 18"/>
          <p:cNvSpPr txBox="1"/>
          <p:nvPr/>
        </p:nvSpPr>
        <p:spPr>
          <a:xfrm>
            <a:off x="6080760" y="1463040"/>
            <a:ext cx="5120640" cy="5029200"/>
          </a:xfrm>
          <a:prstGeom prst="rect">
            <a:avLst/>
          </a:prstGeom>
          <a:noFill/>
          <a:ln/>
        </p:spPr>
        <p:txBody>
          <a:bodyPr wrap="square" lIns="0" tIns="0" rIns="0" bIns="0" rtlCol="0" anchor="ctr"/>
          <a:lstStyle/>
          <a:p>
            <a:pPr indent="0" marL="0">
              <a:lnSpc>
                <a:spcPct val="125000"/>
              </a:lnSpc>
              <a:buNone/>
            </a:pPr>
            <a:r>
              <a:rPr lang="en-US" sz="1800" b="1" dirty="0">
                <a:solidFill>
                  <a:srgbClr val="FFFFFF"/>
                </a:solidFill>
                <a:latin typeface="Calibri" pitchFamily="34" charset="0"/>
                <a:ea typeface="Calibri" pitchFamily="34" charset="-122"/>
                <a:cs typeface="Calibri" pitchFamily="34" charset="-120"/>
              </a:rPr>
              <a:t>You have only ONE ambulance.</a:t>
            </a:r>
            <a:endParaRPr lang="en-US" sz="1800" dirty="0"/>
          </a:p>
          <a:p>
            <a:pPr indent="0" marL="0">
              <a:lnSpc>
                <a:spcPct val="125000"/>
              </a:lnSpc>
              <a:buNone/>
            </a:pPr>
            <a:r>
              <a:rPr lang="en-US" sz="1800" b="1" dirty="0">
                <a:solidFill>
                  <a:srgbClr val="FFFFFF"/>
                </a:solidFill>
                <a:latin typeface="Calibri" pitchFamily="34" charset="0"/>
                <a:ea typeface="Calibri" pitchFamily="34" charset="-122"/>
                <a:cs typeface="Calibri" pitchFamily="34" charset="-120"/>
              </a:rPr>
              <a:t>Which zone should receive it first —</a:t>
            </a:r>
            <a:endParaRPr lang="en-US" sz="1800" dirty="0"/>
          </a:p>
          <a:p>
            <a:pPr indent="0" marL="0">
              <a:lnSpc>
                <a:spcPct val="125000"/>
              </a:lnSpc>
              <a:buNone/>
            </a:pPr>
            <a:r>
              <a:rPr lang="en-US" sz="1800" b="1" dirty="0">
                <a:solidFill>
                  <a:srgbClr val="FFFFFF"/>
                </a:solidFill>
                <a:latin typeface="Calibri" pitchFamily="34" charset="0"/>
                <a:ea typeface="Calibri" pitchFamily="34" charset="-122"/>
                <a:cs typeface="Calibri" pitchFamily="34" charset="-120"/>
              </a:rPr>
              <a:t>and what happens to the other?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502920"/>
          </a:xfrm>
          <a:prstGeom prst="rect">
            <a:avLst/>
          </a:prstGeom>
          <a:noFill/>
          <a:ln/>
        </p:spPr>
        <p:txBody>
          <a:bodyPr wrap="square" lIns="0" tIns="0" rIns="0" bIns="0" rtlCol="0" anchor="ctr"/>
          <a:lstStyle/>
          <a:p>
            <a:pPr indent="0" marL="0">
              <a:buNone/>
            </a:pPr>
            <a:r>
              <a:rPr lang="en-US" sz="2600" b="1" dirty="0">
                <a:solidFill>
                  <a:srgbClr val="0F2843"/>
                </a:solidFill>
                <a:latin typeface="Cambria" pitchFamily="34" charset="0"/>
                <a:ea typeface="Cambria" pitchFamily="34" charset="-122"/>
                <a:cs typeface="Cambria" pitchFamily="34" charset="-120"/>
              </a:rPr>
              <a:t>Which Zone Would the Agent Prioritize?</a:t>
            </a:r>
            <a:endParaRPr lang="en-US" sz="2600" dirty="0"/>
          </a:p>
        </p:txBody>
      </p:sp>
      <p:sp>
        <p:nvSpPr>
          <p:cNvPr id="3" name="Shape 1"/>
          <p:cNvSpPr/>
          <p:nvPr/>
        </p:nvSpPr>
        <p:spPr>
          <a:xfrm>
            <a:off x="640080" y="1280160"/>
            <a:ext cx="5120640" cy="640080"/>
          </a:xfrm>
          <a:prstGeom prst="roundRect">
            <a:avLst>
              <a:gd name="adj" fmla="val 10000"/>
            </a:avLst>
          </a:prstGeom>
          <a:solidFill>
            <a:srgbClr val="E63946"/>
          </a:solidFill>
          <a:ln/>
        </p:spPr>
      </p:sp>
      <p:sp>
        <p:nvSpPr>
          <p:cNvPr id="4" name="Text 2"/>
          <p:cNvSpPr txBox="1"/>
          <p:nvPr/>
        </p:nvSpPr>
        <p:spPr>
          <a:xfrm>
            <a:off x="640080" y="1280160"/>
            <a:ext cx="512064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ZONE 7</a:t>
            </a:r>
            <a:endParaRPr lang="en-US" sz="2000" dirty="0"/>
          </a:p>
        </p:txBody>
      </p:sp>
      <p:sp>
        <p:nvSpPr>
          <p:cNvPr id="5" name="Shape 3"/>
          <p:cNvSpPr/>
          <p:nvPr/>
        </p:nvSpPr>
        <p:spPr>
          <a:xfrm>
            <a:off x="640080" y="2011680"/>
            <a:ext cx="5120640" cy="3474720"/>
          </a:xfrm>
          <a:prstGeom prst="roundRect">
            <a:avLst>
              <a:gd name="adj" fmla="val 1842"/>
            </a:avLst>
          </a:prstGeom>
          <a:solidFill>
            <a:srgbClr val="FFFFFF"/>
          </a:solidFill>
          <a:ln w="12700">
            <a:solidFill>
              <a:srgbClr val="EEF2F7"/>
            </a:solidFill>
            <a:prstDash val="solid"/>
          </a:ln>
        </p:spPr>
      </p:sp>
      <p:sp>
        <p:nvSpPr>
          <p:cNvPr id="6" name="Text 4"/>
          <p:cNvSpPr txBox="1"/>
          <p:nvPr/>
        </p:nvSpPr>
        <p:spPr>
          <a:xfrm>
            <a:off x="960120" y="2240280"/>
            <a:ext cx="448056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ML Risk Score</a:t>
            </a:r>
            <a:endParaRPr lang="en-US" sz="1200" dirty="0"/>
          </a:p>
        </p:txBody>
      </p:sp>
      <p:sp>
        <p:nvSpPr>
          <p:cNvPr id="7" name="Text 5"/>
          <p:cNvSpPr txBox="1"/>
          <p:nvPr/>
        </p:nvSpPr>
        <p:spPr>
          <a:xfrm>
            <a:off x="960120" y="2532888"/>
            <a:ext cx="4480560" cy="365760"/>
          </a:xfrm>
          <a:prstGeom prst="rect">
            <a:avLst/>
          </a:prstGeom>
          <a:noFill/>
          <a:ln/>
        </p:spPr>
        <p:txBody>
          <a:bodyPr wrap="square" lIns="0" tIns="0" rIns="0" bIns="0" rtlCol="0" anchor="ctr"/>
          <a:lstStyle/>
          <a:p>
            <a:pPr indent="0" marL="0">
              <a:buNone/>
            </a:pPr>
            <a:r>
              <a:rPr lang="en-US" sz="1600" b="1" dirty="0">
                <a:solidFill>
                  <a:srgbClr val="0F2843"/>
                </a:solidFill>
                <a:latin typeface="Calibri" pitchFamily="34" charset="0"/>
                <a:ea typeface="Calibri" pitchFamily="34" charset="-122"/>
                <a:cs typeface="Calibri" pitchFamily="34" charset="-120"/>
              </a:rPr>
              <a:t>Severe</a:t>
            </a:r>
            <a:endParaRPr lang="en-US" sz="1600" dirty="0"/>
          </a:p>
        </p:txBody>
      </p:sp>
      <p:sp>
        <p:nvSpPr>
          <p:cNvPr id="8" name="Shape 6"/>
          <p:cNvSpPr/>
          <p:nvPr/>
        </p:nvSpPr>
        <p:spPr>
          <a:xfrm>
            <a:off x="960120" y="2953512"/>
            <a:ext cx="4480560" cy="0"/>
          </a:xfrm>
          <a:prstGeom prst="line">
            <a:avLst/>
          </a:prstGeom>
          <a:noFill/>
          <a:ln w="12700">
            <a:solidFill>
              <a:srgbClr val="EEF2F7"/>
            </a:solidFill>
            <a:prstDash val="solid"/>
          </a:ln>
        </p:spPr>
      </p:sp>
      <p:sp>
        <p:nvSpPr>
          <p:cNvPr id="9" name="Text 7"/>
          <p:cNvSpPr txBox="1"/>
          <p:nvPr/>
        </p:nvSpPr>
        <p:spPr>
          <a:xfrm>
            <a:off x="960120" y="3017520"/>
            <a:ext cx="448056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Vision Alert (DL)</a:t>
            </a:r>
            <a:endParaRPr lang="en-US" sz="1200" dirty="0"/>
          </a:p>
        </p:txBody>
      </p:sp>
      <p:sp>
        <p:nvSpPr>
          <p:cNvPr id="10" name="Text 8"/>
          <p:cNvSpPr txBox="1"/>
          <p:nvPr/>
        </p:nvSpPr>
        <p:spPr>
          <a:xfrm>
            <a:off x="960120" y="3310128"/>
            <a:ext cx="4480560" cy="365760"/>
          </a:xfrm>
          <a:prstGeom prst="rect">
            <a:avLst/>
          </a:prstGeom>
          <a:noFill/>
          <a:ln/>
        </p:spPr>
        <p:txBody>
          <a:bodyPr wrap="square" lIns="0" tIns="0" rIns="0" bIns="0" rtlCol="0" anchor="ctr"/>
          <a:lstStyle/>
          <a:p>
            <a:pPr indent="0" marL="0">
              <a:buNone/>
            </a:pPr>
            <a:r>
              <a:rPr lang="en-US" sz="1600" b="1" dirty="0">
                <a:solidFill>
                  <a:srgbClr val="0F2843"/>
                </a:solidFill>
                <a:latin typeface="Calibri" pitchFamily="34" charset="0"/>
                <a:ea typeface="Calibri" pitchFamily="34" charset="-122"/>
                <a:cs typeface="Calibri" pitchFamily="34" charset="-120"/>
              </a:rPr>
              <a:t>Roads submerged</a:t>
            </a:r>
            <a:endParaRPr lang="en-US" sz="1600" dirty="0"/>
          </a:p>
        </p:txBody>
      </p:sp>
      <p:sp>
        <p:nvSpPr>
          <p:cNvPr id="11" name="Shape 9"/>
          <p:cNvSpPr/>
          <p:nvPr/>
        </p:nvSpPr>
        <p:spPr>
          <a:xfrm>
            <a:off x="960120" y="3730752"/>
            <a:ext cx="4480560" cy="0"/>
          </a:xfrm>
          <a:prstGeom prst="line">
            <a:avLst/>
          </a:prstGeom>
          <a:noFill/>
          <a:ln w="12700">
            <a:solidFill>
              <a:srgbClr val="EEF2F7"/>
            </a:solidFill>
            <a:prstDash val="solid"/>
          </a:ln>
        </p:spPr>
      </p:sp>
      <p:sp>
        <p:nvSpPr>
          <p:cNvPr id="12" name="Text 10"/>
          <p:cNvSpPr txBox="1"/>
          <p:nvPr/>
        </p:nvSpPr>
        <p:spPr>
          <a:xfrm>
            <a:off x="960120" y="3794760"/>
            <a:ext cx="448056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Text Urgency (NLP)</a:t>
            </a:r>
            <a:endParaRPr lang="en-US" sz="1200" dirty="0"/>
          </a:p>
        </p:txBody>
      </p:sp>
      <p:sp>
        <p:nvSpPr>
          <p:cNvPr id="13" name="Text 11"/>
          <p:cNvSpPr txBox="1"/>
          <p:nvPr/>
        </p:nvSpPr>
        <p:spPr>
          <a:xfrm>
            <a:off x="960120" y="4087368"/>
            <a:ext cx="4480560" cy="365760"/>
          </a:xfrm>
          <a:prstGeom prst="rect">
            <a:avLst/>
          </a:prstGeom>
          <a:noFill/>
          <a:ln/>
        </p:spPr>
        <p:txBody>
          <a:bodyPr wrap="square" lIns="0" tIns="0" rIns="0" bIns="0" rtlCol="0" anchor="ctr"/>
          <a:lstStyle/>
          <a:p>
            <a:pPr indent="0" marL="0">
              <a:buNone/>
            </a:pPr>
            <a:r>
              <a:rPr lang="en-US" sz="1600" b="1" dirty="0">
                <a:solidFill>
                  <a:srgbClr val="0F2843"/>
                </a:solidFill>
                <a:latin typeface="Calibri" pitchFamily="34" charset="0"/>
                <a:ea typeface="Calibri" pitchFamily="34" charset="-122"/>
                <a:cs typeface="Calibri" pitchFamily="34" charset="-120"/>
              </a:rPr>
              <a:t>High panic in texts</a:t>
            </a:r>
            <a:endParaRPr lang="en-US" sz="1600" dirty="0"/>
          </a:p>
        </p:txBody>
      </p:sp>
      <p:sp>
        <p:nvSpPr>
          <p:cNvPr id="14" name="Shape 12"/>
          <p:cNvSpPr/>
          <p:nvPr/>
        </p:nvSpPr>
        <p:spPr>
          <a:xfrm>
            <a:off x="960120" y="4507992"/>
            <a:ext cx="4480560" cy="0"/>
          </a:xfrm>
          <a:prstGeom prst="line">
            <a:avLst/>
          </a:prstGeom>
          <a:noFill/>
          <a:ln w="12700">
            <a:solidFill>
              <a:srgbClr val="EEF2F7"/>
            </a:solidFill>
            <a:prstDash val="solid"/>
          </a:ln>
        </p:spPr>
      </p:sp>
      <p:sp>
        <p:nvSpPr>
          <p:cNvPr id="15" name="Text 13"/>
          <p:cNvSpPr txBox="1"/>
          <p:nvPr/>
        </p:nvSpPr>
        <p:spPr>
          <a:xfrm>
            <a:off x="960120" y="4572000"/>
            <a:ext cx="448056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Emergency Calls</a:t>
            </a:r>
            <a:endParaRPr lang="en-US" sz="1200" dirty="0"/>
          </a:p>
        </p:txBody>
      </p:sp>
      <p:sp>
        <p:nvSpPr>
          <p:cNvPr id="16" name="Text 14"/>
          <p:cNvSpPr txBox="1"/>
          <p:nvPr/>
        </p:nvSpPr>
        <p:spPr>
          <a:xfrm>
            <a:off x="960120" y="4864608"/>
            <a:ext cx="4480560" cy="365760"/>
          </a:xfrm>
          <a:prstGeom prst="rect">
            <a:avLst/>
          </a:prstGeom>
          <a:noFill/>
          <a:ln/>
        </p:spPr>
        <p:txBody>
          <a:bodyPr wrap="square" lIns="0" tIns="0" rIns="0" bIns="0" rtlCol="0" anchor="ctr"/>
          <a:lstStyle/>
          <a:p>
            <a:pPr indent="0" marL="0">
              <a:buNone/>
            </a:pPr>
            <a:r>
              <a:rPr lang="en-US" sz="1600" b="1" dirty="0">
                <a:solidFill>
                  <a:srgbClr val="0F2843"/>
                </a:solidFill>
                <a:latin typeface="Calibri" pitchFamily="34" charset="0"/>
                <a:ea typeface="Calibri" pitchFamily="34" charset="-122"/>
                <a:cs typeface="Calibri" pitchFamily="34" charset="-120"/>
              </a:rPr>
              <a:t>38</a:t>
            </a:r>
            <a:endParaRPr lang="en-US" sz="1600" dirty="0"/>
          </a:p>
        </p:txBody>
      </p:sp>
      <p:sp>
        <p:nvSpPr>
          <p:cNvPr id="17" name="Shape 15"/>
          <p:cNvSpPr/>
          <p:nvPr/>
        </p:nvSpPr>
        <p:spPr>
          <a:xfrm>
            <a:off x="6126480" y="1280160"/>
            <a:ext cx="5120640" cy="640080"/>
          </a:xfrm>
          <a:prstGeom prst="roundRect">
            <a:avLst>
              <a:gd name="adj" fmla="val 10000"/>
            </a:avLst>
          </a:prstGeom>
          <a:solidFill>
            <a:srgbClr val="F4A300"/>
          </a:solidFill>
          <a:ln/>
        </p:spPr>
      </p:sp>
      <p:sp>
        <p:nvSpPr>
          <p:cNvPr id="18" name="Text 16"/>
          <p:cNvSpPr txBox="1"/>
          <p:nvPr/>
        </p:nvSpPr>
        <p:spPr>
          <a:xfrm>
            <a:off x="6126480" y="1280160"/>
            <a:ext cx="512064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ZONE 12</a:t>
            </a:r>
            <a:endParaRPr lang="en-US" sz="2000" dirty="0"/>
          </a:p>
        </p:txBody>
      </p:sp>
      <p:sp>
        <p:nvSpPr>
          <p:cNvPr id="19" name="Shape 17"/>
          <p:cNvSpPr/>
          <p:nvPr/>
        </p:nvSpPr>
        <p:spPr>
          <a:xfrm>
            <a:off x="6126480" y="2011680"/>
            <a:ext cx="5120640" cy="3474720"/>
          </a:xfrm>
          <a:prstGeom prst="roundRect">
            <a:avLst>
              <a:gd name="adj" fmla="val 1842"/>
            </a:avLst>
          </a:prstGeom>
          <a:solidFill>
            <a:srgbClr val="FFFFFF"/>
          </a:solidFill>
          <a:ln w="12700">
            <a:solidFill>
              <a:srgbClr val="EEF2F7"/>
            </a:solidFill>
            <a:prstDash val="solid"/>
          </a:ln>
        </p:spPr>
      </p:sp>
      <p:sp>
        <p:nvSpPr>
          <p:cNvPr id="20" name="Text 18"/>
          <p:cNvSpPr txBox="1"/>
          <p:nvPr/>
        </p:nvSpPr>
        <p:spPr>
          <a:xfrm>
            <a:off x="6446520" y="2240280"/>
            <a:ext cx="448056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ML Risk Score</a:t>
            </a:r>
            <a:endParaRPr lang="en-US" sz="1200" dirty="0"/>
          </a:p>
        </p:txBody>
      </p:sp>
      <p:sp>
        <p:nvSpPr>
          <p:cNvPr id="21" name="Text 19"/>
          <p:cNvSpPr txBox="1"/>
          <p:nvPr/>
        </p:nvSpPr>
        <p:spPr>
          <a:xfrm>
            <a:off x="6446520" y="2532888"/>
            <a:ext cx="4480560" cy="365760"/>
          </a:xfrm>
          <a:prstGeom prst="rect">
            <a:avLst/>
          </a:prstGeom>
          <a:noFill/>
          <a:ln/>
        </p:spPr>
        <p:txBody>
          <a:bodyPr wrap="square" lIns="0" tIns="0" rIns="0" bIns="0" rtlCol="0" anchor="ctr"/>
          <a:lstStyle/>
          <a:p>
            <a:pPr indent="0" marL="0">
              <a:buNone/>
            </a:pPr>
            <a:r>
              <a:rPr lang="en-US" sz="1600" b="1" dirty="0">
                <a:solidFill>
                  <a:srgbClr val="0F2843"/>
                </a:solidFill>
                <a:latin typeface="Calibri" pitchFamily="34" charset="0"/>
                <a:ea typeface="Calibri" pitchFamily="34" charset="-122"/>
                <a:cs typeface="Calibri" pitchFamily="34" charset="-120"/>
              </a:rPr>
              <a:t>Severe</a:t>
            </a:r>
            <a:endParaRPr lang="en-US" sz="1600" dirty="0"/>
          </a:p>
        </p:txBody>
      </p:sp>
      <p:sp>
        <p:nvSpPr>
          <p:cNvPr id="22" name="Shape 20"/>
          <p:cNvSpPr/>
          <p:nvPr/>
        </p:nvSpPr>
        <p:spPr>
          <a:xfrm>
            <a:off x="6446520" y="2953512"/>
            <a:ext cx="4480560" cy="0"/>
          </a:xfrm>
          <a:prstGeom prst="line">
            <a:avLst/>
          </a:prstGeom>
          <a:noFill/>
          <a:ln w="12700">
            <a:solidFill>
              <a:srgbClr val="EEF2F7"/>
            </a:solidFill>
            <a:prstDash val="solid"/>
          </a:ln>
        </p:spPr>
      </p:sp>
      <p:sp>
        <p:nvSpPr>
          <p:cNvPr id="23" name="Text 21"/>
          <p:cNvSpPr txBox="1"/>
          <p:nvPr/>
        </p:nvSpPr>
        <p:spPr>
          <a:xfrm>
            <a:off x="6446520" y="3017520"/>
            <a:ext cx="448056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Vision Alert (DL)</a:t>
            </a:r>
            <a:endParaRPr lang="en-US" sz="1200" dirty="0"/>
          </a:p>
        </p:txBody>
      </p:sp>
      <p:sp>
        <p:nvSpPr>
          <p:cNvPr id="24" name="Text 22"/>
          <p:cNvSpPr txBox="1"/>
          <p:nvPr/>
        </p:nvSpPr>
        <p:spPr>
          <a:xfrm>
            <a:off x="6446520" y="3310128"/>
            <a:ext cx="4480560" cy="365760"/>
          </a:xfrm>
          <a:prstGeom prst="rect">
            <a:avLst/>
          </a:prstGeom>
          <a:noFill/>
          <a:ln/>
        </p:spPr>
        <p:txBody>
          <a:bodyPr wrap="square" lIns="0" tIns="0" rIns="0" bIns="0" rtlCol="0" anchor="ctr"/>
          <a:lstStyle/>
          <a:p>
            <a:pPr indent="0" marL="0">
              <a:buNone/>
            </a:pPr>
            <a:r>
              <a:rPr lang="en-US" sz="1600" b="1" dirty="0">
                <a:solidFill>
                  <a:srgbClr val="0F2843"/>
                </a:solidFill>
                <a:latin typeface="Calibri" pitchFamily="34" charset="0"/>
                <a:ea typeface="Calibri" pitchFamily="34" charset="-122"/>
                <a:cs typeface="Calibri" pitchFamily="34" charset="-120"/>
              </a:rPr>
              <a:t>Partial flooding</a:t>
            </a:r>
            <a:endParaRPr lang="en-US" sz="1600" dirty="0"/>
          </a:p>
        </p:txBody>
      </p:sp>
      <p:sp>
        <p:nvSpPr>
          <p:cNvPr id="25" name="Shape 23"/>
          <p:cNvSpPr/>
          <p:nvPr/>
        </p:nvSpPr>
        <p:spPr>
          <a:xfrm>
            <a:off x="6446520" y="3730752"/>
            <a:ext cx="4480560" cy="0"/>
          </a:xfrm>
          <a:prstGeom prst="line">
            <a:avLst/>
          </a:prstGeom>
          <a:noFill/>
          <a:ln w="12700">
            <a:solidFill>
              <a:srgbClr val="EEF2F7"/>
            </a:solidFill>
            <a:prstDash val="solid"/>
          </a:ln>
        </p:spPr>
      </p:sp>
      <p:sp>
        <p:nvSpPr>
          <p:cNvPr id="26" name="Text 24"/>
          <p:cNvSpPr txBox="1"/>
          <p:nvPr/>
        </p:nvSpPr>
        <p:spPr>
          <a:xfrm>
            <a:off x="6446520" y="3794760"/>
            <a:ext cx="448056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Text Urgency (NLP)</a:t>
            </a:r>
            <a:endParaRPr lang="en-US" sz="1200" dirty="0"/>
          </a:p>
        </p:txBody>
      </p:sp>
      <p:sp>
        <p:nvSpPr>
          <p:cNvPr id="27" name="Text 25"/>
          <p:cNvSpPr txBox="1"/>
          <p:nvPr/>
        </p:nvSpPr>
        <p:spPr>
          <a:xfrm>
            <a:off x="6446520" y="4087368"/>
            <a:ext cx="4480560" cy="365760"/>
          </a:xfrm>
          <a:prstGeom prst="rect">
            <a:avLst/>
          </a:prstGeom>
          <a:noFill/>
          <a:ln/>
        </p:spPr>
        <p:txBody>
          <a:bodyPr wrap="square" lIns="0" tIns="0" rIns="0" bIns="0" rtlCol="0" anchor="ctr"/>
          <a:lstStyle/>
          <a:p>
            <a:pPr indent="0" marL="0">
              <a:buNone/>
            </a:pPr>
            <a:r>
              <a:rPr lang="en-US" sz="1600" b="1" dirty="0">
                <a:solidFill>
                  <a:srgbClr val="0F2843"/>
                </a:solidFill>
                <a:latin typeface="Calibri" pitchFamily="34" charset="0"/>
                <a:ea typeface="Calibri" pitchFamily="34" charset="-122"/>
                <a:cs typeface="Calibri" pitchFamily="34" charset="-120"/>
              </a:rPr>
              <a:t>Moderate urgency</a:t>
            </a:r>
            <a:endParaRPr lang="en-US" sz="1600" dirty="0"/>
          </a:p>
        </p:txBody>
      </p:sp>
      <p:sp>
        <p:nvSpPr>
          <p:cNvPr id="28" name="Shape 26"/>
          <p:cNvSpPr/>
          <p:nvPr/>
        </p:nvSpPr>
        <p:spPr>
          <a:xfrm>
            <a:off x="6446520" y="4507992"/>
            <a:ext cx="4480560" cy="0"/>
          </a:xfrm>
          <a:prstGeom prst="line">
            <a:avLst/>
          </a:prstGeom>
          <a:noFill/>
          <a:ln w="12700">
            <a:solidFill>
              <a:srgbClr val="EEF2F7"/>
            </a:solidFill>
            <a:prstDash val="solid"/>
          </a:ln>
        </p:spPr>
      </p:sp>
      <p:sp>
        <p:nvSpPr>
          <p:cNvPr id="29" name="Text 27"/>
          <p:cNvSpPr txBox="1"/>
          <p:nvPr/>
        </p:nvSpPr>
        <p:spPr>
          <a:xfrm>
            <a:off x="6446520" y="4572000"/>
            <a:ext cx="448056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Emergency Calls</a:t>
            </a:r>
            <a:endParaRPr lang="en-US" sz="1200" dirty="0"/>
          </a:p>
        </p:txBody>
      </p:sp>
      <p:sp>
        <p:nvSpPr>
          <p:cNvPr id="30" name="Text 28"/>
          <p:cNvSpPr txBox="1"/>
          <p:nvPr/>
        </p:nvSpPr>
        <p:spPr>
          <a:xfrm>
            <a:off x="6446520" y="4864608"/>
            <a:ext cx="4480560" cy="365760"/>
          </a:xfrm>
          <a:prstGeom prst="rect">
            <a:avLst/>
          </a:prstGeom>
          <a:noFill/>
          <a:ln/>
        </p:spPr>
        <p:txBody>
          <a:bodyPr wrap="square" lIns="0" tIns="0" rIns="0" bIns="0" rtlCol="0" anchor="ctr"/>
          <a:lstStyle/>
          <a:p>
            <a:pPr indent="0" marL="0">
              <a:buNone/>
            </a:pPr>
            <a:r>
              <a:rPr lang="en-US" sz="1600" b="1" dirty="0">
                <a:solidFill>
                  <a:srgbClr val="0F2843"/>
                </a:solidFill>
                <a:latin typeface="Calibri" pitchFamily="34" charset="0"/>
                <a:ea typeface="Calibri" pitchFamily="34" charset="-122"/>
                <a:cs typeface="Calibri" pitchFamily="34" charset="-120"/>
              </a:rPr>
              <a:t>15</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F4A300"/>
                </a:solidFill>
                <a:latin typeface="Calibri" pitchFamily="34" charset="0"/>
                <a:ea typeface="Calibri" pitchFamily="34" charset="-122"/>
                <a:cs typeface="Calibri" pitchFamily="34" charset="-120"/>
              </a:rPr>
              <a:t>THE REAL PROBLEM</a:t>
            </a:r>
            <a:endParaRPr lang="en-US" sz="1200" dirty="0"/>
          </a:p>
        </p:txBody>
      </p:sp>
      <p:sp>
        <p:nvSpPr>
          <p:cNvPr id="3" name="Text 1"/>
          <p:cNvSpPr txBox="1"/>
          <p:nvPr/>
        </p:nvSpPr>
        <p:spPr>
          <a:xfrm>
            <a:off x="640080" y="777240"/>
            <a:ext cx="10607040" cy="1005840"/>
          </a:xfrm>
          <a:prstGeom prst="rect">
            <a:avLst/>
          </a:prstGeom>
          <a:noFill/>
          <a:ln/>
        </p:spPr>
        <p:txBody>
          <a:bodyPr wrap="square" lIns="0" tIns="0" rIns="0" bIns="0" rtlCol="0" anchor="ctr"/>
          <a:lstStyle/>
          <a:p>
            <a:pPr indent="0" marL="0">
              <a:lnSpc>
                <a:spcPct val="115000"/>
              </a:lnSpc>
              <a:buNone/>
            </a:pPr>
            <a:r>
              <a:rPr lang="en-US" sz="2400" b="1" dirty="0">
                <a:solidFill>
                  <a:srgbClr val="0F2843"/>
                </a:solidFill>
                <a:latin typeface="Cambria" pitchFamily="34" charset="0"/>
                <a:ea typeface="Cambria" pitchFamily="34" charset="-122"/>
                <a:cs typeface="Cambria" pitchFamily="34" charset="-120"/>
              </a:rPr>
              <a:t>Can a human commander read every model output,</a:t>
            </a:r>
            <a:endParaRPr lang="en-US" sz="2400" dirty="0"/>
          </a:p>
          <a:p>
            <a:pPr indent="0" marL="0">
              <a:lnSpc>
                <a:spcPct val="115000"/>
              </a:lnSpc>
              <a:buNone/>
            </a:pPr>
            <a:r>
              <a:rPr lang="en-US" sz="2400" b="1" dirty="0">
                <a:solidFill>
                  <a:srgbClr val="0F2843"/>
                </a:solidFill>
                <a:latin typeface="Cambria" pitchFamily="34" charset="0"/>
                <a:ea typeface="Cambria" pitchFamily="34" charset="-122"/>
                <a:cs typeface="Cambria" pitchFamily="34" charset="-120"/>
              </a:rPr>
              <a:t>cross-reference resources, and issue an order in seconds?</a:t>
            </a:r>
            <a:endParaRPr lang="en-US" sz="2400" dirty="0"/>
          </a:p>
        </p:txBody>
      </p:sp>
      <p:sp>
        <p:nvSpPr>
          <p:cNvPr id="4" name="Shape 2"/>
          <p:cNvSpPr/>
          <p:nvPr/>
        </p:nvSpPr>
        <p:spPr>
          <a:xfrm>
            <a:off x="640080" y="2194560"/>
            <a:ext cx="2148840" cy="548640"/>
          </a:xfrm>
          <a:prstGeom prst="roundRect">
            <a:avLst>
              <a:gd name="adj" fmla="val 50000"/>
            </a:avLst>
          </a:prstGeom>
          <a:solidFill>
            <a:srgbClr val="FFFFFF"/>
          </a:solidFill>
          <a:ln w="12700">
            <a:solidFill>
              <a:srgbClr val="CADCFC"/>
            </a:solidFill>
            <a:prstDash val="solid"/>
          </a:ln>
        </p:spPr>
      </p:sp>
      <p:sp>
        <p:nvSpPr>
          <p:cNvPr id="5" name="Text 3"/>
          <p:cNvSpPr txBox="1"/>
          <p:nvPr/>
        </p:nvSpPr>
        <p:spPr>
          <a:xfrm>
            <a:off x="640080" y="2194560"/>
            <a:ext cx="2148840" cy="548640"/>
          </a:xfrm>
          <a:prstGeom prst="rect">
            <a:avLst/>
          </a:prstGeom>
          <a:noFill/>
          <a:ln/>
        </p:spPr>
        <p:txBody>
          <a:bodyPr wrap="square" lIns="0" tIns="0" rIns="0" bIns="0" rtlCol="0" anchor="ctr"/>
          <a:lstStyle/>
          <a:p>
            <a:pPr algn="ctr" indent="0" marL="0">
              <a:buNone/>
            </a:pPr>
            <a:r>
              <a:rPr lang="en-US" sz="1200" b="1" dirty="0">
                <a:solidFill>
                  <a:srgbClr val="0F2843"/>
                </a:solidFill>
                <a:latin typeface="Calibri" pitchFamily="34" charset="0"/>
                <a:ea typeface="Calibri" pitchFamily="34" charset="-122"/>
                <a:cs typeface="Calibri" pitchFamily="34" charset="-120"/>
              </a:rPr>
              <a:t>Risk scores</a:t>
            </a:r>
            <a:endParaRPr lang="en-US" sz="1200" dirty="0"/>
          </a:p>
        </p:txBody>
      </p:sp>
      <p:sp>
        <p:nvSpPr>
          <p:cNvPr id="6" name="Text 4"/>
          <p:cNvSpPr txBox="1"/>
          <p:nvPr/>
        </p:nvSpPr>
        <p:spPr>
          <a:xfrm>
            <a:off x="2770632" y="2194560"/>
            <a:ext cx="182880" cy="548640"/>
          </a:xfrm>
          <a:prstGeom prst="rect">
            <a:avLst/>
          </a:prstGeom>
          <a:noFill/>
          <a:ln/>
        </p:spPr>
        <p:txBody>
          <a:bodyPr wrap="square" lIns="0" tIns="0" rIns="0" bIns="0" rtlCol="0" anchor="ctr"/>
          <a:lstStyle/>
          <a:p>
            <a:pPr algn="ctr" indent="0" marL="0">
              <a:buNone/>
            </a:pPr>
            <a:r>
              <a:rPr lang="en-US" sz="1800" b="1" dirty="0">
                <a:solidFill>
                  <a:srgbClr val="5B6B82"/>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2971800" y="2194560"/>
            <a:ext cx="2148840" cy="548640"/>
          </a:xfrm>
          <a:prstGeom prst="roundRect">
            <a:avLst>
              <a:gd name="adj" fmla="val 50000"/>
            </a:avLst>
          </a:prstGeom>
          <a:solidFill>
            <a:srgbClr val="FFFFFF"/>
          </a:solidFill>
          <a:ln w="12700">
            <a:solidFill>
              <a:srgbClr val="CADCFC"/>
            </a:solidFill>
            <a:prstDash val="solid"/>
          </a:ln>
        </p:spPr>
      </p:sp>
      <p:sp>
        <p:nvSpPr>
          <p:cNvPr id="8" name="Text 6"/>
          <p:cNvSpPr txBox="1"/>
          <p:nvPr/>
        </p:nvSpPr>
        <p:spPr>
          <a:xfrm>
            <a:off x="2971800" y="2194560"/>
            <a:ext cx="2148840" cy="548640"/>
          </a:xfrm>
          <a:prstGeom prst="rect">
            <a:avLst/>
          </a:prstGeom>
          <a:noFill/>
          <a:ln/>
        </p:spPr>
        <p:txBody>
          <a:bodyPr wrap="square" lIns="0" tIns="0" rIns="0" bIns="0" rtlCol="0" anchor="ctr"/>
          <a:lstStyle/>
          <a:p>
            <a:pPr algn="ctr" indent="0" marL="0">
              <a:buNone/>
            </a:pPr>
            <a:r>
              <a:rPr lang="en-US" sz="1200" b="1" dirty="0">
                <a:solidFill>
                  <a:srgbClr val="0F2843"/>
                </a:solidFill>
                <a:latin typeface="Calibri" pitchFamily="34" charset="0"/>
                <a:ea typeface="Calibri" pitchFamily="34" charset="-122"/>
                <a:cs typeface="Calibri" pitchFamily="34" charset="-120"/>
              </a:rPr>
              <a:t>Vision alerts</a:t>
            </a:r>
            <a:endParaRPr lang="en-US" sz="1200" dirty="0"/>
          </a:p>
        </p:txBody>
      </p:sp>
      <p:sp>
        <p:nvSpPr>
          <p:cNvPr id="9" name="Text 7"/>
          <p:cNvSpPr txBox="1"/>
          <p:nvPr/>
        </p:nvSpPr>
        <p:spPr>
          <a:xfrm>
            <a:off x="5102352" y="2194560"/>
            <a:ext cx="182880" cy="548640"/>
          </a:xfrm>
          <a:prstGeom prst="rect">
            <a:avLst/>
          </a:prstGeom>
          <a:noFill/>
          <a:ln/>
        </p:spPr>
        <p:txBody>
          <a:bodyPr wrap="square" lIns="0" tIns="0" rIns="0" bIns="0" rtlCol="0" anchor="ctr"/>
          <a:lstStyle/>
          <a:p>
            <a:pPr algn="ctr" indent="0" marL="0">
              <a:buNone/>
            </a:pPr>
            <a:r>
              <a:rPr lang="en-US" sz="1800" b="1" dirty="0">
                <a:solidFill>
                  <a:srgbClr val="5B6B82"/>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5303520" y="2194560"/>
            <a:ext cx="2148840" cy="548640"/>
          </a:xfrm>
          <a:prstGeom prst="roundRect">
            <a:avLst>
              <a:gd name="adj" fmla="val 50000"/>
            </a:avLst>
          </a:prstGeom>
          <a:solidFill>
            <a:srgbClr val="FFFFFF"/>
          </a:solidFill>
          <a:ln w="12700">
            <a:solidFill>
              <a:srgbClr val="CADCFC"/>
            </a:solidFill>
            <a:prstDash val="solid"/>
          </a:ln>
        </p:spPr>
      </p:sp>
      <p:sp>
        <p:nvSpPr>
          <p:cNvPr id="11" name="Text 9"/>
          <p:cNvSpPr txBox="1"/>
          <p:nvPr/>
        </p:nvSpPr>
        <p:spPr>
          <a:xfrm>
            <a:off x="5303520" y="2194560"/>
            <a:ext cx="2148840" cy="548640"/>
          </a:xfrm>
          <a:prstGeom prst="rect">
            <a:avLst/>
          </a:prstGeom>
          <a:noFill/>
          <a:ln/>
        </p:spPr>
        <p:txBody>
          <a:bodyPr wrap="square" lIns="0" tIns="0" rIns="0" bIns="0" rtlCol="0" anchor="ctr"/>
          <a:lstStyle/>
          <a:p>
            <a:pPr algn="ctr" indent="0" marL="0">
              <a:buNone/>
            </a:pPr>
            <a:r>
              <a:rPr lang="en-US" sz="1200" b="1" dirty="0">
                <a:solidFill>
                  <a:srgbClr val="0F2843"/>
                </a:solidFill>
                <a:latin typeface="Calibri" pitchFamily="34" charset="0"/>
                <a:ea typeface="Calibri" pitchFamily="34" charset="-122"/>
                <a:cs typeface="Calibri" pitchFamily="34" charset="-120"/>
              </a:rPr>
              <a:t>Text urgency</a:t>
            </a:r>
            <a:endParaRPr lang="en-US" sz="1200" dirty="0"/>
          </a:p>
        </p:txBody>
      </p:sp>
      <p:sp>
        <p:nvSpPr>
          <p:cNvPr id="12" name="Text 10"/>
          <p:cNvSpPr txBox="1"/>
          <p:nvPr/>
        </p:nvSpPr>
        <p:spPr>
          <a:xfrm>
            <a:off x="7434072" y="2194560"/>
            <a:ext cx="182880" cy="548640"/>
          </a:xfrm>
          <a:prstGeom prst="rect">
            <a:avLst/>
          </a:prstGeom>
          <a:noFill/>
          <a:ln/>
        </p:spPr>
        <p:txBody>
          <a:bodyPr wrap="square" lIns="0" tIns="0" rIns="0" bIns="0" rtlCol="0" anchor="ctr"/>
          <a:lstStyle/>
          <a:p>
            <a:pPr algn="ctr" indent="0" marL="0">
              <a:buNone/>
            </a:pPr>
            <a:r>
              <a:rPr lang="en-US" sz="1800" b="1" dirty="0">
                <a:solidFill>
                  <a:srgbClr val="5B6B82"/>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7635240" y="2194560"/>
            <a:ext cx="2148840" cy="548640"/>
          </a:xfrm>
          <a:prstGeom prst="roundRect">
            <a:avLst>
              <a:gd name="adj" fmla="val 50000"/>
            </a:avLst>
          </a:prstGeom>
          <a:solidFill>
            <a:srgbClr val="FFFFFF"/>
          </a:solidFill>
          <a:ln w="12700">
            <a:solidFill>
              <a:srgbClr val="CADCFC"/>
            </a:solidFill>
            <a:prstDash val="solid"/>
          </a:ln>
        </p:spPr>
      </p:sp>
      <p:sp>
        <p:nvSpPr>
          <p:cNvPr id="14" name="Text 12"/>
          <p:cNvSpPr txBox="1"/>
          <p:nvPr/>
        </p:nvSpPr>
        <p:spPr>
          <a:xfrm>
            <a:off x="7635240" y="2194560"/>
            <a:ext cx="2148840" cy="548640"/>
          </a:xfrm>
          <a:prstGeom prst="rect">
            <a:avLst/>
          </a:prstGeom>
          <a:noFill/>
          <a:ln/>
        </p:spPr>
        <p:txBody>
          <a:bodyPr wrap="square" lIns="0" tIns="0" rIns="0" bIns="0" rtlCol="0" anchor="ctr"/>
          <a:lstStyle/>
          <a:p>
            <a:pPr algn="ctr" indent="0" marL="0">
              <a:buNone/>
            </a:pPr>
            <a:r>
              <a:rPr lang="en-US" sz="1200" b="1" dirty="0">
                <a:solidFill>
                  <a:srgbClr val="0F2843"/>
                </a:solidFill>
                <a:latin typeface="Calibri" pitchFamily="34" charset="0"/>
                <a:ea typeface="Calibri" pitchFamily="34" charset="-122"/>
                <a:cs typeface="Calibri" pitchFamily="34" charset="-120"/>
              </a:rPr>
              <a:t>Resource inventory</a:t>
            </a:r>
            <a:endParaRPr lang="en-US" sz="1200" dirty="0"/>
          </a:p>
        </p:txBody>
      </p:sp>
      <p:sp>
        <p:nvSpPr>
          <p:cNvPr id="15" name="Shape 13"/>
          <p:cNvSpPr/>
          <p:nvPr/>
        </p:nvSpPr>
        <p:spPr>
          <a:xfrm>
            <a:off x="640080" y="3200400"/>
            <a:ext cx="10881360" cy="2011680"/>
          </a:xfrm>
          <a:prstGeom prst="roundRect">
            <a:avLst>
              <a:gd name="adj" fmla="val 3636"/>
            </a:avLst>
          </a:prstGeom>
          <a:solidFill>
            <a:srgbClr val="0F2843"/>
          </a:solidFill>
          <a:ln/>
        </p:spPr>
      </p:sp>
      <p:sp>
        <p:nvSpPr>
          <p:cNvPr id="16" name="Text 14"/>
          <p:cNvSpPr txBox="1"/>
          <p:nvPr/>
        </p:nvSpPr>
        <p:spPr>
          <a:xfrm>
            <a:off x="1005840" y="3383280"/>
            <a:ext cx="10149840" cy="1645920"/>
          </a:xfrm>
          <a:prstGeom prst="rect">
            <a:avLst/>
          </a:prstGeom>
          <a:noFill/>
          <a:ln/>
        </p:spPr>
        <p:txBody>
          <a:bodyPr wrap="square" lIns="0" tIns="0" rIns="0" bIns="0" rtlCol="0" anchor="ctr"/>
          <a:lstStyle/>
          <a:p>
            <a:pPr indent="0" marL="0">
              <a:lnSpc>
                <a:spcPct val="130000"/>
              </a:lnSpc>
              <a:buNone/>
            </a:pPr>
            <a:r>
              <a:rPr lang="en-US" sz="1900" b="1" dirty="0">
                <a:solidFill>
                  <a:srgbClr val="FFFFFF"/>
                </a:solidFill>
                <a:latin typeface="Calibri" pitchFamily="34" charset="0"/>
                <a:ea typeface="Calibri" pitchFamily="34" charset="-122"/>
                <a:cs typeface="Calibri" pitchFamily="34" charset="-120"/>
              </a:rPr>
              <a:t>We need a system that can reason, decide, and act
on its own judgement.
</a:t>
            </a:r>
            <a:pPr indent="0" marL="0">
              <a:lnSpc>
                <a:spcPct val="130000"/>
              </a:lnSpc>
              <a:buNone/>
            </a:pPr>
            <a:r>
              <a:rPr lang="en-US" sz="1400" i="1" dirty="0">
                <a:solidFill>
                  <a:srgbClr val="FFB627"/>
                </a:solidFill>
                <a:latin typeface="Calibri" pitchFamily="34" charset="0"/>
                <a:ea typeface="Calibri" pitchFamily="34" charset="-122"/>
                <a:cs typeface="Calibri" pitchFamily="34" charset="-120"/>
              </a:rPr>
              <a:t>This is where Agentic AI enters the story.</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502920"/>
          </a:xfrm>
          <a:prstGeom prst="rect">
            <a:avLst/>
          </a:prstGeom>
          <a:noFill/>
          <a:ln/>
        </p:spPr>
        <p:txBody>
          <a:bodyPr wrap="square" lIns="0" tIns="0" rIns="0" bIns="0" rtlCol="0" anchor="ctr"/>
          <a:lstStyle/>
          <a:p>
            <a:pPr indent="0" marL="0">
              <a:buNone/>
            </a:pPr>
            <a:r>
              <a:rPr lang="en-US" sz="2800" b="1" dirty="0">
                <a:solidFill>
                  <a:srgbClr val="0F2843"/>
                </a:solidFill>
                <a:latin typeface="Cambria" pitchFamily="34" charset="0"/>
                <a:ea typeface="Cambria" pitchFamily="34" charset="-122"/>
                <a:cs typeface="Cambria" pitchFamily="34" charset="-120"/>
              </a:rPr>
              <a:t>What Is Agentic AI?</a:t>
            </a:r>
            <a:endParaRPr lang="en-US" sz="2800" dirty="0"/>
          </a:p>
        </p:txBody>
      </p:sp>
      <p:sp>
        <p:nvSpPr>
          <p:cNvPr id="3" name="Shape 1"/>
          <p:cNvSpPr/>
          <p:nvPr/>
        </p:nvSpPr>
        <p:spPr>
          <a:xfrm>
            <a:off x="640080" y="1234440"/>
            <a:ext cx="2286000" cy="822960"/>
          </a:xfrm>
          <a:prstGeom prst="roundRect">
            <a:avLst>
              <a:gd name="adj" fmla="val 7778"/>
            </a:avLst>
          </a:prstGeom>
          <a:solidFill>
            <a:srgbClr val="0F2843"/>
          </a:solidFill>
          <a:ln/>
        </p:spPr>
      </p:sp>
      <p:sp>
        <p:nvSpPr>
          <p:cNvPr id="4" name="Text 2"/>
          <p:cNvSpPr txBox="1"/>
          <p:nvPr/>
        </p:nvSpPr>
        <p:spPr>
          <a:xfrm>
            <a:off x="640080" y="1234440"/>
            <a:ext cx="228600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PERCEIVE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SITUATION</a:t>
            </a:r>
            <a:endParaRPr lang="en-US" sz="1300" dirty="0"/>
          </a:p>
        </p:txBody>
      </p:sp>
      <p:sp>
        <p:nvSpPr>
          <p:cNvPr id="5" name="Text 3"/>
          <p:cNvSpPr txBox="1"/>
          <p:nvPr/>
        </p:nvSpPr>
        <p:spPr>
          <a:xfrm>
            <a:off x="2926080" y="1234440"/>
            <a:ext cx="502920" cy="822960"/>
          </a:xfrm>
          <a:prstGeom prst="rect">
            <a:avLst/>
          </a:prstGeom>
          <a:noFill/>
          <a:ln/>
        </p:spPr>
        <p:txBody>
          <a:bodyPr wrap="square" lIns="0" tIns="0" rIns="0" bIns="0" rtlCol="0" anchor="ctr"/>
          <a:lstStyle/>
          <a:p>
            <a:pPr algn="ctr" indent="0" marL="0">
              <a:buNone/>
            </a:pPr>
            <a:r>
              <a:rPr lang="en-US" sz="2000" dirty="0">
                <a:solidFill>
                  <a:srgbClr val="5B6B82"/>
                </a:solidFill>
              </a:rPr>
              <a:t>→</a:t>
            </a:r>
            <a:endParaRPr lang="en-US" sz="2000" dirty="0"/>
          </a:p>
        </p:txBody>
      </p:sp>
      <p:sp>
        <p:nvSpPr>
          <p:cNvPr id="6" name="Shape 4"/>
          <p:cNvSpPr/>
          <p:nvPr/>
        </p:nvSpPr>
        <p:spPr>
          <a:xfrm>
            <a:off x="3429000" y="1234440"/>
            <a:ext cx="2286000" cy="822960"/>
          </a:xfrm>
          <a:prstGeom prst="roundRect">
            <a:avLst>
              <a:gd name="adj" fmla="val 7778"/>
            </a:avLst>
          </a:prstGeom>
          <a:solidFill>
            <a:srgbClr val="0F2843"/>
          </a:solidFill>
          <a:ln/>
        </p:spPr>
      </p:sp>
      <p:sp>
        <p:nvSpPr>
          <p:cNvPr id="7" name="Text 5"/>
          <p:cNvSpPr txBox="1"/>
          <p:nvPr/>
        </p:nvSpPr>
        <p:spPr>
          <a:xfrm>
            <a:off x="3429000" y="1234440"/>
            <a:ext cx="228600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REASON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OVER GOAL</a:t>
            </a:r>
            <a:endParaRPr lang="en-US" sz="1300" dirty="0"/>
          </a:p>
        </p:txBody>
      </p:sp>
      <p:sp>
        <p:nvSpPr>
          <p:cNvPr id="8" name="Text 6"/>
          <p:cNvSpPr txBox="1"/>
          <p:nvPr/>
        </p:nvSpPr>
        <p:spPr>
          <a:xfrm>
            <a:off x="5715000" y="1234440"/>
            <a:ext cx="502920" cy="822960"/>
          </a:xfrm>
          <a:prstGeom prst="rect">
            <a:avLst/>
          </a:prstGeom>
          <a:noFill/>
          <a:ln/>
        </p:spPr>
        <p:txBody>
          <a:bodyPr wrap="square" lIns="0" tIns="0" rIns="0" bIns="0" rtlCol="0" anchor="ctr"/>
          <a:lstStyle/>
          <a:p>
            <a:pPr algn="ctr" indent="0" marL="0">
              <a:buNone/>
            </a:pPr>
            <a:r>
              <a:rPr lang="en-US" sz="2000" dirty="0">
                <a:solidFill>
                  <a:srgbClr val="5B6B82"/>
                </a:solidFill>
              </a:rPr>
              <a:t>→</a:t>
            </a:r>
            <a:endParaRPr lang="en-US" sz="2000" dirty="0"/>
          </a:p>
        </p:txBody>
      </p:sp>
      <p:sp>
        <p:nvSpPr>
          <p:cNvPr id="9" name="Shape 7"/>
          <p:cNvSpPr/>
          <p:nvPr/>
        </p:nvSpPr>
        <p:spPr>
          <a:xfrm>
            <a:off x="6217920" y="1234440"/>
            <a:ext cx="2286000" cy="822960"/>
          </a:xfrm>
          <a:prstGeom prst="roundRect">
            <a:avLst>
              <a:gd name="adj" fmla="val 7778"/>
            </a:avLst>
          </a:prstGeom>
          <a:solidFill>
            <a:srgbClr val="0F2843"/>
          </a:solidFill>
          <a:ln/>
        </p:spPr>
      </p:sp>
      <p:sp>
        <p:nvSpPr>
          <p:cNvPr id="10" name="Text 8"/>
          <p:cNvSpPr txBox="1"/>
          <p:nvPr/>
        </p:nvSpPr>
        <p:spPr>
          <a:xfrm>
            <a:off x="6217920" y="1234440"/>
            <a:ext cx="228600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CHOOSE &amp;</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ACT</a:t>
            </a:r>
            <a:endParaRPr lang="en-US" sz="1300" dirty="0"/>
          </a:p>
        </p:txBody>
      </p:sp>
      <p:sp>
        <p:nvSpPr>
          <p:cNvPr id="11" name="Text 9"/>
          <p:cNvSpPr txBox="1"/>
          <p:nvPr/>
        </p:nvSpPr>
        <p:spPr>
          <a:xfrm>
            <a:off x="8503920" y="1234440"/>
            <a:ext cx="502920" cy="822960"/>
          </a:xfrm>
          <a:prstGeom prst="rect">
            <a:avLst/>
          </a:prstGeom>
          <a:noFill/>
          <a:ln/>
        </p:spPr>
        <p:txBody>
          <a:bodyPr wrap="square" lIns="0" tIns="0" rIns="0" bIns="0" rtlCol="0" anchor="ctr"/>
          <a:lstStyle/>
          <a:p>
            <a:pPr algn="ctr" indent="0" marL="0">
              <a:buNone/>
            </a:pPr>
            <a:r>
              <a:rPr lang="en-US" sz="2000" dirty="0">
                <a:solidFill>
                  <a:srgbClr val="5B6B82"/>
                </a:solidFill>
              </a:rPr>
              <a:t>→</a:t>
            </a:r>
            <a:endParaRPr lang="en-US" sz="2000" dirty="0"/>
          </a:p>
        </p:txBody>
      </p:sp>
      <p:sp>
        <p:nvSpPr>
          <p:cNvPr id="12" name="Shape 10"/>
          <p:cNvSpPr/>
          <p:nvPr/>
        </p:nvSpPr>
        <p:spPr>
          <a:xfrm>
            <a:off x="9006840" y="1234440"/>
            <a:ext cx="2286000" cy="822960"/>
          </a:xfrm>
          <a:prstGeom prst="roundRect">
            <a:avLst>
              <a:gd name="adj" fmla="val 7778"/>
            </a:avLst>
          </a:prstGeom>
          <a:solidFill>
            <a:srgbClr val="FFB627"/>
          </a:solidFill>
          <a:ln/>
        </p:spPr>
      </p:sp>
      <p:sp>
        <p:nvSpPr>
          <p:cNvPr id="13" name="Text 11"/>
          <p:cNvSpPr txBox="1"/>
          <p:nvPr/>
        </p:nvSpPr>
        <p:spPr>
          <a:xfrm>
            <a:off x="9006840" y="1234440"/>
            <a:ext cx="2286000" cy="822960"/>
          </a:xfrm>
          <a:prstGeom prst="rect">
            <a:avLst/>
          </a:prstGeom>
          <a:noFill/>
          <a:ln/>
        </p:spPr>
        <p:txBody>
          <a:bodyPr wrap="square" lIns="0" tIns="0" rIns="0" bIns="0" rtlCol="0" anchor="ctr"/>
          <a:lstStyle/>
          <a:p>
            <a:pPr algn="ctr" indent="0" marL="0">
              <a:buNone/>
            </a:pPr>
            <a:r>
              <a:rPr lang="en-US" sz="1300" b="1" dirty="0">
                <a:solidFill>
                  <a:srgbClr val="081527"/>
                </a:solidFill>
                <a:latin typeface="Calibri" pitchFamily="34" charset="0"/>
                <a:ea typeface="Calibri" pitchFamily="34" charset="-122"/>
                <a:cs typeface="Calibri" pitchFamily="34" charset="-120"/>
              </a:rPr>
              <a:t>OBSERVE</a:t>
            </a:r>
            <a:endParaRPr lang="en-US" sz="1300" dirty="0"/>
          </a:p>
          <a:p>
            <a:pPr algn="ctr" indent="0" marL="0">
              <a:buNone/>
            </a:pPr>
            <a:r>
              <a:rPr lang="en-US" sz="1300" b="1" dirty="0">
                <a:solidFill>
                  <a:srgbClr val="081527"/>
                </a:solidFill>
                <a:latin typeface="Calibri" pitchFamily="34" charset="0"/>
                <a:ea typeface="Calibri" pitchFamily="34" charset="-122"/>
                <a:cs typeface="Calibri" pitchFamily="34" charset="-120"/>
              </a:rPr>
              <a:t>RESULT</a:t>
            </a:r>
            <a:endParaRPr lang="en-US" sz="1300" dirty="0"/>
          </a:p>
        </p:txBody>
      </p:sp>
      <p:sp>
        <p:nvSpPr>
          <p:cNvPr id="14" name="Text 12"/>
          <p:cNvSpPr txBox="1"/>
          <p:nvPr/>
        </p:nvSpPr>
        <p:spPr>
          <a:xfrm>
            <a:off x="640080" y="2331720"/>
            <a:ext cx="10698480" cy="685800"/>
          </a:xfrm>
          <a:prstGeom prst="rect">
            <a:avLst/>
          </a:prstGeom>
          <a:noFill/>
          <a:ln/>
        </p:spPr>
        <p:txBody>
          <a:bodyPr wrap="square" lIns="0" tIns="0" rIns="0" bIns="0" rtlCol="0" anchor="ctr"/>
          <a:lstStyle/>
          <a:p>
            <a:pPr indent="0" marL="0">
              <a:lnSpc>
                <a:spcPct val="120000"/>
              </a:lnSpc>
              <a:buNone/>
            </a:pPr>
            <a:r>
              <a:rPr lang="en-US" sz="1300" i="1" dirty="0">
                <a:solidFill>
                  <a:srgbClr val="5B6B82"/>
                </a:solidFill>
                <a:latin typeface="Calibri" pitchFamily="34" charset="0"/>
                <a:ea typeface="Calibri" pitchFamily="34" charset="-122"/>
                <a:cs typeface="Calibri" pitchFamily="34" charset="-120"/>
              </a:rPr>
              <a:t>Agentic AI means reasoning about a goal, choosing tools and actions,</a:t>
            </a:r>
            <a:endParaRPr lang="en-US" sz="1300" dirty="0"/>
          </a:p>
          <a:p>
            <a:pPr indent="0" marL="0">
              <a:lnSpc>
                <a:spcPct val="120000"/>
              </a:lnSpc>
              <a:buNone/>
            </a:pPr>
            <a:r>
              <a:rPr lang="en-US" sz="1300" i="1" dirty="0">
                <a:solidFill>
                  <a:srgbClr val="5B6B82"/>
                </a:solidFill>
                <a:latin typeface="Calibri" pitchFamily="34" charset="0"/>
                <a:ea typeface="Calibri" pitchFamily="34" charset="-122"/>
                <a:cs typeface="Calibri" pitchFamily="34" charset="-120"/>
              </a:rPr>
              <a:t>and acting autonomously toward that goal — not just predicting, but deciding and executing.</a:t>
            </a:r>
            <a:endParaRPr lang="en-US" sz="1300" dirty="0"/>
          </a:p>
        </p:txBody>
      </p:sp>
      <p:sp>
        <p:nvSpPr>
          <p:cNvPr id="15" name="Shape 13"/>
          <p:cNvSpPr/>
          <p:nvPr/>
        </p:nvSpPr>
        <p:spPr>
          <a:xfrm>
            <a:off x="640080" y="3246120"/>
            <a:ext cx="10881360" cy="411480"/>
          </a:xfrm>
          <a:prstGeom prst="roundRect">
            <a:avLst>
              <a:gd name="adj" fmla="val 11111"/>
            </a:avLst>
          </a:prstGeom>
          <a:solidFill>
            <a:srgbClr val="FFFFFF"/>
          </a:solidFill>
          <a:ln w="12700">
            <a:solidFill>
              <a:srgbClr val="EEF2F7"/>
            </a:solidFill>
            <a:prstDash val="solid"/>
          </a:ln>
        </p:spPr>
      </p:sp>
      <p:sp>
        <p:nvSpPr>
          <p:cNvPr id="16" name="Text 14"/>
          <p:cNvSpPr txBox="1"/>
          <p:nvPr/>
        </p:nvSpPr>
        <p:spPr>
          <a:xfrm>
            <a:off x="868680" y="3246120"/>
            <a:ext cx="2926080" cy="411480"/>
          </a:xfrm>
          <a:prstGeom prst="rect">
            <a:avLst/>
          </a:prstGeom>
          <a:noFill/>
          <a:ln/>
        </p:spPr>
        <p:txBody>
          <a:bodyPr wrap="square" lIns="0" tIns="0" rIns="0" bIns="0" rtlCol="0" anchor="ctr"/>
          <a:lstStyle/>
          <a:p>
            <a:pPr indent="0" marL="0">
              <a:buNone/>
            </a:pPr>
            <a:r>
              <a:rPr lang="en-US" sz="1200" b="1" dirty="0">
                <a:solidFill>
                  <a:srgbClr val="0F2843"/>
                </a:solidFill>
                <a:latin typeface="Calibri" pitchFamily="34" charset="0"/>
                <a:ea typeface="Calibri" pitchFamily="34" charset="-122"/>
                <a:cs typeface="Calibri" pitchFamily="34" charset="-120"/>
              </a:rPr>
              <a:t>Low autonomy</a:t>
            </a:r>
            <a:endParaRPr lang="en-US" sz="1200" dirty="0"/>
          </a:p>
        </p:txBody>
      </p:sp>
      <p:sp>
        <p:nvSpPr>
          <p:cNvPr id="17" name="Text 15"/>
          <p:cNvSpPr txBox="1"/>
          <p:nvPr/>
        </p:nvSpPr>
        <p:spPr>
          <a:xfrm>
            <a:off x="3840480" y="3246120"/>
            <a:ext cx="7498080" cy="41148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Agent suggests ranked options; a human picks the action</a:t>
            </a:r>
            <a:endParaRPr lang="en-US" sz="1200" dirty="0"/>
          </a:p>
        </p:txBody>
      </p:sp>
      <p:sp>
        <p:nvSpPr>
          <p:cNvPr id="18" name="Shape 16"/>
          <p:cNvSpPr/>
          <p:nvPr/>
        </p:nvSpPr>
        <p:spPr>
          <a:xfrm>
            <a:off x="640080" y="3749040"/>
            <a:ext cx="10881360" cy="411480"/>
          </a:xfrm>
          <a:prstGeom prst="roundRect">
            <a:avLst>
              <a:gd name="adj" fmla="val 11111"/>
            </a:avLst>
          </a:prstGeom>
          <a:solidFill>
            <a:srgbClr val="FFFFFF"/>
          </a:solidFill>
          <a:ln w="12700">
            <a:solidFill>
              <a:srgbClr val="EEF2F7"/>
            </a:solidFill>
            <a:prstDash val="solid"/>
          </a:ln>
        </p:spPr>
      </p:sp>
      <p:sp>
        <p:nvSpPr>
          <p:cNvPr id="19" name="Text 17"/>
          <p:cNvSpPr txBox="1"/>
          <p:nvPr/>
        </p:nvSpPr>
        <p:spPr>
          <a:xfrm>
            <a:off x="868680" y="3749040"/>
            <a:ext cx="2926080" cy="411480"/>
          </a:xfrm>
          <a:prstGeom prst="rect">
            <a:avLst/>
          </a:prstGeom>
          <a:noFill/>
          <a:ln/>
        </p:spPr>
        <p:txBody>
          <a:bodyPr wrap="square" lIns="0" tIns="0" rIns="0" bIns="0" rtlCol="0" anchor="ctr"/>
          <a:lstStyle/>
          <a:p>
            <a:pPr indent="0" marL="0">
              <a:buNone/>
            </a:pPr>
            <a:r>
              <a:rPr lang="en-US" sz="1200" b="1" dirty="0">
                <a:solidFill>
                  <a:srgbClr val="0F2843"/>
                </a:solidFill>
                <a:latin typeface="Calibri" pitchFamily="34" charset="0"/>
                <a:ea typeface="Calibri" pitchFamily="34" charset="-122"/>
                <a:cs typeface="Calibri" pitchFamily="34" charset="-120"/>
              </a:rPr>
              <a:t>Moderate autonomy</a:t>
            </a:r>
            <a:endParaRPr lang="en-US" sz="1200" dirty="0"/>
          </a:p>
        </p:txBody>
      </p:sp>
      <p:sp>
        <p:nvSpPr>
          <p:cNvPr id="20" name="Text 18"/>
          <p:cNvSpPr txBox="1"/>
          <p:nvPr/>
        </p:nvSpPr>
        <p:spPr>
          <a:xfrm>
            <a:off x="3840480" y="3749040"/>
            <a:ext cx="7498080" cy="41148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Agent executes routine actions, asks approval for major ones</a:t>
            </a:r>
            <a:endParaRPr lang="en-US" sz="1200" dirty="0"/>
          </a:p>
        </p:txBody>
      </p:sp>
      <p:sp>
        <p:nvSpPr>
          <p:cNvPr id="21" name="Shape 19"/>
          <p:cNvSpPr/>
          <p:nvPr/>
        </p:nvSpPr>
        <p:spPr>
          <a:xfrm>
            <a:off x="640080" y="4251960"/>
            <a:ext cx="10881360" cy="411480"/>
          </a:xfrm>
          <a:prstGeom prst="roundRect">
            <a:avLst>
              <a:gd name="adj" fmla="val 11111"/>
            </a:avLst>
          </a:prstGeom>
          <a:solidFill>
            <a:srgbClr val="FFFFFF"/>
          </a:solidFill>
          <a:ln w="12700">
            <a:solidFill>
              <a:srgbClr val="EEF2F7"/>
            </a:solidFill>
            <a:prstDash val="solid"/>
          </a:ln>
        </p:spPr>
      </p:sp>
      <p:sp>
        <p:nvSpPr>
          <p:cNvPr id="22" name="Text 20"/>
          <p:cNvSpPr txBox="1"/>
          <p:nvPr/>
        </p:nvSpPr>
        <p:spPr>
          <a:xfrm>
            <a:off x="868680" y="4251960"/>
            <a:ext cx="2926080" cy="411480"/>
          </a:xfrm>
          <a:prstGeom prst="rect">
            <a:avLst/>
          </a:prstGeom>
          <a:noFill/>
          <a:ln/>
        </p:spPr>
        <p:txBody>
          <a:bodyPr wrap="square" lIns="0" tIns="0" rIns="0" bIns="0" rtlCol="0" anchor="ctr"/>
          <a:lstStyle/>
          <a:p>
            <a:pPr indent="0" marL="0">
              <a:buNone/>
            </a:pPr>
            <a:r>
              <a:rPr lang="en-US" sz="1200" b="1" dirty="0">
                <a:solidFill>
                  <a:srgbClr val="0F2843"/>
                </a:solidFill>
                <a:latin typeface="Calibri" pitchFamily="34" charset="0"/>
                <a:ea typeface="Calibri" pitchFamily="34" charset="-122"/>
                <a:cs typeface="Calibri" pitchFamily="34" charset="-120"/>
              </a:rPr>
              <a:t>Full autonomy</a:t>
            </a:r>
            <a:endParaRPr lang="en-US" sz="1200" dirty="0"/>
          </a:p>
        </p:txBody>
      </p:sp>
      <p:sp>
        <p:nvSpPr>
          <p:cNvPr id="23" name="Text 21"/>
          <p:cNvSpPr txBox="1"/>
          <p:nvPr/>
        </p:nvSpPr>
        <p:spPr>
          <a:xfrm>
            <a:off x="3840480" y="4251960"/>
            <a:ext cx="7498080" cy="41148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Agent dispatches units on its own and reports after the fact</a:t>
            </a:r>
            <a:endParaRPr lang="en-US" sz="1200" dirty="0"/>
          </a:p>
        </p:txBody>
      </p:sp>
      <p:sp>
        <p:nvSpPr>
          <p:cNvPr id="24" name="Shape 22"/>
          <p:cNvSpPr/>
          <p:nvPr/>
        </p:nvSpPr>
        <p:spPr>
          <a:xfrm>
            <a:off x="640080" y="4892040"/>
            <a:ext cx="10881360" cy="566928"/>
          </a:xfrm>
          <a:prstGeom prst="roundRect">
            <a:avLst>
              <a:gd name="adj" fmla="val 8065"/>
            </a:avLst>
          </a:prstGeom>
          <a:solidFill>
            <a:srgbClr val="0F2843"/>
          </a:solidFill>
          <a:ln/>
        </p:spPr>
      </p:sp>
      <p:sp>
        <p:nvSpPr>
          <p:cNvPr id="25" name="Text 23"/>
          <p:cNvSpPr txBox="1"/>
          <p:nvPr/>
        </p:nvSpPr>
        <p:spPr>
          <a:xfrm>
            <a:off x="868680" y="4892040"/>
            <a:ext cx="10424160" cy="566928"/>
          </a:xfrm>
          <a:prstGeom prst="rect">
            <a:avLst/>
          </a:prstGeom>
          <a:noFill/>
          <a:ln/>
        </p:spPr>
        <p:txBody>
          <a:bodyPr wrap="square" lIns="0" tIns="0" rIns="0" bIns="0" rtlCol="0" anchor="ctr"/>
          <a:lstStyle/>
          <a:p>
            <a:pPr indent="0" marL="0">
              <a:buNone/>
            </a:pPr>
            <a:r>
              <a:rPr lang="en-US" sz="1200" i="1" dirty="0">
                <a:solidFill>
                  <a:srgbClr val="E3E9F2"/>
                </a:solidFill>
                <a:latin typeface="Calibri" pitchFamily="34" charset="0"/>
                <a:ea typeface="Calibri" pitchFamily="34" charset="-122"/>
                <a:cs typeface="Calibri" pitchFamily="34" charset="-120"/>
              </a:rPr>
              <a:t>If a goal requires dispatching in under 10 seconds, how much autonomy should the agent have?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527"/>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YOUR FIRST DECISION</a:t>
            </a:r>
            <a:endParaRPr lang="en-US" sz="1200" dirty="0"/>
          </a:p>
        </p:txBody>
      </p:sp>
      <p:sp>
        <p:nvSpPr>
          <p:cNvPr id="3" name="Text 1"/>
          <p:cNvSpPr txBox="1"/>
          <p:nvPr/>
        </p:nvSpPr>
        <p:spPr>
          <a:xfrm>
            <a:off x="640080" y="77724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New Directive Incoming...</a:t>
            </a:r>
            <a:endParaRPr lang="en-US" sz="2800" dirty="0"/>
          </a:p>
        </p:txBody>
      </p:sp>
      <p:sp>
        <p:nvSpPr>
          <p:cNvPr id="4" name="Shape 2"/>
          <p:cNvSpPr/>
          <p:nvPr/>
        </p:nvSpPr>
        <p:spPr>
          <a:xfrm>
            <a:off x="640080" y="1554480"/>
            <a:ext cx="5212080" cy="2834640"/>
          </a:xfrm>
          <a:prstGeom prst="roundRect">
            <a:avLst>
              <a:gd name="adj" fmla="val 2581"/>
            </a:avLst>
          </a:prstGeom>
          <a:solidFill>
            <a:srgbClr val="17263B"/>
          </a:solidFill>
          <a:ln/>
        </p:spPr>
      </p:sp>
      <p:sp>
        <p:nvSpPr>
          <p:cNvPr id="5" name="Text 3"/>
          <p:cNvSpPr txBox="1"/>
          <p:nvPr/>
        </p:nvSpPr>
        <p:spPr>
          <a:xfrm>
            <a:off x="914400" y="1783080"/>
            <a:ext cx="4480560" cy="292608"/>
          </a:xfrm>
          <a:prstGeom prst="rect">
            <a:avLst/>
          </a:prstGeom>
          <a:noFill/>
          <a:ln/>
        </p:spPr>
        <p:txBody>
          <a:bodyPr wrap="square" lIns="0" tIns="0" rIns="0" bIns="0" rtlCol="0" anchor="ctr"/>
          <a:lstStyle/>
          <a:p>
            <a:pPr indent="0" marL="0">
              <a:buNone/>
            </a:pPr>
            <a:r>
              <a:rPr lang="en-US" sz="1200" dirty="0">
                <a:solidFill>
                  <a:srgbClr val="9FB3CC"/>
                </a:solidFill>
                <a:latin typeface="Calibri" pitchFamily="34" charset="0"/>
                <a:ea typeface="Calibri" pitchFamily="34" charset="-122"/>
                <a:cs typeface="Calibri" pitchFamily="34" charset="-120"/>
              </a:rPr>
              <a:t>Goal</a:t>
            </a:r>
            <a:endParaRPr lang="en-US" sz="1200" dirty="0"/>
          </a:p>
        </p:txBody>
      </p:sp>
      <p:sp>
        <p:nvSpPr>
          <p:cNvPr id="6" name="Text 4"/>
          <p:cNvSpPr txBox="1"/>
          <p:nvPr/>
        </p:nvSpPr>
        <p:spPr>
          <a:xfrm>
            <a:off x="914400" y="2057400"/>
            <a:ext cx="448056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Evacuate Zone 7</a:t>
            </a:r>
            <a:endParaRPr lang="en-US" sz="1700" dirty="0"/>
          </a:p>
        </p:txBody>
      </p:sp>
      <p:sp>
        <p:nvSpPr>
          <p:cNvPr id="7" name="Text 5"/>
          <p:cNvSpPr txBox="1"/>
          <p:nvPr/>
        </p:nvSpPr>
        <p:spPr>
          <a:xfrm>
            <a:off x="914400" y="2560320"/>
            <a:ext cx="4480560" cy="292608"/>
          </a:xfrm>
          <a:prstGeom prst="rect">
            <a:avLst/>
          </a:prstGeom>
          <a:noFill/>
          <a:ln/>
        </p:spPr>
        <p:txBody>
          <a:bodyPr wrap="square" lIns="0" tIns="0" rIns="0" bIns="0" rtlCol="0" anchor="ctr"/>
          <a:lstStyle/>
          <a:p>
            <a:pPr indent="0" marL="0">
              <a:buNone/>
            </a:pPr>
            <a:r>
              <a:rPr lang="en-US" sz="1200" dirty="0">
                <a:solidFill>
                  <a:srgbClr val="9FB3CC"/>
                </a:solidFill>
                <a:latin typeface="Calibri" pitchFamily="34" charset="0"/>
                <a:ea typeface="Calibri" pitchFamily="34" charset="-122"/>
                <a:cs typeface="Calibri" pitchFamily="34" charset="-120"/>
              </a:rPr>
              <a:t>Situation</a:t>
            </a:r>
            <a:endParaRPr lang="en-US" sz="1200" dirty="0"/>
          </a:p>
        </p:txBody>
      </p:sp>
      <p:sp>
        <p:nvSpPr>
          <p:cNvPr id="8" name="Text 6"/>
          <p:cNvSpPr txBox="1"/>
          <p:nvPr/>
        </p:nvSpPr>
        <p:spPr>
          <a:xfrm>
            <a:off x="914400" y="2834640"/>
            <a:ext cx="448056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Flooding, 38 emergency calls</a:t>
            </a:r>
            <a:endParaRPr lang="en-US" sz="1700" dirty="0"/>
          </a:p>
        </p:txBody>
      </p:sp>
      <p:sp>
        <p:nvSpPr>
          <p:cNvPr id="9" name="Text 7"/>
          <p:cNvSpPr txBox="1"/>
          <p:nvPr/>
        </p:nvSpPr>
        <p:spPr>
          <a:xfrm>
            <a:off x="914400" y="3337560"/>
            <a:ext cx="4480560" cy="292608"/>
          </a:xfrm>
          <a:prstGeom prst="rect">
            <a:avLst/>
          </a:prstGeom>
          <a:noFill/>
          <a:ln/>
        </p:spPr>
        <p:txBody>
          <a:bodyPr wrap="square" lIns="0" tIns="0" rIns="0" bIns="0" rtlCol="0" anchor="ctr"/>
          <a:lstStyle/>
          <a:p>
            <a:pPr indent="0" marL="0">
              <a:buNone/>
            </a:pPr>
            <a:r>
              <a:rPr lang="en-US" sz="1200" dirty="0">
                <a:solidFill>
                  <a:srgbClr val="9FB3CC"/>
                </a:solidFill>
                <a:latin typeface="Calibri" pitchFamily="34" charset="0"/>
                <a:ea typeface="Calibri" pitchFamily="34" charset="-122"/>
                <a:cs typeface="Calibri" pitchFamily="34" charset="-120"/>
              </a:rPr>
              <a:t>Resources</a:t>
            </a:r>
            <a:endParaRPr lang="en-US" sz="1200" dirty="0"/>
          </a:p>
        </p:txBody>
      </p:sp>
      <p:sp>
        <p:nvSpPr>
          <p:cNvPr id="10" name="Text 8"/>
          <p:cNvSpPr txBox="1"/>
          <p:nvPr/>
        </p:nvSpPr>
        <p:spPr>
          <a:xfrm>
            <a:off x="914400" y="3611880"/>
            <a:ext cx="448056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1 ambulance available</a:t>
            </a:r>
            <a:endParaRPr lang="en-US" sz="1700" dirty="0"/>
          </a:p>
        </p:txBody>
      </p:sp>
      <p:sp>
        <p:nvSpPr>
          <p:cNvPr id="11" name="Text 9"/>
          <p:cNvSpPr txBox="1"/>
          <p:nvPr/>
        </p:nvSpPr>
        <p:spPr>
          <a:xfrm>
            <a:off x="914400" y="3977640"/>
            <a:ext cx="4480560" cy="320040"/>
          </a:xfrm>
          <a:prstGeom prst="rect">
            <a:avLst/>
          </a:prstGeom>
          <a:noFill/>
          <a:ln/>
        </p:spPr>
        <p:txBody>
          <a:bodyPr wrap="square" lIns="0" tIns="0" rIns="0" bIns="0" rtlCol="0" anchor="ctr"/>
          <a:lstStyle/>
          <a:p>
            <a:pPr indent="0" marL="0">
              <a:buNone/>
            </a:pPr>
            <a:r>
              <a:rPr lang="en-US" sz="1300" b="1" dirty="0">
                <a:solidFill>
                  <a:srgbClr val="FFB627"/>
                </a:solidFill>
                <a:latin typeface="Calibri" pitchFamily="34" charset="0"/>
                <a:ea typeface="Calibri" pitchFamily="34" charset="-122"/>
                <a:cs typeface="Calibri" pitchFamily="34" charset="-120"/>
              </a:rPr>
              <a:t>DECISION = ???</a:t>
            </a:r>
            <a:endParaRPr lang="en-US" sz="1300" dirty="0"/>
          </a:p>
        </p:txBody>
      </p:sp>
      <p:sp>
        <p:nvSpPr>
          <p:cNvPr id="12" name="Shape 10"/>
          <p:cNvSpPr/>
          <p:nvPr/>
        </p:nvSpPr>
        <p:spPr>
          <a:xfrm>
            <a:off x="6126480" y="1554480"/>
            <a:ext cx="5394960" cy="2834640"/>
          </a:xfrm>
          <a:prstGeom prst="roundRect">
            <a:avLst>
              <a:gd name="adj" fmla="val 2581"/>
            </a:avLst>
          </a:prstGeom>
          <a:solidFill>
            <a:srgbClr val="E63946"/>
          </a:solidFill>
          <a:ln/>
        </p:spPr>
      </p:sp>
      <p:sp>
        <p:nvSpPr>
          <p:cNvPr id="13" name="Text 11"/>
          <p:cNvSpPr txBox="1"/>
          <p:nvPr/>
        </p:nvSpPr>
        <p:spPr>
          <a:xfrm>
            <a:off x="6400800" y="1783080"/>
            <a:ext cx="484632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Based on tools + reasoning,</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we decide:</a:t>
            </a:r>
            <a:endParaRPr lang="en-US" sz="1300" dirty="0"/>
          </a:p>
        </p:txBody>
      </p:sp>
      <p:sp>
        <p:nvSpPr>
          <p:cNvPr id="14" name="Text 12"/>
          <p:cNvSpPr txBox="1"/>
          <p:nvPr/>
        </p:nvSpPr>
        <p:spPr>
          <a:xfrm>
            <a:off x="6400800" y="2560320"/>
            <a:ext cx="4846320" cy="109728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 DISPATCH TO ZONE 7</a:t>
            </a:r>
            <a:endParaRPr lang="en-US" sz="2700" dirty="0"/>
          </a:p>
        </p:txBody>
      </p:sp>
      <p:sp>
        <p:nvSpPr>
          <p:cNvPr id="15" name="Shape 13"/>
          <p:cNvSpPr/>
          <p:nvPr/>
        </p:nvSpPr>
        <p:spPr>
          <a:xfrm>
            <a:off x="640080" y="4617720"/>
            <a:ext cx="10881360" cy="777240"/>
          </a:xfrm>
          <a:prstGeom prst="roundRect">
            <a:avLst>
              <a:gd name="adj" fmla="val 7059"/>
            </a:avLst>
          </a:prstGeom>
          <a:solidFill>
            <a:srgbClr val="FFB627"/>
          </a:solidFill>
          <a:ln/>
        </p:spPr>
      </p:sp>
      <p:sp>
        <p:nvSpPr>
          <p:cNvPr id="16" name="Text 14"/>
          <p:cNvSpPr txBox="1"/>
          <p:nvPr/>
        </p:nvSpPr>
        <p:spPr>
          <a:xfrm>
            <a:off x="914400" y="4617720"/>
            <a:ext cx="10332720" cy="777240"/>
          </a:xfrm>
          <a:prstGeom prst="rect">
            <a:avLst/>
          </a:prstGeom>
          <a:noFill/>
          <a:ln/>
        </p:spPr>
        <p:txBody>
          <a:bodyPr wrap="square" lIns="0" tIns="0" rIns="0" bIns="0" rtlCol="0" anchor="ctr"/>
          <a:lstStyle/>
          <a:p>
            <a:pPr indent="0" marL="0">
              <a:lnSpc>
                <a:spcPct val="115000"/>
              </a:lnSpc>
              <a:buNone/>
            </a:pPr>
            <a:r>
              <a:rPr lang="en-US" sz="1300" b="1" dirty="0">
                <a:solidFill>
                  <a:srgbClr val="081527"/>
                </a:solidFill>
                <a:latin typeface="Calibri" pitchFamily="34" charset="0"/>
                <a:ea typeface="Calibri" pitchFamily="34" charset="-122"/>
                <a:cs typeface="Calibri" pitchFamily="34" charset="-120"/>
              </a:rPr>
              <a:t>You just performed the basic idea of Agentic AI:</a:t>
            </a:r>
            <a:endParaRPr lang="en-US" sz="1300" dirty="0"/>
          </a:p>
          <a:p>
            <a:pPr indent="0" marL="0">
              <a:lnSpc>
                <a:spcPct val="115000"/>
              </a:lnSpc>
              <a:buNone/>
            </a:pPr>
            <a:r>
              <a:rPr lang="en-US" sz="1300" b="1" dirty="0">
                <a:solidFill>
                  <a:srgbClr val="081527"/>
                </a:solidFill>
                <a:latin typeface="Calibri" pitchFamily="34" charset="0"/>
                <a:ea typeface="Calibri" pitchFamily="34" charset="-122"/>
                <a:cs typeface="Calibri" pitchFamily="34" charset="-120"/>
              </a:rPr>
              <a:t>Reason over a goal + available tools → Choose and execute an action.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457200"/>
          </a:xfrm>
          <a:prstGeom prst="rect">
            <a:avLst/>
          </a:prstGeom>
          <a:noFill/>
          <a:ln/>
        </p:spPr>
        <p:txBody>
          <a:bodyPr wrap="square" lIns="0" tIns="0" rIns="0" bIns="0" rtlCol="0" anchor="ctr"/>
          <a:lstStyle/>
          <a:p>
            <a:pPr indent="0" marL="0">
              <a:buNone/>
            </a:pPr>
            <a:r>
              <a:rPr lang="en-US" sz="2600" b="1" dirty="0">
                <a:solidFill>
                  <a:srgbClr val="0F2843"/>
                </a:solidFill>
                <a:latin typeface="Cambria" pitchFamily="34" charset="0"/>
                <a:ea typeface="Cambria" pitchFamily="34" charset="-122"/>
                <a:cs typeface="Cambria" pitchFamily="34" charset="-120"/>
              </a:rPr>
              <a:t>Types of Agentic AI</a:t>
            </a:r>
            <a:endParaRPr lang="en-US" sz="2600" dirty="0"/>
          </a:p>
        </p:txBody>
      </p:sp>
      <p:sp>
        <p:nvSpPr>
          <p:cNvPr id="3" name="Text 1"/>
          <p:cNvSpPr txBox="1"/>
          <p:nvPr/>
        </p:nvSpPr>
        <p:spPr>
          <a:xfrm>
            <a:off x="640080" y="868680"/>
            <a:ext cx="1005840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Three different ways an agent can operate — before we pick one for our dispatch project</a:t>
            </a:r>
            <a:endParaRPr lang="en-US" sz="1200" dirty="0"/>
          </a:p>
        </p:txBody>
      </p:sp>
      <p:sp>
        <p:nvSpPr>
          <p:cNvPr id="4" name="Shape 2"/>
          <p:cNvSpPr/>
          <p:nvPr/>
        </p:nvSpPr>
        <p:spPr>
          <a:xfrm>
            <a:off x="640080" y="1325880"/>
            <a:ext cx="2286000" cy="457200"/>
          </a:xfrm>
          <a:prstGeom prst="rect">
            <a:avLst/>
          </a:prstGeom>
          <a:solidFill>
            <a:srgbClr val="0F2843"/>
          </a:solidFill>
          <a:ln w="6350">
            <a:solidFill>
              <a:srgbClr val="FFFFFF"/>
            </a:solidFill>
            <a:prstDash val="solid"/>
          </a:ln>
        </p:spPr>
      </p:sp>
      <p:sp>
        <p:nvSpPr>
          <p:cNvPr id="5" name="Text 3"/>
          <p:cNvSpPr txBox="1"/>
          <p:nvPr/>
        </p:nvSpPr>
        <p:spPr>
          <a:xfrm>
            <a:off x="640080" y="1325880"/>
            <a:ext cx="2286000" cy="457200"/>
          </a:xfrm>
          <a:prstGeom prst="rect">
            <a:avLst/>
          </a:prstGeom>
          <a:noFill/>
          <a:ln/>
        </p:spPr>
        <p:txBody>
          <a:bodyPr wrap="square" lIns="0" tIns="0" rIns="0" bIns="0" rtlCol="0" anchor="ctr"/>
          <a:lstStyle/>
          <a:p>
            <a:pPr algn="ctr" indent="0" marL="0">
              <a:buNone/>
            </a:pPr>
            <a:endParaRPr lang="en-US" sz="1200" dirty="0"/>
          </a:p>
        </p:txBody>
      </p:sp>
      <p:sp>
        <p:nvSpPr>
          <p:cNvPr id="6" name="Shape 4"/>
          <p:cNvSpPr/>
          <p:nvPr/>
        </p:nvSpPr>
        <p:spPr>
          <a:xfrm>
            <a:off x="2926080" y="1325880"/>
            <a:ext cx="2834640" cy="457200"/>
          </a:xfrm>
          <a:prstGeom prst="rect">
            <a:avLst/>
          </a:prstGeom>
          <a:solidFill>
            <a:srgbClr val="5B6B82"/>
          </a:solidFill>
          <a:ln w="6350">
            <a:solidFill>
              <a:srgbClr val="FFFFFF"/>
            </a:solidFill>
            <a:prstDash val="solid"/>
          </a:ln>
        </p:spPr>
      </p:sp>
      <p:sp>
        <p:nvSpPr>
          <p:cNvPr id="7" name="Text 5"/>
          <p:cNvSpPr txBox="1"/>
          <p:nvPr/>
        </p:nvSpPr>
        <p:spPr>
          <a:xfrm>
            <a:off x="2926080" y="1325880"/>
            <a:ext cx="28346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REACTIVE</a:t>
            </a:r>
            <a:endParaRPr lang="en-US" sz="1200" dirty="0"/>
          </a:p>
        </p:txBody>
      </p:sp>
      <p:sp>
        <p:nvSpPr>
          <p:cNvPr id="8" name="Shape 6"/>
          <p:cNvSpPr/>
          <p:nvPr/>
        </p:nvSpPr>
        <p:spPr>
          <a:xfrm>
            <a:off x="5760720" y="1325880"/>
            <a:ext cx="2834640" cy="457200"/>
          </a:xfrm>
          <a:prstGeom prst="rect">
            <a:avLst/>
          </a:prstGeom>
          <a:solidFill>
            <a:srgbClr val="2A9D8F"/>
          </a:solidFill>
          <a:ln w="6350">
            <a:solidFill>
              <a:srgbClr val="FFFFFF"/>
            </a:solidFill>
            <a:prstDash val="solid"/>
          </a:ln>
        </p:spPr>
      </p:sp>
      <p:sp>
        <p:nvSpPr>
          <p:cNvPr id="9" name="Text 7"/>
          <p:cNvSpPr txBox="1"/>
          <p:nvPr/>
        </p:nvSpPr>
        <p:spPr>
          <a:xfrm>
            <a:off x="5760720" y="1325880"/>
            <a:ext cx="28346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DELIBERATIVE</a:t>
            </a:r>
            <a:endParaRPr lang="en-US" sz="1200" dirty="0"/>
          </a:p>
        </p:txBody>
      </p:sp>
      <p:sp>
        <p:nvSpPr>
          <p:cNvPr id="10" name="Shape 8"/>
          <p:cNvSpPr/>
          <p:nvPr/>
        </p:nvSpPr>
        <p:spPr>
          <a:xfrm>
            <a:off x="8595360" y="1325880"/>
            <a:ext cx="2926080" cy="457200"/>
          </a:xfrm>
          <a:prstGeom prst="rect">
            <a:avLst/>
          </a:prstGeom>
          <a:solidFill>
            <a:srgbClr val="F4A300"/>
          </a:solidFill>
          <a:ln w="6350">
            <a:solidFill>
              <a:srgbClr val="FFFFFF"/>
            </a:solidFill>
            <a:prstDash val="solid"/>
          </a:ln>
        </p:spPr>
      </p:sp>
      <p:sp>
        <p:nvSpPr>
          <p:cNvPr id="11" name="Text 9"/>
          <p:cNvSpPr txBox="1"/>
          <p:nvPr/>
        </p:nvSpPr>
        <p:spPr>
          <a:xfrm>
            <a:off x="8595360" y="1325880"/>
            <a:ext cx="29260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MULTI-AGENT</a:t>
            </a:r>
            <a:endParaRPr lang="en-US" sz="1200" dirty="0"/>
          </a:p>
        </p:txBody>
      </p:sp>
      <p:sp>
        <p:nvSpPr>
          <p:cNvPr id="12" name="Shape 10"/>
          <p:cNvSpPr/>
          <p:nvPr/>
        </p:nvSpPr>
        <p:spPr>
          <a:xfrm>
            <a:off x="640080" y="1783080"/>
            <a:ext cx="2286000" cy="777240"/>
          </a:xfrm>
          <a:prstGeom prst="rect">
            <a:avLst/>
          </a:prstGeom>
          <a:solidFill>
            <a:srgbClr val="EEF2F7"/>
          </a:solidFill>
          <a:ln w="9525">
            <a:solidFill>
              <a:srgbClr val="EEF2F7"/>
            </a:solidFill>
            <a:prstDash val="solid"/>
          </a:ln>
        </p:spPr>
      </p:sp>
      <p:sp>
        <p:nvSpPr>
          <p:cNvPr id="13" name="Text 11"/>
          <p:cNvSpPr txBox="1"/>
          <p:nvPr/>
        </p:nvSpPr>
        <p:spPr>
          <a:xfrm>
            <a:off x="731520" y="1783080"/>
            <a:ext cx="2103120" cy="777240"/>
          </a:xfrm>
          <a:prstGeom prst="rect">
            <a:avLst/>
          </a:prstGeom>
          <a:noFill/>
          <a:ln/>
        </p:spPr>
        <p:txBody>
          <a:bodyPr wrap="square" lIns="0" tIns="0" rIns="0" bIns="0" rtlCol="0" anchor="ctr"/>
          <a:lstStyle/>
          <a:p>
            <a:pPr algn="l" indent="0" marL="0">
              <a:buNone/>
            </a:pPr>
            <a:r>
              <a:rPr lang="en-US" sz="1050" b="1" dirty="0">
                <a:solidFill>
                  <a:srgbClr val="0F2843"/>
                </a:solidFill>
                <a:latin typeface="Calibri" pitchFamily="34" charset="0"/>
                <a:ea typeface="Calibri" pitchFamily="34" charset="-122"/>
                <a:cs typeface="Calibri" pitchFamily="34" charset="-120"/>
              </a:rPr>
              <a:t>Data given</a:t>
            </a:r>
            <a:endParaRPr lang="en-US" sz="1050" dirty="0"/>
          </a:p>
        </p:txBody>
      </p:sp>
      <p:sp>
        <p:nvSpPr>
          <p:cNvPr id="14" name="Shape 12"/>
          <p:cNvSpPr/>
          <p:nvPr/>
        </p:nvSpPr>
        <p:spPr>
          <a:xfrm>
            <a:off x="2926080" y="1783080"/>
            <a:ext cx="2834640" cy="777240"/>
          </a:xfrm>
          <a:prstGeom prst="rect">
            <a:avLst/>
          </a:prstGeom>
          <a:solidFill>
            <a:srgbClr val="FFFFFF"/>
          </a:solidFill>
          <a:ln w="9525">
            <a:solidFill>
              <a:srgbClr val="EEF2F7"/>
            </a:solidFill>
            <a:prstDash val="solid"/>
          </a:ln>
        </p:spPr>
      </p:sp>
      <p:sp>
        <p:nvSpPr>
          <p:cNvPr id="15" name="Text 13"/>
          <p:cNvSpPr txBox="1"/>
          <p:nvPr/>
        </p:nvSpPr>
        <p:spPr>
          <a:xfrm>
            <a:off x="3017520" y="1783080"/>
            <a:ext cx="2651760" cy="7772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Direct trigger → action mapping</a:t>
            </a:r>
            <a:endParaRPr lang="en-US" sz="1050" dirty="0"/>
          </a:p>
        </p:txBody>
      </p:sp>
      <p:sp>
        <p:nvSpPr>
          <p:cNvPr id="16" name="Shape 14"/>
          <p:cNvSpPr/>
          <p:nvPr/>
        </p:nvSpPr>
        <p:spPr>
          <a:xfrm>
            <a:off x="5760720" y="1783080"/>
            <a:ext cx="2834640" cy="777240"/>
          </a:xfrm>
          <a:prstGeom prst="rect">
            <a:avLst/>
          </a:prstGeom>
          <a:solidFill>
            <a:srgbClr val="FFFFFF"/>
          </a:solidFill>
          <a:ln w="9525">
            <a:solidFill>
              <a:srgbClr val="EEF2F7"/>
            </a:solidFill>
            <a:prstDash val="solid"/>
          </a:ln>
        </p:spPr>
      </p:sp>
      <p:sp>
        <p:nvSpPr>
          <p:cNvPr id="17" name="Text 15"/>
          <p:cNvSpPr txBox="1"/>
          <p:nvPr/>
        </p:nvSpPr>
        <p:spPr>
          <a:xfrm>
            <a:off x="5852160" y="1783080"/>
            <a:ext cx="2651760" cy="7772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Goal + tools + reasoning loop</a:t>
            </a:r>
            <a:endParaRPr lang="en-US" sz="1050" dirty="0"/>
          </a:p>
        </p:txBody>
      </p:sp>
      <p:sp>
        <p:nvSpPr>
          <p:cNvPr id="18" name="Shape 16"/>
          <p:cNvSpPr/>
          <p:nvPr/>
        </p:nvSpPr>
        <p:spPr>
          <a:xfrm>
            <a:off x="8595360" y="1783080"/>
            <a:ext cx="2926080" cy="777240"/>
          </a:xfrm>
          <a:prstGeom prst="rect">
            <a:avLst/>
          </a:prstGeom>
          <a:solidFill>
            <a:srgbClr val="FFFFFF"/>
          </a:solidFill>
          <a:ln w="9525">
            <a:solidFill>
              <a:srgbClr val="EEF2F7"/>
            </a:solidFill>
            <a:prstDash val="solid"/>
          </a:ln>
        </p:spPr>
      </p:sp>
      <p:sp>
        <p:nvSpPr>
          <p:cNvPr id="19" name="Text 17"/>
          <p:cNvSpPr txBox="1"/>
          <p:nvPr/>
        </p:nvSpPr>
        <p:spPr>
          <a:xfrm>
            <a:off x="8686800" y="1783080"/>
            <a:ext cx="2743200" cy="7772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Multiple agents sharing resources</a:t>
            </a:r>
            <a:endParaRPr lang="en-US" sz="1050" dirty="0"/>
          </a:p>
        </p:txBody>
      </p:sp>
      <p:sp>
        <p:nvSpPr>
          <p:cNvPr id="20" name="Shape 18"/>
          <p:cNvSpPr/>
          <p:nvPr/>
        </p:nvSpPr>
        <p:spPr>
          <a:xfrm>
            <a:off x="640080" y="2560320"/>
            <a:ext cx="2286000" cy="777240"/>
          </a:xfrm>
          <a:prstGeom prst="rect">
            <a:avLst/>
          </a:prstGeom>
          <a:solidFill>
            <a:srgbClr val="EEF2F7"/>
          </a:solidFill>
          <a:ln w="9525">
            <a:solidFill>
              <a:srgbClr val="EEF2F7"/>
            </a:solidFill>
            <a:prstDash val="solid"/>
          </a:ln>
        </p:spPr>
      </p:sp>
      <p:sp>
        <p:nvSpPr>
          <p:cNvPr id="21" name="Text 19"/>
          <p:cNvSpPr txBox="1"/>
          <p:nvPr/>
        </p:nvSpPr>
        <p:spPr>
          <a:xfrm>
            <a:off x="731520" y="2560320"/>
            <a:ext cx="2103120" cy="777240"/>
          </a:xfrm>
          <a:prstGeom prst="rect">
            <a:avLst/>
          </a:prstGeom>
          <a:noFill/>
          <a:ln/>
        </p:spPr>
        <p:txBody>
          <a:bodyPr wrap="square" lIns="0" tIns="0" rIns="0" bIns="0" rtlCol="0" anchor="ctr"/>
          <a:lstStyle/>
          <a:p>
            <a:pPr algn="l" indent="0" marL="0">
              <a:buNone/>
            </a:pPr>
            <a:r>
              <a:rPr lang="en-US" sz="1050" b="1" dirty="0">
                <a:solidFill>
                  <a:srgbClr val="0F2843"/>
                </a:solidFill>
                <a:latin typeface="Calibri" pitchFamily="34" charset="0"/>
                <a:ea typeface="Calibri" pitchFamily="34" charset="-122"/>
                <a:cs typeface="Calibri" pitchFamily="34" charset="-120"/>
              </a:rPr>
              <a:t>How it works</a:t>
            </a:r>
            <a:endParaRPr lang="en-US" sz="1050" dirty="0"/>
          </a:p>
        </p:txBody>
      </p:sp>
      <p:sp>
        <p:nvSpPr>
          <p:cNvPr id="22" name="Shape 20"/>
          <p:cNvSpPr/>
          <p:nvPr/>
        </p:nvSpPr>
        <p:spPr>
          <a:xfrm>
            <a:off x="2926080" y="2560320"/>
            <a:ext cx="2834640" cy="777240"/>
          </a:xfrm>
          <a:prstGeom prst="rect">
            <a:avLst/>
          </a:prstGeom>
          <a:solidFill>
            <a:srgbClr val="FFFFFF"/>
          </a:solidFill>
          <a:ln w="9525">
            <a:solidFill>
              <a:srgbClr val="EEF2F7"/>
            </a:solidFill>
            <a:prstDash val="solid"/>
          </a:ln>
        </p:spPr>
      </p:sp>
      <p:sp>
        <p:nvSpPr>
          <p:cNvPr id="23" name="Text 21"/>
          <p:cNvSpPr txBox="1"/>
          <p:nvPr/>
        </p:nvSpPr>
        <p:spPr>
          <a:xfrm>
            <a:off x="3017520" y="2560320"/>
            <a:ext cx="2651760" cy="7772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Responds instantly to a fixed rule</a:t>
            </a:r>
            <a:endParaRPr lang="en-US" sz="1050" dirty="0"/>
          </a:p>
        </p:txBody>
      </p:sp>
      <p:sp>
        <p:nvSpPr>
          <p:cNvPr id="24" name="Shape 22"/>
          <p:cNvSpPr/>
          <p:nvPr/>
        </p:nvSpPr>
        <p:spPr>
          <a:xfrm>
            <a:off x="5760720" y="2560320"/>
            <a:ext cx="2834640" cy="777240"/>
          </a:xfrm>
          <a:prstGeom prst="rect">
            <a:avLst/>
          </a:prstGeom>
          <a:solidFill>
            <a:srgbClr val="FFFFFF"/>
          </a:solidFill>
          <a:ln w="9525">
            <a:solidFill>
              <a:srgbClr val="EEF2F7"/>
            </a:solidFill>
            <a:prstDash val="solid"/>
          </a:ln>
        </p:spPr>
      </p:sp>
      <p:sp>
        <p:nvSpPr>
          <p:cNvPr id="25" name="Text 23"/>
          <p:cNvSpPr txBox="1"/>
          <p:nvPr/>
        </p:nvSpPr>
        <p:spPr>
          <a:xfrm>
            <a:off x="5852160" y="2560320"/>
            <a:ext cx="2651760" cy="7772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Plans steps (Reason → Act → Observe)</a:t>
            </a:r>
            <a:endParaRPr lang="en-US" sz="1050" dirty="0"/>
          </a:p>
        </p:txBody>
      </p:sp>
      <p:sp>
        <p:nvSpPr>
          <p:cNvPr id="26" name="Shape 24"/>
          <p:cNvSpPr/>
          <p:nvPr/>
        </p:nvSpPr>
        <p:spPr>
          <a:xfrm>
            <a:off x="8595360" y="2560320"/>
            <a:ext cx="2926080" cy="777240"/>
          </a:xfrm>
          <a:prstGeom prst="rect">
            <a:avLst/>
          </a:prstGeom>
          <a:solidFill>
            <a:srgbClr val="FFFFFF"/>
          </a:solidFill>
          <a:ln w="9525">
            <a:solidFill>
              <a:srgbClr val="EEF2F7"/>
            </a:solidFill>
            <a:prstDash val="solid"/>
          </a:ln>
        </p:spPr>
      </p:sp>
      <p:sp>
        <p:nvSpPr>
          <p:cNvPr id="27" name="Text 25"/>
          <p:cNvSpPr txBox="1"/>
          <p:nvPr/>
        </p:nvSpPr>
        <p:spPr>
          <a:xfrm>
            <a:off x="8686800" y="2560320"/>
            <a:ext cx="2743200" cy="7772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Agents communicate &amp; divide tasks</a:t>
            </a:r>
            <a:endParaRPr lang="en-US" sz="1050" dirty="0"/>
          </a:p>
        </p:txBody>
      </p:sp>
      <p:sp>
        <p:nvSpPr>
          <p:cNvPr id="28" name="Shape 26"/>
          <p:cNvSpPr/>
          <p:nvPr/>
        </p:nvSpPr>
        <p:spPr>
          <a:xfrm>
            <a:off x="640080" y="3337560"/>
            <a:ext cx="2286000" cy="777240"/>
          </a:xfrm>
          <a:prstGeom prst="rect">
            <a:avLst/>
          </a:prstGeom>
          <a:solidFill>
            <a:srgbClr val="EEF2F7"/>
          </a:solidFill>
          <a:ln w="9525">
            <a:solidFill>
              <a:srgbClr val="EEF2F7"/>
            </a:solidFill>
            <a:prstDash val="solid"/>
          </a:ln>
        </p:spPr>
      </p:sp>
      <p:sp>
        <p:nvSpPr>
          <p:cNvPr id="29" name="Text 27"/>
          <p:cNvSpPr txBox="1"/>
          <p:nvPr/>
        </p:nvSpPr>
        <p:spPr>
          <a:xfrm>
            <a:off x="731520" y="3337560"/>
            <a:ext cx="2103120" cy="777240"/>
          </a:xfrm>
          <a:prstGeom prst="rect">
            <a:avLst/>
          </a:prstGeom>
          <a:noFill/>
          <a:ln/>
        </p:spPr>
        <p:txBody>
          <a:bodyPr wrap="square" lIns="0" tIns="0" rIns="0" bIns="0" rtlCol="0" anchor="ctr"/>
          <a:lstStyle/>
          <a:p>
            <a:pPr algn="l" indent="0" marL="0">
              <a:buNone/>
            </a:pPr>
            <a:r>
              <a:rPr lang="en-US" sz="1050" b="1" dirty="0">
                <a:solidFill>
                  <a:srgbClr val="0F2843"/>
                </a:solidFill>
                <a:latin typeface="Calibri" pitchFamily="34" charset="0"/>
                <a:ea typeface="Calibri" pitchFamily="34" charset="-122"/>
                <a:cs typeface="Calibri" pitchFamily="34" charset="-120"/>
              </a:rPr>
              <a:t>Real disaster example</a:t>
            </a:r>
            <a:endParaRPr lang="en-US" sz="1050" dirty="0"/>
          </a:p>
        </p:txBody>
      </p:sp>
      <p:sp>
        <p:nvSpPr>
          <p:cNvPr id="30" name="Shape 28"/>
          <p:cNvSpPr/>
          <p:nvPr/>
        </p:nvSpPr>
        <p:spPr>
          <a:xfrm>
            <a:off x="2926080" y="3337560"/>
            <a:ext cx="2834640" cy="777240"/>
          </a:xfrm>
          <a:prstGeom prst="rect">
            <a:avLst/>
          </a:prstGeom>
          <a:solidFill>
            <a:srgbClr val="FFFFFF"/>
          </a:solidFill>
          <a:ln w="9525">
            <a:solidFill>
              <a:srgbClr val="EEF2F7"/>
            </a:solidFill>
            <a:prstDash val="solid"/>
          </a:ln>
        </p:spPr>
      </p:sp>
      <p:sp>
        <p:nvSpPr>
          <p:cNvPr id="31" name="Text 29"/>
          <p:cNvSpPr txBox="1"/>
          <p:nvPr/>
        </p:nvSpPr>
        <p:spPr>
          <a:xfrm>
            <a:off x="3017520" y="3337560"/>
            <a:ext cx="2651760" cy="7772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Fire alarm auto-triggers sprinkler</a:t>
            </a:r>
            <a:endParaRPr lang="en-US" sz="1050" dirty="0"/>
          </a:p>
        </p:txBody>
      </p:sp>
      <p:sp>
        <p:nvSpPr>
          <p:cNvPr id="32" name="Shape 30"/>
          <p:cNvSpPr/>
          <p:nvPr/>
        </p:nvSpPr>
        <p:spPr>
          <a:xfrm>
            <a:off x="5760720" y="3337560"/>
            <a:ext cx="2834640" cy="777240"/>
          </a:xfrm>
          <a:prstGeom prst="rect">
            <a:avLst/>
          </a:prstGeom>
          <a:solidFill>
            <a:srgbClr val="FFFFFF"/>
          </a:solidFill>
          <a:ln w="9525">
            <a:solidFill>
              <a:srgbClr val="EEF2F7"/>
            </a:solidFill>
            <a:prstDash val="solid"/>
          </a:ln>
        </p:spPr>
      </p:sp>
      <p:sp>
        <p:nvSpPr>
          <p:cNvPr id="33" name="Text 31"/>
          <p:cNvSpPr txBox="1"/>
          <p:nvPr/>
        </p:nvSpPr>
        <p:spPr>
          <a:xfrm>
            <a:off x="5852160" y="3337560"/>
            <a:ext cx="2651760" cy="7772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Dispatch agent reasons through trade-offs before acting</a:t>
            </a:r>
            <a:endParaRPr lang="en-US" sz="1050" dirty="0"/>
          </a:p>
        </p:txBody>
      </p:sp>
      <p:sp>
        <p:nvSpPr>
          <p:cNvPr id="34" name="Shape 32"/>
          <p:cNvSpPr/>
          <p:nvPr/>
        </p:nvSpPr>
        <p:spPr>
          <a:xfrm>
            <a:off x="8595360" y="3337560"/>
            <a:ext cx="2926080" cy="777240"/>
          </a:xfrm>
          <a:prstGeom prst="rect">
            <a:avLst/>
          </a:prstGeom>
          <a:solidFill>
            <a:srgbClr val="FFFFFF"/>
          </a:solidFill>
          <a:ln w="9525">
            <a:solidFill>
              <a:srgbClr val="EEF2F7"/>
            </a:solidFill>
            <a:prstDash val="solid"/>
          </a:ln>
        </p:spPr>
      </p:sp>
      <p:sp>
        <p:nvSpPr>
          <p:cNvPr id="35" name="Text 33"/>
          <p:cNvSpPr txBox="1"/>
          <p:nvPr/>
        </p:nvSpPr>
        <p:spPr>
          <a:xfrm>
            <a:off x="8686800" y="3337560"/>
            <a:ext cx="2743200" cy="7772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Ambulance agent &amp; shelter agent negotiate the last bed</a:t>
            </a:r>
            <a:endParaRPr lang="en-US" sz="1050" dirty="0"/>
          </a:p>
        </p:txBody>
      </p:sp>
      <p:sp>
        <p:nvSpPr>
          <p:cNvPr id="36" name="Shape 34"/>
          <p:cNvSpPr/>
          <p:nvPr/>
        </p:nvSpPr>
        <p:spPr>
          <a:xfrm>
            <a:off x="640080" y="4114800"/>
            <a:ext cx="2286000" cy="777240"/>
          </a:xfrm>
          <a:prstGeom prst="rect">
            <a:avLst/>
          </a:prstGeom>
          <a:solidFill>
            <a:srgbClr val="EEF2F7"/>
          </a:solidFill>
          <a:ln w="9525">
            <a:solidFill>
              <a:srgbClr val="EEF2F7"/>
            </a:solidFill>
            <a:prstDash val="solid"/>
          </a:ln>
        </p:spPr>
      </p:sp>
      <p:sp>
        <p:nvSpPr>
          <p:cNvPr id="37" name="Text 35"/>
          <p:cNvSpPr txBox="1"/>
          <p:nvPr/>
        </p:nvSpPr>
        <p:spPr>
          <a:xfrm>
            <a:off x="731520" y="4114800"/>
            <a:ext cx="2103120" cy="777240"/>
          </a:xfrm>
          <a:prstGeom prst="rect">
            <a:avLst/>
          </a:prstGeom>
          <a:noFill/>
          <a:ln/>
        </p:spPr>
        <p:txBody>
          <a:bodyPr wrap="square" lIns="0" tIns="0" rIns="0" bIns="0" rtlCol="0" anchor="ctr"/>
          <a:lstStyle/>
          <a:p>
            <a:pPr algn="l" indent="0" marL="0">
              <a:buNone/>
            </a:pPr>
            <a:r>
              <a:rPr lang="en-US" sz="1050" b="1" dirty="0">
                <a:solidFill>
                  <a:srgbClr val="0F2843"/>
                </a:solidFill>
                <a:latin typeface="Calibri" pitchFamily="34" charset="0"/>
                <a:ea typeface="Calibri" pitchFamily="34" charset="-122"/>
                <a:cs typeface="Calibri" pitchFamily="34" charset="-120"/>
              </a:rPr>
              <a:t>Used in our project</a:t>
            </a:r>
            <a:endParaRPr lang="en-US" sz="1050" dirty="0"/>
          </a:p>
        </p:txBody>
      </p:sp>
      <p:sp>
        <p:nvSpPr>
          <p:cNvPr id="38" name="Shape 36"/>
          <p:cNvSpPr/>
          <p:nvPr/>
        </p:nvSpPr>
        <p:spPr>
          <a:xfrm>
            <a:off x="2926080" y="4114800"/>
            <a:ext cx="2834640" cy="777240"/>
          </a:xfrm>
          <a:prstGeom prst="rect">
            <a:avLst/>
          </a:prstGeom>
          <a:solidFill>
            <a:srgbClr val="FFFFFF"/>
          </a:solidFill>
          <a:ln w="9525">
            <a:solidFill>
              <a:srgbClr val="EEF2F7"/>
            </a:solidFill>
            <a:prstDash val="solid"/>
          </a:ln>
        </p:spPr>
      </p:sp>
      <p:sp>
        <p:nvSpPr>
          <p:cNvPr id="39" name="Text 37"/>
          <p:cNvSpPr txBox="1"/>
          <p:nvPr/>
        </p:nvSpPr>
        <p:spPr>
          <a:xfrm>
            <a:off x="3017520" y="4114800"/>
            <a:ext cx="2651760" cy="7772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a:t>
            </a:r>
            <a:endParaRPr lang="en-US" sz="1050" dirty="0"/>
          </a:p>
        </p:txBody>
      </p:sp>
      <p:sp>
        <p:nvSpPr>
          <p:cNvPr id="40" name="Shape 38"/>
          <p:cNvSpPr/>
          <p:nvPr/>
        </p:nvSpPr>
        <p:spPr>
          <a:xfrm>
            <a:off x="5760720" y="4114800"/>
            <a:ext cx="2834640" cy="777240"/>
          </a:xfrm>
          <a:prstGeom prst="rect">
            <a:avLst/>
          </a:prstGeom>
          <a:solidFill>
            <a:srgbClr val="FFFFFF"/>
          </a:solidFill>
          <a:ln w="9525">
            <a:solidFill>
              <a:srgbClr val="EEF2F7"/>
            </a:solidFill>
            <a:prstDash val="solid"/>
          </a:ln>
        </p:spPr>
      </p:sp>
      <p:sp>
        <p:nvSpPr>
          <p:cNvPr id="41" name="Text 39"/>
          <p:cNvSpPr txBox="1"/>
          <p:nvPr/>
        </p:nvSpPr>
        <p:spPr>
          <a:xfrm>
            <a:off x="5852160" y="4114800"/>
            <a:ext cx="2651760" cy="7772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 Yes — our approach</a:t>
            </a:r>
            <a:endParaRPr lang="en-US" sz="1050" dirty="0"/>
          </a:p>
        </p:txBody>
      </p:sp>
      <p:sp>
        <p:nvSpPr>
          <p:cNvPr id="42" name="Shape 40"/>
          <p:cNvSpPr/>
          <p:nvPr/>
        </p:nvSpPr>
        <p:spPr>
          <a:xfrm>
            <a:off x="8595360" y="4114800"/>
            <a:ext cx="2926080" cy="777240"/>
          </a:xfrm>
          <a:prstGeom prst="rect">
            <a:avLst/>
          </a:prstGeom>
          <a:solidFill>
            <a:srgbClr val="FFFFFF"/>
          </a:solidFill>
          <a:ln w="9525">
            <a:solidFill>
              <a:srgbClr val="EEF2F7"/>
            </a:solidFill>
            <a:prstDash val="solid"/>
          </a:ln>
        </p:spPr>
      </p:sp>
      <p:sp>
        <p:nvSpPr>
          <p:cNvPr id="43" name="Text 41"/>
          <p:cNvSpPr txBox="1"/>
          <p:nvPr/>
        </p:nvSpPr>
        <p:spPr>
          <a:xfrm>
            <a:off x="8686800" y="4114800"/>
            <a:ext cx="2743200" cy="7772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 Partially — orchestration layer</a:t>
            </a:r>
            <a:endParaRPr lang="en-US" sz="1050" dirty="0"/>
          </a:p>
        </p:txBody>
      </p:sp>
      <p:sp>
        <p:nvSpPr>
          <p:cNvPr id="44" name="Shape 42"/>
          <p:cNvSpPr/>
          <p:nvPr/>
        </p:nvSpPr>
        <p:spPr>
          <a:xfrm>
            <a:off x="640080" y="5074920"/>
            <a:ext cx="10881360" cy="502920"/>
          </a:xfrm>
          <a:prstGeom prst="roundRect">
            <a:avLst>
              <a:gd name="adj" fmla="val 9091"/>
            </a:avLst>
          </a:prstGeom>
          <a:solidFill>
            <a:srgbClr val="2A9D8F"/>
          </a:solidFill>
          <a:ln/>
        </p:spPr>
      </p:sp>
      <p:sp>
        <p:nvSpPr>
          <p:cNvPr id="45" name="Text 43"/>
          <p:cNvSpPr txBox="1"/>
          <p:nvPr/>
        </p:nvSpPr>
        <p:spPr>
          <a:xfrm>
            <a:off x="822960" y="5074920"/>
            <a:ext cx="1051560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Our dispatch engine uses a Deliberative agent, coordinated across a Multi-Agent system for shelter &amp; fleet.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365760"/>
            <a:ext cx="10972800" cy="457200"/>
          </a:xfrm>
          <a:prstGeom prst="rect">
            <a:avLst/>
          </a:prstGeom>
          <a:noFill/>
          <a:ln/>
        </p:spPr>
        <p:txBody>
          <a:bodyPr wrap="square" lIns="0" tIns="0" rIns="0" bIns="0" rtlCol="0" anchor="ctr"/>
          <a:lstStyle/>
          <a:p>
            <a:pPr indent="0" marL="0">
              <a:buNone/>
            </a:pPr>
            <a:r>
              <a:rPr lang="en-US" sz="2200" b="1" dirty="0">
                <a:solidFill>
                  <a:srgbClr val="0F2843"/>
                </a:solidFill>
                <a:latin typeface="Cambria" pitchFamily="34" charset="0"/>
                <a:ea typeface="Cambria" pitchFamily="34" charset="-122"/>
                <a:cs typeface="Cambria" pitchFamily="34" charset="-120"/>
              </a:rPr>
              <a:t>Reactive vs Deliberative Agents — Same Disaster Data</a:t>
            </a:r>
            <a:endParaRPr lang="en-US" sz="2200" dirty="0"/>
          </a:p>
        </p:txBody>
      </p:sp>
      <p:sp>
        <p:nvSpPr>
          <p:cNvPr id="3" name="Text 1"/>
          <p:cNvSpPr txBox="1"/>
          <p:nvPr/>
        </p:nvSpPr>
        <p:spPr>
          <a:xfrm>
            <a:off x="640080" y="804672"/>
            <a:ext cx="10058400" cy="32004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The key difference: does the agent reason over a goal, or just fire a fixed rule?</a:t>
            </a:r>
            <a:endParaRPr lang="en-US" sz="1200" dirty="0"/>
          </a:p>
        </p:txBody>
      </p:sp>
      <p:sp>
        <p:nvSpPr>
          <p:cNvPr id="4" name="Shape 2"/>
          <p:cNvSpPr/>
          <p:nvPr/>
        </p:nvSpPr>
        <p:spPr>
          <a:xfrm>
            <a:off x="640080" y="1280160"/>
            <a:ext cx="5212080" cy="411480"/>
          </a:xfrm>
          <a:prstGeom prst="roundRect">
            <a:avLst>
              <a:gd name="adj" fmla="val 48889"/>
            </a:avLst>
          </a:prstGeom>
          <a:solidFill>
            <a:srgbClr val="5B6B82"/>
          </a:solidFill>
          <a:ln/>
        </p:spPr>
      </p:sp>
      <p:sp>
        <p:nvSpPr>
          <p:cNvPr id="5" name="Text 3"/>
          <p:cNvSpPr txBox="1"/>
          <p:nvPr/>
        </p:nvSpPr>
        <p:spPr>
          <a:xfrm>
            <a:off x="640080" y="1280160"/>
            <a:ext cx="5212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REACTIVE AGENT</a:t>
            </a:r>
            <a:endParaRPr lang="en-US" sz="1300" dirty="0"/>
          </a:p>
        </p:txBody>
      </p:sp>
      <p:sp>
        <p:nvSpPr>
          <p:cNvPr id="6" name="Shape 4"/>
          <p:cNvSpPr/>
          <p:nvPr/>
        </p:nvSpPr>
        <p:spPr>
          <a:xfrm>
            <a:off x="640080" y="1828800"/>
            <a:ext cx="2606040" cy="365760"/>
          </a:xfrm>
          <a:prstGeom prst="rect">
            <a:avLst/>
          </a:prstGeom>
          <a:solidFill>
            <a:srgbClr val="0F2843"/>
          </a:solidFill>
          <a:ln w="9525">
            <a:solidFill>
              <a:srgbClr val="EEF2F7"/>
            </a:solidFill>
            <a:prstDash val="solid"/>
          </a:ln>
        </p:spPr>
      </p:sp>
      <p:sp>
        <p:nvSpPr>
          <p:cNvPr id="7" name="Shape 5"/>
          <p:cNvSpPr/>
          <p:nvPr/>
        </p:nvSpPr>
        <p:spPr>
          <a:xfrm>
            <a:off x="3246120" y="1828800"/>
            <a:ext cx="2606040" cy="365760"/>
          </a:xfrm>
          <a:prstGeom prst="rect">
            <a:avLst/>
          </a:prstGeom>
          <a:solidFill>
            <a:srgbClr val="0F2843"/>
          </a:solidFill>
          <a:ln w="9525">
            <a:solidFill>
              <a:srgbClr val="EEF2F7"/>
            </a:solidFill>
            <a:prstDash val="solid"/>
          </a:ln>
        </p:spPr>
      </p:sp>
      <p:sp>
        <p:nvSpPr>
          <p:cNvPr id="8" name="Text 6"/>
          <p:cNvSpPr txBox="1"/>
          <p:nvPr/>
        </p:nvSpPr>
        <p:spPr>
          <a:xfrm>
            <a:off x="640080" y="1828800"/>
            <a:ext cx="2606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Trigger</a:t>
            </a:r>
            <a:endParaRPr lang="en-US" sz="1100" dirty="0"/>
          </a:p>
        </p:txBody>
      </p:sp>
      <p:sp>
        <p:nvSpPr>
          <p:cNvPr id="9" name="Text 7"/>
          <p:cNvSpPr txBox="1"/>
          <p:nvPr/>
        </p:nvSpPr>
        <p:spPr>
          <a:xfrm>
            <a:off x="3246120" y="1828800"/>
            <a:ext cx="2606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p>
        </p:txBody>
      </p:sp>
      <p:sp>
        <p:nvSpPr>
          <p:cNvPr id="10" name="Shape 8"/>
          <p:cNvSpPr/>
          <p:nvPr/>
        </p:nvSpPr>
        <p:spPr>
          <a:xfrm>
            <a:off x="640080" y="2194560"/>
            <a:ext cx="2606040" cy="365760"/>
          </a:xfrm>
          <a:prstGeom prst="rect">
            <a:avLst/>
          </a:prstGeom>
          <a:solidFill>
            <a:srgbClr val="FFFFFF"/>
          </a:solidFill>
          <a:ln w="9525">
            <a:solidFill>
              <a:srgbClr val="EEF2F7"/>
            </a:solidFill>
            <a:prstDash val="solid"/>
          </a:ln>
        </p:spPr>
      </p:sp>
      <p:sp>
        <p:nvSpPr>
          <p:cNvPr id="11" name="Shape 9"/>
          <p:cNvSpPr/>
          <p:nvPr/>
        </p:nvSpPr>
        <p:spPr>
          <a:xfrm>
            <a:off x="3246120" y="2194560"/>
            <a:ext cx="2606040" cy="365760"/>
          </a:xfrm>
          <a:prstGeom prst="rect">
            <a:avLst/>
          </a:prstGeom>
          <a:solidFill>
            <a:srgbClr val="FFFFFF"/>
          </a:solidFill>
          <a:ln w="9525">
            <a:solidFill>
              <a:srgbClr val="EEF2F7"/>
            </a:solidFill>
            <a:prstDash val="solid"/>
          </a:ln>
        </p:spPr>
      </p:sp>
      <p:sp>
        <p:nvSpPr>
          <p:cNvPr id="12" name="Text 10"/>
          <p:cNvSpPr txBox="1"/>
          <p:nvPr/>
        </p:nvSpPr>
        <p:spPr>
          <a:xfrm>
            <a:off x="640080" y="2194560"/>
            <a:ext cx="2606040" cy="365760"/>
          </a:xfrm>
          <a:prstGeom prst="rect">
            <a:avLst/>
          </a:prstGeom>
          <a:noFill/>
          <a:ln/>
        </p:spPr>
        <p:txBody>
          <a:bodyPr wrap="square" lIns="0" tIns="0" rIns="0" bIns="0" rtlCol="0" anchor="ctr"/>
          <a:lstStyle/>
          <a:p>
            <a:pPr algn="ctr" indent="0" marL="0">
              <a:buNone/>
            </a:pPr>
            <a:r>
              <a:rPr lang="en-US" sz="1100" dirty="0">
                <a:solidFill>
                  <a:srgbClr val="5B6B82"/>
                </a:solidFill>
                <a:latin typeface="Calibri" pitchFamily="34" charset="0"/>
                <a:ea typeface="Calibri" pitchFamily="34" charset="-122"/>
                <a:cs typeface="Calibri" pitchFamily="34" charset="-120"/>
              </a:rPr>
              <a:t>Risk = Severe</a:t>
            </a:r>
            <a:endParaRPr lang="en-US" sz="1100" dirty="0"/>
          </a:p>
        </p:txBody>
      </p:sp>
      <p:sp>
        <p:nvSpPr>
          <p:cNvPr id="13" name="Text 11"/>
          <p:cNvSpPr txBox="1"/>
          <p:nvPr/>
        </p:nvSpPr>
        <p:spPr>
          <a:xfrm>
            <a:off x="3246120" y="2194560"/>
            <a:ext cx="2606040" cy="365760"/>
          </a:xfrm>
          <a:prstGeom prst="rect">
            <a:avLst/>
          </a:prstGeom>
          <a:noFill/>
          <a:ln/>
        </p:spPr>
        <p:txBody>
          <a:bodyPr wrap="square" lIns="0" tIns="0" rIns="0" bIns="0" rtlCol="0" anchor="ctr"/>
          <a:lstStyle/>
          <a:p>
            <a:pPr algn="ctr" indent="0" marL="0">
              <a:buNone/>
            </a:pPr>
            <a:r>
              <a:rPr lang="en-US" sz="1100" dirty="0">
                <a:solidFill>
                  <a:srgbClr val="5B6B82"/>
                </a:solidFill>
                <a:latin typeface="Calibri" pitchFamily="34" charset="0"/>
                <a:ea typeface="Calibri" pitchFamily="34" charset="-122"/>
                <a:cs typeface="Calibri" pitchFamily="34" charset="-120"/>
              </a:rPr>
              <a:t>Auto-alert only</a:t>
            </a:r>
            <a:endParaRPr lang="en-US" sz="1100" dirty="0"/>
          </a:p>
        </p:txBody>
      </p:sp>
      <p:sp>
        <p:nvSpPr>
          <p:cNvPr id="14" name="Shape 12"/>
          <p:cNvSpPr/>
          <p:nvPr/>
        </p:nvSpPr>
        <p:spPr>
          <a:xfrm>
            <a:off x="640080" y="2560320"/>
            <a:ext cx="2606040" cy="365760"/>
          </a:xfrm>
          <a:prstGeom prst="rect">
            <a:avLst/>
          </a:prstGeom>
          <a:solidFill>
            <a:srgbClr val="FFFFFF"/>
          </a:solidFill>
          <a:ln w="9525">
            <a:solidFill>
              <a:srgbClr val="EEF2F7"/>
            </a:solidFill>
            <a:prstDash val="solid"/>
          </a:ln>
        </p:spPr>
      </p:sp>
      <p:sp>
        <p:nvSpPr>
          <p:cNvPr id="15" name="Shape 13"/>
          <p:cNvSpPr/>
          <p:nvPr/>
        </p:nvSpPr>
        <p:spPr>
          <a:xfrm>
            <a:off x="3246120" y="2560320"/>
            <a:ext cx="2606040" cy="365760"/>
          </a:xfrm>
          <a:prstGeom prst="rect">
            <a:avLst/>
          </a:prstGeom>
          <a:solidFill>
            <a:srgbClr val="FFFFFF"/>
          </a:solidFill>
          <a:ln w="9525">
            <a:solidFill>
              <a:srgbClr val="EEF2F7"/>
            </a:solidFill>
            <a:prstDash val="solid"/>
          </a:ln>
        </p:spPr>
      </p:sp>
      <p:sp>
        <p:nvSpPr>
          <p:cNvPr id="16" name="Text 14"/>
          <p:cNvSpPr txBox="1"/>
          <p:nvPr/>
        </p:nvSpPr>
        <p:spPr>
          <a:xfrm>
            <a:off x="640080" y="2560320"/>
            <a:ext cx="2606040" cy="365760"/>
          </a:xfrm>
          <a:prstGeom prst="rect">
            <a:avLst/>
          </a:prstGeom>
          <a:noFill/>
          <a:ln/>
        </p:spPr>
        <p:txBody>
          <a:bodyPr wrap="square" lIns="0" tIns="0" rIns="0" bIns="0" rtlCol="0" anchor="ctr"/>
          <a:lstStyle/>
          <a:p>
            <a:pPr algn="ctr" indent="0" marL="0">
              <a:buNone/>
            </a:pPr>
            <a:r>
              <a:rPr lang="en-US" sz="1100" dirty="0">
                <a:solidFill>
                  <a:srgbClr val="5B6B82"/>
                </a:solidFill>
                <a:latin typeface="Calibri" pitchFamily="34" charset="0"/>
                <a:ea typeface="Calibri" pitchFamily="34" charset="-122"/>
                <a:cs typeface="Calibri" pitchFamily="34" charset="-120"/>
              </a:rPr>
              <a:t>Calls &gt; 30</a:t>
            </a:r>
            <a:endParaRPr lang="en-US" sz="1100" dirty="0"/>
          </a:p>
        </p:txBody>
      </p:sp>
      <p:sp>
        <p:nvSpPr>
          <p:cNvPr id="17" name="Text 15"/>
          <p:cNvSpPr txBox="1"/>
          <p:nvPr/>
        </p:nvSpPr>
        <p:spPr>
          <a:xfrm>
            <a:off x="3246120" y="2560320"/>
            <a:ext cx="2606040" cy="365760"/>
          </a:xfrm>
          <a:prstGeom prst="rect">
            <a:avLst/>
          </a:prstGeom>
          <a:noFill/>
          <a:ln/>
        </p:spPr>
        <p:txBody>
          <a:bodyPr wrap="square" lIns="0" tIns="0" rIns="0" bIns="0" rtlCol="0" anchor="ctr"/>
          <a:lstStyle/>
          <a:p>
            <a:pPr algn="ctr" indent="0" marL="0">
              <a:buNone/>
            </a:pPr>
            <a:r>
              <a:rPr lang="en-US" sz="1100" dirty="0">
                <a:solidFill>
                  <a:srgbClr val="5B6B82"/>
                </a:solidFill>
                <a:latin typeface="Calibri" pitchFamily="34" charset="0"/>
                <a:ea typeface="Calibri" pitchFamily="34" charset="-122"/>
                <a:cs typeface="Calibri" pitchFamily="34" charset="-120"/>
              </a:rPr>
              <a:t>Auto-alert only</a:t>
            </a:r>
            <a:endParaRPr lang="en-US" sz="1100" dirty="0"/>
          </a:p>
        </p:txBody>
      </p:sp>
      <p:sp>
        <p:nvSpPr>
          <p:cNvPr id="18" name="Shape 16"/>
          <p:cNvSpPr/>
          <p:nvPr/>
        </p:nvSpPr>
        <p:spPr>
          <a:xfrm>
            <a:off x="640080" y="2926080"/>
            <a:ext cx="2606040" cy="365760"/>
          </a:xfrm>
          <a:prstGeom prst="rect">
            <a:avLst/>
          </a:prstGeom>
          <a:solidFill>
            <a:srgbClr val="FFFFFF"/>
          </a:solidFill>
          <a:ln w="9525">
            <a:solidFill>
              <a:srgbClr val="EEF2F7"/>
            </a:solidFill>
            <a:prstDash val="solid"/>
          </a:ln>
        </p:spPr>
      </p:sp>
      <p:sp>
        <p:nvSpPr>
          <p:cNvPr id="19" name="Shape 17"/>
          <p:cNvSpPr/>
          <p:nvPr/>
        </p:nvSpPr>
        <p:spPr>
          <a:xfrm>
            <a:off x="3246120" y="2926080"/>
            <a:ext cx="2606040" cy="365760"/>
          </a:xfrm>
          <a:prstGeom prst="rect">
            <a:avLst/>
          </a:prstGeom>
          <a:solidFill>
            <a:srgbClr val="FFFFFF"/>
          </a:solidFill>
          <a:ln w="9525">
            <a:solidFill>
              <a:srgbClr val="EEF2F7"/>
            </a:solidFill>
            <a:prstDash val="solid"/>
          </a:ln>
        </p:spPr>
      </p:sp>
      <p:sp>
        <p:nvSpPr>
          <p:cNvPr id="20" name="Text 18"/>
          <p:cNvSpPr txBox="1"/>
          <p:nvPr/>
        </p:nvSpPr>
        <p:spPr>
          <a:xfrm>
            <a:off x="640080" y="2926080"/>
            <a:ext cx="2606040" cy="365760"/>
          </a:xfrm>
          <a:prstGeom prst="rect">
            <a:avLst/>
          </a:prstGeom>
          <a:noFill/>
          <a:ln/>
        </p:spPr>
        <p:txBody>
          <a:bodyPr wrap="square" lIns="0" tIns="0" rIns="0" bIns="0" rtlCol="0" anchor="ctr"/>
          <a:lstStyle/>
          <a:p>
            <a:pPr algn="ctr" indent="0" marL="0">
              <a:buNone/>
            </a:pPr>
            <a:r>
              <a:rPr lang="en-US" sz="1100" dirty="0">
                <a:solidFill>
                  <a:srgbClr val="5B6B82"/>
                </a:solidFill>
                <a:latin typeface="Calibri" pitchFamily="34" charset="0"/>
                <a:ea typeface="Calibri" pitchFamily="34" charset="-122"/>
                <a:cs typeface="Calibri" pitchFamily="34" charset="-120"/>
              </a:rPr>
              <a:t>River &gt; 4m</a:t>
            </a:r>
            <a:endParaRPr lang="en-US" sz="1100" dirty="0"/>
          </a:p>
        </p:txBody>
      </p:sp>
      <p:sp>
        <p:nvSpPr>
          <p:cNvPr id="21" name="Text 19"/>
          <p:cNvSpPr txBox="1"/>
          <p:nvPr/>
        </p:nvSpPr>
        <p:spPr>
          <a:xfrm>
            <a:off x="3246120" y="2926080"/>
            <a:ext cx="2606040" cy="365760"/>
          </a:xfrm>
          <a:prstGeom prst="rect">
            <a:avLst/>
          </a:prstGeom>
          <a:noFill/>
          <a:ln/>
        </p:spPr>
        <p:txBody>
          <a:bodyPr wrap="square" lIns="0" tIns="0" rIns="0" bIns="0" rtlCol="0" anchor="ctr"/>
          <a:lstStyle/>
          <a:p>
            <a:pPr algn="ctr" indent="0" marL="0">
              <a:buNone/>
            </a:pPr>
            <a:r>
              <a:rPr lang="en-US" sz="1100" dirty="0">
                <a:solidFill>
                  <a:srgbClr val="5B6B82"/>
                </a:solidFill>
                <a:latin typeface="Calibri" pitchFamily="34" charset="0"/>
                <a:ea typeface="Calibri" pitchFamily="34" charset="-122"/>
                <a:cs typeface="Calibri" pitchFamily="34" charset="-120"/>
              </a:rPr>
              <a:t>Auto-alert only</a:t>
            </a:r>
            <a:endParaRPr lang="en-US" sz="1100" dirty="0"/>
          </a:p>
        </p:txBody>
      </p:sp>
      <p:sp>
        <p:nvSpPr>
          <p:cNvPr id="22" name="Text 20"/>
          <p:cNvSpPr txBox="1"/>
          <p:nvPr/>
        </p:nvSpPr>
        <p:spPr>
          <a:xfrm>
            <a:off x="640080" y="3429000"/>
            <a:ext cx="5212080" cy="274320"/>
          </a:xfrm>
          <a:prstGeom prst="rect">
            <a:avLst/>
          </a:prstGeom>
          <a:noFill/>
          <a:ln/>
        </p:spPr>
        <p:txBody>
          <a:bodyPr wrap="square" lIns="0" tIns="0" rIns="0" bIns="0" rtlCol="0" anchor="ctr"/>
          <a:lstStyle/>
          <a:p>
            <a:pPr algn="ctr" indent="0" marL="0">
              <a:buNone/>
            </a:pPr>
            <a:r>
              <a:rPr lang="en-US" sz="1000" b="1" dirty="0">
                <a:solidFill>
                  <a:srgbClr val="5B6B82"/>
                </a:solidFill>
                <a:latin typeface="Calibri" pitchFamily="34" charset="0"/>
                <a:ea typeface="Calibri" pitchFamily="34" charset="-122"/>
                <a:cs typeface="Calibri" pitchFamily="34" charset="-120"/>
              </a:rPr>
              <a:t>TRIGGER → FIXED ACTION</a:t>
            </a:r>
            <a:endParaRPr lang="en-US" sz="1000" dirty="0"/>
          </a:p>
        </p:txBody>
      </p:sp>
      <p:sp>
        <p:nvSpPr>
          <p:cNvPr id="23" name="Text 21"/>
          <p:cNvSpPr txBox="1"/>
          <p:nvPr/>
        </p:nvSpPr>
        <p:spPr>
          <a:xfrm>
            <a:off x="640080" y="3703320"/>
            <a:ext cx="5212080" cy="5486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No reasoning. The same trigger always produces the same action.</a:t>
            </a:r>
            <a:endParaRPr lang="en-US" sz="1050" dirty="0"/>
          </a:p>
        </p:txBody>
      </p:sp>
      <p:sp>
        <p:nvSpPr>
          <p:cNvPr id="24" name="Shape 22"/>
          <p:cNvSpPr/>
          <p:nvPr/>
        </p:nvSpPr>
        <p:spPr>
          <a:xfrm>
            <a:off x="6309360" y="1280160"/>
            <a:ext cx="5212080" cy="411480"/>
          </a:xfrm>
          <a:prstGeom prst="roundRect">
            <a:avLst>
              <a:gd name="adj" fmla="val 48889"/>
            </a:avLst>
          </a:prstGeom>
          <a:solidFill>
            <a:srgbClr val="2A9D8F"/>
          </a:solidFill>
          <a:ln/>
        </p:spPr>
      </p:sp>
      <p:sp>
        <p:nvSpPr>
          <p:cNvPr id="25" name="Text 23"/>
          <p:cNvSpPr txBox="1"/>
          <p:nvPr/>
        </p:nvSpPr>
        <p:spPr>
          <a:xfrm>
            <a:off x="6309360" y="1280160"/>
            <a:ext cx="5212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DELIBERATIVE AGENT</a:t>
            </a:r>
            <a:endParaRPr lang="en-US" sz="1300" dirty="0"/>
          </a:p>
        </p:txBody>
      </p:sp>
      <p:sp>
        <p:nvSpPr>
          <p:cNvPr id="26" name="Shape 24"/>
          <p:cNvSpPr/>
          <p:nvPr/>
        </p:nvSpPr>
        <p:spPr>
          <a:xfrm>
            <a:off x="6309360" y="1828800"/>
            <a:ext cx="2606040" cy="365760"/>
          </a:xfrm>
          <a:prstGeom prst="rect">
            <a:avLst/>
          </a:prstGeom>
          <a:solidFill>
            <a:srgbClr val="0F2843"/>
          </a:solidFill>
          <a:ln w="9525">
            <a:solidFill>
              <a:srgbClr val="EEF2F7"/>
            </a:solidFill>
            <a:prstDash val="solid"/>
          </a:ln>
        </p:spPr>
      </p:sp>
      <p:sp>
        <p:nvSpPr>
          <p:cNvPr id="27" name="Shape 25"/>
          <p:cNvSpPr/>
          <p:nvPr/>
        </p:nvSpPr>
        <p:spPr>
          <a:xfrm>
            <a:off x="8915400" y="1828800"/>
            <a:ext cx="2606040" cy="365760"/>
          </a:xfrm>
          <a:prstGeom prst="rect">
            <a:avLst/>
          </a:prstGeom>
          <a:solidFill>
            <a:srgbClr val="0F2843"/>
          </a:solidFill>
          <a:ln w="9525">
            <a:solidFill>
              <a:srgbClr val="EEF2F7"/>
            </a:solidFill>
            <a:prstDash val="solid"/>
          </a:ln>
        </p:spPr>
      </p:sp>
      <p:sp>
        <p:nvSpPr>
          <p:cNvPr id="28" name="Text 26"/>
          <p:cNvSpPr txBox="1"/>
          <p:nvPr/>
        </p:nvSpPr>
        <p:spPr>
          <a:xfrm>
            <a:off x="6309360" y="1828800"/>
            <a:ext cx="260604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Goal</a:t>
            </a:r>
            <a:endParaRPr lang="en-US" sz="1050" dirty="0"/>
          </a:p>
        </p:txBody>
      </p:sp>
      <p:sp>
        <p:nvSpPr>
          <p:cNvPr id="29" name="Text 27"/>
          <p:cNvSpPr txBox="1"/>
          <p:nvPr/>
        </p:nvSpPr>
        <p:spPr>
          <a:xfrm>
            <a:off x="8915400" y="1828800"/>
            <a:ext cx="260604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Reasoning step</a:t>
            </a:r>
            <a:endParaRPr lang="en-US" sz="1050" dirty="0"/>
          </a:p>
        </p:txBody>
      </p:sp>
      <p:sp>
        <p:nvSpPr>
          <p:cNvPr id="30" name="Shape 28"/>
          <p:cNvSpPr/>
          <p:nvPr/>
        </p:nvSpPr>
        <p:spPr>
          <a:xfrm>
            <a:off x="6309360" y="2194560"/>
            <a:ext cx="2606040" cy="365760"/>
          </a:xfrm>
          <a:prstGeom prst="rect">
            <a:avLst/>
          </a:prstGeom>
          <a:solidFill>
            <a:srgbClr val="FFFFFF"/>
          </a:solidFill>
          <a:ln w="9525">
            <a:solidFill>
              <a:srgbClr val="EEF2F7"/>
            </a:solidFill>
            <a:prstDash val="solid"/>
          </a:ln>
        </p:spPr>
      </p:sp>
      <p:sp>
        <p:nvSpPr>
          <p:cNvPr id="31" name="Shape 29"/>
          <p:cNvSpPr/>
          <p:nvPr/>
        </p:nvSpPr>
        <p:spPr>
          <a:xfrm>
            <a:off x="8915400" y="2194560"/>
            <a:ext cx="2606040" cy="365760"/>
          </a:xfrm>
          <a:prstGeom prst="rect">
            <a:avLst/>
          </a:prstGeom>
          <a:solidFill>
            <a:srgbClr val="FFFFFF"/>
          </a:solidFill>
          <a:ln w="9525">
            <a:solidFill>
              <a:srgbClr val="EEF2F7"/>
            </a:solidFill>
            <a:prstDash val="solid"/>
          </a:ln>
        </p:spPr>
      </p:sp>
      <p:sp>
        <p:nvSpPr>
          <p:cNvPr id="32" name="Text 30"/>
          <p:cNvSpPr txBox="1"/>
          <p:nvPr/>
        </p:nvSpPr>
        <p:spPr>
          <a:xfrm>
            <a:off x="6309360" y="2194560"/>
            <a:ext cx="2606040" cy="36576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Evacuate Zone 7</a:t>
            </a:r>
            <a:endParaRPr lang="en-US" sz="1050" dirty="0"/>
          </a:p>
        </p:txBody>
      </p:sp>
      <p:sp>
        <p:nvSpPr>
          <p:cNvPr id="33" name="Text 31"/>
          <p:cNvSpPr txBox="1"/>
          <p:nvPr/>
        </p:nvSpPr>
        <p:spPr>
          <a:xfrm>
            <a:off x="8915400" y="2194560"/>
            <a:ext cx="2606040" cy="36576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Check ambulance availability</a:t>
            </a:r>
            <a:endParaRPr lang="en-US" sz="1050" dirty="0"/>
          </a:p>
        </p:txBody>
      </p:sp>
      <p:sp>
        <p:nvSpPr>
          <p:cNvPr id="34" name="Shape 32"/>
          <p:cNvSpPr/>
          <p:nvPr/>
        </p:nvSpPr>
        <p:spPr>
          <a:xfrm>
            <a:off x="6309360" y="2560320"/>
            <a:ext cx="2606040" cy="365760"/>
          </a:xfrm>
          <a:prstGeom prst="rect">
            <a:avLst/>
          </a:prstGeom>
          <a:solidFill>
            <a:srgbClr val="FFFFFF"/>
          </a:solidFill>
          <a:ln w="9525">
            <a:solidFill>
              <a:srgbClr val="EEF2F7"/>
            </a:solidFill>
            <a:prstDash val="solid"/>
          </a:ln>
        </p:spPr>
      </p:sp>
      <p:sp>
        <p:nvSpPr>
          <p:cNvPr id="35" name="Shape 33"/>
          <p:cNvSpPr/>
          <p:nvPr/>
        </p:nvSpPr>
        <p:spPr>
          <a:xfrm>
            <a:off x="8915400" y="2560320"/>
            <a:ext cx="2606040" cy="365760"/>
          </a:xfrm>
          <a:prstGeom prst="rect">
            <a:avLst/>
          </a:prstGeom>
          <a:solidFill>
            <a:srgbClr val="FFFFFF"/>
          </a:solidFill>
          <a:ln w="9525">
            <a:solidFill>
              <a:srgbClr val="EEF2F7"/>
            </a:solidFill>
            <a:prstDash val="solid"/>
          </a:ln>
        </p:spPr>
      </p:sp>
      <p:sp>
        <p:nvSpPr>
          <p:cNvPr id="36" name="Text 34"/>
          <p:cNvSpPr txBox="1"/>
          <p:nvPr/>
        </p:nvSpPr>
        <p:spPr>
          <a:xfrm>
            <a:off x="6309360" y="2560320"/>
            <a:ext cx="2606040" cy="36576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1 unit, 2 zones</a:t>
            </a:r>
            <a:endParaRPr lang="en-US" sz="1050" dirty="0"/>
          </a:p>
        </p:txBody>
      </p:sp>
      <p:sp>
        <p:nvSpPr>
          <p:cNvPr id="37" name="Text 35"/>
          <p:cNvSpPr txBox="1"/>
          <p:nvPr/>
        </p:nvSpPr>
        <p:spPr>
          <a:xfrm>
            <a:off x="8915400" y="2560320"/>
            <a:ext cx="2606040" cy="36576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Compare calls: 38 vs 15</a:t>
            </a:r>
            <a:endParaRPr lang="en-US" sz="1050" dirty="0"/>
          </a:p>
        </p:txBody>
      </p:sp>
      <p:sp>
        <p:nvSpPr>
          <p:cNvPr id="38" name="Shape 36"/>
          <p:cNvSpPr/>
          <p:nvPr/>
        </p:nvSpPr>
        <p:spPr>
          <a:xfrm>
            <a:off x="6309360" y="2926080"/>
            <a:ext cx="2606040" cy="365760"/>
          </a:xfrm>
          <a:prstGeom prst="rect">
            <a:avLst/>
          </a:prstGeom>
          <a:solidFill>
            <a:srgbClr val="FFFFFF"/>
          </a:solidFill>
          <a:ln w="9525">
            <a:solidFill>
              <a:srgbClr val="EEF2F7"/>
            </a:solidFill>
            <a:prstDash val="solid"/>
          </a:ln>
        </p:spPr>
      </p:sp>
      <p:sp>
        <p:nvSpPr>
          <p:cNvPr id="39" name="Shape 37"/>
          <p:cNvSpPr/>
          <p:nvPr/>
        </p:nvSpPr>
        <p:spPr>
          <a:xfrm>
            <a:off x="8915400" y="2926080"/>
            <a:ext cx="2606040" cy="365760"/>
          </a:xfrm>
          <a:prstGeom prst="rect">
            <a:avLst/>
          </a:prstGeom>
          <a:solidFill>
            <a:srgbClr val="FFFFFF"/>
          </a:solidFill>
          <a:ln w="9525">
            <a:solidFill>
              <a:srgbClr val="EEF2F7"/>
            </a:solidFill>
            <a:prstDash val="solid"/>
          </a:ln>
        </p:spPr>
      </p:sp>
      <p:sp>
        <p:nvSpPr>
          <p:cNvPr id="40" name="Text 38"/>
          <p:cNvSpPr txBox="1"/>
          <p:nvPr/>
        </p:nvSpPr>
        <p:spPr>
          <a:xfrm>
            <a:off x="6309360" y="2926080"/>
            <a:ext cx="2606040" cy="36576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Zone 7 higher</a:t>
            </a:r>
            <a:endParaRPr lang="en-US" sz="1050" dirty="0"/>
          </a:p>
        </p:txBody>
      </p:sp>
      <p:sp>
        <p:nvSpPr>
          <p:cNvPr id="41" name="Text 39"/>
          <p:cNvSpPr txBox="1"/>
          <p:nvPr/>
        </p:nvSpPr>
        <p:spPr>
          <a:xfrm>
            <a:off x="8915400" y="2926080"/>
            <a:ext cx="2606040" cy="36576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Dispatch + reroute Zone 12</a:t>
            </a:r>
            <a:endParaRPr lang="en-US" sz="1050" dirty="0"/>
          </a:p>
        </p:txBody>
      </p:sp>
      <p:sp>
        <p:nvSpPr>
          <p:cNvPr id="42" name="Text 40"/>
          <p:cNvSpPr txBox="1"/>
          <p:nvPr/>
        </p:nvSpPr>
        <p:spPr>
          <a:xfrm>
            <a:off x="6309360" y="3429000"/>
            <a:ext cx="5212080" cy="274320"/>
          </a:xfrm>
          <a:prstGeom prst="rect">
            <a:avLst/>
          </a:prstGeom>
          <a:noFill/>
          <a:ln/>
        </p:spPr>
        <p:txBody>
          <a:bodyPr wrap="square" lIns="0" tIns="0" rIns="0" bIns="0" rtlCol="0" anchor="ctr"/>
          <a:lstStyle/>
          <a:p>
            <a:pPr algn="ctr" indent="0" marL="0">
              <a:buNone/>
            </a:pPr>
            <a:r>
              <a:rPr lang="en-US" sz="1000" b="1" dirty="0">
                <a:solidFill>
                  <a:srgbClr val="2A9D8F"/>
                </a:solidFill>
                <a:latin typeface="Calibri" pitchFamily="34" charset="0"/>
                <a:ea typeface="Calibri" pitchFamily="34" charset="-122"/>
                <a:cs typeface="Calibri" pitchFamily="34" charset="-120"/>
              </a:rPr>
              <a:t>GOAL → REASON → ACT</a:t>
            </a:r>
            <a:endParaRPr lang="en-US" sz="1000" dirty="0"/>
          </a:p>
        </p:txBody>
      </p:sp>
      <p:sp>
        <p:nvSpPr>
          <p:cNvPr id="43" name="Text 41"/>
          <p:cNvSpPr txBox="1"/>
          <p:nvPr/>
        </p:nvSpPr>
        <p:spPr>
          <a:xfrm>
            <a:off x="6309360" y="3703320"/>
            <a:ext cx="5212080" cy="548640"/>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No fixed rule is given. The agent reasons step by step to reach a decision.</a:t>
            </a:r>
            <a:endParaRPr lang="en-US" sz="1050" dirty="0"/>
          </a:p>
        </p:txBody>
      </p:sp>
      <p:sp>
        <p:nvSpPr>
          <p:cNvPr id="44" name="Shape 42"/>
          <p:cNvSpPr/>
          <p:nvPr/>
        </p:nvSpPr>
        <p:spPr>
          <a:xfrm>
            <a:off x="640080" y="4434840"/>
            <a:ext cx="10881360" cy="777240"/>
          </a:xfrm>
          <a:prstGeom prst="roundRect">
            <a:avLst>
              <a:gd name="adj" fmla="val 8235"/>
            </a:avLst>
          </a:prstGeom>
          <a:solidFill>
            <a:srgbClr val="0F2843"/>
          </a:solidFill>
          <a:ln/>
        </p:spPr>
      </p:sp>
      <p:sp>
        <p:nvSpPr>
          <p:cNvPr id="45" name="Text 43"/>
          <p:cNvSpPr txBox="1"/>
          <p:nvPr/>
        </p:nvSpPr>
        <p:spPr>
          <a:xfrm>
            <a:off x="914400" y="4572000"/>
            <a:ext cx="10332720" cy="274320"/>
          </a:xfrm>
          <a:prstGeom prst="rect">
            <a:avLst/>
          </a:prstGeom>
          <a:noFill/>
          <a:ln/>
        </p:spPr>
        <p:txBody>
          <a:bodyPr wrap="square" lIns="0" tIns="0" rIns="0" bIns="0" rtlCol="0" anchor="ctr"/>
          <a:lstStyle/>
          <a:p>
            <a:pPr indent="0" marL="0">
              <a:buNone/>
            </a:pPr>
            <a:r>
              <a:rPr lang="en-US" sz="1100" dirty="0">
                <a:solidFill>
                  <a:srgbClr val="E3E9F2"/>
                </a:solidFill>
                <a:latin typeface="Calibri" pitchFamily="34" charset="0"/>
                <a:ea typeface="Calibri" pitchFamily="34" charset="-122"/>
                <a:cs typeface="Calibri" pitchFamily="34" charset="-120"/>
              </a:rPr>
              <a:t>NEW EMERGENCY: Zone 7 (38 calls) + Zone 12 (15 calls), 1 ambulance</a:t>
            </a:r>
            <a:endParaRPr lang="en-US" sz="1100" dirty="0"/>
          </a:p>
        </p:txBody>
      </p:sp>
      <p:sp>
        <p:nvSpPr>
          <p:cNvPr id="46" name="Text 44"/>
          <p:cNvSpPr txBox="1"/>
          <p:nvPr/>
        </p:nvSpPr>
        <p:spPr>
          <a:xfrm>
            <a:off x="914400" y="4846320"/>
            <a:ext cx="10332720" cy="320040"/>
          </a:xfrm>
          <a:prstGeom prst="rect">
            <a:avLst/>
          </a:prstGeom>
          <a:noFill/>
          <a:ln/>
        </p:spPr>
        <p:txBody>
          <a:bodyPr wrap="square" lIns="0" tIns="0" rIns="0" bIns="0" rtlCol="0" anchor="ctr"/>
          <a:lstStyle/>
          <a:p>
            <a:pPr indent="0" marL="0">
              <a:buNone/>
            </a:pPr>
            <a:r>
              <a:rPr lang="en-US" sz="1300" b="1" dirty="0">
                <a:solidFill>
                  <a:srgbClr val="FFB627"/>
                </a:solidFill>
                <a:latin typeface="Calibri" pitchFamily="34" charset="0"/>
                <a:ea typeface="Calibri" pitchFamily="34" charset="-122"/>
                <a:cs typeface="Calibri" pitchFamily="34" charset="-120"/>
              </a:rPr>
              <a:t>→ Deliberative agent decides: DISPATCH TO ZONE 7, reroute Zone 12 to secondary responder</a:t>
            </a:r>
            <a:endParaRPr lang="en-US" sz="1300" dirty="0"/>
          </a:p>
        </p:txBody>
      </p:sp>
      <p:sp>
        <p:nvSpPr>
          <p:cNvPr id="47" name="Shape 45"/>
          <p:cNvSpPr/>
          <p:nvPr/>
        </p:nvSpPr>
        <p:spPr>
          <a:xfrm>
            <a:off x="640080" y="5394960"/>
            <a:ext cx="10881360" cy="411480"/>
          </a:xfrm>
          <a:prstGeom prst="roundRect">
            <a:avLst>
              <a:gd name="adj" fmla="val 11111"/>
            </a:avLst>
          </a:prstGeom>
          <a:solidFill>
            <a:srgbClr val="EEF2F7"/>
          </a:solidFill>
          <a:ln/>
        </p:spPr>
      </p:sp>
      <p:sp>
        <p:nvSpPr>
          <p:cNvPr id="48" name="Text 46"/>
          <p:cNvSpPr txBox="1"/>
          <p:nvPr/>
        </p:nvSpPr>
        <p:spPr>
          <a:xfrm>
            <a:off x="640080" y="5394960"/>
            <a:ext cx="10881360" cy="411480"/>
          </a:xfrm>
          <a:prstGeom prst="rect">
            <a:avLst/>
          </a:prstGeom>
          <a:noFill/>
          <a:ln/>
        </p:spPr>
        <p:txBody>
          <a:bodyPr wrap="square" lIns="0" tIns="0" rIns="0" bIns="0" rtlCol="0" anchor="ctr"/>
          <a:lstStyle/>
          <a:p>
            <a:pPr algn="ctr" indent="0" marL="0">
              <a:buNone/>
            </a:pPr>
            <a:r>
              <a:rPr lang="en-US" sz="1100" b="1" dirty="0">
                <a:solidFill>
                  <a:srgbClr val="5B6B82"/>
                </a:solidFill>
                <a:latin typeface="Calibri" pitchFamily="34" charset="0"/>
                <a:ea typeface="Calibri" pitchFamily="34" charset="-122"/>
                <a:cs typeface="Calibri" pitchFamily="34" charset="-120"/>
              </a:rPr>
              <a:t>REACTIVE = FIXED RULES   |   DELIBERATIVE = REASON THEN ACT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502920"/>
          </a:xfrm>
          <a:prstGeom prst="rect">
            <a:avLst/>
          </a:prstGeom>
          <a:noFill/>
          <a:ln/>
        </p:spPr>
        <p:txBody>
          <a:bodyPr wrap="square" lIns="0" tIns="0" rIns="0" bIns="0" rtlCol="0" anchor="ctr"/>
          <a:lstStyle/>
          <a:p>
            <a:pPr indent="0" marL="0">
              <a:buNone/>
            </a:pPr>
            <a:r>
              <a:rPr lang="en-US" sz="2600" b="1" dirty="0">
                <a:solidFill>
                  <a:srgbClr val="0F2843"/>
                </a:solidFill>
                <a:latin typeface="Cambria" pitchFamily="34" charset="0"/>
                <a:ea typeface="Cambria" pitchFamily="34" charset="-122"/>
                <a:cs typeface="Cambria" pitchFamily="34" charset="-120"/>
              </a:rPr>
              <a:t>Do We Already Know What To Do?</a:t>
            </a:r>
            <a:endParaRPr lang="en-US" sz="2600" dirty="0"/>
          </a:p>
        </p:txBody>
      </p:sp>
      <p:sp>
        <p:nvSpPr>
          <p:cNvPr id="3" name="Shape 1"/>
          <p:cNvSpPr/>
          <p:nvPr/>
        </p:nvSpPr>
        <p:spPr>
          <a:xfrm>
            <a:off x="640080" y="1188720"/>
            <a:ext cx="6126480" cy="2377440"/>
          </a:xfrm>
          <a:prstGeom prst="roundRect">
            <a:avLst>
              <a:gd name="adj" fmla="val 2692"/>
            </a:avLst>
          </a:prstGeom>
          <a:solidFill>
            <a:srgbClr val="FFFFFF"/>
          </a:solidFill>
          <a:ln w="12700">
            <a:solidFill>
              <a:srgbClr val="EEF2F7"/>
            </a:solidFill>
            <a:prstDash val="solid"/>
          </a:ln>
        </p:spPr>
      </p:sp>
      <p:sp>
        <p:nvSpPr>
          <p:cNvPr id="4" name="Text 2"/>
          <p:cNvSpPr txBox="1"/>
          <p:nvPr/>
        </p:nvSpPr>
        <p:spPr>
          <a:xfrm>
            <a:off x="914400" y="1371600"/>
            <a:ext cx="2743200" cy="32004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Situation</a:t>
            </a:r>
            <a:endParaRPr lang="en-US" sz="1100" dirty="0"/>
          </a:p>
        </p:txBody>
      </p:sp>
      <p:sp>
        <p:nvSpPr>
          <p:cNvPr id="5" name="Text 3"/>
          <p:cNvSpPr txBox="1"/>
          <p:nvPr/>
        </p:nvSpPr>
        <p:spPr>
          <a:xfrm>
            <a:off x="3840480" y="1371600"/>
            <a:ext cx="2743200" cy="32004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SOP Coverage</a:t>
            </a:r>
            <a:endParaRPr lang="en-US" sz="1100" dirty="0"/>
          </a:p>
        </p:txBody>
      </p:sp>
      <p:sp>
        <p:nvSpPr>
          <p:cNvPr id="6" name="Text 4"/>
          <p:cNvSpPr txBox="1"/>
          <p:nvPr/>
        </p:nvSpPr>
        <p:spPr>
          <a:xfrm>
            <a:off x="914400" y="1737360"/>
            <a:ext cx="2743200" cy="365760"/>
          </a:xfrm>
          <a:prstGeom prst="rect">
            <a:avLst/>
          </a:prstGeom>
          <a:noFill/>
          <a:ln/>
        </p:spPr>
        <p:txBody>
          <a:bodyPr wrap="square" lIns="0" tIns="0" rIns="0" bIns="0" rtlCol="0" anchor="ctr"/>
          <a:lstStyle/>
          <a:p>
            <a:pPr indent="0" marL="0">
              <a:buNone/>
            </a:pPr>
            <a:r>
              <a:rPr lang="en-US" sz="1200" dirty="0">
                <a:solidFill>
                  <a:srgbClr val="0F2843"/>
                </a:solidFill>
                <a:latin typeface="Calibri" pitchFamily="34" charset="0"/>
                <a:ea typeface="Calibri" pitchFamily="34" charset="-122"/>
                <a:cs typeface="Calibri" pitchFamily="34" charset="-120"/>
              </a:rPr>
              <a:t>Zone flooding, Severe risk</a:t>
            </a:r>
            <a:endParaRPr lang="en-US" sz="1200" dirty="0"/>
          </a:p>
        </p:txBody>
      </p:sp>
      <p:sp>
        <p:nvSpPr>
          <p:cNvPr id="7" name="Text 5"/>
          <p:cNvSpPr txBox="1"/>
          <p:nvPr/>
        </p:nvSpPr>
        <p:spPr>
          <a:xfrm>
            <a:off x="3840480" y="1737360"/>
            <a:ext cx="2743200" cy="365760"/>
          </a:xfrm>
          <a:prstGeom prst="rect">
            <a:avLst/>
          </a:prstGeom>
          <a:noFill/>
          <a:ln/>
        </p:spPr>
        <p:txBody>
          <a:bodyPr wrap="square" lIns="0" tIns="0" rIns="0" bIns="0" rtlCol="0" anchor="ctr"/>
          <a:lstStyle/>
          <a:p>
            <a:pPr indent="0" marL="0">
              <a:buNone/>
            </a:pPr>
            <a:r>
              <a:rPr lang="en-US" sz="1200" b="1" dirty="0">
                <a:solidFill>
                  <a:srgbClr val="2A9D8F"/>
                </a:solidFill>
                <a:latin typeface="Calibri" pitchFamily="34" charset="0"/>
                <a:ea typeface="Calibri" pitchFamily="34" charset="-122"/>
                <a:cs typeface="Calibri" pitchFamily="34" charset="-120"/>
              </a:rPr>
              <a:t>✅ Response Playbook §3</a:t>
            </a:r>
            <a:endParaRPr lang="en-US" sz="1200" dirty="0"/>
          </a:p>
        </p:txBody>
      </p:sp>
      <p:sp>
        <p:nvSpPr>
          <p:cNvPr id="8" name="Text 6"/>
          <p:cNvSpPr txBox="1"/>
          <p:nvPr/>
        </p:nvSpPr>
        <p:spPr>
          <a:xfrm>
            <a:off x="914400" y="2194560"/>
            <a:ext cx="2743200" cy="365760"/>
          </a:xfrm>
          <a:prstGeom prst="rect">
            <a:avLst/>
          </a:prstGeom>
          <a:noFill/>
          <a:ln/>
        </p:spPr>
        <p:txBody>
          <a:bodyPr wrap="square" lIns="0" tIns="0" rIns="0" bIns="0" rtlCol="0" anchor="ctr"/>
          <a:lstStyle/>
          <a:p>
            <a:pPr indent="0" marL="0">
              <a:buNone/>
            </a:pPr>
            <a:r>
              <a:rPr lang="en-US" sz="1200" dirty="0">
                <a:solidFill>
                  <a:srgbClr val="0F2843"/>
                </a:solidFill>
                <a:latin typeface="Calibri" pitchFamily="34" charset="0"/>
                <a:ea typeface="Calibri" pitchFamily="34" charset="-122"/>
                <a:cs typeface="Calibri" pitchFamily="34" charset="-120"/>
              </a:rPr>
              <a:t>Two zones, one ambulance</a:t>
            </a:r>
            <a:endParaRPr lang="en-US" sz="1200" dirty="0"/>
          </a:p>
        </p:txBody>
      </p:sp>
      <p:sp>
        <p:nvSpPr>
          <p:cNvPr id="9" name="Text 7"/>
          <p:cNvSpPr txBox="1"/>
          <p:nvPr/>
        </p:nvSpPr>
        <p:spPr>
          <a:xfrm>
            <a:off x="3840480" y="2194560"/>
            <a:ext cx="2743200" cy="365760"/>
          </a:xfrm>
          <a:prstGeom prst="rect">
            <a:avLst/>
          </a:prstGeom>
          <a:noFill/>
          <a:ln/>
        </p:spPr>
        <p:txBody>
          <a:bodyPr wrap="square" lIns="0" tIns="0" rIns="0" bIns="0" rtlCol="0" anchor="ctr"/>
          <a:lstStyle/>
          <a:p>
            <a:pPr indent="0" marL="0">
              <a:buNone/>
            </a:pPr>
            <a:r>
              <a:rPr lang="en-US" sz="1200" b="1" dirty="0">
                <a:solidFill>
                  <a:srgbClr val="2A9D8F"/>
                </a:solidFill>
                <a:latin typeface="Calibri" pitchFamily="34" charset="0"/>
                <a:ea typeface="Calibri" pitchFamily="34" charset="-122"/>
                <a:cs typeface="Calibri" pitchFamily="34" charset="-120"/>
              </a:rPr>
              <a:t>✅ Response Playbook §7</a:t>
            </a:r>
            <a:endParaRPr lang="en-US" sz="1200" dirty="0"/>
          </a:p>
        </p:txBody>
      </p:sp>
      <p:sp>
        <p:nvSpPr>
          <p:cNvPr id="10" name="Text 8"/>
          <p:cNvSpPr txBox="1"/>
          <p:nvPr/>
        </p:nvSpPr>
        <p:spPr>
          <a:xfrm>
            <a:off x="914400" y="2651760"/>
            <a:ext cx="2743200" cy="365760"/>
          </a:xfrm>
          <a:prstGeom prst="rect">
            <a:avLst/>
          </a:prstGeom>
          <a:noFill/>
          <a:ln/>
        </p:spPr>
        <p:txBody>
          <a:bodyPr wrap="square" lIns="0" tIns="0" rIns="0" bIns="0" rtlCol="0" anchor="ctr"/>
          <a:lstStyle/>
          <a:p>
            <a:pPr indent="0" marL="0">
              <a:buNone/>
            </a:pPr>
            <a:r>
              <a:rPr lang="en-US" sz="1200" dirty="0">
                <a:solidFill>
                  <a:srgbClr val="0F2843"/>
                </a:solidFill>
                <a:latin typeface="Calibri" pitchFamily="34" charset="0"/>
                <a:ea typeface="Calibri" pitchFamily="34" charset="-122"/>
                <a:cs typeface="Calibri" pitchFamily="34" charset="-120"/>
              </a:rPr>
              <a:t>Compound power outage</a:t>
            </a:r>
            <a:endParaRPr lang="en-US" sz="1200" dirty="0"/>
          </a:p>
        </p:txBody>
      </p:sp>
      <p:sp>
        <p:nvSpPr>
          <p:cNvPr id="11" name="Text 9"/>
          <p:cNvSpPr txBox="1"/>
          <p:nvPr/>
        </p:nvSpPr>
        <p:spPr>
          <a:xfrm>
            <a:off x="3840480" y="2651760"/>
            <a:ext cx="2743200" cy="365760"/>
          </a:xfrm>
          <a:prstGeom prst="rect">
            <a:avLst/>
          </a:prstGeom>
          <a:noFill/>
          <a:ln/>
        </p:spPr>
        <p:txBody>
          <a:bodyPr wrap="square" lIns="0" tIns="0" rIns="0" bIns="0" rtlCol="0" anchor="ctr"/>
          <a:lstStyle/>
          <a:p>
            <a:pPr indent="0" marL="0">
              <a:buNone/>
            </a:pPr>
            <a:r>
              <a:rPr lang="en-US" sz="1200" b="1" dirty="0">
                <a:solidFill>
                  <a:srgbClr val="2A9D8F"/>
                </a:solidFill>
                <a:latin typeface="Calibri" pitchFamily="34" charset="0"/>
                <a:ea typeface="Calibri" pitchFamily="34" charset="-122"/>
                <a:cs typeface="Calibri" pitchFamily="34" charset="-120"/>
              </a:rPr>
              <a:t>✅ Response Playbook §12</a:t>
            </a:r>
            <a:endParaRPr lang="en-US" sz="1200" dirty="0"/>
          </a:p>
        </p:txBody>
      </p:sp>
      <p:sp>
        <p:nvSpPr>
          <p:cNvPr id="12" name="Shape 10"/>
          <p:cNvSpPr/>
          <p:nvPr/>
        </p:nvSpPr>
        <p:spPr>
          <a:xfrm>
            <a:off x="7040880" y="1188720"/>
            <a:ext cx="4480560" cy="1097280"/>
          </a:xfrm>
          <a:prstGeom prst="roundRect">
            <a:avLst>
              <a:gd name="adj" fmla="val 5833"/>
            </a:avLst>
          </a:prstGeom>
          <a:solidFill>
            <a:srgbClr val="0F2843"/>
          </a:solidFill>
          <a:ln/>
        </p:spPr>
      </p:sp>
      <p:sp>
        <p:nvSpPr>
          <p:cNvPr id="13" name="Text 11"/>
          <p:cNvSpPr txBox="1"/>
          <p:nvPr/>
        </p:nvSpPr>
        <p:spPr>
          <a:xfrm>
            <a:off x="7269480" y="1280160"/>
            <a:ext cx="4023360" cy="594360"/>
          </a:xfrm>
          <a:prstGeom prst="rect">
            <a:avLst/>
          </a:prstGeom>
          <a:noFill/>
          <a:ln/>
        </p:spPr>
        <p:txBody>
          <a:bodyPr wrap="square" lIns="0" tIns="0" rIns="0" bIns="0" rtlCol="0" anchor="ctr"/>
          <a:lstStyle/>
          <a:p>
            <a:pPr indent="0" marL="0">
              <a:buNone/>
            </a:pPr>
            <a:r>
              <a:rPr lang="en-US" sz="1200" dirty="0">
                <a:solidFill>
                  <a:srgbClr val="E3E9F2"/>
                </a:solidFill>
                <a:latin typeface="Calibri" pitchFamily="34" charset="0"/>
                <a:ea typeface="Calibri" pitchFamily="34" charset="-122"/>
                <a:cs typeface="Calibri" pitchFamily="34" charset="-120"/>
              </a:rPr>
              <a:t>Do we already have SOPs covering</a:t>
            </a:r>
            <a:endParaRPr lang="en-US" sz="1200" dirty="0"/>
          </a:p>
          <a:p>
            <a:pPr indent="0" marL="0">
              <a:buNone/>
            </a:pPr>
            <a:r>
              <a:rPr lang="en-US" sz="1200" dirty="0">
                <a:solidFill>
                  <a:srgbClr val="E3E9F2"/>
                </a:solidFill>
                <a:latin typeface="Calibri" pitchFamily="34" charset="0"/>
                <a:ea typeface="Calibri" pitchFamily="34" charset="-122"/>
                <a:cs typeface="Calibri" pitchFamily="34" charset="-120"/>
              </a:rPr>
              <a:t>this kind of situation?</a:t>
            </a:r>
            <a:endParaRPr lang="en-US" sz="1200" dirty="0"/>
          </a:p>
        </p:txBody>
      </p:sp>
      <p:sp>
        <p:nvSpPr>
          <p:cNvPr id="14" name="Text 12"/>
          <p:cNvSpPr txBox="1"/>
          <p:nvPr/>
        </p:nvSpPr>
        <p:spPr>
          <a:xfrm>
            <a:off x="7269480" y="1828800"/>
            <a:ext cx="4023360" cy="411480"/>
          </a:xfrm>
          <a:prstGeom prst="rect">
            <a:avLst/>
          </a:prstGeom>
          <a:noFill/>
          <a:ln/>
        </p:spPr>
        <p:txBody>
          <a:bodyPr wrap="square" lIns="0" tIns="0" rIns="0" bIns="0" rtlCol="0" anchor="ctr"/>
          <a:lstStyle/>
          <a:p>
            <a:pPr indent="0" marL="0">
              <a:buNone/>
            </a:pPr>
            <a:r>
              <a:rPr lang="en-US" sz="2200" b="1" dirty="0">
                <a:solidFill>
                  <a:srgbClr val="FFB627"/>
                </a:solidFill>
                <a:latin typeface="Cambria" pitchFamily="34" charset="0"/>
                <a:ea typeface="Cambria" pitchFamily="34" charset="-122"/>
                <a:cs typeface="Cambria" pitchFamily="34" charset="-120"/>
              </a:rPr>
              <a:t>YES.</a:t>
            </a:r>
            <a:endParaRPr lang="en-US" sz="2200" dirty="0"/>
          </a:p>
        </p:txBody>
      </p:sp>
      <p:sp>
        <p:nvSpPr>
          <p:cNvPr id="15" name="Shape 13"/>
          <p:cNvSpPr/>
          <p:nvPr/>
        </p:nvSpPr>
        <p:spPr>
          <a:xfrm>
            <a:off x="640080" y="3749040"/>
            <a:ext cx="6035040" cy="2194560"/>
          </a:xfrm>
          <a:prstGeom prst="roundRect">
            <a:avLst>
              <a:gd name="adj" fmla="val 3333"/>
            </a:avLst>
          </a:prstGeom>
          <a:solidFill>
            <a:srgbClr val="2A9D8F"/>
          </a:solidFill>
          <a:ln/>
        </p:spPr>
      </p:sp>
      <p:sp>
        <p:nvSpPr>
          <p:cNvPr id="16" name="Text 14"/>
          <p:cNvSpPr txBox="1"/>
          <p:nvPr/>
        </p:nvSpPr>
        <p:spPr>
          <a:xfrm>
            <a:off x="914400" y="3931920"/>
            <a:ext cx="640080" cy="54864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7" name="Text 15"/>
          <p:cNvSpPr txBox="1"/>
          <p:nvPr/>
        </p:nvSpPr>
        <p:spPr>
          <a:xfrm>
            <a:off x="914400" y="4434840"/>
            <a:ext cx="5486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DELIBERATIVE (PLANNING) AGENT</a:t>
            </a:r>
            <a:endParaRPr lang="en-US" sz="1400" dirty="0"/>
          </a:p>
        </p:txBody>
      </p:sp>
      <p:sp>
        <p:nvSpPr>
          <p:cNvPr id="18" name="Text 16"/>
          <p:cNvSpPr txBox="1"/>
          <p:nvPr/>
        </p:nvSpPr>
        <p:spPr>
          <a:xfrm>
            <a:off x="914400" y="4800600"/>
            <a:ext cx="5394960" cy="10058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We already have SOPs and past cases as a knowledge base. The agent reasons over them to choose actions.</a:t>
            </a:r>
            <a:endParaRPr lang="en-US" sz="1200" dirty="0"/>
          </a:p>
        </p:txBody>
      </p:sp>
      <p:sp>
        <p:nvSpPr>
          <p:cNvPr id="19" name="Text 17"/>
          <p:cNvSpPr txBox="1"/>
          <p:nvPr/>
        </p:nvSpPr>
        <p:spPr>
          <a:xfrm>
            <a:off x="7040880" y="3886200"/>
            <a:ext cx="4572000" cy="45720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Reactive:  No SOP lookup — fixed trigger → action, no reasoning</a:t>
            </a:r>
            <a:endParaRPr lang="en-US" sz="1100" dirty="0"/>
          </a:p>
        </p:txBody>
      </p:sp>
      <p:sp>
        <p:nvSpPr>
          <p:cNvPr id="20" name="Text 18"/>
          <p:cNvSpPr txBox="1"/>
          <p:nvPr/>
        </p:nvSpPr>
        <p:spPr>
          <a:xfrm>
            <a:off x="7040880" y="4343400"/>
            <a:ext cx="4572000" cy="45720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Multi-Agent:  Needs negotiation across shelter &amp; fleet systems</a:t>
            </a:r>
            <a:endParaRPr lang="en-US" sz="1100" dirty="0"/>
          </a:p>
        </p:txBody>
      </p:sp>
      <p:sp>
        <p:nvSpPr>
          <p:cNvPr id="21" name="Shape 19"/>
          <p:cNvSpPr/>
          <p:nvPr/>
        </p:nvSpPr>
        <p:spPr>
          <a:xfrm>
            <a:off x="7040880" y="4937760"/>
            <a:ext cx="4572000" cy="457200"/>
          </a:xfrm>
          <a:prstGeom prst="roundRect">
            <a:avLst>
              <a:gd name="adj" fmla="val 10000"/>
            </a:avLst>
          </a:prstGeom>
          <a:solidFill>
            <a:srgbClr val="FFB627"/>
          </a:solidFill>
          <a:ln/>
        </p:spPr>
      </p:sp>
      <p:sp>
        <p:nvSpPr>
          <p:cNvPr id="22" name="Text 20"/>
          <p:cNvSpPr txBox="1"/>
          <p:nvPr/>
        </p:nvSpPr>
        <p:spPr>
          <a:xfrm>
            <a:off x="7040880" y="4937760"/>
            <a:ext cx="4572000" cy="457200"/>
          </a:xfrm>
          <a:prstGeom prst="rect">
            <a:avLst/>
          </a:prstGeom>
          <a:noFill/>
          <a:ln/>
        </p:spPr>
        <p:txBody>
          <a:bodyPr wrap="square" lIns="0" tIns="0" rIns="0" bIns="0" rtlCol="0" anchor="ctr"/>
          <a:lstStyle/>
          <a:p>
            <a:pPr algn="ctr" indent="0" marL="0">
              <a:buNone/>
            </a:pPr>
            <a:r>
              <a:rPr lang="en-US" sz="1150" b="1" dirty="0">
                <a:solidFill>
                  <a:srgbClr val="081527"/>
                </a:solidFill>
                <a:latin typeface="Calibri" pitchFamily="34" charset="0"/>
                <a:ea typeface="Calibri" pitchFamily="34" charset="-122"/>
                <a:cs typeface="Calibri" pitchFamily="34" charset="-120"/>
              </a:rPr>
              <a:t>Our dispatch engine uses a Deliberative Agent.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320040"/>
            <a:ext cx="10058400" cy="457200"/>
          </a:xfrm>
          <a:prstGeom prst="rect">
            <a:avLst/>
          </a:prstGeom>
          <a:noFill/>
          <a:ln/>
        </p:spPr>
        <p:txBody>
          <a:bodyPr wrap="square" lIns="0" tIns="0" rIns="0" bIns="0" rtlCol="0" anchor="ctr"/>
          <a:lstStyle/>
          <a:p>
            <a:pPr indent="0" marL="0">
              <a:buNone/>
            </a:pPr>
            <a:r>
              <a:rPr lang="en-US" sz="2400" b="1" dirty="0">
                <a:solidFill>
                  <a:srgbClr val="0F2843"/>
                </a:solidFill>
                <a:latin typeface="Cambria" pitchFamily="34" charset="0"/>
                <a:ea typeface="Cambria" pitchFamily="34" charset="-122"/>
                <a:cs typeface="Cambria" pitchFamily="34" charset="-120"/>
              </a:rPr>
              <a:t>Agentic AI — Reasoning Patterns</a:t>
            </a:r>
            <a:endParaRPr lang="en-US" sz="2400" dirty="0"/>
          </a:p>
        </p:txBody>
      </p:sp>
      <p:sp>
        <p:nvSpPr>
          <p:cNvPr id="3" name="Text 1"/>
          <p:cNvSpPr txBox="1"/>
          <p:nvPr/>
        </p:nvSpPr>
        <p:spPr>
          <a:xfrm>
            <a:off x="640080" y="749808"/>
            <a:ext cx="10515600" cy="27432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Same dispatch goal • Known tools • Different strategies for reaching a decision</a:t>
            </a:r>
            <a:endParaRPr lang="en-US" sz="1100" dirty="0"/>
          </a:p>
        </p:txBody>
      </p:sp>
      <p:sp>
        <p:nvSpPr>
          <p:cNvPr id="4" name="Shape 2"/>
          <p:cNvSpPr/>
          <p:nvPr/>
        </p:nvSpPr>
        <p:spPr>
          <a:xfrm>
            <a:off x="640080" y="1078992"/>
            <a:ext cx="10881360" cy="384048"/>
          </a:xfrm>
          <a:prstGeom prst="roundRect">
            <a:avLst>
              <a:gd name="adj" fmla="val 11905"/>
            </a:avLst>
          </a:prstGeom>
          <a:solidFill>
            <a:srgbClr val="0F2843"/>
          </a:solidFill>
          <a:ln/>
        </p:spPr>
      </p:sp>
      <p:sp>
        <p:nvSpPr>
          <p:cNvPr id="5" name="Text 3"/>
          <p:cNvSpPr txBox="1"/>
          <p:nvPr/>
        </p:nvSpPr>
        <p:spPr>
          <a:xfrm>
            <a:off x="822960" y="1078992"/>
            <a:ext cx="10515600" cy="384048"/>
          </a:xfrm>
          <a:prstGeom prst="rect">
            <a:avLst/>
          </a:prstGeom>
          <a:noFill/>
          <a:ln/>
        </p:spPr>
        <p:txBody>
          <a:bodyPr wrap="square" lIns="0" tIns="0" rIns="0" bIns="0" rtlCol="0" anchor="ctr"/>
          <a:lstStyle/>
          <a:p>
            <a:pPr indent="0" marL="0">
              <a:buNone/>
            </a:pPr>
            <a:r>
              <a:rPr lang="en-US" sz="1100" b="1" dirty="0">
                <a:solidFill>
                  <a:srgbClr val="E3E9F2"/>
                </a:solidFill>
                <a:latin typeface="Calibri" pitchFamily="34" charset="0"/>
                <a:ea typeface="Calibri" pitchFamily="34" charset="-122"/>
                <a:cs typeface="Calibri" pitchFamily="34" charset="-120"/>
              </a:rPr>
              <a:t>🌊  SAME DISPATCH GOAL:   Zone Risk  •  Vision Alerts  •  Resource Inventory   →   Decide &amp; Act</a:t>
            </a:r>
            <a:endParaRPr lang="en-US" sz="1100" dirty="0"/>
          </a:p>
        </p:txBody>
      </p:sp>
      <p:sp>
        <p:nvSpPr>
          <p:cNvPr id="6" name="Shape 4"/>
          <p:cNvSpPr/>
          <p:nvPr/>
        </p:nvSpPr>
        <p:spPr>
          <a:xfrm>
            <a:off x="640080" y="1600200"/>
            <a:ext cx="2606040" cy="1417320"/>
          </a:xfrm>
          <a:prstGeom prst="roundRect">
            <a:avLst>
              <a:gd name="adj" fmla="val 3871"/>
            </a:avLst>
          </a:prstGeom>
          <a:solidFill>
            <a:srgbClr val="FFFFFF"/>
          </a:solidFill>
          <a:ln w="25400">
            <a:solidFill>
              <a:srgbClr val="FFB627"/>
            </a:solidFill>
            <a:prstDash val="solid"/>
          </a:ln>
        </p:spPr>
      </p:sp>
      <p:sp>
        <p:nvSpPr>
          <p:cNvPr id="7" name="Shape 5"/>
          <p:cNvSpPr/>
          <p:nvPr/>
        </p:nvSpPr>
        <p:spPr>
          <a:xfrm>
            <a:off x="777240" y="1709928"/>
            <a:ext cx="292608" cy="292608"/>
          </a:xfrm>
          <a:prstGeom prst="ellipse">
            <a:avLst/>
          </a:prstGeom>
          <a:solidFill>
            <a:srgbClr val="FFB627"/>
          </a:solidFill>
          <a:ln/>
        </p:spPr>
      </p:sp>
      <p:sp>
        <p:nvSpPr>
          <p:cNvPr id="8" name="Text 6"/>
          <p:cNvSpPr txBox="1"/>
          <p:nvPr/>
        </p:nvSpPr>
        <p:spPr>
          <a:xfrm>
            <a:off x="777240" y="1709928"/>
            <a:ext cx="292608" cy="292608"/>
          </a:xfrm>
          <a:prstGeom prst="rect">
            <a:avLst/>
          </a:prstGeom>
          <a:noFill/>
          <a:ln/>
        </p:spPr>
        <p:txBody>
          <a:bodyPr wrap="square" lIns="0" tIns="0" rIns="0" bIns="0" rtlCol="0" anchor="ctr"/>
          <a:lstStyle/>
          <a:p>
            <a:pPr algn="ctr" indent="0" marL="0">
              <a:buNone/>
            </a:pPr>
            <a:r>
              <a:rPr lang="en-US" sz="1100" b="1" dirty="0">
                <a:solidFill>
                  <a:srgbClr val="081527"/>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2011680" y="1709928"/>
            <a:ext cx="1143000" cy="256032"/>
          </a:xfrm>
          <a:prstGeom prst="rect">
            <a:avLst/>
          </a:prstGeom>
          <a:noFill/>
          <a:ln/>
        </p:spPr>
        <p:txBody>
          <a:bodyPr wrap="square" lIns="0" tIns="0" rIns="0" bIns="0" rtlCol="0" anchor="ctr"/>
          <a:lstStyle/>
          <a:p>
            <a:pPr algn="r" indent="0" marL="0">
              <a:buNone/>
            </a:pPr>
            <a:r>
              <a:rPr lang="en-US" sz="800" b="1" dirty="0">
                <a:solidFill>
                  <a:srgbClr val="F4A300"/>
                </a:solidFill>
                <a:latin typeface="Calibri" pitchFamily="34" charset="0"/>
                <a:ea typeface="Calibri" pitchFamily="34" charset="-122"/>
                <a:cs typeface="Calibri" pitchFamily="34" charset="-120"/>
              </a:rPr>
              <a:t>USED NEXT →</a:t>
            </a:r>
            <a:endParaRPr lang="en-US" sz="800" dirty="0"/>
          </a:p>
        </p:txBody>
      </p:sp>
      <p:sp>
        <p:nvSpPr>
          <p:cNvPr id="10" name="Text 8"/>
          <p:cNvSpPr txBox="1"/>
          <p:nvPr/>
        </p:nvSpPr>
        <p:spPr>
          <a:xfrm>
            <a:off x="777240" y="2020824"/>
            <a:ext cx="2331720" cy="2743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ReAct</a:t>
            </a:r>
            <a:endParaRPr lang="en-US" sz="1150" dirty="0"/>
          </a:p>
        </p:txBody>
      </p:sp>
      <p:sp>
        <p:nvSpPr>
          <p:cNvPr id="11" name="Text 9"/>
          <p:cNvSpPr txBox="1"/>
          <p:nvPr/>
        </p:nvSpPr>
        <p:spPr>
          <a:xfrm>
            <a:off x="777240" y="2267712"/>
            <a:ext cx="2331720" cy="228600"/>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INTERLEAVE THINK &amp; ACT</a:t>
            </a:r>
            <a:endParaRPr lang="en-US" sz="850" dirty="0"/>
          </a:p>
        </p:txBody>
      </p:sp>
      <p:sp>
        <p:nvSpPr>
          <p:cNvPr id="12" name="Text 10"/>
          <p:cNvSpPr txBox="1"/>
          <p:nvPr/>
        </p:nvSpPr>
        <p:spPr>
          <a:xfrm>
            <a:off x="777240" y="2487168"/>
            <a:ext cx="2331720" cy="320040"/>
          </a:xfrm>
          <a:prstGeom prst="rect">
            <a:avLst/>
          </a:prstGeom>
          <a:noFill/>
          <a:ln/>
        </p:spPr>
        <p:txBody>
          <a:bodyPr wrap="square" lIns="0" tIns="0" rIns="0" bIns="0" rtlCol="0" anchor="ctr"/>
          <a:lstStyle/>
          <a:p>
            <a:pPr indent="0" marL="0">
              <a:buNone/>
            </a:pPr>
            <a:r>
              <a:rPr lang="en-US" sz="850" i="1" dirty="0">
                <a:solidFill>
                  <a:srgbClr val="5B6B82"/>
                </a:solidFill>
                <a:latin typeface="Calibri" pitchFamily="34" charset="0"/>
                <a:ea typeface="Calibri" pitchFamily="34" charset="-122"/>
                <a:cs typeface="Calibri" pitchFamily="34" charset="-120"/>
              </a:rPr>
              <a:t>"What should I check, then do, next?"</a:t>
            </a:r>
            <a:endParaRPr lang="en-US" sz="850" dirty="0"/>
          </a:p>
        </p:txBody>
      </p:sp>
      <p:sp>
        <p:nvSpPr>
          <p:cNvPr id="13" name="Text 11"/>
          <p:cNvSpPr txBox="1"/>
          <p:nvPr/>
        </p:nvSpPr>
        <p:spPr>
          <a:xfrm>
            <a:off x="777240" y="2770632"/>
            <a:ext cx="2331720" cy="228600"/>
          </a:xfrm>
          <a:prstGeom prst="rect">
            <a:avLst/>
          </a:prstGeom>
          <a:noFill/>
          <a:ln/>
        </p:spPr>
        <p:txBody>
          <a:bodyPr wrap="square" lIns="0" tIns="0" rIns="0" bIns="0" rtlCol="0" anchor="ctr"/>
          <a:lstStyle/>
          <a:p>
            <a:pPr indent="0" marL="0">
              <a:buNone/>
            </a:pPr>
            <a:r>
              <a:rPr lang="en-US" sz="800" b="1" dirty="0">
                <a:solidFill>
                  <a:srgbClr val="0F2843"/>
                </a:solidFill>
                <a:latin typeface="Calibri" pitchFamily="34" charset="0"/>
                <a:ea typeface="Calibri" pitchFamily="34" charset="-122"/>
                <a:cs typeface="Calibri" pitchFamily="34" charset="-120"/>
              </a:rPr>
              <a:t>OUTPUT → Tool call decided</a:t>
            </a:r>
            <a:endParaRPr lang="en-US" sz="800" dirty="0"/>
          </a:p>
        </p:txBody>
      </p:sp>
      <p:sp>
        <p:nvSpPr>
          <p:cNvPr id="14" name="Shape 12"/>
          <p:cNvSpPr/>
          <p:nvPr/>
        </p:nvSpPr>
        <p:spPr>
          <a:xfrm>
            <a:off x="3383280" y="1600200"/>
            <a:ext cx="2606040" cy="1417320"/>
          </a:xfrm>
          <a:prstGeom prst="roundRect">
            <a:avLst>
              <a:gd name="adj" fmla="val 3871"/>
            </a:avLst>
          </a:prstGeom>
          <a:solidFill>
            <a:srgbClr val="FFFFFF"/>
          </a:solidFill>
          <a:ln w="12700">
            <a:solidFill>
              <a:srgbClr val="EEF2F7"/>
            </a:solidFill>
            <a:prstDash val="solid"/>
          </a:ln>
        </p:spPr>
      </p:sp>
      <p:sp>
        <p:nvSpPr>
          <p:cNvPr id="15" name="Shape 13"/>
          <p:cNvSpPr/>
          <p:nvPr/>
        </p:nvSpPr>
        <p:spPr>
          <a:xfrm>
            <a:off x="3520440" y="1709928"/>
            <a:ext cx="292608" cy="292608"/>
          </a:xfrm>
          <a:prstGeom prst="ellipse">
            <a:avLst/>
          </a:prstGeom>
          <a:solidFill>
            <a:srgbClr val="0F2843"/>
          </a:solidFill>
          <a:ln/>
        </p:spPr>
      </p:sp>
      <p:sp>
        <p:nvSpPr>
          <p:cNvPr id="16" name="Text 14"/>
          <p:cNvSpPr txBox="1"/>
          <p:nvPr/>
        </p:nvSpPr>
        <p:spPr>
          <a:xfrm>
            <a:off x="3520440" y="17099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5"/>
          <p:cNvSpPr txBox="1"/>
          <p:nvPr/>
        </p:nvSpPr>
        <p:spPr>
          <a:xfrm>
            <a:off x="3520440" y="2020824"/>
            <a:ext cx="2331720" cy="2743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Plan-and-Execute</a:t>
            </a:r>
            <a:endParaRPr lang="en-US" sz="1150" dirty="0"/>
          </a:p>
        </p:txBody>
      </p:sp>
      <p:sp>
        <p:nvSpPr>
          <p:cNvPr id="18" name="Text 16"/>
          <p:cNvSpPr txBox="1"/>
          <p:nvPr/>
        </p:nvSpPr>
        <p:spPr>
          <a:xfrm>
            <a:off x="3520440" y="2267712"/>
            <a:ext cx="2331720" cy="228600"/>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MAKE A FULL PLAN FIRST</a:t>
            </a:r>
            <a:endParaRPr lang="en-US" sz="850" dirty="0"/>
          </a:p>
        </p:txBody>
      </p:sp>
      <p:sp>
        <p:nvSpPr>
          <p:cNvPr id="19" name="Text 17"/>
          <p:cNvSpPr txBox="1"/>
          <p:nvPr/>
        </p:nvSpPr>
        <p:spPr>
          <a:xfrm>
            <a:off x="3520440" y="2487168"/>
            <a:ext cx="2331720" cy="320040"/>
          </a:xfrm>
          <a:prstGeom prst="rect">
            <a:avLst/>
          </a:prstGeom>
          <a:noFill/>
          <a:ln/>
        </p:spPr>
        <p:txBody>
          <a:bodyPr wrap="square" lIns="0" tIns="0" rIns="0" bIns="0" rtlCol="0" anchor="ctr"/>
          <a:lstStyle/>
          <a:p>
            <a:pPr indent="0" marL="0">
              <a:buNone/>
            </a:pPr>
            <a:r>
              <a:rPr lang="en-US" sz="850" i="1" dirty="0">
                <a:solidFill>
                  <a:srgbClr val="5B6B82"/>
                </a:solidFill>
                <a:latin typeface="Calibri" pitchFamily="34" charset="0"/>
                <a:ea typeface="Calibri" pitchFamily="34" charset="-122"/>
                <a:cs typeface="Calibri" pitchFamily="34" charset="-120"/>
              </a:rPr>
              <a:t>"What's the complete sequence of steps?"</a:t>
            </a:r>
            <a:endParaRPr lang="en-US" sz="850" dirty="0"/>
          </a:p>
        </p:txBody>
      </p:sp>
      <p:sp>
        <p:nvSpPr>
          <p:cNvPr id="20" name="Text 18"/>
          <p:cNvSpPr txBox="1"/>
          <p:nvPr/>
        </p:nvSpPr>
        <p:spPr>
          <a:xfrm>
            <a:off x="3520440" y="2770632"/>
            <a:ext cx="2331720" cy="228600"/>
          </a:xfrm>
          <a:prstGeom prst="rect">
            <a:avLst/>
          </a:prstGeom>
          <a:noFill/>
          <a:ln/>
        </p:spPr>
        <p:txBody>
          <a:bodyPr wrap="square" lIns="0" tIns="0" rIns="0" bIns="0" rtlCol="0" anchor="ctr"/>
          <a:lstStyle/>
          <a:p>
            <a:pPr indent="0" marL="0">
              <a:buNone/>
            </a:pPr>
            <a:r>
              <a:rPr lang="en-US" sz="800" b="1" dirty="0">
                <a:solidFill>
                  <a:srgbClr val="0F2843"/>
                </a:solidFill>
                <a:latin typeface="Calibri" pitchFamily="34" charset="0"/>
                <a:ea typeface="Calibri" pitchFamily="34" charset="-122"/>
                <a:cs typeface="Calibri" pitchFamily="34" charset="-120"/>
              </a:rPr>
              <a:t>OUTPUT → Multi-step plan</a:t>
            </a:r>
            <a:endParaRPr lang="en-US" sz="800" dirty="0"/>
          </a:p>
        </p:txBody>
      </p:sp>
      <p:sp>
        <p:nvSpPr>
          <p:cNvPr id="21" name="Shape 19"/>
          <p:cNvSpPr/>
          <p:nvPr/>
        </p:nvSpPr>
        <p:spPr>
          <a:xfrm>
            <a:off x="6126480" y="1600200"/>
            <a:ext cx="2606040" cy="1417320"/>
          </a:xfrm>
          <a:prstGeom prst="roundRect">
            <a:avLst>
              <a:gd name="adj" fmla="val 3871"/>
            </a:avLst>
          </a:prstGeom>
          <a:solidFill>
            <a:srgbClr val="FFFFFF"/>
          </a:solidFill>
          <a:ln w="12700">
            <a:solidFill>
              <a:srgbClr val="EEF2F7"/>
            </a:solidFill>
            <a:prstDash val="solid"/>
          </a:ln>
        </p:spPr>
      </p:sp>
      <p:sp>
        <p:nvSpPr>
          <p:cNvPr id="22" name="Shape 20"/>
          <p:cNvSpPr/>
          <p:nvPr/>
        </p:nvSpPr>
        <p:spPr>
          <a:xfrm>
            <a:off x="6263640" y="1709928"/>
            <a:ext cx="292608" cy="292608"/>
          </a:xfrm>
          <a:prstGeom prst="ellipse">
            <a:avLst/>
          </a:prstGeom>
          <a:solidFill>
            <a:srgbClr val="0F2843"/>
          </a:solidFill>
          <a:ln/>
        </p:spPr>
      </p:sp>
      <p:sp>
        <p:nvSpPr>
          <p:cNvPr id="23" name="Text 21"/>
          <p:cNvSpPr txBox="1"/>
          <p:nvPr/>
        </p:nvSpPr>
        <p:spPr>
          <a:xfrm>
            <a:off x="6263640" y="17099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2"/>
          <p:cNvSpPr txBox="1"/>
          <p:nvPr/>
        </p:nvSpPr>
        <p:spPr>
          <a:xfrm>
            <a:off x="6263640" y="2020824"/>
            <a:ext cx="2331720" cy="2743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Reflexion</a:t>
            </a:r>
            <a:endParaRPr lang="en-US" sz="1150" dirty="0"/>
          </a:p>
        </p:txBody>
      </p:sp>
      <p:sp>
        <p:nvSpPr>
          <p:cNvPr id="25" name="Text 23"/>
          <p:cNvSpPr txBox="1"/>
          <p:nvPr/>
        </p:nvSpPr>
        <p:spPr>
          <a:xfrm>
            <a:off x="6263640" y="2267712"/>
            <a:ext cx="2331720" cy="228600"/>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LEARN FROM ITS MISTAKES</a:t>
            </a:r>
            <a:endParaRPr lang="en-US" sz="850" dirty="0"/>
          </a:p>
        </p:txBody>
      </p:sp>
      <p:sp>
        <p:nvSpPr>
          <p:cNvPr id="26" name="Text 24"/>
          <p:cNvSpPr txBox="1"/>
          <p:nvPr/>
        </p:nvSpPr>
        <p:spPr>
          <a:xfrm>
            <a:off x="6263640" y="2487168"/>
            <a:ext cx="2331720" cy="320040"/>
          </a:xfrm>
          <a:prstGeom prst="rect">
            <a:avLst/>
          </a:prstGeom>
          <a:noFill/>
          <a:ln/>
        </p:spPr>
        <p:txBody>
          <a:bodyPr wrap="square" lIns="0" tIns="0" rIns="0" bIns="0" rtlCol="0" anchor="ctr"/>
          <a:lstStyle/>
          <a:p>
            <a:pPr indent="0" marL="0">
              <a:buNone/>
            </a:pPr>
            <a:r>
              <a:rPr lang="en-US" sz="850" i="1" dirty="0">
                <a:solidFill>
                  <a:srgbClr val="5B6B82"/>
                </a:solidFill>
                <a:latin typeface="Calibri" pitchFamily="34" charset="0"/>
                <a:ea typeface="Calibri" pitchFamily="34" charset="-122"/>
                <a:cs typeface="Calibri" pitchFamily="34" charset="-120"/>
              </a:rPr>
              <a:t>"What went wrong last attempt?"</a:t>
            </a:r>
            <a:endParaRPr lang="en-US" sz="850" dirty="0"/>
          </a:p>
        </p:txBody>
      </p:sp>
      <p:sp>
        <p:nvSpPr>
          <p:cNvPr id="27" name="Text 25"/>
          <p:cNvSpPr txBox="1"/>
          <p:nvPr/>
        </p:nvSpPr>
        <p:spPr>
          <a:xfrm>
            <a:off x="6263640" y="2770632"/>
            <a:ext cx="2331720" cy="228600"/>
          </a:xfrm>
          <a:prstGeom prst="rect">
            <a:avLst/>
          </a:prstGeom>
          <a:noFill/>
          <a:ln/>
        </p:spPr>
        <p:txBody>
          <a:bodyPr wrap="square" lIns="0" tIns="0" rIns="0" bIns="0" rtlCol="0" anchor="ctr"/>
          <a:lstStyle/>
          <a:p>
            <a:pPr indent="0" marL="0">
              <a:buNone/>
            </a:pPr>
            <a:r>
              <a:rPr lang="en-US" sz="800" b="1" dirty="0">
                <a:solidFill>
                  <a:srgbClr val="0F2843"/>
                </a:solidFill>
                <a:latin typeface="Calibri" pitchFamily="34" charset="0"/>
                <a:ea typeface="Calibri" pitchFamily="34" charset="-122"/>
                <a:cs typeface="Calibri" pitchFamily="34" charset="-120"/>
              </a:rPr>
              <a:t>OUTPUT → Revised action</a:t>
            </a:r>
            <a:endParaRPr lang="en-US" sz="800" dirty="0"/>
          </a:p>
        </p:txBody>
      </p:sp>
      <p:sp>
        <p:nvSpPr>
          <p:cNvPr id="28" name="Shape 26"/>
          <p:cNvSpPr/>
          <p:nvPr/>
        </p:nvSpPr>
        <p:spPr>
          <a:xfrm>
            <a:off x="8869680" y="1600200"/>
            <a:ext cx="2606040" cy="1417320"/>
          </a:xfrm>
          <a:prstGeom prst="roundRect">
            <a:avLst>
              <a:gd name="adj" fmla="val 3871"/>
            </a:avLst>
          </a:prstGeom>
          <a:solidFill>
            <a:srgbClr val="FFFFFF"/>
          </a:solidFill>
          <a:ln w="12700">
            <a:solidFill>
              <a:srgbClr val="EEF2F7"/>
            </a:solidFill>
            <a:prstDash val="solid"/>
          </a:ln>
        </p:spPr>
      </p:sp>
      <p:sp>
        <p:nvSpPr>
          <p:cNvPr id="29" name="Shape 27"/>
          <p:cNvSpPr/>
          <p:nvPr/>
        </p:nvSpPr>
        <p:spPr>
          <a:xfrm>
            <a:off x="9006840" y="1709928"/>
            <a:ext cx="292608" cy="292608"/>
          </a:xfrm>
          <a:prstGeom prst="ellipse">
            <a:avLst/>
          </a:prstGeom>
          <a:solidFill>
            <a:srgbClr val="0F2843"/>
          </a:solidFill>
          <a:ln/>
        </p:spPr>
      </p:sp>
      <p:sp>
        <p:nvSpPr>
          <p:cNvPr id="30" name="Text 28"/>
          <p:cNvSpPr txBox="1"/>
          <p:nvPr/>
        </p:nvSpPr>
        <p:spPr>
          <a:xfrm>
            <a:off x="9006840" y="17099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9"/>
          <p:cNvSpPr txBox="1"/>
          <p:nvPr/>
        </p:nvSpPr>
        <p:spPr>
          <a:xfrm>
            <a:off x="9006840" y="2020824"/>
            <a:ext cx="2331720" cy="2743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Tree of Thoughts</a:t>
            </a:r>
            <a:endParaRPr lang="en-US" sz="1150" dirty="0"/>
          </a:p>
        </p:txBody>
      </p:sp>
      <p:sp>
        <p:nvSpPr>
          <p:cNvPr id="32" name="Text 30"/>
          <p:cNvSpPr txBox="1"/>
          <p:nvPr/>
        </p:nvSpPr>
        <p:spPr>
          <a:xfrm>
            <a:off x="9006840" y="2267712"/>
            <a:ext cx="2331720" cy="228600"/>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EXPLORE MULTIPLE PATHS</a:t>
            </a:r>
            <a:endParaRPr lang="en-US" sz="850" dirty="0"/>
          </a:p>
        </p:txBody>
      </p:sp>
      <p:sp>
        <p:nvSpPr>
          <p:cNvPr id="33" name="Text 31"/>
          <p:cNvSpPr txBox="1"/>
          <p:nvPr/>
        </p:nvSpPr>
        <p:spPr>
          <a:xfrm>
            <a:off x="9006840" y="2487168"/>
            <a:ext cx="2331720" cy="320040"/>
          </a:xfrm>
          <a:prstGeom prst="rect">
            <a:avLst/>
          </a:prstGeom>
          <a:noFill/>
          <a:ln/>
        </p:spPr>
        <p:txBody>
          <a:bodyPr wrap="square" lIns="0" tIns="0" rIns="0" bIns="0" rtlCol="0" anchor="ctr"/>
          <a:lstStyle/>
          <a:p>
            <a:pPr indent="0" marL="0">
              <a:buNone/>
            </a:pPr>
            <a:r>
              <a:rPr lang="en-US" sz="850" i="1" dirty="0">
                <a:solidFill>
                  <a:srgbClr val="5B6B82"/>
                </a:solidFill>
                <a:latin typeface="Calibri" pitchFamily="34" charset="0"/>
                <a:ea typeface="Calibri" pitchFamily="34" charset="-122"/>
                <a:cs typeface="Calibri" pitchFamily="34" charset="-120"/>
              </a:rPr>
              <a:t>"Which branch of options is best?"</a:t>
            </a:r>
            <a:endParaRPr lang="en-US" sz="850" dirty="0"/>
          </a:p>
        </p:txBody>
      </p:sp>
      <p:sp>
        <p:nvSpPr>
          <p:cNvPr id="34" name="Text 32"/>
          <p:cNvSpPr txBox="1"/>
          <p:nvPr/>
        </p:nvSpPr>
        <p:spPr>
          <a:xfrm>
            <a:off x="9006840" y="2770632"/>
            <a:ext cx="2331720" cy="228600"/>
          </a:xfrm>
          <a:prstGeom prst="rect">
            <a:avLst/>
          </a:prstGeom>
          <a:noFill/>
          <a:ln/>
        </p:spPr>
        <p:txBody>
          <a:bodyPr wrap="square" lIns="0" tIns="0" rIns="0" bIns="0" rtlCol="0" anchor="ctr"/>
          <a:lstStyle/>
          <a:p>
            <a:pPr indent="0" marL="0">
              <a:buNone/>
            </a:pPr>
            <a:r>
              <a:rPr lang="en-US" sz="800" b="1" dirty="0">
                <a:solidFill>
                  <a:srgbClr val="0F2843"/>
                </a:solidFill>
                <a:latin typeface="Calibri" pitchFamily="34" charset="0"/>
                <a:ea typeface="Calibri" pitchFamily="34" charset="-122"/>
                <a:cs typeface="Calibri" pitchFamily="34" charset="-120"/>
              </a:rPr>
              <a:t>OUTPUT → Best path chosen</a:t>
            </a:r>
            <a:endParaRPr lang="en-US" sz="800" dirty="0"/>
          </a:p>
        </p:txBody>
      </p:sp>
      <p:sp>
        <p:nvSpPr>
          <p:cNvPr id="35" name="Shape 33"/>
          <p:cNvSpPr/>
          <p:nvPr/>
        </p:nvSpPr>
        <p:spPr>
          <a:xfrm>
            <a:off x="640080" y="3154680"/>
            <a:ext cx="2606040" cy="1417320"/>
          </a:xfrm>
          <a:prstGeom prst="roundRect">
            <a:avLst>
              <a:gd name="adj" fmla="val 3871"/>
            </a:avLst>
          </a:prstGeom>
          <a:solidFill>
            <a:srgbClr val="FFFFFF"/>
          </a:solidFill>
          <a:ln w="12700">
            <a:solidFill>
              <a:srgbClr val="EEF2F7"/>
            </a:solidFill>
            <a:prstDash val="solid"/>
          </a:ln>
        </p:spPr>
      </p:sp>
      <p:sp>
        <p:nvSpPr>
          <p:cNvPr id="36" name="Shape 34"/>
          <p:cNvSpPr/>
          <p:nvPr/>
        </p:nvSpPr>
        <p:spPr>
          <a:xfrm>
            <a:off x="777240" y="3264408"/>
            <a:ext cx="292608" cy="292608"/>
          </a:xfrm>
          <a:prstGeom prst="ellipse">
            <a:avLst/>
          </a:prstGeom>
          <a:solidFill>
            <a:srgbClr val="0F2843"/>
          </a:solidFill>
          <a:ln/>
        </p:spPr>
      </p:sp>
      <p:sp>
        <p:nvSpPr>
          <p:cNvPr id="37" name="Text 35"/>
          <p:cNvSpPr txBox="1"/>
          <p:nvPr/>
        </p:nvSpPr>
        <p:spPr>
          <a:xfrm>
            <a:off x="777240" y="32644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Text 36"/>
          <p:cNvSpPr txBox="1"/>
          <p:nvPr/>
        </p:nvSpPr>
        <p:spPr>
          <a:xfrm>
            <a:off x="777240" y="3575304"/>
            <a:ext cx="2331720" cy="2743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Function / Tool Calling</a:t>
            </a:r>
            <a:endParaRPr lang="en-US" sz="1150" dirty="0"/>
          </a:p>
        </p:txBody>
      </p:sp>
      <p:sp>
        <p:nvSpPr>
          <p:cNvPr id="39" name="Text 37"/>
          <p:cNvSpPr txBox="1"/>
          <p:nvPr/>
        </p:nvSpPr>
        <p:spPr>
          <a:xfrm>
            <a:off x="777240" y="3822192"/>
            <a:ext cx="2331720" cy="228600"/>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INVOKE EXTERNAL TOOLS</a:t>
            </a:r>
            <a:endParaRPr lang="en-US" sz="850" dirty="0"/>
          </a:p>
        </p:txBody>
      </p:sp>
      <p:sp>
        <p:nvSpPr>
          <p:cNvPr id="40" name="Text 38"/>
          <p:cNvSpPr txBox="1"/>
          <p:nvPr/>
        </p:nvSpPr>
        <p:spPr>
          <a:xfrm>
            <a:off x="777240" y="4041648"/>
            <a:ext cx="2331720" cy="320040"/>
          </a:xfrm>
          <a:prstGeom prst="rect">
            <a:avLst/>
          </a:prstGeom>
          <a:noFill/>
          <a:ln/>
        </p:spPr>
        <p:txBody>
          <a:bodyPr wrap="square" lIns="0" tIns="0" rIns="0" bIns="0" rtlCol="0" anchor="ctr"/>
          <a:lstStyle/>
          <a:p>
            <a:pPr indent="0" marL="0">
              <a:buNone/>
            </a:pPr>
            <a:r>
              <a:rPr lang="en-US" sz="850" i="1" dirty="0">
                <a:solidFill>
                  <a:srgbClr val="5B6B82"/>
                </a:solidFill>
                <a:latin typeface="Calibri" pitchFamily="34" charset="0"/>
                <a:ea typeface="Calibri" pitchFamily="34" charset="-122"/>
                <a:cs typeface="Calibri" pitchFamily="34" charset="-120"/>
              </a:rPr>
              <a:t>"Which API do I need right now?"</a:t>
            </a:r>
            <a:endParaRPr lang="en-US" sz="850" dirty="0"/>
          </a:p>
        </p:txBody>
      </p:sp>
      <p:sp>
        <p:nvSpPr>
          <p:cNvPr id="41" name="Text 39"/>
          <p:cNvSpPr txBox="1"/>
          <p:nvPr/>
        </p:nvSpPr>
        <p:spPr>
          <a:xfrm>
            <a:off x="777240" y="4325112"/>
            <a:ext cx="2331720" cy="228600"/>
          </a:xfrm>
          <a:prstGeom prst="rect">
            <a:avLst/>
          </a:prstGeom>
          <a:noFill/>
          <a:ln/>
        </p:spPr>
        <p:txBody>
          <a:bodyPr wrap="square" lIns="0" tIns="0" rIns="0" bIns="0" rtlCol="0" anchor="ctr"/>
          <a:lstStyle/>
          <a:p>
            <a:pPr indent="0" marL="0">
              <a:buNone/>
            </a:pPr>
            <a:r>
              <a:rPr lang="en-US" sz="800" b="1" dirty="0">
                <a:solidFill>
                  <a:srgbClr val="0F2843"/>
                </a:solidFill>
                <a:latin typeface="Calibri" pitchFamily="34" charset="0"/>
                <a:ea typeface="Calibri" pitchFamily="34" charset="-122"/>
                <a:cs typeface="Calibri" pitchFamily="34" charset="-120"/>
              </a:rPr>
              <a:t>OUTPUT → Tool executed</a:t>
            </a:r>
            <a:endParaRPr lang="en-US" sz="800" dirty="0"/>
          </a:p>
        </p:txBody>
      </p:sp>
      <p:sp>
        <p:nvSpPr>
          <p:cNvPr id="42" name="Shape 40"/>
          <p:cNvSpPr/>
          <p:nvPr/>
        </p:nvSpPr>
        <p:spPr>
          <a:xfrm>
            <a:off x="3383280" y="3154680"/>
            <a:ext cx="2606040" cy="1417320"/>
          </a:xfrm>
          <a:prstGeom prst="roundRect">
            <a:avLst>
              <a:gd name="adj" fmla="val 3871"/>
            </a:avLst>
          </a:prstGeom>
          <a:solidFill>
            <a:srgbClr val="FFFFFF"/>
          </a:solidFill>
          <a:ln w="12700">
            <a:solidFill>
              <a:srgbClr val="EEF2F7"/>
            </a:solidFill>
            <a:prstDash val="solid"/>
          </a:ln>
        </p:spPr>
      </p:sp>
      <p:sp>
        <p:nvSpPr>
          <p:cNvPr id="43" name="Shape 41"/>
          <p:cNvSpPr/>
          <p:nvPr/>
        </p:nvSpPr>
        <p:spPr>
          <a:xfrm>
            <a:off x="3520440" y="3264408"/>
            <a:ext cx="292608" cy="292608"/>
          </a:xfrm>
          <a:prstGeom prst="ellipse">
            <a:avLst/>
          </a:prstGeom>
          <a:solidFill>
            <a:srgbClr val="0F2843"/>
          </a:solidFill>
          <a:ln/>
        </p:spPr>
      </p:sp>
      <p:sp>
        <p:nvSpPr>
          <p:cNvPr id="44" name="Text 42"/>
          <p:cNvSpPr txBox="1"/>
          <p:nvPr/>
        </p:nvSpPr>
        <p:spPr>
          <a:xfrm>
            <a:off x="3520440" y="32644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5" name="Text 43"/>
          <p:cNvSpPr txBox="1"/>
          <p:nvPr/>
        </p:nvSpPr>
        <p:spPr>
          <a:xfrm>
            <a:off x="3520440" y="3575304"/>
            <a:ext cx="2331720" cy="2743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Memory-Augmented Agent</a:t>
            </a:r>
            <a:endParaRPr lang="en-US" sz="1150" dirty="0"/>
          </a:p>
        </p:txBody>
      </p:sp>
      <p:sp>
        <p:nvSpPr>
          <p:cNvPr id="46" name="Text 44"/>
          <p:cNvSpPr txBox="1"/>
          <p:nvPr/>
        </p:nvSpPr>
        <p:spPr>
          <a:xfrm>
            <a:off x="3520440" y="3822192"/>
            <a:ext cx="2331720" cy="228600"/>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RECALL PAST CONTEXT</a:t>
            </a:r>
            <a:endParaRPr lang="en-US" sz="850" dirty="0"/>
          </a:p>
        </p:txBody>
      </p:sp>
      <p:sp>
        <p:nvSpPr>
          <p:cNvPr id="47" name="Text 45"/>
          <p:cNvSpPr txBox="1"/>
          <p:nvPr/>
        </p:nvSpPr>
        <p:spPr>
          <a:xfrm>
            <a:off x="3520440" y="4041648"/>
            <a:ext cx="2331720" cy="320040"/>
          </a:xfrm>
          <a:prstGeom prst="rect">
            <a:avLst/>
          </a:prstGeom>
          <a:noFill/>
          <a:ln/>
        </p:spPr>
        <p:txBody>
          <a:bodyPr wrap="square" lIns="0" tIns="0" rIns="0" bIns="0" rtlCol="0" anchor="ctr"/>
          <a:lstStyle/>
          <a:p>
            <a:pPr indent="0" marL="0">
              <a:buNone/>
            </a:pPr>
            <a:r>
              <a:rPr lang="en-US" sz="850" i="1" dirty="0">
                <a:solidFill>
                  <a:srgbClr val="5B6B82"/>
                </a:solidFill>
                <a:latin typeface="Calibri" pitchFamily="34" charset="0"/>
                <a:ea typeface="Calibri" pitchFamily="34" charset="-122"/>
                <a:cs typeface="Calibri" pitchFamily="34" charset="-120"/>
              </a:rPr>
              <a:t>"What happened in similar past cases?"</a:t>
            </a:r>
            <a:endParaRPr lang="en-US" sz="850" dirty="0"/>
          </a:p>
        </p:txBody>
      </p:sp>
      <p:sp>
        <p:nvSpPr>
          <p:cNvPr id="48" name="Text 46"/>
          <p:cNvSpPr txBox="1"/>
          <p:nvPr/>
        </p:nvSpPr>
        <p:spPr>
          <a:xfrm>
            <a:off x="3520440" y="4325112"/>
            <a:ext cx="2331720" cy="228600"/>
          </a:xfrm>
          <a:prstGeom prst="rect">
            <a:avLst/>
          </a:prstGeom>
          <a:noFill/>
          <a:ln/>
        </p:spPr>
        <p:txBody>
          <a:bodyPr wrap="square" lIns="0" tIns="0" rIns="0" bIns="0" rtlCol="0" anchor="ctr"/>
          <a:lstStyle/>
          <a:p>
            <a:pPr indent="0" marL="0">
              <a:buNone/>
            </a:pPr>
            <a:r>
              <a:rPr lang="en-US" sz="800" b="1" dirty="0">
                <a:solidFill>
                  <a:srgbClr val="0F2843"/>
                </a:solidFill>
                <a:latin typeface="Calibri" pitchFamily="34" charset="0"/>
                <a:ea typeface="Calibri" pitchFamily="34" charset="-122"/>
                <a:cs typeface="Calibri" pitchFamily="34" charset="-120"/>
              </a:rPr>
              <a:t>OUTPUT → Precedent retrieved</a:t>
            </a:r>
            <a:endParaRPr lang="en-US" sz="800" dirty="0"/>
          </a:p>
        </p:txBody>
      </p:sp>
      <p:sp>
        <p:nvSpPr>
          <p:cNvPr id="49" name="Shape 47"/>
          <p:cNvSpPr/>
          <p:nvPr/>
        </p:nvSpPr>
        <p:spPr>
          <a:xfrm>
            <a:off x="6126480" y="3154680"/>
            <a:ext cx="2606040" cy="1417320"/>
          </a:xfrm>
          <a:prstGeom prst="roundRect">
            <a:avLst>
              <a:gd name="adj" fmla="val 3871"/>
            </a:avLst>
          </a:prstGeom>
          <a:solidFill>
            <a:srgbClr val="FFFFFF"/>
          </a:solidFill>
          <a:ln w="12700">
            <a:solidFill>
              <a:srgbClr val="EEF2F7"/>
            </a:solidFill>
            <a:prstDash val="solid"/>
          </a:ln>
        </p:spPr>
      </p:sp>
      <p:sp>
        <p:nvSpPr>
          <p:cNvPr id="50" name="Shape 48"/>
          <p:cNvSpPr/>
          <p:nvPr/>
        </p:nvSpPr>
        <p:spPr>
          <a:xfrm>
            <a:off x="6263640" y="3264408"/>
            <a:ext cx="292608" cy="292608"/>
          </a:xfrm>
          <a:prstGeom prst="ellipse">
            <a:avLst/>
          </a:prstGeom>
          <a:solidFill>
            <a:srgbClr val="0F2843"/>
          </a:solidFill>
          <a:ln/>
        </p:spPr>
      </p:sp>
      <p:sp>
        <p:nvSpPr>
          <p:cNvPr id="51" name="Text 49"/>
          <p:cNvSpPr txBox="1"/>
          <p:nvPr/>
        </p:nvSpPr>
        <p:spPr>
          <a:xfrm>
            <a:off x="6263640" y="32644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2" name="Text 50"/>
          <p:cNvSpPr txBox="1"/>
          <p:nvPr/>
        </p:nvSpPr>
        <p:spPr>
          <a:xfrm>
            <a:off x="6263640" y="3575304"/>
            <a:ext cx="2331720" cy="2743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Multi-Agent Debate</a:t>
            </a:r>
            <a:endParaRPr lang="en-US" sz="1150" dirty="0"/>
          </a:p>
        </p:txBody>
      </p:sp>
      <p:sp>
        <p:nvSpPr>
          <p:cNvPr id="53" name="Text 51"/>
          <p:cNvSpPr txBox="1"/>
          <p:nvPr/>
        </p:nvSpPr>
        <p:spPr>
          <a:xfrm>
            <a:off x="6263640" y="3822192"/>
            <a:ext cx="2331720" cy="228600"/>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AGENTS CHALLENGE EACH OTHER</a:t>
            </a:r>
            <a:endParaRPr lang="en-US" sz="850" dirty="0"/>
          </a:p>
        </p:txBody>
      </p:sp>
      <p:sp>
        <p:nvSpPr>
          <p:cNvPr id="54" name="Text 52"/>
          <p:cNvSpPr txBox="1"/>
          <p:nvPr/>
        </p:nvSpPr>
        <p:spPr>
          <a:xfrm>
            <a:off x="6263640" y="4041648"/>
            <a:ext cx="2331720" cy="320040"/>
          </a:xfrm>
          <a:prstGeom prst="rect">
            <a:avLst/>
          </a:prstGeom>
          <a:noFill/>
          <a:ln/>
        </p:spPr>
        <p:txBody>
          <a:bodyPr wrap="square" lIns="0" tIns="0" rIns="0" bIns="0" rtlCol="0" anchor="ctr"/>
          <a:lstStyle/>
          <a:p>
            <a:pPr indent="0" marL="0">
              <a:buNone/>
            </a:pPr>
            <a:r>
              <a:rPr lang="en-US" sz="850" i="1" dirty="0">
                <a:solidFill>
                  <a:srgbClr val="5B6B82"/>
                </a:solidFill>
                <a:latin typeface="Calibri" pitchFamily="34" charset="0"/>
                <a:ea typeface="Calibri" pitchFamily="34" charset="-122"/>
                <a:cs typeface="Calibri" pitchFamily="34" charset="-120"/>
              </a:rPr>
              <a:t>"Do the agents agree on the plan?"</a:t>
            </a:r>
            <a:endParaRPr lang="en-US" sz="850" dirty="0"/>
          </a:p>
        </p:txBody>
      </p:sp>
      <p:sp>
        <p:nvSpPr>
          <p:cNvPr id="55" name="Text 53"/>
          <p:cNvSpPr txBox="1"/>
          <p:nvPr/>
        </p:nvSpPr>
        <p:spPr>
          <a:xfrm>
            <a:off x="6263640" y="4325112"/>
            <a:ext cx="2331720" cy="228600"/>
          </a:xfrm>
          <a:prstGeom prst="rect">
            <a:avLst/>
          </a:prstGeom>
          <a:noFill/>
          <a:ln/>
        </p:spPr>
        <p:txBody>
          <a:bodyPr wrap="square" lIns="0" tIns="0" rIns="0" bIns="0" rtlCol="0" anchor="ctr"/>
          <a:lstStyle/>
          <a:p>
            <a:pPr indent="0" marL="0">
              <a:buNone/>
            </a:pPr>
            <a:r>
              <a:rPr lang="en-US" sz="800" b="1" dirty="0">
                <a:solidFill>
                  <a:srgbClr val="0F2843"/>
                </a:solidFill>
                <a:latin typeface="Calibri" pitchFamily="34" charset="0"/>
                <a:ea typeface="Calibri" pitchFamily="34" charset="-122"/>
                <a:cs typeface="Calibri" pitchFamily="34" charset="-120"/>
              </a:rPr>
              <a:t>OUTPUT → Consensus plan</a:t>
            </a:r>
            <a:endParaRPr lang="en-US" sz="800" dirty="0"/>
          </a:p>
        </p:txBody>
      </p:sp>
      <p:sp>
        <p:nvSpPr>
          <p:cNvPr id="56" name="Shape 54"/>
          <p:cNvSpPr/>
          <p:nvPr/>
        </p:nvSpPr>
        <p:spPr>
          <a:xfrm>
            <a:off x="8869680" y="3154680"/>
            <a:ext cx="2606040" cy="1417320"/>
          </a:xfrm>
          <a:prstGeom prst="roundRect">
            <a:avLst>
              <a:gd name="adj" fmla="val 3871"/>
            </a:avLst>
          </a:prstGeom>
          <a:solidFill>
            <a:srgbClr val="FFFFFF"/>
          </a:solidFill>
          <a:ln w="12700">
            <a:solidFill>
              <a:srgbClr val="EEF2F7"/>
            </a:solidFill>
            <a:prstDash val="solid"/>
          </a:ln>
        </p:spPr>
      </p:sp>
      <p:sp>
        <p:nvSpPr>
          <p:cNvPr id="57" name="Shape 55"/>
          <p:cNvSpPr/>
          <p:nvPr/>
        </p:nvSpPr>
        <p:spPr>
          <a:xfrm>
            <a:off x="9006840" y="3264408"/>
            <a:ext cx="292608" cy="292608"/>
          </a:xfrm>
          <a:prstGeom prst="ellipse">
            <a:avLst/>
          </a:prstGeom>
          <a:solidFill>
            <a:srgbClr val="0F2843"/>
          </a:solidFill>
          <a:ln/>
        </p:spPr>
      </p:sp>
      <p:sp>
        <p:nvSpPr>
          <p:cNvPr id="58" name="Text 56"/>
          <p:cNvSpPr txBox="1"/>
          <p:nvPr/>
        </p:nvSpPr>
        <p:spPr>
          <a:xfrm>
            <a:off x="9006840" y="32644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7"/>
          <p:cNvSpPr txBox="1"/>
          <p:nvPr/>
        </p:nvSpPr>
        <p:spPr>
          <a:xfrm>
            <a:off x="9006840" y="3575304"/>
            <a:ext cx="2331720" cy="2743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Human-in-the-Loop</a:t>
            </a:r>
            <a:endParaRPr lang="en-US" sz="1150" dirty="0"/>
          </a:p>
        </p:txBody>
      </p:sp>
      <p:sp>
        <p:nvSpPr>
          <p:cNvPr id="60" name="Text 58"/>
          <p:cNvSpPr txBox="1"/>
          <p:nvPr/>
        </p:nvSpPr>
        <p:spPr>
          <a:xfrm>
            <a:off x="9006840" y="3822192"/>
            <a:ext cx="2331720" cy="228600"/>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PAUSE FOR APPROVAL</a:t>
            </a:r>
            <a:endParaRPr lang="en-US" sz="850" dirty="0"/>
          </a:p>
        </p:txBody>
      </p:sp>
      <p:sp>
        <p:nvSpPr>
          <p:cNvPr id="61" name="Text 59"/>
          <p:cNvSpPr txBox="1"/>
          <p:nvPr/>
        </p:nvSpPr>
        <p:spPr>
          <a:xfrm>
            <a:off x="9006840" y="4041648"/>
            <a:ext cx="2331720" cy="320040"/>
          </a:xfrm>
          <a:prstGeom prst="rect">
            <a:avLst/>
          </a:prstGeom>
          <a:noFill/>
          <a:ln/>
        </p:spPr>
        <p:txBody>
          <a:bodyPr wrap="square" lIns="0" tIns="0" rIns="0" bIns="0" rtlCol="0" anchor="ctr"/>
          <a:lstStyle/>
          <a:p>
            <a:pPr indent="0" marL="0">
              <a:buNone/>
            </a:pPr>
            <a:r>
              <a:rPr lang="en-US" sz="850" i="1" dirty="0">
                <a:solidFill>
                  <a:srgbClr val="5B6B82"/>
                </a:solidFill>
                <a:latin typeface="Calibri" pitchFamily="34" charset="0"/>
                <a:ea typeface="Calibri" pitchFamily="34" charset="-122"/>
                <a:cs typeface="Calibri" pitchFamily="34" charset="-120"/>
              </a:rPr>
              <a:t>"Does a human need to confirm this?"</a:t>
            </a:r>
            <a:endParaRPr lang="en-US" sz="850" dirty="0"/>
          </a:p>
        </p:txBody>
      </p:sp>
      <p:sp>
        <p:nvSpPr>
          <p:cNvPr id="62" name="Text 60"/>
          <p:cNvSpPr txBox="1"/>
          <p:nvPr/>
        </p:nvSpPr>
        <p:spPr>
          <a:xfrm>
            <a:off x="9006840" y="4325112"/>
            <a:ext cx="2331720" cy="228600"/>
          </a:xfrm>
          <a:prstGeom prst="rect">
            <a:avLst/>
          </a:prstGeom>
          <a:noFill/>
          <a:ln/>
        </p:spPr>
        <p:txBody>
          <a:bodyPr wrap="square" lIns="0" tIns="0" rIns="0" bIns="0" rtlCol="0" anchor="ctr"/>
          <a:lstStyle/>
          <a:p>
            <a:pPr indent="0" marL="0">
              <a:buNone/>
            </a:pPr>
            <a:r>
              <a:rPr lang="en-US" sz="800" b="1" dirty="0">
                <a:solidFill>
                  <a:srgbClr val="0F2843"/>
                </a:solidFill>
                <a:latin typeface="Calibri" pitchFamily="34" charset="0"/>
                <a:ea typeface="Calibri" pitchFamily="34" charset="-122"/>
                <a:cs typeface="Calibri" pitchFamily="34" charset="-120"/>
              </a:rPr>
              <a:t>OUTPUT → Approved / overridden</a:t>
            </a:r>
            <a:endParaRPr lang="en-US" sz="800" dirty="0"/>
          </a:p>
        </p:txBody>
      </p:sp>
      <p:sp>
        <p:nvSpPr>
          <p:cNvPr id="63" name="Shape 61"/>
          <p:cNvSpPr/>
          <p:nvPr/>
        </p:nvSpPr>
        <p:spPr>
          <a:xfrm>
            <a:off x="640080" y="4754880"/>
            <a:ext cx="10881360" cy="384048"/>
          </a:xfrm>
          <a:prstGeom prst="roundRect">
            <a:avLst>
              <a:gd name="adj" fmla="val 11905"/>
            </a:avLst>
          </a:prstGeom>
          <a:solidFill>
            <a:srgbClr val="FFB627"/>
          </a:solidFill>
          <a:ln/>
        </p:spPr>
      </p:sp>
      <p:sp>
        <p:nvSpPr>
          <p:cNvPr id="64" name="Text 62"/>
          <p:cNvSpPr txBox="1"/>
          <p:nvPr/>
        </p:nvSpPr>
        <p:spPr>
          <a:xfrm>
            <a:off x="822960" y="4754880"/>
            <a:ext cx="10515600" cy="384048"/>
          </a:xfrm>
          <a:prstGeom prst="rect">
            <a:avLst/>
          </a:prstGeom>
          <a:noFill/>
          <a:ln/>
        </p:spPr>
        <p:txBody>
          <a:bodyPr wrap="square" lIns="0" tIns="0" rIns="0" bIns="0" rtlCol="0" anchor="ctr"/>
          <a:lstStyle/>
          <a:p>
            <a:pPr indent="0" marL="0">
              <a:buNone/>
            </a:pPr>
            <a:r>
              <a:rPr lang="en-US" sz="1050" b="1" dirty="0">
                <a:solidFill>
                  <a:srgbClr val="081527"/>
                </a:solidFill>
                <a:latin typeface="Calibri" pitchFamily="34" charset="0"/>
                <a:ea typeface="Calibri" pitchFamily="34" charset="-122"/>
                <a:cs typeface="Calibri" pitchFamily="34" charset="-120"/>
              </a:rPr>
              <a:t>REMEMBER:  REASON • PLAN • REFLECT • EXPLORE • INVOKE • RECALL • DEBATE • APPROVE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320040"/>
            <a:ext cx="10515600" cy="457200"/>
          </a:xfrm>
          <a:prstGeom prst="rect">
            <a:avLst/>
          </a:prstGeom>
          <a:noFill/>
          <a:ln/>
        </p:spPr>
        <p:txBody>
          <a:bodyPr wrap="square" lIns="0" tIns="0" rIns="0" bIns="0" rtlCol="0" anchor="ctr"/>
          <a:lstStyle/>
          <a:p>
            <a:pPr indent="0" marL="0">
              <a:buNone/>
            </a:pPr>
            <a:r>
              <a:rPr lang="en-US" sz="2200" b="1" dirty="0">
                <a:solidFill>
                  <a:srgbClr val="0F2843"/>
                </a:solidFill>
                <a:latin typeface="Cambria" pitchFamily="34" charset="0"/>
                <a:ea typeface="Cambria" pitchFamily="34" charset="-122"/>
                <a:cs typeface="Cambria" pitchFamily="34" charset="-120"/>
              </a:rPr>
              <a:t>Multi-Agent Systems — Coordination Patterns</a:t>
            </a:r>
            <a:endParaRPr lang="en-US" sz="2200" dirty="0"/>
          </a:p>
        </p:txBody>
      </p:sp>
      <p:sp>
        <p:nvSpPr>
          <p:cNvPr id="3" name="Text 1"/>
          <p:cNvSpPr txBox="1"/>
          <p:nvPr/>
        </p:nvSpPr>
        <p:spPr>
          <a:xfrm>
            <a:off x="640080" y="749808"/>
            <a:ext cx="10058400" cy="27432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No single controller • Agents coordinate to reach a shared outcome</a:t>
            </a:r>
            <a:endParaRPr lang="en-US" sz="1100" dirty="0"/>
          </a:p>
        </p:txBody>
      </p:sp>
      <p:sp>
        <p:nvSpPr>
          <p:cNvPr id="4" name="Shape 2"/>
          <p:cNvSpPr/>
          <p:nvPr/>
        </p:nvSpPr>
        <p:spPr>
          <a:xfrm>
            <a:off x="640080" y="1078992"/>
            <a:ext cx="10881360" cy="384048"/>
          </a:xfrm>
          <a:prstGeom prst="roundRect">
            <a:avLst>
              <a:gd name="adj" fmla="val 11905"/>
            </a:avLst>
          </a:prstGeom>
          <a:solidFill>
            <a:srgbClr val="0F2843"/>
          </a:solidFill>
          <a:ln/>
        </p:spPr>
      </p:sp>
      <p:sp>
        <p:nvSpPr>
          <p:cNvPr id="5" name="Text 3"/>
          <p:cNvSpPr txBox="1"/>
          <p:nvPr/>
        </p:nvSpPr>
        <p:spPr>
          <a:xfrm>
            <a:off x="822960" y="1078992"/>
            <a:ext cx="10515600" cy="384048"/>
          </a:xfrm>
          <a:prstGeom prst="rect">
            <a:avLst/>
          </a:prstGeom>
          <a:noFill/>
          <a:ln/>
        </p:spPr>
        <p:txBody>
          <a:bodyPr wrap="square" lIns="0" tIns="0" rIns="0" bIns="0" rtlCol="0" anchor="ctr"/>
          <a:lstStyle/>
          <a:p>
            <a:pPr indent="0" marL="0">
              <a:buNone/>
            </a:pPr>
            <a:r>
              <a:rPr lang="en-US" sz="1100" b="1" dirty="0">
                <a:solidFill>
                  <a:srgbClr val="E3E9F2"/>
                </a:solidFill>
                <a:latin typeface="Calibri" pitchFamily="34" charset="0"/>
                <a:ea typeface="Calibri" pitchFamily="34" charset="-122"/>
                <a:cs typeface="Calibri" pitchFamily="34" charset="-120"/>
              </a:rPr>
              <a:t>🌊  SHARED RESOURCES:   Ambulances  •  Shelter Beds  •  Rescue Crews   →   NO SINGLE CONTROLLER</a:t>
            </a:r>
            <a:endParaRPr lang="en-US" sz="1100" dirty="0"/>
          </a:p>
        </p:txBody>
      </p:sp>
      <p:sp>
        <p:nvSpPr>
          <p:cNvPr id="6" name="Shape 4"/>
          <p:cNvSpPr/>
          <p:nvPr/>
        </p:nvSpPr>
        <p:spPr>
          <a:xfrm>
            <a:off x="640080" y="1600200"/>
            <a:ext cx="2606040" cy="1417320"/>
          </a:xfrm>
          <a:prstGeom prst="roundRect">
            <a:avLst>
              <a:gd name="adj" fmla="val 3871"/>
            </a:avLst>
          </a:prstGeom>
          <a:solidFill>
            <a:srgbClr val="FFFFFF"/>
          </a:solidFill>
          <a:ln w="12700">
            <a:solidFill>
              <a:srgbClr val="EEF2F7"/>
            </a:solidFill>
            <a:prstDash val="solid"/>
          </a:ln>
        </p:spPr>
      </p:sp>
      <p:sp>
        <p:nvSpPr>
          <p:cNvPr id="7" name="Shape 5"/>
          <p:cNvSpPr/>
          <p:nvPr/>
        </p:nvSpPr>
        <p:spPr>
          <a:xfrm>
            <a:off x="777240" y="1709928"/>
            <a:ext cx="292608" cy="292608"/>
          </a:xfrm>
          <a:prstGeom prst="ellipse">
            <a:avLst/>
          </a:prstGeom>
          <a:solidFill>
            <a:srgbClr val="0F2843"/>
          </a:solidFill>
          <a:ln/>
        </p:spPr>
      </p:sp>
      <p:sp>
        <p:nvSpPr>
          <p:cNvPr id="8" name="Text 6"/>
          <p:cNvSpPr txBox="1"/>
          <p:nvPr/>
        </p:nvSpPr>
        <p:spPr>
          <a:xfrm>
            <a:off x="777240" y="17099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777240" y="2057400"/>
            <a:ext cx="2331720" cy="36576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Orchestrator-Worker</a:t>
            </a:r>
            <a:endParaRPr lang="en-US" sz="1150" dirty="0"/>
          </a:p>
        </p:txBody>
      </p:sp>
      <p:sp>
        <p:nvSpPr>
          <p:cNvPr id="10" name="Text 8"/>
          <p:cNvSpPr txBox="1"/>
          <p:nvPr/>
        </p:nvSpPr>
        <p:spPr>
          <a:xfrm>
            <a:off x="777240" y="2377440"/>
            <a:ext cx="2331720" cy="228600"/>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CENTRAL AGENT DELEGATES</a:t>
            </a:r>
            <a:endParaRPr lang="en-US" sz="850" dirty="0"/>
          </a:p>
        </p:txBody>
      </p:sp>
      <p:sp>
        <p:nvSpPr>
          <p:cNvPr id="11" name="Text 9"/>
          <p:cNvSpPr txBox="1"/>
          <p:nvPr/>
        </p:nvSpPr>
        <p:spPr>
          <a:xfrm>
            <a:off x="777240" y="2587752"/>
            <a:ext cx="2331720" cy="228600"/>
          </a:xfrm>
          <a:prstGeom prst="rect">
            <a:avLst/>
          </a:prstGeom>
          <a:noFill/>
          <a:ln/>
        </p:spPr>
        <p:txBody>
          <a:bodyPr wrap="square" lIns="0" tIns="0" rIns="0" bIns="0" rtlCol="0" anchor="ctr"/>
          <a:lstStyle/>
          <a:p>
            <a:pPr indent="0" marL="0">
              <a:buNone/>
            </a:pPr>
            <a:r>
              <a:rPr lang="en-US" sz="850" i="1" dirty="0">
                <a:solidFill>
                  <a:srgbClr val="5B6B82"/>
                </a:solidFill>
                <a:latin typeface="Calibri" pitchFamily="34" charset="0"/>
                <a:ea typeface="Calibri" pitchFamily="34" charset="-122"/>
                <a:cs typeface="Calibri" pitchFamily="34" charset="-120"/>
              </a:rPr>
              <a:t>"Who does what?"</a:t>
            </a:r>
            <a:endParaRPr lang="en-US" sz="850" dirty="0"/>
          </a:p>
        </p:txBody>
      </p:sp>
      <p:sp>
        <p:nvSpPr>
          <p:cNvPr id="12" name="Text 10"/>
          <p:cNvSpPr txBox="1"/>
          <p:nvPr/>
        </p:nvSpPr>
        <p:spPr>
          <a:xfrm>
            <a:off x="777240" y="2807208"/>
            <a:ext cx="2331720" cy="228600"/>
          </a:xfrm>
          <a:prstGeom prst="rect">
            <a:avLst/>
          </a:prstGeom>
          <a:noFill/>
          <a:ln/>
        </p:spPr>
        <p:txBody>
          <a:bodyPr wrap="square" lIns="0" tIns="0" rIns="0" bIns="0" rtlCol="0" anchor="ctr"/>
          <a:lstStyle/>
          <a:p>
            <a:pPr indent="0" marL="0">
              <a:buNone/>
            </a:pPr>
            <a:r>
              <a:rPr lang="en-US" sz="750" b="1" dirty="0">
                <a:solidFill>
                  <a:srgbClr val="0F2843"/>
                </a:solidFill>
                <a:latin typeface="Calibri" pitchFamily="34" charset="0"/>
                <a:ea typeface="Calibri" pitchFamily="34" charset="-122"/>
                <a:cs typeface="Calibri" pitchFamily="34" charset="-120"/>
              </a:rPr>
              <a:t>DISCOVERS → Assigns subtasks to specialist agents</a:t>
            </a:r>
            <a:endParaRPr lang="en-US" sz="750" dirty="0"/>
          </a:p>
        </p:txBody>
      </p:sp>
      <p:sp>
        <p:nvSpPr>
          <p:cNvPr id="13" name="Shape 11"/>
          <p:cNvSpPr/>
          <p:nvPr/>
        </p:nvSpPr>
        <p:spPr>
          <a:xfrm>
            <a:off x="3383280" y="1600200"/>
            <a:ext cx="2606040" cy="1417320"/>
          </a:xfrm>
          <a:prstGeom prst="roundRect">
            <a:avLst>
              <a:gd name="adj" fmla="val 3871"/>
            </a:avLst>
          </a:prstGeom>
          <a:solidFill>
            <a:srgbClr val="FFFFFF"/>
          </a:solidFill>
          <a:ln w="12700">
            <a:solidFill>
              <a:srgbClr val="EEF2F7"/>
            </a:solidFill>
            <a:prstDash val="solid"/>
          </a:ln>
        </p:spPr>
      </p:sp>
      <p:sp>
        <p:nvSpPr>
          <p:cNvPr id="14" name="Shape 12"/>
          <p:cNvSpPr/>
          <p:nvPr/>
        </p:nvSpPr>
        <p:spPr>
          <a:xfrm>
            <a:off x="3520440" y="1709928"/>
            <a:ext cx="292608" cy="292608"/>
          </a:xfrm>
          <a:prstGeom prst="ellipse">
            <a:avLst/>
          </a:prstGeom>
          <a:solidFill>
            <a:srgbClr val="0F2843"/>
          </a:solidFill>
          <a:ln/>
        </p:spPr>
      </p:sp>
      <p:sp>
        <p:nvSpPr>
          <p:cNvPr id="15" name="Text 13"/>
          <p:cNvSpPr txBox="1"/>
          <p:nvPr/>
        </p:nvSpPr>
        <p:spPr>
          <a:xfrm>
            <a:off x="3520440" y="17099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txBox="1"/>
          <p:nvPr/>
        </p:nvSpPr>
        <p:spPr>
          <a:xfrm>
            <a:off x="3520440" y="2057400"/>
            <a:ext cx="2331720" cy="36576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Peer-to-Peer Negotiation</a:t>
            </a:r>
            <a:endParaRPr lang="en-US" sz="1150" dirty="0"/>
          </a:p>
        </p:txBody>
      </p:sp>
      <p:sp>
        <p:nvSpPr>
          <p:cNvPr id="17" name="Text 15"/>
          <p:cNvSpPr txBox="1"/>
          <p:nvPr/>
        </p:nvSpPr>
        <p:spPr>
          <a:xfrm>
            <a:off x="3520440" y="2377440"/>
            <a:ext cx="2331720" cy="228600"/>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AGENTS BARGAIN DIRECTLY</a:t>
            </a:r>
            <a:endParaRPr lang="en-US" sz="850" dirty="0"/>
          </a:p>
        </p:txBody>
      </p:sp>
      <p:sp>
        <p:nvSpPr>
          <p:cNvPr id="18" name="Text 16"/>
          <p:cNvSpPr txBox="1"/>
          <p:nvPr/>
        </p:nvSpPr>
        <p:spPr>
          <a:xfrm>
            <a:off x="3520440" y="2587752"/>
            <a:ext cx="2331720" cy="228600"/>
          </a:xfrm>
          <a:prstGeom prst="rect">
            <a:avLst/>
          </a:prstGeom>
          <a:noFill/>
          <a:ln/>
        </p:spPr>
        <p:txBody>
          <a:bodyPr wrap="square" lIns="0" tIns="0" rIns="0" bIns="0" rtlCol="0" anchor="ctr"/>
          <a:lstStyle/>
          <a:p>
            <a:pPr indent="0" marL="0">
              <a:buNone/>
            </a:pPr>
            <a:r>
              <a:rPr lang="en-US" sz="850" i="1" dirty="0">
                <a:solidFill>
                  <a:srgbClr val="5B6B82"/>
                </a:solidFill>
                <a:latin typeface="Calibri" pitchFamily="34" charset="0"/>
                <a:ea typeface="Calibri" pitchFamily="34" charset="-122"/>
                <a:cs typeface="Calibri" pitchFamily="34" charset="-120"/>
              </a:rPr>
              <a:t>"Who gets the resource?"</a:t>
            </a:r>
            <a:endParaRPr lang="en-US" sz="850" dirty="0"/>
          </a:p>
        </p:txBody>
      </p:sp>
      <p:sp>
        <p:nvSpPr>
          <p:cNvPr id="19" name="Text 17"/>
          <p:cNvSpPr txBox="1"/>
          <p:nvPr/>
        </p:nvSpPr>
        <p:spPr>
          <a:xfrm>
            <a:off x="3520440" y="2807208"/>
            <a:ext cx="2331720" cy="228600"/>
          </a:xfrm>
          <a:prstGeom prst="rect">
            <a:avLst/>
          </a:prstGeom>
          <a:noFill/>
          <a:ln/>
        </p:spPr>
        <p:txBody>
          <a:bodyPr wrap="square" lIns="0" tIns="0" rIns="0" bIns="0" rtlCol="0" anchor="ctr"/>
          <a:lstStyle/>
          <a:p>
            <a:pPr indent="0" marL="0">
              <a:buNone/>
            </a:pPr>
            <a:r>
              <a:rPr lang="en-US" sz="750" b="1" dirty="0">
                <a:solidFill>
                  <a:srgbClr val="0F2843"/>
                </a:solidFill>
                <a:latin typeface="Calibri" pitchFamily="34" charset="0"/>
                <a:ea typeface="Calibri" pitchFamily="34" charset="-122"/>
                <a:cs typeface="Calibri" pitchFamily="34" charset="-120"/>
              </a:rPr>
              <a:t>DISCOVERS → Resource allocation agreement</a:t>
            </a:r>
            <a:endParaRPr lang="en-US" sz="750" dirty="0"/>
          </a:p>
        </p:txBody>
      </p:sp>
      <p:sp>
        <p:nvSpPr>
          <p:cNvPr id="20" name="Shape 18"/>
          <p:cNvSpPr/>
          <p:nvPr/>
        </p:nvSpPr>
        <p:spPr>
          <a:xfrm>
            <a:off x="6126480" y="1600200"/>
            <a:ext cx="2606040" cy="1417320"/>
          </a:xfrm>
          <a:prstGeom prst="roundRect">
            <a:avLst>
              <a:gd name="adj" fmla="val 3871"/>
            </a:avLst>
          </a:prstGeom>
          <a:solidFill>
            <a:srgbClr val="FFFFFF"/>
          </a:solidFill>
          <a:ln w="12700">
            <a:solidFill>
              <a:srgbClr val="EEF2F7"/>
            </a:solidFill>
            <a:prstDash val="solid"/>
          </a:ln>
        </p:spPr>
      </p:sp>
      <p:sp>
        <p:nvSpPr>
          <p:cNvPr id="21" name="Shape 19"/>
          <p:cNvSpPr/>
          <p:nvPr/>
        </p:nvSpPr>
        <p:spPr>
          <a:xfrm>
            <a:off x="6263640" y="1709928"/>
            <a:ext cx="292608" cy="292608"/>
          </a:xfrm>
          <a:prstGeom prst="ellipse">
            <a:avLst/>
          </a:prstGeom>
          <a:solidFill>
            <a:srgbClr val="0F2843"/>
          </a:solidFill>
          <a:ln/>
        </p:spPr>
      </p:sp>
      <p:sp>
        <p:nvSpPr>
          <p:cNvPr id="22" name="Text 20"/>
          <p:cNvSpPr txBox="1"/>
          <p:nvPr/>
        </p:nvSpPr>
        <p:spPr>
          <a:xfrm>
            <a:off x="6263640" y="17099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Text 21"/>
          <p:cNvSpPr txBox="1"/>
          <p:nvPr/>
        </p:nvSpPr>
        <p:spPr>
          <a:xfrm>
            <a:off x="6263640" y="2057400"/>
            <a:ext cx="2331720" cy="36576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Blackboard / Shared Memory</a:t>
            </a:r>
            <a:endParaRPr lang="en-US" sz="1150" dirty="0"/>
          </a:p>
        </p:txBody>
      </p:sp>
      <p:sp>
        <p:nvSpPr>
          <p:cNvPr id="24" name="Text 22"/>
          <p:cNvSpPr txBox="1"/>
          <p:nvPr/>
        </p:nvSpPr>
        <p:spPr>
          <a:xfrm>
            <a:off x="6263640" y="2377440"/>
            <a:ext cx="2331720" cy="228600"/>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AGENTS SHARE ONE WORKSPACE</a:t>
            </a:r>
            <a:endParaRPr lang="en-US" sz="850" dirty="0"/>
          </a:p>
        </p:txBody>
      </p:sp>
      <p:sp>
        <p:nvSpPr>
          <p:cNvPr id="25" name="Text 23"/>
          <p:cNvSpPr txBox="1"/>
          <p:nvPr/>
        </p:nvSpPr>
        <p:spPr>
          <a:xfrm>
            <a:off x="6263640" y="2587752"/>
            <a:ext cx="2331720" cy="228600"/>
          </a:xfrm>
          <a:prstGeom prst="rect">
            <a:avLst/>
          </a:prstGeom>
          <a:noFill/>
          <a:ln/>
        </p:spPr>
        <p:txBody>
          <a:bodyPr wrap="square" lIns="0" tIns="0" rIns="0" bIns="0" rtlCol="0" anchor="ctr"/>
          <a:lstStyle/>
          <a:p>
            <a:pPr indent="0" marL="0">
              <a:buNone/>
            </a:pPr>
            <a:r>
              <a:rPr lang="en-US" sz="850" i="1" dirty="0">
                <a:solidFill>
                  <a:srgbClr val="5B6B82"/>
                </a:solidFill>
                <a:latin typeface="Calibri" pitchFamily="34" charset="0"/>
                <a:ea typeface="Calibri" pitchFamily="34" charset="-122"/>
                <a:cs typeface="Calibri" pitchFamily="34" charset="-120"/>
              </a:rPr>
              <a:t>"What has been decided so far?"</a:t>
            </a:r>
            <a:endParaRPr lang="en-US" sz="850" dirty="0"/>
          </a:p>
        </p:txBody>
      </p:sp>
      <p:sp>
        <p:nvSpPr>
          <p:cNvPr id="26" name="Text 24"/>
          <p:cNvSpPr txBox="1"/>
          <p:nvPr/>
        </p:nvSpPr>
        <p:spPr>
          <a:xfrm>
            <a:off x="6263640" y="2807208"/>
            <a:ext cx="2331720" cy="228600"/>
          </a:xfrm>
          <a:prstGeom prst="rect">
            <a:avLst/>
          </a:prstGeom>
          <a:noFill/>
          <a:ln/>
        </p:spPr>
        <p:txBody>
          <a:bodyPr wrap="square" lIns="0" tIns="0" rIns="0" bIns="0" rtlCol="0" anchor="ctr"/>
          <a:lstStyle/>
          <a:p>
            <a:pPr indent="0" marL="0">
              <a:buNone/>
            </a:pPr>
            <a:r>
              <a:rPr lang="en-US" sz="750" b="1" dirty="0">
                <a:solidFill>
                  <a:srgbClr val="0F2843"/>
                </a:solidFill>
                <a:latin typeface="Calibri" pitchFamily="34" charset="0"/>
                <a:ea typeface="Calibri" pitchFamily="34" charset="-122"/>
                <a:cs typeface="Calibri" pitchFamily="34" charset="-120"/>
              </a:rPr>
              <a:t>DISCOVERS → Shared state updated</a:t>
            </a:r>
            <a:endParaRPr lang="en-US" sz="750" dirty="0"/>
          </a:p>
        </p:txBody>
      </p:sp>
      <p:sp>
        <p:nvSpPr>
          <p:cNvPr id="27" name="Shape 25"/>
          <p:cNvSpPr/>
          <p:nvPr/>
        </p:nvSpPr>
        <p:spPr>
          <a:xfrm>
            <a:off x="8869680" y="1600200"/>
            <a:ext cx="2606040" cy="1417320"/>
          </a:xfrm>
          <a:prstGeom prst="roundRect">
            <a:avLst>
              <a:gd name="adj" fmla="val 3871"/>
            </a:avLst>
          </a:prstGeom>
          <a:solidFill>
            <a:srgbClr val="FFFFFF"/>
          </a:solidFill>
          <a:ln w="12700">
            <a:solidFill>
              <a:srgbClr val="EEF2F7"/>
            </a:solidFill>
            <a:prstDash val="solid"/>
          </a:ln>
        </p:spPr>
      </p:sp>
      <p:sp>
        <p:nvSpPr>
          <p:cNvPr id="28" name="Shape 26"/>
          <p:cNvSpPr/>
          <p:nvPr/>
        </p:nvSpPr>
        <p:spPr>
          <a:xfrm>
            <a:off x="9006840" y="1709928"/>
            <a:ext cx="292608" cy="292608"/>
          </a:xfrm>
          <a:prstGeom prst="ellipse">
            <a:avLst/>
          </a:prstGeom>
          <a:solidFill>
            <a:srgbClr val="0F2843"/>
          </a:solidFill>
          <a:ln/>
        </p:spPr>
      </p:sp>
      <p:sp>
        <p:nvSpPr>
          <p:cNvPr id="29" name="Text 27"/>
          <p:cNvSpPr txBox="1"/>
          <p:nvPr/>
        </p:nvSpPr>
        <p:spPr>
          <a:xfrm>
            <a:off x="9006840" y="17099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8"/>
          <p:cNvSpPr txBox="1"/>
          <p:nvPr/>
        </p:nvSpPr>
        <p:spPr>
          <a:xfrm>
            <a:off x="9006840" y="2057400"/>
            <a:ext cx="2331720" cy="36576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Hierarchical Agents</a:t>
            </a:r>
            <a:endParaRPr lang="en-US" sz="1150" dirty="0"/>
          </a:p>
        </p:txBody>
      </p:sp>
      <p:sp>
        <p:nvSpPr>
          <p:cNvPr id="31" name="Text 29"/>
          <p:cNvSpPr txBox="1"/>
          <p:nvPr/>
        </p:nvSpPr>
        <p:spPr>
          <a:xfrm>
            <a:off x="9006840" y="2377440"/>
            <a:ext cx="2331720" cy="228600"/>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CHAIN OF COMMAND</a:t>
            </a:r>
            <a:endParaRPr lang="en-US" sz="850" dirty="0"/>
          </a:p>
        </p:txBody>
      </p:sp>
      <p:sp>
        <p:nvSpPr>
          <p:cNvPr id="32" name="Text 30"/>
          <p:cNvSpPr txBox="1"/>
          <p:nvPr/>
        </p:nvSpPr>
        <p:spPr>
          <a:xfrm>
            <a:off x="9006840" y="2587752"/>
            <a:ext cx="2331720" cy="228600"/>
          </a:xfrm>
          <a:prstGeom prst="rect">
            <a:avLst/>
          </a:prstGeom>
          <a:noFill/>
          <a:ln/>
        </p:spPr>
        <p:txBody>
          <a:bodyPr wrap="square" lIns="0" tIns="0" rIns="0" bIns="0" rtlCol="0" anchor="ctr"/>
          <a:lstStyle/>
          <a:p>
            <a:pPr indent="0" marL="0">
              <a:buNone/>
            </a:pPr>
            <a:r>
              <a:rPr lang="en-US" sz="850" i="1" dirty="0">
                <a:solidFill>
                  <a:srgbClr val="5B6B82"/>
                </a:solidFill>
                <a:latin typeface="Calibri" pitchFamily="34" charset="0"/>
                <a:ea typeface="Calibri" pitchFamily="34" charset="-122"/>
                <a:cs typeface="Calibri" pitchFamily="34" charset="-120"/>
              </a:rPr>
              <a:t>"Who approves this decision?"</a:t>
            </a:r>
            <a:endParaRPr lang="en-US" sz="850" dirty="0"/>
          </a:p>
        </p:txBody>
      </p:sp>
      <p:sp>
        <p:nvSpPr>
          <p:cNvPr id="33" name="Text 31"/>
          <p:cNvSpPr txBox="1"/>
          <p:nvPr/>
        </p:nvSpPr>
        <p:spPr>
          <a:xfrm>
            <a:off x="9006840" y="2807208"/>
            <a:ext cx="2331720" cy="228600"/>
          </a:xfrm>
          <a:prstGeom prst="rect">
            <a:avLst/>
          </a:prstGeom>
          <a:noFill/>
          <a:ln/>
        </p:spPr>
        <p:txBody>
          <a:bodyPr wrap="square" lIns="0" tIns="0" rIns="0" bIns="0" rtlCol="0" anchor="ctr"/>
          <a:lstStyle/>
          <a:p>
            <a:pPr indent="0" marL="0">
              <a:buNone/>
            </a:pPr>
            <a:r>
              <a:rPr lang="en-US" sz="750" b="1" dirty="0">
                <a:solidFill>
                  <a:srgbClr val="0F2843"/>
                </a:solidFill>
                <a:latin typeface="Calibri" pitchFamily="34" charset="0"/>
                <a:ea typeface="Calibri" pitchFamily="34" charset="-122"/>
                <a:cs typeface="Calibri" pitchFamily="34" charset="-120"/>
              </a:rPr>
              <a:t>DISCOVERS → Escalation path</a:t>
            </a:r>
            <a:endParaRPr lang="en-US" sz="750" dirty="0"/>
          </a:p>
        </p:txBody>
      </p:sp>
      <p:sp>
        <p:nvSpPr>
          <p:cNvPr id="34" name="Shape 32"/>
          <p:cNvSpPr/>
          <p:nvPr/>
        </p:nvSpPr>
        <p:spPr>
          <a:xfrm>
            <a:off x="640080" y="3154680"/>
            <a:ext cx="2606040" cy="960120"/>
          </a:xfrm>
          <a:prstGeom prst="roundRect">
            <a:avLst>
              <a:gd name="adj" fmla="val 5714"/>
            </a:avLst>
          </a:prstGeom>
          <a:solidFill>
            <a:srgbClr val="FFFFFF"/>
          </a:solidFill>
          <a:ln w="12700">
            <a:solidFill>
              <a:srgbClr val="EEF2F7"/>
            </a:solidFill>
            <a:prstDash val="solid"/>
          </a:ln>
        </p:spPr>
      </p:sp>
      <p:sp>
        <p:nvSpPr>
          <p:cNvPr id="35" name="Shape 33"/>
          <p:cNvSpPr/>
          <p:nvPr/>
        </p:nvSpPr>
        <p:spPr>
          <a:xfrm>
            <a:off x="777240" y="3264408"/>
            <a:ext cx="292608" cy="292608"/>
          </a:xfrm>
          <a:prstGeom prst="ellipse">
            <a:avLst/>
          </a:prstGeom>
          <a:solidFill>
            <a:srgbClr val="0F2843"/>
          </a:solidFill>
          <a:ln/>
        </p:spPr>
      </p:sp>
      <p:sp>
        <p:nvSpPr>
          <p:cNvPr id="36" name="Text 34"/>
          <p:cNvSpPr txBox="1"/>
          <p:nvPr/>
        </p:nvSpPr>
        <p:spPr>
          <a:xfrm>
            <a:off x="777240" y="32644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7" name="Text 35"/>
          <p:cNvSpPr txBox="1"/>
          <p:nvPr/>
        </p:nvSpPr>
        <p:spPr>
          <a:xfrm>
            <a:off x="777240" y="3611880"/>
            <a:ext cx="2331720" cy="2743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Swarm Coordination</a:t>
            </a:r>
            <a:endParaRPr lang="en-US" sz="1150" dirty="0"/>
          </a:p>
        </p:txBody>
      </p:sp>
      <p:sp>
        <p:nvSpPr>
          <p:cNvPr id="38" name="Text 36"/>
          <p:cNvSpPr txBox="1"/>
          <p:nvPr/>
        </p:nvSpPr>
        <p:spPr>
          <a:xfrm>
            <a:off x="777240" y="3867912"/>
            <a:ext cx="2331720" cy="201168"/>
          </a:xfrm>
          <a:prstGeom prst="rect">
            <a:avLst/>
          </a:prstGeom>
          <a:noFill/>
          <a:ln/>
        </p:spPr>
        <p:txBody>
          <a:bodyPr wrap="square" lIns="0" tIns="0" rIns="0" bIns="0" rtlCol="0" anchor="ctr"/>
          <a:lstStyle/>
          <a:p>
            <a:pPr indent="0" marL="0">
              <a:buNone/>
            </a:pPr>
            <a:r>
              <a:rPr lang="en-US" sz="850" b="1" dirty="0">
                <a:solidFill>
                  <a:srgbClr val="2A9D8F"/>
                </a:solidFill>
                <a:latin typeface="Calibri" pitchFamily="34" charset="0"/>
                <a:ea typeface="Calibri" pitchFamily="34" charset="-122"/>
                <a:cs typeface="Calibri" pitchFamily="34" charset="-120"/>
              </a:rPr>
              <a:t>MANY SIMPLE AGENTS TOGETHER</a:t>
            </a:r>
            <a:endParaRPr lang="en-US" sz="850" dirty="0"/>
          </a:p>
        </p:txBody>
      </p:sp>
      <p:sp>
        <p:nvSpPr>
          <p:cNvPr id="39" name="Shape 37"/>
          <p:cNvSpPr/>
          <p:nvPr/>
        </p:nvSpPr>
        <p:spPr>
          <a:xfrm>
            <a:off x="3383280" y="3154680"/>
            <a:ext cx="8138160" cy="960120"/>
          </a:xfrm>
          <a:prstGeom prst="roundRect">
            <a:avLst>
              <a:gd name="adj" fmla="val 5714"/>
            </a:avLst>
          </a:prstGeom>
          <a:solidFill>
            <a:srgbClr val="E7F5F3"/>
          </a:solidFill>
          <a:ln/>
        </p:spPr>
      </p:sp>
      <p:sp>
        <p:nvSpPr>
          <p:cNvPr id="40" name="Text 38"/>
          <p:cNvSpPr txBox="1"/>
          <p:nvPr/>
        </p:nvSpPr>
        <p:spPr>
          <a:xfrm>
            <a:off x="3611880" y="3154680"/>
            <a:ext cx="7680960" cy="960120"/>
          </a:xfrm>
          <a:prstGeom prst="rect">
            <a:avLst/>
          </a:prstGeom>
          <a:noFill/>
          <a:ln/>
        </p:spPr>
        <p:txBody>
          <a:bodyPr wrap="square" lIns="0" tIns="0" rIns="0" bIns="0" rtlCol="0" anchor="ctr"/>
          <a:lstStyle/>
          <a:p>
            <a:pPr indent="0" marL="0">
              <a:buNone/>
            </a:pPr>
            <a:r>
              <a:rPr lang="en-US" sz="1100" i="1" dirty="0">
                <a:solidFill>
                  <a:srgbClr val="0F2843"/>
                </a:solidFill>
                <a:latin typeface="Calibri" pitchFamily="34" charset="0"/>
                <a:ea typeface="Calibri" pitchFamily="34" charset="-122"/>
                <a:cs typeface="Calibri" pitchFamily="34" charset="-120"/>
              </a:rPr>
              <a:t>"What's the collective pattern?"  →  DISCOVERS → Emergent coordinated behavior</a:t>
            </a:r>
            <a:endParaRPr lang="en-US" sz="1100" dirty="0"/>
          </a:p>
        </p:txBody>
      </p:sp>
      <p:sp>
        <p:nvSpPr>
          <p:cNvPr id="41" name="Shape 39"/>
          <p:cNvSpPr/>
          <p:nvPr/>
        </p:nvSpPr>
        <p:spPr>
          <a:xfrm>
            <a:off x="640080" y="4297680"/>
            <a:ext cx="10881360" cy="384048"/>
          </a:xfrm>
          <a:prstGeom prst="roundRect">
            <a:avLst>
              <a:gd name="adj" fmla="val 11905"/>
            </a:avLst>
          </a:prstGeom>
          <a:solidFill>
            <a:srgbClr val="FFB627"/>
          </a:solidFill>
          <a:ln/>
        </p:spPr>
      </p:sp>
      <p:sp>
        <p:nvSpPr>
          <p:cNvPr id="42" name="Text 40"/>
          <p:cNvSpPr txBox="1"/>
          <p:nvPr/>
        </p:nvSpPr>
        <p:spPr>
          <a:xfrm>
            <a:off x="822960" y="4297680"/>
            <a:ext cx="10515600" cy="384048"/>
          </a:xfrm>
          <a:prstGeom prst="rect">
            <a:avLst/>
          </a:prstGeom>
          <a:noFill/>
          <a:ln/>
        </p:spPr>
        <p:txBody>
          <a:bodyPr wrap="square" lIns="0" tIns="0" rIns="0" bIns="0" rtlCol="0" anchor="ctr"/>
          <a:lstStyle/>
          <a:p>
            <a:pPr indent="0" marL="0">
              <a:buNone/>
            </a:pPr>
            <a:r>
              <a:rPr lang="en-US" sz="1100" b="1" dirty="0">
                <a:solidFill>
                  <a:srgbClr val="081527"/>
                </a:solidFill>
                <a:latin typeface="Calibri" pitchFamily="34" charset="0"/>
                <a:ea typeface="Calibri" pitchFamily="34" charset="-122"/>
                <a:cs typeface="Calibri" pitchFamily="34" charset="-120"/>
              </a:rPr>
              <a:t>🧠 REMEMBER:  DELEGATE • NEGOTIATE • SHARE • ESCALATE • SWARM</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320040"/>
            <a:ext cx="10515600" cy="457200"/>
          </a:xfrm>
          <a:prstGeom prst="rect">
            <a:avLst/>
          </a:prstGeom>
          <a:noFill/>
          <a:ln/>
        </p:spPr>
        <p:txBody>
          <a:bodyPr wrap="square" lIns="0" tIns="0" rIns="0" bIns="0" rtlCol="0" anchor="ctr"/>
          <a:lstStyle/>
          <a:p>
            <a:pPr indent="0" marL="0">
              <a:buNone/>
            </a:pPr>
            <a:r>
              <a:rPr lang="en-US" sz="2400" b="1" dirty="0">
                <a:solidFill>
                  <a:srgbClr val="0F2843"/>
                </a:solidFill>
                <a:latin typeface="Cambria" pitchFamily="34" charset="0"/>
                <a:ea typeface="Cambria" pitchFamily="34" charset="-122"/>
                <a:cs typeface="Cambria" pitchFamily="34" charset="-120"/>
              </a:rPr>
              <a:t>Keeping Humans in Control</a:t>
            </a:r>
            <a:endParaRPr lang="en-US" sz="2400" dirty="0"/>
          </a:p>
        </p:txBody>
      </p:sp>
      <p:sp>
        <p:nvSpPr>
          <p:cNvPr id="3" name="Text 1"/>
          <p:cNvSpPr txBox="1"/>
          <p:nvPr/>
        </p:nvSpPr>
        <p:spPr>
          <a:xfrm>
            <a:off x="640080" y="749808"/>
            <a:ext cx="10515600" cy="27432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No fixed answers here either — the agent acts, but a human can always intervene</a:t>
            </a:r>
            <a:endParaRPr lang="en-US" sz="1100" dirty="0"/>
          </a:p>
        </p:txBody>
      </p:sp>
      <p:sp>
        <p:nvSpPr>
          <p:cNvPr id="4" name="Shape 2"/>
          <p:cNvSpPr/>
          <p:nvPr/>
        </p:nvSpPr>
        <p:spPr>
          <a:xfrm>
            <a:off x="640080" y="1078992"/>
            <a:ext cx="10881360" cy="384048"/>
          </a:xfrm>
          <a:prstGeom prst="roundRect">
            <a:avLst>
              <a:gd name="adj" fmla="val 11905"/>
            </a:avLst>
          </a:prstGeom>
          <a:solidFill>
            <a:srgbClr val="E63946"/>
          </a:solidFill>
          <a:ln/>
        </p:spPr>
      </p:sp>
      <p:sp>
        <p:nvSpPr>
          <p:cNvPr id="5" name="Text 3"/>
          <p:cNvSpPr txBox="1"/>
          <p:nvPr/>
        </p:nvSpPr>
        <p:spPr>
          <a:xfrm>
            <a:off x="822960" y="1078992"/>
            <a:ext cx="1051560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AUTONOMOUS DISPATCH:   Confidence  •  Stakes  •  Policy Limits   →  NO ACTION WITHOUT A SAFETY CHECK</a:t>
            </a:r>
            <a:endParaRPr lang="en-US" sz="1050" dirty="0"/>
          </a:p>
        </p:txBody>
      </p:sp>
      <p:sp>
        <p:nvSpPr>
          <p:cNvPr id="6" name="Shape 4"/>
          <p:cNvSpPr/>
          <p:nvPr/>
        </p:nvSpPr>
        <p:spPr>
          <a:xfrm>
            <a:off x="640080" y="1600200"/>
            <a:ext cx="2606040" cy="1417320"/>
          </a:xfrm>
          <a:prstGeom prst="roundRect">
            <a:avLst>
              <a:gd name="adj" fmla="val 3871"/>
            </a:avLst>
          </a:prstGeom>
          <a:solidFill>
            <a:srgbClr val="FFFFFF"/>
          </a:solidFill>
          <a:ln w="12700">
            <a:solidFill>
              <a:srgbClr val="EEF2F7"/>
            </a:solidFill>
            <a:prstDash val="solid"/>
          </a:ln>
        </p:spPr>
      </p:sp>
      <p:sp>
        <p:nvSpPr>
          <p:cNvPr id="7" name="Shape 5"/>
          <p:cNvSpPr/>
          <p:nvPr/>
        </p:nvSpPr>
        <p:spPr>
          <a:xfrm>
            <a:off x="777240" y="1709928"/>
            <a:ext cx="292608" cy="292608"/>
          </a:xfrm>
          <a:prstGeom prst="ellipse">
            <a:avLst/>
          </a:prstGeom>
          <a:solidFill>
            <a:srgbClr val="E63946"/>
          </a:solidFill>
          <a:ln/>
        </p:spPr>
      </p:sp>
      <p:sp>
        <p:nvSpPr>
          <p:cNvPr id="8" name="Text 6"/>
          <p:cNvSpPr txBox="1"/>
          <p:nvPr/>
        </p:nvSpPr>
        <p:spPr>
          <a:xfrm>
            <a:off x="777240" y="17099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777240" y="2057400"/>
            <a:ext cx="2331720" cy="365760"/>
          </a:xfrm>
          <a:prstGeom prst="rect">
            <a:avLst/>
          </a:prstGeom>
          <a:noFill/>
          <a:ln/>
        </p:spPr>
        <p:txBody>
          <a:bodyPr wrap="square" lIns="0" tIns="0" rIns="0" bIns="0" rtlCol="0" anchor="ctr"/>
          <a:lstStyle/>
          <a:p>
            <a:pPr indent="0" marL="0">
              <a:buNone/>
            </a:pPr>
            <a:r>
              <a:rPr lang="en-US" sz="1100" b="1" dirty="0">
                <a:solidFill>
                  <a:srgbClr val="0F2843"/>
                </a:solidFill>
                <a:latin typeface="Calibri" pitchFamily="34" charset="0"/>
                <a:ea typeface="Calibri" pitchFamily="34" charset="-122"/>
                <a:cs typeface="Calibri" pitchFamily="34" charset="-120"/>
              </a:rPr>
              <a:t>Approval Gate</a:t>
            </a:r>
            <a:endParaRPr lang="en-US" sz="1100" dirty="0"/>
          </a:p>
        </p:txBody>
      </p:sp>
      <p:sp>
        <p:nvSpPr>
          <p:cNvPr id="10" name="Text 8"/>
          <p:cNvSpPr txBox="1"/>
          <p:nvPr/>
        </p:nvSpPr>
        <p:spPr>
          <a:xfrm>
            <a:off x="777240" y="2377440"/>
            <a:ext cx="2331720" cy="228600"/>
          </a:xfrm>
          <a:prstGeom prst="rect">
            <a:avLst/>
          </a:prstGeom>
          <a:noFill/>
          <a:ln/>
        </p:spPr>
        <p:txBody>
          <a:bodyPr wrap="square" lIns="0" tIns="0" rIns="0" bIns="0" rtlCol="0" anchor="ctr"/>
          <a:lstStyle/>
          <a:p>
            <a:pPr indent="0" marL="0">
              <a:buNone/>
            </a:pPr>
            <a:r>
              <a:rPr lang="en-US" sz="800" b="1" dirty="0">
                <a:solidFill>
                  <a:srgbClr val="E63946"/>
                </a:solidFill>
                <a:latin typeface="Calibri" pitchFamily="34" charset="0"/>
                <a:ea typeface="Calibri" pitchFamily="34" charset="-122"/>
                <a:cs typeface="Calibri" pitchFamily="34" charset="-120"/>
              </a:rPr>
              <a:t>PAUSE BEFORE HIGH-STAKES ACTIONS</a:t>
            </a:r>
            <a:endParaRPr lang="en-US" sz="800" dirty="0"/>
          </a:p>
        </p:txBody>
      </p:sp>
      <p:sp>
        <p:nvSpPr>
          <p:cNvPr id="11" name="Text 9"/>
          <p:cNvSpPr txBox="1"/>
          <p:nvPr/>
        </p:nvSpPr>
        <p:spPr>
          <a:xfrm>
            <a:off x="777240" y="2587752"/>
            <a:ext cx="2331720" cy="228600"/>
          </a:xfrm>
          <a:prstGeom prst="rect">
            <a:avLst/>
          </a:prstGeom>
          <a:noFill/>
          <a:ln/>
        </p:spPr>
        <p:txBody>
          <a:bodyPr wrap="square" lIns="0" tIns="0" rIns="0" bIns="0" rtlCol="0" anchor="ctr"/>
          <a:lstStyle/>
          <a:p>
            <a:pPr indent="0" marL="0">
              <a:buNone/>
            </a:pPr>
            <a:r>
              <a:rPr lang="en-US" sz="800" i="1" dirty="0">
                <a:solidFill>
                  <a:srgbClr val="5B6B82"/>
                </a:solidFill>
                <a:latin typeface="Calibri" pitchFamily="34" charset="0"/>
                <a:ea typeface="Calibri" pitchFamily="34" charset="-122"/>
                <a:cs typeface="Calibri" pitchFamily="34" charset="-120"/>
              </a:rPr>
              <a:t>"Should a human confirm this dispatch?"</a:t>
            </a:r>
            <a:endParaRPr lang="en-US" sz="800" dirty="0"/>
          </a:p>
        </p:txBody>
      </p:sp>
      <p:sp>
        <p:nvSpPr>
          <p:cNvPr id="12" name="Text 10"/>
          <p:cNvSpPr txBox="1"/>
          <p:nvPr/>
        </p:nvSpPr>
        <p:spPr>
          <a:xfrm>
            <a:off x="777240" y="2807208"/>
            <a:ext cx="2331720" cy="228600"/>
          </a:xfrm>
          <a:prstGeom prst="rect">
            <a:avLst/>
          </a:prstGeom>
          <a:noFill/>
          <a:ln/>
        </p:spPr>
        <p:txBody>
          <a:bodyPr wrap="square" lIns="0" tIns="0" rIns="0" bIns="0" rtlCol="0" anchor="ctr"/>
          <a:lstStyle/>
          <a:p>
            <a:pPr indent="0" marL="0">
              <a:buNone/>
            </a:pPr>
            <a:r>
              <a:rPr lang="en-US" sz="750" b="1" dirty="0">
                <a:solidFill>
                  <a:srgbClr val="0F2843"/>
                </a:solidFill>
                <a:latin typeface="Calibri" pitchFamily="34" charset="0"/>
                <a:ea typeface="Calibri" pitchFamily="34" charset="-122"/>
                <a:cs typeface="Calibri" pitchFamily="34" charset="-120"/>
              </a:rPr>
              <a:t>LEARNS → Requires explicit sign-off</a:t>
            </a:r>
            <a:endParaRPr lang="en-US" sz="750" dirty="0"/>
          </a:p>
        </p:txBody>
      </p:sp>
      <p:sp>
        <p:nvSpPr>
          <p:cNvPr id="13" name="Shape 11"/>
          <p:cNvSpPr/>
          <p:nvPr/>
        </p:nvSpPr>
        <p:spPr>
          <a:xfrm>
            <a:off x="3383280" y="1600200"/>
            <a:ext cx="2606040" cy="1417320"/>
          </a:xfrm>
          <a:prstGeom prst="roundRect">
            <a:avLst>
              <a:gd name="adj" fmla="val 3871"/>
            </a:avLst>
          </a:prstGeom>
          <a:solidFill>
            <a:srgbClr val="FFFFFF"/>
          </a:solidFill>
          <a:ln w="12700">
            <a:solidFill>
              <a:srgbClr val="EEF2F7"/>
            </a:solidFill>
            <a:prstDash val="solid"/>
          </a:ln>
        </p:spPr>
      </p:sp>
      <p:sp>
        <p:nvSpPr>
          <p:cNvPr id="14" name="Shape 12"/>
          <p:cNvSpPr/>
          <p:nvPr/>
        </p:nvSpPr>
        <p:spPr>
          <a:xfrm>
            <a:off x="3520440" y="1709928"/>
            <a:ext cx="292608" cy="292608"/>
          </a:xfrm>
          <a:prstGeom prst="ellipse">
            <a:avLst/>
          </a:prstGeom>
          <a:solidFill>
            <a:srgbClr val="E63946"/>
          </a:solidFill>
          <a:ln/>
        </p:spPr>
      </p:sp>
      <p:sp>
        <p:nvSpPr>
          <p:cNvPr id="15" name="Text 13"/>
          <p:cNvSpPr txBox="1"/>
          <p:nvPr/>
        </p:nvSpPr>
        <p:spPr>
          <a:xfrm>
            <a:off x="3520440" y="17099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txBox="1"/>
          <p:nvPr/>
        </p:nvSpPr>
        <p:spPr>
          <a:xfrm>
            <a:off x="3520440" y="2057400"/>
            <a:ext cx="2331720" cy="365760"/>
          </a:xfrm>
          <a:prstGeom prst="rect">
            <a:avLst/>
          </a:prstGeom>
          <a:noFill/>
          <a:ln/>
        </p:spPr>
        <p:txBody>
          <a:bodyPr wrap="square" lIns="0" tIns="0" rIns="0" bIns="0" rtlCol="0" anchor="ctr"/>
          <a:lstStyle/>
          <a:p>
            <a:pPr indent="0" marL="0">
              <a:buNone/>
            </a:pPr>
            <a:r>
              <a:rPr lang="en-US" sz="1100" b="1" dirty="0">
                <a:solidFill>
                  <a:srgbClr val="0F2843"/>
                </a:solidFill>
                <a:latin typeface="Calibri" pitchFamily="34" charset="0"/>
                <a:ea typeface="Calibri" pitchFamily="34" charset="-122"/>
                <a:cs typeface="Calibri" pitchFamily="34" charset="-120"/>
              </a:rPr>
              <a:t>Emergency Override</a:t>
            </a:r>
            <a:endParaRPr lang="en-US" sz="1100" dirty="0"/>
          </a:p>
        </p:txBody>
      </p:sp>
      <p:sp>
        <p:nvSpPr>
          <p:cNvPr id="17" name="Text 15"/>
          <p:cNvSpPr txBox="1"/>
          <p:nvPr/>
        </p:nvSpPr>
        <p:spPr>
          <a:xfrm>
            <a:off x="3520440" y="2377440"/>
            <a:ext cx="2331720" cy="228600"/>
          </a:xfrm>
          <a:prstGeom prst="rect">
            <a:avLst/>
          </a:prstGeom>
          <a:noFill/>
          <a:ln/>
        </p:spPr>
        <p:txBody>
          <a:bodyPr wrap="square" lIns="0" tIns="0" rIns="0" bIns="0" rtlCol="0" anchor="ctr"/>
          <a:lstStyle/>
          <a:p>
            <a:pPr indent="0" marL="0">
              <a:buNone/>
            </a:pPr>
            <a:r>
              <a:rPr lang="en-US" sz="800" b="1" dirty="0">
                <a:solidFill>
                  <a:srgbClr val="E63946"/>
                </a:solidFill>
                <a:latin typeface="Calibri" pitchFamily="34" charset="0"/>
                <a:ea typeface="Calibri" pitchFamily="34" charset="-122"/>
                <a:cs typeface="Calibri" pitchFamily="34" charset="-120"/>
              </a:rPr>
              <a:t>HUMAN CAN STOP IT ANYTIME</a:t>
            </a:r>
            <a:endParaRPr lang="en-US" sz="800" dirty="0"/>
          </a:p>
        </p:txBody>
      </p:sp>
      <p:sp>
        <p:nvSpPr>
          <p:cNvPr id="18" name="Text 16"/>
          <p:cNvSpPr txBox="1"/>
          <p:nvPr/>
        </p:nvSpPr>
        <p:spPr>
          <a:xfrm>
            <a:off x="3520440" y="2587752"/>
            <a:ext cx="2331720" cy="228600"/>
          </a:xfrm>
          <a:prstGeom prst="rect">
            <a:avLst/>
          </a:prstGeom>
          <a:noFill/>
          <a:ln/>
        </p:spPr>
        <p:txBody>
          <a:bodyPr wrap="square" lIns="0" tIns="0" rIns="0" bIns="0" rtlCol="0" anchor="ctr"/>
          <a:lstStyle/>
          <a:p>
            <a:pPr indent="0" marL="0">
              <a:buNone/>
            </a:pPr>
            <a:r>
              <a:rPr lang="en-US" sz="800" i="1" dirty="0">
                <a:solidFill>
                  <a:srgbClr val="5B6B82"/>
                </a:solidFill>
                <a:latin typeface="Calibri" pitchFamily="34" charset="0"/>
                <a:ea typeface="Calibri" pitchFamily="34" charset="-122"/>
                <a:cs typeface="Calibri" pitchFamily="34" charset="-120"/>
              </a:rPr>
              <a:t>"Can the commander cancel now?"</a:t>
            </a:r>
            <a:endParaRPr lang="en-US" sz="800" dirty="0"/>
          </a:p>
        </p:txBody>
      </p:sp>
      <p:sp>
        <p:nvSpPr>
          <p:cNvPr id="19" name="Text 17"/>
          <p:cNvSpPr txBox="1"/>
          <p:nvPr/>
        </p:nvSpPr>
        <p:spPr>
          <a:xfrm>
            <a:off x="3520440" y="2807208"/>
            <a:ext cx="2331720" cy="228600"/>
          </a:xfrm>
          <a:prstGeom prst="rect">
            <a:avLst/>
          </a:prstGeom>
          <a:noFill/>
          <a:ln/>
        </p:spPr>
        <p:txBody>
          <a:bodyPr wrap="square" lIns="0" tIns="0" rIns="0" bIns="0" rtlCol="0" anchor="ctr"/>
          <a:lstStyle/>
          <a:p>
            <a:pPr indent="0" marL="0">
              <a:buNone/>
            </a:pPr>
            <a:r>
              <a:rPr lang="en-US" sz="750" b="1" dirty="0">
                <a:solidFill>
                  <a:srgbClr val="0F2843"/>
                </a:solidFill>
                <a:latin typeface="Calibri" pitchFamily="34" charset="0"/>
                <a:ea typeface="Calibri" pitchFamily="34" charset="-122"/>
                <a:cs typeface="Calibri" pitchFamily="34" charset="-120"/>
              </a:rPr>
              <a:t>LEARNS → Immediate halt &amp; manual control</a:t>
            </a:r>
            <a:endParaRPr lang="en-US" sz="750" dirty="0"/>
          </a:p>
        </p:txBody>
      </p:sp>
      <p:sp>
        <p:nvSpPr>
          <p:cNvPr id="20" name="Shape 18"/>
          <p:cNvSpPr/>
          <p:nvPr/>
        </p:nvSpPr>
        <p:spPr>
          <a:xfrm>
            <a:off x="6126480" y="1600200"/>
            <a:ext cx="2606040" cy="1417320"/>
          </a:xfrm>
          <a:prstGeom prst="roundRect">
            <a:avLst>
              <a:gd name="adj" fmla="val 3871"/>
            </a:avLst>
          </a:prstGeom>
          <a:solidFill>
            <a:srgbClr val="FFFFFF"/>
          </a:solidFill>
          <a:ln w="12700">
            <a:solidFill>
              <a:srgbClr val="EEF2F7"/>
            </a:solidFill>
            <a:prstDash val="solid"/>
          </a:ln>
        </p:spPr>
      </p:sp>
      <p:sp>
        <p:nvSpPr>
          <p:cNvPr id="21" name="Shape 19"/>
          <p:cNvSpPr/>
          <p:nvPr/>
        </p:nvSpPr>
        <p:spPr>
          <a:xfrm>
            <a:off x="6263640" y="1709928"/>
            <a:ext cx="292608" cy="292608"/>
          </a:xfrm>
          <a:prstGeom prst="ellipse">
            <a:avLst/>
          </a:prstGeom>
          <a:solidFill>
            <a:srgbClr val="E63946"/>
          </a:solidFill>
          <a:ln/>
        </p:spPr>
      </p:sp>
      <p:sp>
        <p:nvSpPr>
          <p:cNvPr id="22" name="Text 20"/>
          <p:cNvSpPr txBox="1"/>
          <p:nvPr/>
        </p:nvSpPr>
        <p:spPr>
          <a:xfrm>
            <a:off x="6263640" y="17099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Text 21"/>
          <p:cNvSpPr txBox="1"/>
          <p:nvPr/>
        </p:nvSpPr>
        <p:spPr>
          <a:xfrm>
            <a:off x="6263640" y="2057400"/>
            <a:ext cx="2331720" cy="365760"/>
          </a:xfrm>
          <a:prstGeom prst="rect">
            <a:avLst/>
          </a:prstGeom>
          <a:noFill/>
          <a:ln/>
        </p:spPr>
        <p:txBody>
          <a:bodyPr wrap="square" lIns="0" tIns="0" rIns="0" bIns="0" rtlCol="0" anchor="ctr"/>
          <a:lstStyle/>
          <a:p>
            <a:pPr indent="0" marL="0">
              <a:buNone/>
            </a:pPr>
            <a:r>
              <a:rPr lang="en-US" sz="1100" b="1" dirty="0">
                <a:solidFill>
                  <a:srgbClr val="0F2843"/>
                </a:solidFill>
                <a:latin typeface="Calibri" pitchFamily="34" charset="0"/>
                <a:ea typeface="Calibri" pitchFamily="34" charset="-122"/>
                <a:cs typeface="Calibri" pitchFamily="34" charset="-120"/>
              </a:rPr>
              <a:t>Confidence Threshold</a:t>
            </a:r>
            <a:endParaRPr lang="en-US" sz="1100" dirty="0"/>
          </a:p>
        </p:txBody>
      </p:sp>
      <p:sp>
        <p:nvSpPr>
          <p:cNvPr id="24" name="Text 22"/>
          <p:cNvSpPr txBox="1"/>
          <p:nvPr/>
        </p:nvSpPr>
        <p:spPr>
          <a:xfrm>
            <a:off x="6263640" y="2377440"/>
            <a:ext cx="2331720" cy="228600"/>
          </a:xfrm>
          <a:prstGeom prst="rect">
            <a:avLst/>
          </a:prstGeom>
          <a:noFill/>
          <a:ln/>
        </p:spPr>
        <p:txBody>
          <a:bodyPr wrap="square" lIns="0" tIns="0" rIns="0" bIns="0" rtlCol="0" anchor="ctr"/>
          <a:lstStyle/>
          <a:p>
            <a:pPr indent="0" marL="0">
              <a:buNone/>
            </a:pPr>
            <a:r>
              <a:rPr lang="en-US" sz="800" b="1" dirty="0">
                <a:solidFill>
                  <a:srgbClr val="E63946"/>
                </a:solidFill>
                <a:latin typeface="Calibri" pitchFamily="34" charset="0"/>
                <a:ea typeface="Calibri" pitchFamily="34" charset="-122"/>
                <a:cs typeface="Calibri" pitchFamily="34" charset="-120"/>
              </a:rPr>
              <a:t>ESCALATE WHEN UNSURE</a:t>
            </a:r>
            <a:endParaRPr lang="en-US" sz="800" dirty="0"/>
          </a:p>
        </p:txBody>
      </p:sp>
      <p:sp>
        <p:nvSpPr>
          <p:cNvPr id="25" name="Text 23"/>
          <p:cNvSpPr txBox="1"/>
          <p:nvPr/>
        </p:nvSpPr>
        <p:spPr>
          <a:xfrm>
            <a:off x="6263640" y="2587752"/>
            <a:ext cx="2331720" cy="228600"/>
          </a:xfrm>
          <a:prstGeom prst="rect">
            <a:avLst/>
          </a:prstGeom>
          <a:noFill/>
          <a:ln/>
        </p:spPr>
        <p:txBody>
          <a:bodyPr wrap="square" lIns="0" tIns="0" rIns="0" bIns="0" rtlCol="0" anchor="ctr"/>
          <a:lstStyle/>
          <a:p>
            <a:pPr indent="0" marL="0">
              <a:buNone/>
            </a:pPr>
            <a:r>
              <a:rPr lang="en-US" sz="800" i="1" dirty="0">
                <a:solidFill>
                  <a:srgbClr val="5B6B82"/>
                </a:solidFill>
                <a:latin typeface="Calibri" pitchFamily="34" charset="0"/>
                <a:ea typeface="Calibri" pitchFamily="34" charset="-122"/>
                <a:cs typeface="Calibri" pitchFamily="34" charset="-120"/>
              </a:rPr>
              <a:t>"Is the agent confident enough to act alone?"</a:t>
            </a:r>
            <a:endParaRPr lang="en-US" sz="800" dirty="0"/>
          </a:p>
        </p:txBody>
      </p:sp>
      <p:sp>
        <p:nvSpPr>
          <p:cNvPr id="26" name="Text 24"/>
          <p:cNvSpPr txBox="1"/>
          <p:nvPr/>
        </p:nvSpPr>
        <p:spPr>
          <a:xfrm>
            <a:off x="6263640" y="2807208"/>
            <a:ext cx="2331720" cy="228600"/>
          </a:xfrm>
          <a:prstGeom prst="rect">
            <a:avLst/>
          </a:prstGeom>
          <a:noFill/>
          <a:ln/>
        </p:spPr>
        <p:txBody>
          <a:bodyPr wrap="square" lIns="0" tIns="0" rIns="0" bIns="0" rtlCol="0" anchor="ctr"/>
          <a:lstStyle/>
          <a:p>
            <a:pPr indent="0" marL="0">
              <a:buNone/>
            </a:pPr>
            <a:r>
              <a:rPr lang="en-US" sz="750" b="1" dirty="0">
                <a:solidFill>
                  <a:srgbClr val="0F2843"/>
                </a:solidFill>
                <a:latin typeface="Calibri" pitchFamily="34" charset="0"/>
                <a:ea typeface="Calibri" pitchFamily="34" charset="-122"/>
                <a:cs typeface="Calibri" pitchFamily="34" charset="-120"/>
              </a:rPr>
              <a:t>LEARNS → Routes to human if below threshold</a:t>
            </a:r>
            <a:endParaRPr lang="en-US" sz="750" dirty="0"/>
          </a:p>
        </p:txBody>
      </p:sp>
      <p:sp>
        <p:nvSpPr>
          <p:cNvPr id="27" name="Shape 25"/>
          <p:cNvSpPr/>
          <p:nvPr/>
        </p:nvSpPr>
        <p:spPr>
          <a:xfrm>
            <a:off x="8869680" y="1600200"/>
            <a:ext cx="2606040" cy="1417320"/>
          </a:xfrm>
          <a:prstGeom prst="roundRect">
            <a:avLst>
              <a:gd name="adj" fmla="val 3871"/>
            </a:avLst>
          </a:prstGeom>
          <a:solidFill>
            <a:srgbClr val="FFFFFF"/>
          </a:solidFill>
          <a:ln w="12700">
            <a:solidFill>
              <a:srgbClr val="EEF2F7"/>
            </a:solidFill>
            <a:prstDash val="solid"/>
          </a:ln>
        </p:spPr>
      </p:sp>
      <p:sp>
        <p:nvSpPr>
          <p:cNvPr id="28" name="Shape 26"/>
          <p:cNvSpPr/>
          <p:nvPr/>
        </p:nvSpPr>
        <p:spPr>
          <a:xfrm>
            <a:off x="9006840" y="1709928"/>
            <a:ext cx="292608" cy="292608"/>
          </a:xfrm>
          <a:prstGeom prst="ellipse">
            <a:avLst/>
          </a:prstGeom>
          <a:solidFill>
            <a:srgbClr val="E63946"/>
          </a:solidFill>
          <a:ln/>
        </p:spPr>
      </p:sp>
      <p:sp>
        <p:nvSpPr>
          <p:cNvPr id="29" name="Text 27"/>
          <p:cNvSpPr txBox="1"/>
          <p:nvPr/>
        </p:nvSpPr>
        <p:spPr>
          <a:xfrm>
            <a:off x="9006840" y="17099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8"/>
          <p:cNvSpPr txBox="1"/>
          <p:nvPr/>
        </p:nvSpPr>
        <p:spPr>
          <a:xfrm>
            <a:off x="9006840" y="2057400"/>
            <a:ext cx="2331720" cy="365760"/>
          </a:xfrm>
          <a:prstGeom prst="rect">
            <a:avLst/>
          </a:prstGeom>
          <a:noFill/>
          <a:ln/>
        </p:spPr>
        <p:txBody>
          <a:bodyPr wrap="square" lIns="0" tIns="0" rIns="0" bIns="0" rtlCol="0" anchor="ctr"/>
          <a:lstStyle/>
          <a:p>
            <a:pPr indent="0" marL="0">
              <a:buNone/>
            </a:pPr>
            <a:r>
              <a:rPr lang="en-US" sz="1100" b="1" dirty="0">
                <a:solidFill>
                  <a:srgbClr val="0F2843"/>
                </a:solidFill>
                <a:latin typeface="Calibri" pitchFamily="34" charset="0"/>
                <a:ea typeface="Calibri" pitchFamily="34" charset="-122"/>
                <a:cs typeface="Calibri" pitchFamily="34" charset="-120"/>
              </a:rPr>
              <a:t>Audit Trail</a:t>
            </a:r>
            <a:endParaRPr lang="en-US" sz="1100" dirty="0"/>
          </a:p>
        </p:txBody>
      </p:sp>
      <p:sp>
        <p:nvSpPr>
          <p:cNvPr id="31" name="Text 29"/>
          <p:cNvSpPr txBox="1"/>
          <p:nvPr/>
        </p:nvSpPr>
        <p:spPr>
          <a:xfrm>
            <a:off x="9006840" y="2377440"/>
            <a:ext cx="2331720" cy="228600"/>
          </a:xfrm>
          <a:prstGeom prst="rect">
            <a:avLst/>
          </a:prstGeom>
          <a:noFill/>
          <a:ln/>
        </p:spPr>
        <p:txBody>
          <a:bodyPr wrap="square" lIns="0" tIns="0" rIns="0" bIns="0" rtlCol="0" anchor="ctr"/>
          <a:lstStyle/>
          <a:p>
            <a:pPr indent="0" marL="0">
              <a:buNone/>
            </a:pPr>
            <a:r>
              <a:rPr lang="en-US" sz="800" b="1" dirty="0">
                <a:solidFill>
                  <a:srgbClr val="E63946"/>
                </a:solidFill>
                <a:latin typeface="Calibri" pitchFamily="34" charset="0"/>
                <a:ea typeface="Calibri" pitchFamily="34" charset="-122"/>
                <a:cs typeface="Calibri" pitchFamily="34" charset="-120"/>
              </a:rPr>
              <a:t>EVERY DECISION IS LOGGED</a:t>
            </a:r>
            <a:endParaRPr lang="en-US" sz="800" dirty="0"/>
          </a:p>
        </p:txBody>
      </p:sp>
      <p:sp>
        <p:nvSpPr>
          <p:cNvPr id="32" name="Text 30"/>
          <p:cNvSpPr txBox="1"/>
          <p:nvPr/>
        </p:nvSpPr>
        <p:spPr>
          <a:xfrm>
            <a:off x="9006840" y="2587752"/>
            <a:ext cx="2331720" cy="228600"/>
          </a:xfrm>
          <a:prstGeom prst="rect">
            <a:avLst/>
          </a:prstGeom>
          <a:noFill/>
          <a:ln/>
        </p:spPr>
        <p:txBody>
          <a:bodyPr wrap="square" lIns="0" tIns="0" rIns="0" bIns="0" rtlCol="0" anchor="ctr"/>
          <a:lstStyle/>
          <a:p>
            <a:pPr indent="0" marL="0">
              <a:buNone/>
            </a:pPr>
            <a:r>
              <a:rPr lang="en-US" sz="800" i="1" dirty="0">
                <a:solidFill>
                  <a:srgbClr val="5B6B82"/>
                </a:solidFill>
                <a:latin typeface="Calibri" pitchFamily="34" charset="0"/>
                <a:ea typeface="Calibri" pitchFamily="34" charset="-122"/>
                <a:cs typeface="Calibri" pitchFamily="34" charset="-120"/>
              </a:rPr>
              <a:t>"Why did the agent choose this?"</a:t>
            </a:r>
            <a:endParaRPr lang="en-US" sz="800" dirty="0"/>
          </a:p>
        </p:txBody>
      </p:sp>
      <p:sp>
        <p:nvSpPr>
          <p:cNvPr id="33" name="Text 31"/>
          <p:cNvSpPr txBox="1"/>
          <p:nvPr/>
        </p:nvSpPr>
        <p:spPr>
          <a:xfrm>
            <a:off x="9006840" y="2807208"/>
            <a:ext cx="2331720" cy="228600"/>
          </a:xfrm>
          <a:prstGeom prst="rect">
            <a:avLst/>
          </a:prstGeom>
          <a:noFill/>
          <a:ln/>
        </p:spPr>
        <p:txBody>
          <a:bodyPr wrap="square" lIns="0" tIns="0" rIns="0" bIns="0" rtlCol="0" anchor="ctr"/>
          <a:lstStyle/>
          <a:p>
            <a:pPr indent="0" marL="0">
              <a:buNone/>
            </a:pPr>
            <a:r>
              <a:rPr lang="en-US" sz="750" b="1" dirty="0">
                <a:solidFill>
                  <a:srgbClr val="0F2843"/>
                </a:solidFill>
                <a:latin typeface="Calibri" pitchFamily="34" charset="0"/>
                <a:ea typeface="Calibri" pitchFamily="34" charset="-122"/>
                <a:cs typeface="Calibri" pitchFamily="34" charset="-120"/>
              </a:rPr>
              <a:t>LEARNS → Transparent reasoning trace</a:t>
            </a:r>
            <a:endParaRPr lang="en-US" sz="750" dirty="0"/>
          </a:p>
        </p:txBody>
      </p:sp>
      <p:sp>
        <p:nvSpPr>
          <p:cNvPr id="34" name="Shape 32"/>
          <p:cNvSpPr/>
          <p:nvPr/>
        </p:nvSpPr>
        <p:spPr>
          <a:xfrm>
            <a:off x="640080" y="3154680"/>
            <a:ext cx="2606040" cy="960120"/>
          </a:xfrm>
          <a:prstGeom prst="roundRect">
            <a:avLst>
              <a:gd name="adj" fmla="val 5714"/>
            </a:avLst>
          </a:prstGeom>
          <a:solidFill>
            <a:srgbClr val="FFFFFF"/>
          </a:solidFill>
          <a:ln w="12700">
            <a:solidFill>
              <a:srgbClr val="EEF2F7"/>
            </a:solidFill>
            <a:prstDash val="solid"/>
          </a:ln>
        </p:spPr>
      </p:sp>
      <p:sp>
        <p:nvSpPr>
          <p:cNvPr id="35" name="Shape 33"/>
          <p:cNvSpPr/>
          <p:nvPr/>
        </p:nvSpPr>
        <p:spPr>
          <a:xfrm>
            <a:off x="777240" y="3264408"/>
            <a:ext cx="292608" cy="292608"/>
          </a:xfrm>
          <a:prstGeom prst="ellipse">
            <a:avLst/>
          </a:prstGeom>
          <a:solidFill>
            <a:srgbClr val="E63946"/>
          </a:solidFill>
          <a:ln/>
        </p:spPr>
      </p:sp>
      <p:sp>
        <p:nvSpPr>
          <p:cNvPr id="36" name="Text 34"/>
          <p:cNvSpPr txBox="1"/>
          <p:nvPr/>
        </p:nvSpPr>
        <p:spPr>
          <a:xfrm>
            <a:off x="777240" y="32644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7" name="Text 35"/>
          <p:cNvSpPr txBox="1"/>
          <p:nvPr/>
        </p:nvSpPr>
        <p:spPr>
          <a:xfrm>
            <a:off x="777240" y="3611880"/>
            <a:ext cx="2331720" cy="457200"/>
          </a:xfrm>
          <a:prstGeom prst="rect">
            <a:avLst/>
          </a:prstGeom>
          <a:noFill/>
          <a:ln/>
        </p:spPr>
        <p:txBody>
          <a:bodyPr wrap="square" lIns="0" tIns="0" rIns="0" bIns="0" rtlCol="0" anchor="ctr"/>
          <a:lstStyle/>
          <a:p>
            <a:pPr indent="0" marL="0">
              <a:buNone/>
            </a:pPr>
            <a:r>
              <a:rPr lang="en-US" sz="1050" b="1" dirty="0">
                <a:solidFill>
                  <a:srgbClr val="0F2843"/>
                </a:solidFill>
                <a:latin typeface="Calibri" pitchFamily="34" charset="0"/>
                <a:ea typeface="Calibri" pitchFamily="34" charset="-122"/>
                <a:cs typeface="Calibri" pitchFamily="34" charset="-120"/>
              </a:rPr>
              <a:t>Guardrails / Policy Constraints</a:t>
            </a:r>
            <a:endParaRPr lang="en-US" sz="1050" dirty="0"/>
          </a:p>
        </p:txBody>
      </p:sp>
      <p:sp>
        <p:nvSpPr>
          <p:cNvPr id="38" name="Shape 36"/>
          <p:cNvSpPr/>
          <p:nvPr/>
        </p:nvSpPr>
        <p:spPr>
          <a:xfrm>
            <a:off x="3383280" y="3154680"/>
            <a:ext cx="8138160" cy="960120"/>
          </a:xfrm>
          <a:prstGeom prst="roundRect">
            <a:avLst>
              <a:gd name="adj" fmla="val 5714"/>
            </a:avLst>
          </a:prstGeom>
          <a:solidFill>
            <a:srgbClr val="FFE3E4"/>
          </a:solidFill>
          <a:ln/>
        </p:spPr>
      </p:sp>
      <p:sp>
        <p:nvSpPr>
          <p:cNvPr id="39" name="Text 37"/>
          <p:cNvSpPr txBox="1"/>
          <p:nvPr/>
        </p:nvSpPr>
        <p:spPr>
          <a:xfrm>
            <a:off x="3611880" y="3154680"/>
            <a:ext cx="7680960" cy="960120"/>
          </a:xfrm>
          <a:prstGeom prst="rect">
            <a:avLst/>
          </a:prstGeom>
          <a:noFill/>
          <a:ln/>
        </p:spPr>
        <p:txBody>
          <a:bodyPr wrap="square" lIns="0" tIns="0" rIns="0" bIns="0" rtlCol="0" anchor="ctr"/>
          <a:lstStyle/>
          <a:p>
            <a:pPr indent="0" marL="0">
              <a:buNone/>
            </a:pPr>
            <a:r>
              <a:rPr lang="en-US" sz="1100" i="1" dirty="0">
                <a:solidFill>
                  <a:srgbClr val="0F2843"/>
                </a:solidFill>
                <a:latin typeface="Calibri" pitchFamily="34" charset="0"/>
                <a:ea typeface="Calibri" pitchFamily="34" charset="-122"/>
                <a:cs typeface="Calibri" pitchFamily="34" charset="-120"/>
              </a:rPr>
              <a:t>"What is the agent never allowed to do?"  →  Blocked / re-routed action</a:t>
            </a:r>
            <a:endParaRPr lang="en-US" sz="1100" dirty="0"/>
          </a:p>
        </p:txBody>
      </p:sp>
      <p:sp>
        <p:nvSpPr>
          <p:cNvPr id="40" name="Shape 38"/>
          <p:cNvSpPr/>
          <p:nvPr/>
        </p:nvSpPr>
        <p:spPr>
          <a:xfrm>
            <a:off x="640080" y="4297680"/>
            <a:ext cx="10881360" cy="384048"/>
          </a:xfrm>
          <a:prstGeom prst="roundRect">
            <a:avLst>
              <a:gd name="adj" fmla="val 11905"/>
            </a:avLst>
          </a:prstGeom>
          <a:solidFill>
            <a:srgbClr val="FFB627"/>
          </a:solidFill>
          <a:ln/>
        </p:spPr>
      </p:sp>
      <p:sp>
        <p:nvSpPr>
          <p:cNvPr id="41" name="Text 39"/>
          <p:cNvSpPr txBox="1"/>
          <p:nvPr/>
        </p:nvSpPr>
        <p:spPr>
          <a:xfrm>
            <a:off x="822960" y="4297680"/>
            <a:ext cx="10515600" cy="384048"/>
          </a:xfrm>
          <a:prstGeom prst="rect">
            <a:avLst/>
          </a:prstGeom>
          <a:noFill/>
          <a:ln/>
        </p:spPr>
        <p:txBody>
          <a:bodyPr wrap="square" lIns="0" tIns="0" rIns="0" bIns="0" rtlCol="0" anchor="ctr"/>
          <a:lstStyle/>
          <a:p>
            <a:pPr indent="0" marL="0">
              <a:buNone/>
            </a:pPr>
            <a:r>
              <a:rPr lang="en-US" sz="1100" b="1" dirty="0">
                <a:solidFill>
                  <a:srgbClr val="081527"/>
                </a:solidFill>
                <a:latin typeface="Calibri" pitchFamily="34" charset="0"/>
                <a:ea typeface="Calibri" pitchFamily="34" charset="-122"/>
                <a:cs typeface="Calibri" pitchFamily="34" charset="-120"/>
              </a:rPr>
              <a:t>🎯 REMEMBER:  PAUSE • STOP • ESCALATE • LOG • CONSTRAIN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502920"/>
          </a:xfrm>
          <a:prstGeom prst="rect">
            <a:avLst/>
          </a:prstGeom>
          <a:noFill/>
          <a:ln/>
        </p:spPr>
        <p:txBody>
          <a:bodyPr wrap="square" lIns="0" tIns="0" rIns="0" bIns="0" rtlCol="0" anchor="ctr"/>
          <a:lstStyle/>
          <a:p>
            <a:pPr indent="0" marL="0">
              <a:buNone/>
            </a:pPr>
            <a:r>
              <a:rPr lang="en-US" sz="2700" b="1" dirty="0">
                <a:solidFill>
                  <a:srgbClr val="0F2843"/>
                </a:solidFill>
                <a:latin typeface="Cambria" pitchFamily="34" charset="0"/>
                <a:ea typeface="Cambria" pitchFamily="34" charset="-122"/>
                <a:cs typeface="Cambria" pitchFamily="34" charset="-120"/>
              </a:rPr>
              <a:t>How Should the Agent Decide?</a:t>
            </a:r>
            <a:endParaRPr lang="en-US" sz="2700" dirty="0"/>
          </a:p>
        </p:txBody>
      </p:sp>
      <p:sp>
        <p:nvSpPr>
          <p:cNvPr id="3" name="Text 1"/>
          <p:cNvSpPr txBox="1"/>
          <p:nvPr/>
        </p:nvSpPr>
        <p:spPr>
          <a:xfrm>
            <a:off x="640080" y="960120"/>
            <a:ext cx="10515600" cy="36576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Two zones are flooding. Only one ambulance is available. What should the agent check first?</a:t>
            </a:r>
            <a:endParaRPr lang="en-US" sz="1200" dirty="0"/>
          </a:p>
        </p:txBody>
      </p:sp>
      <p:sp>
        <p:nvSpPr>
          <p:cNvPr id="4" name="Shape 2"/>
          <p:cNvSpPr/>
          <p:nvPr/>
        </p:nvSpPr>
        <p:spPr>
          <a:xfrm>
            <a:off x="640080" y="1508760"/>
            <a:ext cx="6217920" cy="502920"/>
          </a:xfrm>
          <a:prstGeom prst="roundRect">
            <a:avLst>
              <a:gd name="adj" fmla="val 10909"/>
            </a:avLst>
          </a:prstGeom>
          <a:solidFill>
            <a:srgbClr val="FFFFFF"/>
          </a:solidFill>
          <a:ln w="12700">
            <a:solidFill>
              <a:srgbClr val="EEF2F7"/>
            </a:solidFill>
            <a:prstDash val="solid"/>
          </a:ln>
        </p:spPr>
      </p:sp>
      <p:sp>
        <p:nvSpPr>
          <p:cNvPr id="5" name="Text 3"/>
          <p:cNvSpPr txBox="1"/>
          <p:nvPr/>
        </p:nvSpPr>
        <p:spPr>
          <a:xfrm>
            <a:off x="868680" y="1508760"/>
            <a:ext cx="5760720" cy="502920"/>
          </a:xfrm>
          <a:prstGeom prst="rect">
            <a:avLst/>
          </a:prstGeom>
          <a:noFill/>
          <a:ln/>
        </p:spPr>
        <p:txBody>
          <a:bodyPr wrap="square" lIns="0" tIns="0" rIns="0" bIns="0" rtlCol="0" anchor="ctr"/>
          <a:lstStyle/>
          <a:p>
            <a:pPr indent="0" marL="0">
              <a:buNone/>
            </a:pPr>
            <a:r>
              <a:rPr lang="en-US" sz="1300" b="1" dirty="0">
                <a:solidFill>
                  <a:srgbClr val="0F2843"/>
                </a:solidFill>
                <a:latin typeface="Calibri" pitchFamily="34" charset="0"/>
                <a:ea typeface="Calibri" pitchFamily="34" charset="-122"/>
                <a:cs typeface="Calibri" pitchFamily="34" charset="-120"/>
              </a:rPr>
              <a:t>Zone 7 risk = Severe?</a:t>
            </a:r>
            <a:endParaRPr lang="en-US" sz="1300" dirty="0"/>
          </a:p>
        </p:txBody>
      </p:sp>
      <p:sp>
        <p:nvSpPr>
          <p:cNvPr id="6" name="Text 4"/>
          <p:cNvSpPr txBox="1"/>
          <p:nvPr/>
        </p:nvSpPr>
        <p:spPr>
          <a:xfrm>
            <a:off x="868680" y="2011680"/>
            <a:ext cx="2743200" cy="274320"/>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 YES</a:t>
            </a:r>
            <a:endParaRPr lang="en-US" sz="1100" dirty="0"/>
          </a:p>
        </p:txBody>
      </p:sp>
      <p:sp>
        <p:nvSpPr>
          <p:cNvPr id="7" name="Shape 5"/>
          <p:cNvSpPr/>
          <p:nvPr/>
        </p:nvSpPr>
        <p:spPr>
          <a:xfrm>
            <a:off x="640080" y="2286000"/>
            <a:ext cx="6217920" cy="502920"/>
          </a:xfrm>
          <a:prstGeom prst="roundRect">
            <a:avLst>
              <a:gd name="adj" fmla="val 10909"/>
            </a:avLst>
          </a:prstGeom>
          <a:solidFill>
            <a:srgbClr val="FFFFFF"/>
          </a:solidFill>
          <a:ln w="12700">
            <a:solidFill>
              <a:srgbClr val="EEF2F7"/>
            </a:solidFill>
            <a:prstDash val="solid"/>
          </a:ln>
        </p:spPr>
      </p:sp>
      <p:sp>
        <p:nvSpPr>
          <p:cNvPr id="8" name="Text 6"/>
          <p:cNvSpPr txBox="1"/>
          <p:nvPr/>
        </p:nvSpPr>
        <p:spPr>
          <a:xfrm>
            <a:off x="868680" y="2286000"/>
            <a:ext cx="5760720" cy="502920"/>
          </a:xfrm>
          <a:prstGeom prst="rect">
            <a:avLst/>
          </a:prstGeom>
          <a:noFill/>
          <a:ln/>
        </p:spPr>
        <p:txBody>
          <a:bodyPr wrap="square" lIns="0" tIns="0" rIns="0" bIns="0" rtlCol="0" anchor="ctr"/>
          <a:lstStyle/>
          <a:p>
            <a:pPr indent="0" marL="0">
              <a:buNone/>
            </a:pPr>
            <a:r>
              <a:rPr lang="en-US" sz="1300" b="1" dirty="0">
                <a:solidFill>
                  <a:srgbClr val="0F2843"/>
                </a:solidFill>
                <a:latin typeface="Calibri" pitchFamily="34" charset="0"/>
                <a:ea typeface="Calibri" pitchFamily="34" charset="-122"/>
                <a:cs typeface="Calibri" pitchFamily="34" charset="-120"/>
              </a:rPr>
              <a:t>Zone 12 risk = Severe?</a:t>
            </a:r>
            <a:endParaRPr lang="en-US" sz="1300" dirty="0"/>
          </a:p>
        </p:txBody>
      </p:sp>
      <p:sp>
        <p:nvSpPr>
          <p:cNvPr id="9" name="Text 7"/>
          <p:cNvSpPr txBox="1"/>
          <p:nvPr/>
        </p:nvSpPr>
        <p:spPr>
          <a:xfrm>
            <a:off x="868680" y="2788920"/>
            <a:ext cx="2743200" cy="274320"/>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 YES</a:t>
            </a:r>
            <a:endParaRPr lang="en-US" sz="1100" dirty="0"/>
          </a:p>
        </p:txBody>
      </p:sp>
      <p:sp>
        <p:nvSpPr>
          <p:cNvPr id="10" name="Shape 8"/>
          <p:cNvSpPr/>
          <p:nvPr/>
        </p:nvSpPr>
        <p:spPr>
          <a:xfrm>
            <a:off x="640080" y="3063240"/>
            <a:ext cx="6217920" cy="502920"/>
          </a:xfrm>
          <a:prstGeom prst="roundRect">
            <a:avLst>
              <a:gd name="adj" fmla="val 10909"/>
            </a:avLst>
          </a:prstGeom>
          <a:solidFill>
            <a:srgbClr val="FFFFFF"/>
          </a:solidFill>
          <a:ln w="12700">
            <a:solidFill>
              <a:srgbClr val="EEF2F7"/>
            </a:solidFill>
            <a:prstDash val="solid"/>
          </a:ln>
        </p:spPr>
      </p:sp>
      <p:sp>
        <p:nvSpPr>
          <p:cNvPr id="11" name="Text 9"/>
          <p:cNvSpPr txBox="1"/>
          <p:nvPr/>
        </p:nvSpPr>
        <p:spPr>
          <a:xfrm>
            <a:off x="868680" y="3063240"/>
            <a:ext cx="5760720" cy="502920"/>
          </a:xfrm>
          <a:prstGeom prst="rect">
            <a:avLst/>
          </a:prstGeom>
          <a:noFill/>
          <a:ln/>
        </p:spPr>
        <p:txBody>
          <a:bodyPr wrap="square" lIns="0" tIns="0" rIns="0" bIns="0" rtlCol="0" anchor="ctr"/>
          <a:lstStyle/>
          <a:p>
            <a:pPr indent="0" marL="0">
              <a:buNone/>
            </a:pPr>
            <a:r>
              <a:rPr lang="en-US" sz="1300" b="1" dirty="0">
                <a:solidFill>
                  <a:srgbClr val="0F2843"/>
                </a:solidFill>
                <a:latin typeface="Calibri" pitchFamily="34" charset="0"/>
                <a:ea typeface="Calibri" pitchFamily="34" charset="-122"/>
                <a:cs typeface="Calibri" pitchFamily="34" charset="-120"/>
              </a:rPr>
              <a:t>Compare emergency calls: 38 vs 15</a:t>
            </a:r>
            <a:endParaRPr lang="en-US" sz="1300" dirty="0"/>
          </a:p>
        </p:txBody>
      </p:sp>
      <p:sp>
        <p:nvSpPr>
          <p:cNvPr id="12" name="Text 10"/>
          <p:cNvSpPr txBox="1"/>
          <p:nvPr/>
        </p:nvSpPr>
        <p:spPr>
          <a:xfrm>
            <a:off x="868680" y="3566160"/>
            <a:ext cx="2743200" cy="274320"/>
          </a:xfrm>
          <a:prstGeom prst="rect">
            <a:avLst/>
          </a:prstGeom>
          <a:noFill/>
          <a:ln/>
        </p:spPr>
        <p:txBody>
          <a:bodyPr wrap="square" lIns="0" tIns="0" rIns="0" bIns="0" rtlCol="0" anchor="ctr"/>
          <a:lstStyle/>
          <a:p>
            <a:pPr indent="0" marL="0">
              <a:buNone/>
            </a:pPr>
            <a:r>
              <a:rPr lang="en-US" sz="1100" b="1" dirty="0">
                <a:solidFill>
                  <a:srgbClr val="2A9D8F"/>
                </a:solidFill>
                <a:latin typeface="Calibri" pitchFamily="34" charset="0"/>
                <a:ea typeface="Calibri" pitchFamily="34" charset="-122"/>
                <a:cs typeface="Calibri" pitchFamily="34" charset="-120"/>
              </a:rPr>
              <a:t>↓ YES</a:t>
            </a:r>
            <a:endParaRPr lang="en-US" sz="1100" dirty="0"/>
          </a:p>
        </p:txBody>
      </p:sp>
      <p:sp>
        <p:nvSpPr>
          <p:cNvPr id="13" name="Shape 11"/>
          <p:cNvSpPr/>
          <p:nvPr/>
        </p:nvSpPr>
        <p:spPr>
          <a:xfrm>
            <a:off x="640080" y="3840480"/>
            <a:ext cx="6217920" cy="548640"/>
          </a:xfrm>
          <a:prstGeom prst="roundRect">
            <a:avLst>
              <a:gd name="adj" fmla="val 10000"/>
            </a:avLst>
          </a:prstGeom>
          <a:solidFill>
            <a:srgbClr val="E63946"/>
          </a:solidFill>
          <a:ln/>
        </p:spPr>
      </p:sp>
      <p:sp>
        <p:nvSpPr>
          <p:cNvPr id="14" name="Text 12"/>
          <p:cNvSpPr txBox="1"/>
          <p:nvPr/>
        </p:nvSpPr>
        <p:spPr>
          <a:xfrm>
            <a:off x="868680" y="3840480"/>
            <a:ext cx="576072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DISPATCH TO ZONE 7 — reroute Zone 12</a:t>
            </a:r>
            <a:endParaRPr lang="en-US" sz="1400" dirty="0"/>
          </a:p>
        </p:txBody>
      </p:sp>
      <p:sp>
        <p:nvSpPr>
          <p:cNvPr id="15" name="Shape 13"/>
          <p:cNvSpPr/>
          <p:nvPr/>
        </p:nvSpPr>
        <p:spPr>
          <a:xfrm>
            <a:off x="7178040" y="1508760"/>
            <a:ext cx="4343400" cy="1828800"/>
          </a:xfrm>
          <a:prstGeom prst="roundRect">
            <a:avLst>
              <a:gd name="adj" fmla="val 4000"/>
            </a:avLst>
          </a:prstGeom>
          <a:solidFill>
            <a:srgbClr val="0F2843"/>
          </a:solidFill>
          <a:ln/>
        </p:spPr>
      </p:sp>
      <p:sp>
        <p:nvSpPr>
          <p:cNvPr id="16" name="Text 14"/>
          <p:cNvSpPr txBox="1"/>
          <p:nvPr/>
        </p:nvSpPr>
        <p:spPr>
          <a:xfrm>
            <a:off x="7406640" y="1691640"/>
            <a:ext cx="3886200" cy="457200"/>
          </a:xfrm>
          <a:prstGeom prst="rect">
            <a:avLst/>
          </a:prstGeom>
          <a:noFill/>
          <a:ln/>
        </p:spPr>
        <p:txBody>
          <a:bodyPr wrap="square" lIns="0" tIns="0" rIns="0" bIns="0" rtlCol="0" anchor="ctr"/>
          <a:lstStyle/>
          <a:p>
            <a:pPr indent="0" marL="0">
              <a:buNone/>
            </a:pPr>
            <a:r>
              <a:rPr lang="en-US" sz="1600" b="1" dirty="0">
                <a:solidFill>
                  <a:srgbClr val="FFB627"/>
                </a:solidFill>
                <a:latin typeface="Calibri" pitchFamily="34" charset="0"/>
                <a:ea typeface="Calibri" pitchFamily="34" charset="-122"/>
                <a:cs typeface="Calibri" pitchFamily="34" charset="-120"/>
              </a:rPr>
              <a:t>You just built a ReAct reasoning loop.</a:t>
            </a:r>
            <a:endParaRPr lang="en-US" sz="1600" dirty="0"/>
          </a:p>
        </p:txBody>
      </p:sp>
      <p:sp>
        <p:nvSpPr>
          <p:cNvPr id="17" name="Text 15"/>
          <p:cNvSpPr txBox="1"/>
          <p:nvPr/>
        </p:nvSpPr>
        <p:spPr>
          <a:xfrm>
            <a:off x="7406640" y="2194560"/>
            <a:ext cx="3886200" cy="1051560"/>
          </a:xfrm>
          <a:prstGeom prst="rect">
            <a:avLst/>
          </a:prstGeom>
          <a:noFill/>
          <a:ln/>
        </p:spPr>
        <p:txBody>
          <a:bodyPr wrap="square" lIns="0" tIns="0" rIns="0" bIns="0" rtlCol="0" anchor="ctr"/>
          <a:lstStyle/>
          <a:p>
            <a:pPr indent="0" marL="0">
              <a:lnSpc>
                <a:spcPct val="120000"/>
              </a:lnSpc>
              <a:buNone/>
            </a:pPr>
            <a:r>
              <a:rPr lang="en-US" sz="1200" dirty="0">
                <a:solidFill>
                  <a:srgbClr val="E3E9F2"/>
                </a:solidFill>
                <a:latin typeface="Calibri" pitchFamily="34" charset="0"/>
                <a:ea typeface="Calibri" pitchFamily="34" charset="-122"/>
                <a:cs typeface="Calibri" pitchFamily="34" charset="-120"/>
              </a:rPr>
              <a:t>An agent using ReAct makes a decision by reasoning through a series of checks — one step at a time — until it reaches an action.</a:t>
            </a:r>
            <a:endParaRPr lang="en-US" sz="1200" dirty="0"/>
          </a:p>
        </p:txBody>
      </p:sp>
      <p:sp>
        <p:nvSpPr>
          <p:cNvPr id="18" name="Shape 16"/>
          <p:cNvSpPr/>
          <p:nvPr/>
        </p:nvSpPr>
        <p:spPr>
          <a:xfrm>
            <a:off x="640080" y="5257800"/>
            <a:ext cx="10881360" cy="594360"/>
          </a:xfrm>
          <a:prstGeom prst="roundRect">
            <a:avLst>
              <a:gd name="adj" fmla="val 9231"/>
            </a:avLst>
          </a:prstGeom>
          <a:solidFill>
            <a:srgbClr val="FFB627"/>
          </a:solidFill>
          <a:ln/>
        </p:spPr>
      </p:sp>
      <p:sp>
        <p:nvSpPr>
          <p:cNvPr id="19" name="Text 17"/>
          <p:cNvSpPr txBox="1"/>
          <p:nvPr/>
        </p:nvSpPr>
        <p:spPr>
          <a:xfrm>
            <a:off x="914400" y="5257800"/>
            <a:ext cx="10332720" cy="594360"/>
          </a:xfrm>
          <a:prstGeom prst="rect">
            <a:avLst/>
          </a:prstGeom>
          <a:noFill/>
          <a:ln/>
        </p:spPr>
        <p:txBody>
          <a:bodyPr wrap="square" lIns="0" tIns="0" rIns="0" bIns="0" rtlCol="0" anchor="ctr"/>
          <a:lstStyle/>
          <a:p>
            <a:pPr indent="0" marL="0">
              <a:buNone/>
            </a:pPr>
            <a:r>
              <a:rPr lang="en-US" sz="1200" b="1" dirty="0">
                <a:solidFill>
                  <a:srgbClr val="081527"/>
                </a:solidFill>
                <a:latin typeface="Calibri" pitchFamily="34" charset="0"/>
                <a:ea typeface="Calibri" pitchFamily="34" charset="-122"/>
                <a:cs typeface="Calibri" pitchFamily="34" charset="-120"/>
              </a:rPr>
              <a:t>For this project, we use REACT (REASON + ACT) — transparent, step-by-step, and easy to audit in an emergency.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F4A300"/>
                </a:solidFill>
                <a:latin typeface="Calibri" pitchFamily="34" charset="0"/>
                <a:ea typeface="Calibri" pitchFamily="34" charset="-122"/>
                <a:cs typeface="Calibri" pitchFamily="34" charset="-120"/>
              </a:rPr>
              <a:t>NEW PROBLEM</a:t>
            </a:r>
            <a:endParaRPr lang="en-US" sz="1200" dirty="0"/>
          </a:p>
        </p:txBody>
      </p:sp>
      <p:sp>
        <p:nvSpPr>
          <p:cNvPr id="3" name="Text 1"/>
          <p:cNvSpPr txBox="1"/>
          <p:nvPr/>
        </p:nvSpPr>
        <p:spPr>
          <a:xfrm>
            <a:off x="640080" y="777240"/>
            <a:ext cx="9601200" cy="548640"/>
          </a:xfrm>
          <a:prstGeom prst="rect">
            <a:avLst/>
          </a:prstGeom>
          <a:noFill/>
          <a:ln/>
        </p:spPr>
        <p:txBody>
          <a:bodyPr wrap="square" lIns="0" tIns="0" rIns="0" bIns="0" rtlCol="0" anchor="ctr"/>
          <a:lstStyle/>
          <a:p>
            <a:pPr indent="0" marL="0">
              <a:buNone/>
            </a:pPr>
            <a:r>
              <a:rPr lang="en-US" sz="2700" b="1" dirty="0">
                <a:solidFill>
                  <a:srgbClr val="0F2843"/>
                </a:solidFill>
                <a:latin typeface="Cambria" pitchFamily="34" charset="0"/>
                <a:ea typeface="Cambria" pitchFamily="34" charset="-122"/>
                <a:cs typeface="Cambria" pitchFamily="34" charset="-120"/>
              </a:rPr>
              <a:t>Can We Give the Agent Every Tool at Once?</a:t>
            </a:r>
            <a:endParaRPr lang="en-US" sz="2700" dirty="0"/>
          </a:p>
        </p:txBody>
      </p:sp>
      <p:sp>
        <p:nvSpPr>
          <p:cNvPr id="4" name="Shape 2"/>
          <p:cNvSpPr/>
          <p:nvPr/>
        </p:nvSpPr>
        <p:spPr>
          <a:xfrm>
            <a:off x="640080" y="1554480"/>
            <a:ext cx="6309360" cy="2377440"/>
          </a:xfrm>
          <a:prstGeom prst="roundRect">
            <a:avLst>
              <a:gd name="adj" fmla="val 2692"/>
            </a:avLst>
          </a:prstGeom>
          <a:solidFill>
            <a:srgbClr val="FFFFFF"/>
          </a:solidFill>
          <a:ln w="12700">
            <a:solidFill>
              <a:srgbClr val="EEF2F7"/>
            </a:solidFill>
            <a:prstDash val="solid"/>
          </a:ln>
        </p:spPr>
      </p:sp>
      <p:sp>
        <p:nvSpPr>
          <p:cNvPr id="5" name="Text 3"/>
          <p:cNvSpPr txBox="1"/>
          <p:nvPr/>
        </p:nvSpPr>
        <p:spPr>
          <a:xfrm>
            <a:off x="914400" y="1737360"/>
            <a:ext cx="3108960" cy="27432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Tool / Source</a:t>
            </a:r>
            <a:endParaRPr lang="en-US" sz="1100" dirty="0"/>
          </a:p>
        </p:txBody>
      </p:sp>
      <p:sp>
        <p:nvSpPr>
          <p:cNvPr id="6" name="Text 4"/>
          <p:cNvSpPr txBox="1"/>
          <p:nvPr/>
        </p:nvSpPr>
        <p:spPr>
          <a:xfrm>
            <a:off x="4114800" y="1737360"/>
            <a:ext cx="2651760" cy="27432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Issue</a:t>
            </a:r>
            <a:endParaRPr lang="en-US" sz="1100" dirty="0"/>
          </a:p>
        </p:txBody>
      </p:sp>
      <p:sp>
        <p:nvSpPr>
          <p:cNvPr id="7" name="Text 5"/>
          <p:cNvSpPr txBox="1"/>
          <p:nvPr/>
        </p:nvSpPr>
        <p:spPr>
          <a:xfrm>
            <a:off x="914400" y="2057400"/>
            <a:ext cx="3108960" cy="365760"/>
          </a:xfrm>
          <a:prstGeom prst="rect">
            <a:avLst/>
          </a:prstGeom>
          <a:noFill/>
          <a:ln/>
        </p:spPr>
        <p:txBody>
          <a:bodyPr wrap="square" lIns="0" tIns="0" rIns="0" bIns="0" rtlCol="0" anchor="ctr"/>
          <a:lstStyle/>
          <a:p>
            <a:pPr indent="0" marL="0">
              <a:buNone/>
            </a:pPr>
            <a:r>
              <a:rPr lang="en-US" sz="1100" dirty="0">
                <a:solidFill>
                  <a:srgbClr val="0F2843"/>
                </a:solidFill>
                <a:latin typeface="Calibri" pitchFamily="34" charset="0"/>
                <a:ea typeface="Calibri" pitchFamily="34" charset="-122"/>
                <a:cs typeface="Calibri" pitchFamily="34" charset="-120"/>
              </a:rPr>
              <a:t>Fleet API (v1)</a:t>
            </a:r>
            <a:endParaRPr lang="en-US" sz="1100" dirty="0"/>
          </a:p>
        </p:txBody>
      </p:sp>
      <p:sp>
        <p:nvSpPr>
          <p:cNvPr id="8" name="Text 6"/>
          <p:cNvSpPr txBox="1"/>
          <p:nvPr/>
        </p:nvSpPr>
        <p:spPr>
          <a:xfrm>
            <a:off x="4114800" y="2057400"/>
            <a:ext cx="2651760" cy="36576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Duplicate entry</a:t>
            </a:r>
            <a:endParaRPr lang="en-US" sz="1100" dirty="0"/>
          </a:p>
        </p:txBody>
      </p:sp>
      <p:sp>
        <p:nvSpPr>
          <p:cNvPr id="9" name="Text 7"/>
          <p:cNvSpPr txBox="1"/>
          <p:nvPr/>
        </p:nvSpPr>
        <p:spPr>
          <a:xfrm>
            <a:off x="914400" y="2468880"/>
            <a:ext cx="3108960" cy="365760"/>
          </a:xfrm>
          <a:prstGeom prst="rect">
            <a:avLst/>
          </a:prstGeom>
          <a:noFill/>
          <a:ln/>
        </p:spPr>
        <p:txBody>
          <a:bodyPr wrap="square" lIns="0" tIns="0" rIns="0" bIns="0" rtlCol="0" anchor="ctr"/>
          <a:lstStyle/>
          <a:p>
            <a:pPr indent="0" marL="0">
              <a:buNone/>
            </a:pPr>
            <a:r>
              <a:rPr lang="en-US" sz="1100" dirty="0">
                <a:solidFill>
                  <a:srgbClr val="0F2843"/>
                </a:solidFill>
                <a:latin typeface="Calibri" pitchFamily="34" charset="0"/>
                <a:ea typeface="Calibri" pitchFamily="34" charset="-122"/>
                <a:cs typeface="Calibri" pitchFamily="34" charset="-120"/>
              </a:rPr>
              <a:t>Fleet API (v1)  ← Duplicate</a:t>
            </a:r>
            <a:endParaRPr lang="en-US" sz="1100" dirty="0"/>
          </a:p>
        </p:txBody>
      </p:sp>
      <p:sp>
        <p:nvSpPr>
          <p:cNvPr id="10" name="Text 8"/>
          <p:cNvSpPr txBox="1"/>
          <p:nvPr/>
        </p:nvSpPr>
        <p:spPr>
          <a:xfrm>
            <a:off x="4114800" y="2468880"/>
            <a:ext cx="2651760" cy="365760"/>
          </a:xfrm>
          <a:prstGeom prst="rect">
            <a:avLst/>
          </a:prstGeom>
          <a:noFill/>
          <a:ln/>
        </p:spPr>
        <p:txBody>
          <a:bodyPr wrap="square" lIns="0" tIns="0" rIns="0" bIns="0" rtlCol="0" anchor="ctr"/>
          <a:lstStyle/>
          <a:p>
            <a:pPr indent="0" marL="0">
              <a:buNone/>
            </a:pPr>
            <a:r>
              <a:rPr lang="en-US" sz="1100" dirty="0">
                <a:solidFill>
                  <a:srgbClr val="5B6B82"/>
                </a:solidFill>
                <a:latin typeface="Calibri" pitchFamily="34" charset="0"/>
                <a:ea typeface="Calibri" pitchFamily="34" charset="-122"/>
                <a:cs typeface="Calibri" pitchFamily="34" charset="-120"/>
              </a:rPr>
              <a:t>Duplicate entry</a:t>
            </a:r>
            <a:endParaRPr lang="en-US" sz="1100" dirty="0"/>
          </a:p>
        </p:txBody>
      </p:sp>
      <p:sp>
        <p:nvSpPr>
          <p:cNvPr id="11" name="Text 9"/>
          <p:cNvSpPr txBox="1"/>
          <p:nvPr/>
        </p:nvSpPr>
        <p:spPr>
          <a:xfrm>
            <a:off x="914400" y="2880360"/>
            <a:ext cx="3108960" cy="365760"/>
          </a:xfrm>
          <a:prstGeom prst="rect">
            <a:avLst/>
          </a:prstGeom>
          <a:noFill/>
          <a:ln/>
        </p:spPr>
        <p:txBody>
          <a:bodyPr wrap="square" lIns="0" tIns="0" rIns="0" bIns="0" rtlCol="0" anchor="ctr"/>
          <a:lstStyle/>
          <a:p>
            <a:pPr indent="0" marL="0">
              <a:buNone/>
            </a:pPr>
            <a:r>
              <a:rPr lang="en-US" sz="1100" dirty="0">
                <a:solidFill>
                  <a:srgbClr val="0F2843"/>
                </a:solidFill>
                <a:latin typeface="Calibri" pitchFamily="34" charset="0"/>
                <a:ea typeface="Calibri" pitchFamily="34" charset="-122"/>
                <a:cs typeface="Calibri" pitchFamily="34" charset="-120"/>
              </a:rPr>
              <a:t>Shelter Registry</a:t>
            </a:r>
            <a:endParaRPr lang="en-US" sz="1100" dirty="0"/>
          </a:p>
        </p:txBody>
      </p:sp>
      <p:sp>
        <p:nvSpPr>
          <p:cNvPr id="12" name="Text 10"/>
          <p:cNvSpPr txBox="1"/>
          <p:nvPr/>
        </p:nvSpPr>
        <p:spPr>
          <a:xfrm>
            <a:off x="4114800" y="2880360"/>
            <a:ext cx="2651760" cy="365760"/>
          </a:xfrm>
          <a:prstGeom prst="rect">
            <a:avLst/>
          </a:prstGeom>
          <a:noFill/>
          <a:ln/>
        </p:spPr>
        <p:txBody>
          <a:bodyPr wrap="square" lIns="0" tIns="0" rIns="0" bIns="0" rtlCol="0" anchor="ctr"/>
          <a:lstStyle/>
          <a:p>
            <a:pPr indent="0" marL="0">
              <a:buNone/>
            </a:pPr>
            <a:r>
              <a:rPr lang="en-US" sz="1100" dirty="0">
                <a:solidFill>
                  <a:srgbClr val="E63946"/>
                </a:solidFill>
                <a:latin typeface="Calibri" pitchFamily="34" charset="0"/>
                <a:ea typeface="Calibri" pitchFamily="34" charset="-122"/>
                <a:cs typeface="Calibri" pitchFamily="34" charset="-120"/>
              </a:rPr>
              <a:t>Conflicting versions</a:t>
            </a:r>
            <a:endParaRPr lang="en-US" sz="1100" dirty="0"/>
          </a:p>
        </p:txBody>
      </p:sp>
      <p:sp>
        <p:nvSpPr>
          <p:cNvPr id="13" name="Text 11"/>
          <p:cNvSpPr txBox="1"/>
          <p:nvPr/>
        </p:nvSpPr>
        <p:spPr>
          <a:xfrm>
            <a:off x="914400" y="3291840"/>
            <a:ext cx="3108960" cy="365760"/>
          </a:xfrm>
          <a:prstGeom prst="rect">
            <a:avLst/>
          </a:prstGeom>
          <a:noFill/>
          <a:ln/>
        </p:spPr>
        <p:txBody>
          <a:bodyPr wrap="square" lIns="0" tIns="0" rIns="0" bIns="0" rtlCol="0" anchor="ctr"/>
          <a:lstStyle/>
          <a:p>
            <a:pPr indent="0" marL="0">
              <a:buNone/>
            </a:pPr>
            <a:r>
              <a:rPr lang="en-US" sz="1100" dirty="0">
                <a:solidFill>
                  <a:srgbClr val="0F2843"/>
                </a:solidFill>
                <a:latin typeface="Calibri" pitchFamily="34" charset="0"/>
                <a:ea typeface="Calibri" pitchFamily="34" charset="-122"/>
                <a:cs typeface="Calibri" pitchFamily="34" charset="-120"/>
              </a:rPr>
              <a:t>Compound-disaster SOP</a:t>
            </a:r>
            <a:endParaRPr lang="en-US" sz="1100" dirty="0"/>
          </a:p>
        </p:txBody>
      </p:sp>
      <p:sp>
        <p:nvSpPr>
          <p:cNvPr id="14" name="Text 12"/>
          <p:cNvSpPr txBox="1"/>
          <p:nvPr/>
        </p:nvSpPr>
        <p:spPr>
          <a:xfrm>
            <a:off x="4114800" y="3291840"/>
            <a:ext cx="2651760" cy="365760"/>
          </a:xfrm>
          <a:prstGeom prst="rect">
            <a:avLst/>
          </a:prstGeom>
          <a:noFill/>
          <a:ln/>
        </p:spPr>
        <p:txBody>
          <a:bodyPr wrap="square" lIns="0" tIns="0" rIns="0" bIns="0" rtlCol="0" anchor="ctr"/>
          <a:lstStyle/>
          <a:p>
            <a:pPr indent="0" marL="0">
              <a:buNone/>
            </a:pPr>
            <a:r>
              <a:rPr lang="en-US" sz="1100" dirty="0">
                <a:solidFill>
                  <a:srgbClr val="E63946"/>
                </a:solidFill>
                <a:latin typeface="Calibri" pitchFamily="34" charset="0"/>
                <a:ea typeface="Calibri" pitchFamily="34" charset="-122"/>
                <a:cs typeface="Calibri" pitchFamily="34" charset="-120"/>
              </a:rPr>
              <a:t>Missing entirely</a:t>
            </a:r>
            <a:endParaRPr lang="en-US" sz="1100" dirty="0"/>
          </a:p>
        </p:txBody>
      </p:sp>
      <p:sp>
        <p:nvSpPr>
          <p:cNvPr id="15" name="Shape 13"/>
          <p:cNvSpPr/>
          <p:nvPr/>
        </p:nvSpPr>
        <p:spPr>
          <a:xfrm>
            <a:off x="7223760" y="1554480"/>
            <a:ext cx="4297680" cy="1188720"/>
          </a:xfrm>
          <a:prstGeom prst="roundRect">
            <a:avLst>
              <a:gd name="adj" fmla="val 5385"/>
            </a:avLst>
          </a:prstGeom>
          <a:solidFill>
            <a:srgbClr val="0F2843"/>
          </a:solidFill>
          <a:ln/>
        </p:spPr>
      </p:sp>
      <p:sp>
        <p:nvSpPr>
          <p:cNvPr id="16" name="Text 14"/>
          <p:cNvSpPr txBox="1"/>
          <p:nvPr/>
        </p:nvSpPr>
        <p:spPr>
          <a:xfrm>
            <a:off x="7452360" y="1691640"/>
            <a:ext cx="3840480" cy="685800"/>
          </a:xfrm>
          <a:prstGeom prst="rect">
            <a:avLst/>
          </a:prstGeom>
          <a:noFill/>
          <a:ln/>
        </p:spPr>
        <p:txBody>
          <a:bodyPr wrap="square" lIns="0" tIns="0" rIns="0" bIns="0" rtlCol="0" anchor="ctr"/>
          <a:lstStyle/>
          <a:p>
            <a:pPr indent="0" marL="0">
              <a:buNone/>
            </a:pPr>
            <a:r>
              <a:rPr lang="en-US" sz="1200" dirty="0">
                <a:solidFill>
                  <a:srgbClr val="E3E9F2"/>
                </a:solidFill>
                <a:latin typeface="Calibri" pitchFamily="34" charset="0"/>
                <a:ea typeface="Calibri" pitchFamily="34" charset="-122"/>
                <a:cs typeface="Calibri" pitchFamily="34" charset="-120"/>
              </a:rPr>
              <a:t>Can we let the agent call any tool without a curated knowledge base?</a:t>
            </a:r>
            <a:endParaRPr lang="en-US" sz="1200" dirty="0"/>
          </a:p>
        </p:txBody>
      </p:sp>
      <p:sp>
        <p:nvSpPr>
          <p:cNvPr id="17" name="Text 15"/>
          <p:cNvSpPr txBox="1"/>
          <p:nvPr/>
        </p:nvSpPr>
        <p:spPr>
          <a:xfrm>
            <a:off x="7452360" y="2377440"/>
            <a:ext cx="3840480" cy="320040"/>
          </a:xfrm>
          <a:prstGeom prst="rect">
            <a:avLst/>
          </a:prstGeom>
          <a:noFill/>
          <a:ln/>
        </p:spPr>
        <p:txBody>
          <a:bodyPr wrap="square" lIns="0" tIns="0" rIns="0" bIns="0" rtlCol="0" anchor="ctr"/>
          <a:lstStyle/>
          <a:p>
            <a:pPr indent="0" marL="0">
              <a:buNone/>
            </a:pPr>
            <a:r>
              <a:rPr lang="en-US" sz="2200" b="1" dirty="0">
                <a:solidFill>
                  <a:srgbClr val="E63946"/>
                </a:solidFill>
                <a:latin typeface="Cambria" pitchFamily="34" charset="0"/>
                <a:ea typeface="Cambria" pitchFamily="34" charset="-122"/>
                <a:cs typeface="Cambria" pitchFamily="34" charset="-120"/>
              </a:rPr>
              <a:t>NO.</a:t>
            </a:r>
            <a:endParaRPr lang="en-US" sz="2200" dirty="0"/>
          </a:p>
        </p:txBody>
      </p:sp>
      <p:sp>
        <p:nvSpPr>
          <p:cNvPr id="18" name="Shape 16"/>
          <p:cNvSpPr/>
          <p:nvPr/>
        </p:nvSpPr>
        <p:spPr>
          <a:xfrm>
            <a:off x="640080" y="4206240"/>
            <a:ext cx="10881360" cy="594360"/>
          </a:xfrm>
          <a:prstGeom prst="roundRect">
            <a:avLst>
              <a:gd name="adj" fmla="val 9231"/>
            </a:avLst>
          </a:prstGeom>
          <a:solidFill>
            <a:srgbClr val="FFB627"/>
          </a:solidFill>
          <a:ln/>
        </p:spPr>
      </p:sp>
      <p:sp>
        <p:nvSpPr>
          <p:cNvPr id="19" name="Text 17"/>
          <p:cNvSpPr txBox="1"/>
          <p:nvPr/>
        </p:nvSpPr>
        <p:spPr>
          <a:xfrm>
            <a:off x="914400" y="4206240"/>
            <a:ext cx="10332720" cy="594360"/>
          </a:xfrm>
          <a:prstGeom prst="rect">
            <a:avLst/>
          </a:prstGeom>
          <a:noFill/>
          <a:ln/>
        </p:spPr>
        <p:txBody>
          <a:bodyPr wrap="square" lIns="0" tIns="0" rIns="0" bIns="0" rtlCol="0" anchor="ctr"/>
          <a:lstStyle/>
          <a:p>
            <a:pPr indent="0" marL="0">
              <a:buNone/>
            </a:pPr>
            <a:r>
              <a:rPr lang="en-US" sz="1300" b="1" dirty="0">
                <a:solidFill>
                  <a:srgbClr val="081527"/>
                </a:solidFill>
                <a:latin typeface="Calibri" pitchFamily="34" charset="0"/>
                <a:ea typeface="Calibri" pitchFamily="34" charset="-122"/>
                <a:cs typeface="Calibri" pitchFamily="34" charset="-120"/>
              </a:rPr>
              <a:t>Every agentic system needs someone to prepare the knowledge base and tools first.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1527"/>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MEET THE ROLE</a:t>
            </a:r>
            <a:endParaRPr lang="en-US" sz="1200" dirty="0"/>
          </a:p>
        </p:txBody>
      </p:sp>
      <p:sp>
        <p:nvSpPr>
          <p:cNvPr id="3" name="Shape 1"/>
          <p:cNvSpPr/>
          <p:nvPr/>
        </p:nvSpPr>
        <p:spPr>
          <a:xfrm>
            <a:off x="640080" y="822960"/>
            <a:ext cx="822960" cy="822960"/>
          </a:xfrm>
          <a:prstGeom prst="ellipse">
            <a:avLst/>
          </a:prstGeom>
          <a:solidFill>
            <a:srgbClr val="17263B"/>
          </a:solidFill>
          <a:ln w="15240">
            <a:solidFill>
              <a:srgbClr val="FFB627"/>
            </a:solidFill>
            <a:prstDash val="solid"/>
          </a:ln>
        </p:spPr>
      </p:sp>
      <p:sp>
        <p:nvSpPr>
          <p:cNvPr id="4" name="Text 2"/>
          <p:cNvSpPr txBox="1"/>
          <p:nvPr/>
        </p:nvSpPr>
        <p:spPr>
          <a:xfrm>
            <a:off x="640080" y="822960"/>
            <a:ext cx="822960" cy="8229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5" name="Text 3"/>
          <p:cNvSpPr txBox="1"/>
          <p:nvPr/>
        </p:nvSpPr>
        <p:spPr>
          <a:xfrm>
            <a:off x="1600200" y="9601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KNOWLEDGE ENGINEER</a:t>
            </a:r>
            <a:endParaRPr lang="en-US" sz="2600" dirty="0"/>
          </a:p>
        </p:txBody>
      </p:sp>
      <p:sp>
        <p:nvSpPr>
          <p:cNvPr id="6" name="Shape 4"/>
          <p:cNvSpPr/>
          <p:nvPr/>
        </p:nvSpPr>
        <p:spPr>
          <a:xfrm>
            <a:off x="640080" y="1920240"/>
            <a:ext cx="7772400" cy="594360"/>
          </a:xfrm>
          <a:prstGeom prst="roundRect">
            <a:avLst>
              <a:gd name="adj" fmla="val 7692"/>
            </a:avLst>
          </a:prstGeom>
          <a:solidFill>
            <a:srgbClr val="17263B"/>
          </a:solidFill>
          <a:ln w="12700">
            <a:solidFill>
              <a:srgbClr val="E63946"/>
            </a:solidFill>
            <a:prstDash val="solid"/>
          </a:ln>
        </p:spPr>
      </p:sp>
      <p:sp>
        <p:nvSpPr>
          <p:cNvPr id="7" name="Text 5"/>
          <p:cNvSpPr txBox="1"/>
          <p:nvPr/>
        </p:nvSpPr>
        <p:spPr>
          <a:xfrm>
            <a:off x="868680" y="1920240"/>
            <a:ext cx="7315200" cy="594360"/>
          </a:xfrm>
          <a:prstGeom prst="rect">
            <a:avLst/>
          </a:prstGeom>
          <a:noFill/>
          <a:ln/>
        </p:spPr>
        <p:txBody>
          <a:bodyPr wrap="square" lIns="0" tIns="0" rIns="0" bIns="0" rtlCol="0" anchor="ctr"/>
          <a:lstStyle/>
          <a:p>
            <a:pPr indent="0" marL="0">
              <a:buNone/>
            </a:pPr>
            <a:r>
              <a:rPr lang="en-US" sz="1200" b="1" dirty="0">
                <a:solidFill>
                  <a:srgbClr val="E63946"/>
                </a:solidFill>
                <a:latin typeface="Calibri" pitchFamily="34" charset="0"/>
                <a:ea typeface="Calibri" pitchFamily="34" charset="-122"/>
                <a:cs typeface="Calibri" pitchFamily="34" charset="-120"/>
              </a:rPr>
              <a:t>Problem:  </a:t>
            </a:r>
            <a:pPr indent="0" marL="0">
              <a:buNone/>
            </a:pPr>
            <a:r>
              <a:rPr lang="en-US" sz="1200" dirty="0">
                <a:solidFill>
                  <a:srgbClr val="E3E9F2"/>
                </a:solidFill>
                <a:latin typeface="Calibri" pitchFamily="34" charset="0"/>
                <a:ea typeface="Calibri" pitchFamily="34" charset="-122"/>
                <a:cs typeface="Calibri" pitchFamily="34" charset="-120"/>
              </a:rPr>
              <a:t>Playbooks, SOPs, and system interfaces are scattered across many sources.</a:t>
            </a:r>
            <a:endParaRPr lang="en-US" sz="1200" dirty="0"/>
          </a:p>
        </p:txBody>
      </p:sp>
      <p:sp>
        <p:nvSpPr>
          <p:cNvPr id="8" name="Shape 6"/>
          <p:cNvSpPr/>
          <p:nvPr/>
        </p:nvSpPr>
        <p:spPr>
          <a:xfrm>
            <a:off x="640080" y="2788920"/>
            <a:ext cx="7772400" cy="457200"/>
          </a:xfrm>
          <a:prstGeom prst="roundRect">
            <a:avLst>
              <a:gd name="adj" fmla="val 50000"/>
            </a:avLst>
          </a:prstGeom>
          <a:solidFill>
            <a:srgbClr val="17263B"/>
          </a:solidFill>
          <a:ln/>
        </p:spPr>
      </p:sp>
      <p:sp>
        <p:nvSpPr>
          <p:cNvPr id="9" name="Text 7"/>
          <p:cNvSpPr txBox="1"/>
          <p:nvPr/>
        </p:nvSpPr>
        <p:spPr>
          <a:xfrm>
            <a:off x="640080" y="2788920"/>
            <a:ext cx="7772400" cy="457200"/>
          </a:xfrm>
          <a:prstGeom prst="rect">
            <a:avLst/>
          </a:prstGeom>
          <a:noFill/>
          <a:ln/>
        </p:spPr>
        <p:txBody>
          <a:bodyPr wrap="square" lIns="0" tIns="0" rIns="0" bIns="0" rtlCol="0" anchor="ctr"/>
          <a:lstStyle/>
          <a:p>
            <a:pPr algn="ctr" indent="0" marL="0">
              <a:buNone/>
            </a:pPr>
            <a:r>
              <a:rPr lang="en-US" sz="1200" b="1" dirty="0">
                <a:solidFill>
                  <a:srgbClr val="E3E9F2"/>
                </a:solidFill>
                <a:latin typeface="Calibri" pitchFamily="34" charset="0"/>
                <a:ea typeface="Calibri" pitchFamily="34" charset="-122"/>
                <a:cs typeface="Calibri" pitchFamily="34" charset="-120"/>
              </a:rPr>
              <a:t>Multiple raw SOP docs</a:t>
            </a:r>
            <a:endParaRPr lang="en-US" sz="1200" dirty="0"/>
          </a:p>
        </p:txBody>
      </p:sp>
      <p:sp>
        <p:nvSpPr>
          <p:cNvPr id="10" name="Text 8"/>
          <p:cNvSpPr txBox="1"/>
          <p:nvPr/>
        </p:nvSpPr>
        <p:spPr>
          <a:xfrm>
            <a:off x="640080" y="3227832"/>
            <a:ext cx="7772400" cy="182880"/>
          </a:xfrm>
          <a:prstGeom prst="rect">
            <a:avLst/>
          </a:prstGeom>
          <a:noFill/>
          <a:ln/>
        </p:spPr>
        <p:txBody>
          <a:bodyPr wrap="square" lIns="0" tIns="0" rIns="0" bIns="0" rtlCol="0" anchor="ctr"/>
          <a:lstStyle/>
          <a:p>
            <a:pPr algn="ctr" indent="0" marL="0">
              <a:buNone/>
            </a:pPr>
            <a:r>
              <a:rPr lang="en-US" sz="1200" dirty="0">
                <a:solidFill>
                  <a:srgbClr val="9FB3CC"/>
                </a:solidFill>
              </a:rPr>
              <a:t>↓</a:t>
            </a:r>
            <a:endParaRPr lang="en-US" sz="1200" dirty="0"/>
          </a:p>
        </p:txBody>
      </p:sp>
      <p:sp>
        <p:nvSpPr>
          <p:cNvPr id="11" name="Shape 9"/>
          <p:cNvSpPr/>
          <p:nvPr/>
        </p:nvSpPr>
        <p:spPr>
          <a:xfrm>
            <a:off x="640080" y="3355848"/>
            <a:ext cx="7772400" cy="457200"/>
          </a:xfrm>
          <a:prstGeom prst="roundRect">
            <a:avLst>
              <a:gd name="adj" fmla="val 50000"/>
            </a:avLst>
          </a:prstGeom>
          <a:solidFill>
            <a:srgbClr val="17263B"/>
          </a:solidFill>
          <a:ln/>
        </p:spPr>
      </p:sp>
      <p:sp>
        <p:nvSpPr>
          <p:cNvPr id="12" name="Text 10"/>
          <p:cNvSpPr txBox="1"/>
          <p:nvPr/>
        </p:nvSpPr>
        <p:spPr>
          <a:xfrm>
            <a:off x="640080" y="3355848"/>
            <a:ext cx="7772400" cy="457200"/>
          </a:xfrm>
          <a:prstGeom prst="rect">
            <a:avLst/>
          </a:prstGeom>
          <a:noFill/>
          <a:ln/>
        </p:spPr>
        <p:txBody>
          <a:bodyPr wrap="square" lIns="0" tIns="0" rIns="0" bIns="0" rtlCol="0" anchor="ctr"/>
          <a:lstStyle/>
          <a:p>
            <a:pPr algn="ctr" indent="0" marL="0">
              <a:buNone/>
            </a:pPr>
            <a:r>
              <a:rPr lang="en-US" sz="1200" b="1" dirty="0">
                <a:solidFill>
                  <a:srgbClr val="E3E9F2"/>
                </a:solidFill>
                <a:latin typeface="Calibri" pitchFamily="34" charset="0"/>
                <a:ea typeface="Calibri" pitchFamily="34" charset="-122"/>
                <a:cs typeface="Calibri" pitchFamily="34" charset="-120"/>
              </a:rPr>
              <a:t>Structure into knowledge base</a:t>
            </a:r>
            <a:endParaRPr lang="en-US" sz="1200" dirty="0"/>
          </a:p>
        </p:txBody>
      </p:sp>
      <p:sp>
        <p:nvSpPr>
          <p:cNvPr id="13" name="Text 11"/>
          <p:cNvSpPr txBox="1"/>
          <p:nvPr/>
        </p:nvSpPr>
        <p:spPr>
          <a:xfrm>
            <a:off x="640080" y="3794760"/>
            <a:ext cx="7772400" cy="182880"/>
          </a:xfrm>
          <a:prstGeom prst="rect">
            <a:avLst/>
          </a:prstGeom>
          <a:noFill/>
          <a:ln/>
        </p:spPr>
        <p:txBody>
          <a:bodyPr wrap="square" lIns="0" tIns="0" rIns="0" bIns="0" rtlCol="0" anchor="ctr"/>
          <a:lstStyle/>
          <a:p>
            <a:pPr algn="ctr" indent="0" marL="0">
              <a:buNone/>
            </a:pPr>
            <a:r>
              <a:rPr lang="en-US" sz="1200" dirty="0">
                <a:solidFill>
                  <a:srgbClr val="9FB3CC"/>
                </a:solidFill>
              </a:rPr>
              <a:t>↓</a:t>
            </a:r>
            <a:endParaRPr lang="en-US" sz="1200" dirty="0"/>
          </a:p>
        </p:txBody>
      </p:sp>
      <p:sp>
        <p:nvSpPr>
          <p:cNvPr id="14" name="Shape 12"/>
          <p:cNvSpPr/>
          <p:nvPr/>
        </p:nvSpPr>
        <p:spPr>
          <a:xfrm>
            <a:off x="640080" y="3922776"/>
            <a:ext cx="7772400" cy="457200"/>
          </a:xfrm>
          <a:prstGeom prst="roundRect">
            <a:avLst>
              <a:gd name="adj" fmla="val 50000"/>
            </a:avLst>
          </a:prstGeom>
          <a:solidFill>
            <a:srgbClr val="17263B"/>
          </a:solidFill>
          <a:ln/>
        </p:spPr>
      </p:sp>
      <p:sp>
        <p:nvSpPr>
          <p:cNvPr id="15" name="Text 13"/>
          <p:cNvSpPr txBox="1"/>
          <p:nvPr/>
        </p:nvSpPr>
        <p:spPr>
          <a:xfrm>
            <a:off x="640080" y="3922776"/>
            <a:ext cx="7772400" cy="457200"/>
          </a:xfrm>
          <a:prstGeom prst="rect">
            <a:avLst/>
          </a:prstGeom>
          <a:noFill/>
          <a:ln/>
        </p:spPr>
        <p:txBody>
          <a:bodyPr wrap="square" lIns="0" tIns="0" rIns="0" bIns="0" rtlCol="0" anchor="ctr"/>
          <a:lstStyle/>
          <a:p>
            <a:pPr algn="ctr" indent="0" marL="0">
              <a:buNone/>
            </a:pPr>
            <a:r>
              <a:rPr lang="en-US" sz="1200" b="1" dirty="0">
                <a:solidFill>
                  <a:srgbClr val="E3E9F2"/>
                </a:solidFill>
                <a:latin typeface="Calibri" pitchFamily="34" charset="0"/>
                <a:ea typeface="Calibri" pitchFamily="34" charset="-122"/>
                <a:cs typeface="Calibri" pitchFamily="34" charset="-120"/>
              </a:rPr>
              <a:t>Wire up shelter &amp; fleet APIs</a:t>
            </a:r>
            <a:endParaRPr lang="en-US" sz="1200" dirty="0"/>
          </a:p>
        </p:txBody>
      </p:sp>
      <p:sp>
        <p:nvSpPr>
          <p:cNvPr id="16" name="Text 14"/>
          <p:cNvSpPr txBox="1"/>
          <p:nvPr/>
        </p:nvSpPr>
        <p:spPr>
          <a:xfrm>
            <a:off x="640080" y="4361688"/>
            <a:ext cx="7772400" cy="182880"/>
          </a:xfrm>
          <a:prstGeom prst="rect">
            <a:avLst/>
          </a:prstGeom>
          <a:noFill/>
          <a:ln/>
        </p:spPr>
        <p:txBody>
          <a:bodyPr wrap="square" lIns="0" tIns="0" rIns="0" bIns="0" rtlCol="0" anchor="ctr"/>
          <a:lstStyle/>
          <a:p>
            <a:pPr algn="ctr" indent="0" marL="0">
              <a:buNone/>
            </a:pPr>
            <a:r>
              <a:rPr lang="en-US" sz="1200" dirty="0">
                <a:solidFill>
                  <a:srgbClr val="9FB3CC"/>
                </a:solidFill>
              </a:rPr>
              <a:t>↓</a:t>
            </a:r>
            <a:endParaRPr lang="en-US" sz="1200" dirty="0"/>
          </a:p>
        </p:txBody>
      </p:sp>
      <p:sp>
        <p:nvSpPr>
          <p:cNvPr id="17" name="Shape 15"/>
          <p:cNvSpPr/>
          <p:nvPr/>
        </p:nvSpPr>
        <p:spPr>
          <a:xfrm>
            <a:off x="640080" y="4489704"/>
            <a:ext cx="7772400" cy="457200"/>
          </a:xfrm>
          <a:prstGeom prst="roundRect">
            <a:avLst>
              <a:gd name="adj" fmla="val 50000"/>
            </a:avLst>
          </a:prstGeom>
          <a:solidFill>
            <a:srgbClr val="FFB627"/>
          </a:solidFill>
          <a:ln/>
        </p:spPr>
      </p:sp>
      <p:sp>
        <p:nvSpPr>
          <p:cNvPr id="18" name="Text 16"/>
          <p:cNvSpPr txBox="1"/>
          <p:nvPr/>
        </p:nvSpPr>
        <p:spPr>
          <a:xfrm>
            <a:off x="640080" y="4489704"/>
            <a:ext cx="7772400" cy="457200"/>
          </a:xfrm>
          <a:prstGeom prst="rect">
            <a:avLst/>
          </a:prstGeom>
          <a:noFill/>
          <a:ln/>
        </p:spPr>
        <p:txBody>
          <a:bodyPr wrap="square" lIns="0" tIns="0" rIns="0" bIns="0" rtlCol="0" anchor="ctr"/>
          <a:lstStyle/>
          <a:p>
            <a:pPr algn="ctr" indent="0" marL="0">
              <a:buNone/>
            </a:pPr>
            <a:r>
              <a:rPr lang="en-US" sz="1200" b="1" dirty="0">
                <a:solidFill>
                  <a:srgbClr val="081527"/>
                </a:solidFill>
                <a:latin typeface="Calibri" pitchFamily="34" charset="0"/>
                <a:ea typeface="Calibri" pitchFamily="34" charset="-122"/>
                <a:cs typeface="Calibri" pitchFamily="34" charset="-120"/>
              </a:rPr>
              <a:t>ONE UNIFIED KNOWLEDGE BASE &amp; TOOL SET</a:t>
            </a:r>
            <a:endParaRPr lang="en-US" sz="1200" dirty="0"/>
          </a:p>
        </p:txBody>
      </p:sp>
      <p:sp>
        <p:nvSpPr>
          <p:cNvPr id="19" name="Shape 17"/>
          <p:cNvSpPr/>
          <p:nvPr/>
        </p:nvSpPr>
        <p:spPr>
          <a:xfrm>
            <a:off x="640080" y="5102352"/>
            <a:ext cx="7772400" cy="640080"/>
          </a:xfrm>
          <a:prstGeom prst="roundRect">
            <a:avLst>
              <a:gd name="adj" fmla="val 8571"/>
            </a:avLst>
          </a:prstGeom>
          <a:solidFill>
            <a:srgbClr val="0F3D5C"/>
          </a:solidFill>
          <a:ln/>
        </p:spPr>
      </p:sp>
      <p:sp>
        <p:nvSpPr>
          <p:cNvPr id="20" name="Text 18"/>
          <p:cNvSpPr txBox="1"/>
          <p:nvPr/>
        </p:nvSpPr>
        <p:spPr>
          <a:xfrm>
            <a:off x="868680" y="5102352"/>
            <a:ext cx="7315200" cy="640080"/>
          </a:xfrm>
          <a:prstGeom prst="rect">
            <a:avLst/>
          </a:prstGeom>
          <a:noFill/>
          <a:ln/>
        </p:spPr>
        <p:txBody>
          <a:bodyPr wrap="square" lIns="0" tIns="0" rIns="0" bIns="0" rtlCol="0" anchor="ctr"/>
          <a:lstStyle/>
          <a:p>
            <a:pPr indent="0" marL="0">
              <a:buNone/>
            </a:pPr>
            <a:r>
              <a:rPr lang="en-US" sz="1200" i="1" dirty="0">
                <a:solidFill>
                  <a:srgbClr val="E3E9F2"/>
                </a:solidFill>
                <a:latin typeface="Calibri" pitchFamily="34" charset="0"/>
                <a:ea typeface="Calibri" pitchFamily="34" charset="-122"/>
                <a:cs typeface="Calibri" pitchFamily="34" charset="-120"/>
              </a:rPr>
              <a:t>The Knowledge Engineer builds the SOP knowledge base and tool interfaces the agent reasons over.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F4A300"/>
                </a:solidFill>
                <a:latin typeface="Calibri" pitchFamily="34" charset="0"/>
                <a:ea typeface="Calibri" pitchFamily="34" charset="-122"/>
                <a:cs typeface="Calibri" pitchFamily="34" charset="-120"/>
              </a:rPr>
              <a:t>NEW PROBLEM</a:t>
            </a:r>
            <a:endParaRPr lang="en-US" sz="1200" dirty="0"/>
          </a:p>
        </p:txBody>
      </p:sp>
      <p:sp>
        <p:nvSpPr>
          <p:cNvPr id="3" name="Text 1"/>
          <p:cNvSpPr txBox="1"/>
          <p:nvPr/>
        </p:nvSpPr>
        <p:spPr>
          <a:xfrm>
            <a:off x="640080" y="777240"/>
            <a:ext cx="9144000" cy="548640"/>
          </a:xfrm>
          <a:prstGeom prst="rect">
            <a:avLst/>
          </a:prstGeom>
          <a:noFill/>
          <a:ln/>
        </p:spPr>
        <p:txBody>
          <a:bodyPr wrap="square" lIns="0" tIns="0" rIns="0" bIns="0" rtlCol="0" anchor="ctr"/>
          <a:lstStyle/>
          <a:p>
            <a:pPr indent="0" marL="0">
              <a:buNone/>
            </a:pPr>
            <a:r>
              <a:rPr lang="en-US" sz="2700" b="1" dirty="0">
                <a:solidFill>
                  <a:srgbClr val="0F2843"/>
                </a:solidFill>
                <a:latin typeface="Cambria" pitchFamily="34" charset="0"/>
                <a:ea typeface="Cambria" pitchFamily="34" charset="-122"/>
                <a:cs typeface="Cambria" pitchFamily="34" charset="-120"/>
              </a:rPr>
              <a:t>Does the Plan Make Sense?</a:t>
            </a:r>
            <a:endParaRPr lang="en-US" sz="2700" dirty="0"/>
          </a:p>
        </p:txBody>
      </p:sp>
      <p:sp>
        <p:nvSpPr>
          <p:cNvPr id="4" name="Text 2"/>
          <p:cNvSpPr txBox="1"/>
          <p:nvPr/>
        </p:nvSpPr>
        <p:spPr>
          <a:xfrm>
            <a:off x="640080" y="1325880"/>
            <a:ext cx="9601200" cy="365760"/>
          </a:xfrm>
          <a:prstGeom prst="rect">
            <a:avLst/>
          </a:prstGeom>
          <a:noFill/>
          <a:ln/>
        </p:spPr>
        <p:txBody>
          <a:bodyPr wrap="square" lIns="0" tIns="0" rIns="0" bIns="0" rtlCol="0" anchor="ctr"/>
          <a:lstStyle/>
          <a:p>
            <a:pPr indent="0" marL="0">
              <a:buNone/>
            </a:pPr>
            <a:r>
              <a:rPr lang="en-US" sz="1200" dirty="0">
                <a:solidFill>
                  <a:srgbClr val="5B6B82"/>
                </a:solidFill>
                <a:latin typeface="Calibri" pitchFamily="34" charset="0"/>
                <a:ea typeface="Calibri" pitchFamily="34" charset="-122"/>
                <a:cs typeface="Calibri" pitchFamily="34" charset="-120"/>
              </a:rPr>
              <a:t>Does this subtask breakdown look right? Or could a step be missing or redundant?</a:t>
            </a:r>
            <a:endParaRPr lang="en-US" sz="1200" dirty="0"/>
          </a:p>
        </p:txBody>
      </p:sp>
      <p:sp>
        <p:nvSpPr>
          <p:cNvPr id="5" name="Shape 3"/>
          <p:cNvSpPr/>
          <p:nvPr/>
        </p:nvSpPr>
        <p:spPr>
          <a:xfrm>
            <a:off x="640080" y="1828800"/>
            <a:ext cx="6309360" cy="2103120"/>
          </a:xfrm>
          <a:prstGeom prst="roundRect">
            <a:avLst>
              <a:gd name="adj" fmla="val 3043"/>
            </a:avLst>
          </a:prstGeom>
          <a:solidFill>
            <a:srgbClr val="FFFFFF"/>
          </a:solidFill>
          <a:ln w="12700">
            <a:solidFill>
              <a:srgbClr val="EEF2F7"/>
            </a:solidFill>
            <a:prstDash val="solid"/>
          </a:ln>
        </p:spPr>
      </p:sp>
      <p:sp>
        <p:nvSpPr>
          <p:cNvPr id="6" name="Text 4"/>
          <p:cNvSpPr txBox="1"/>
          <p:nvPr/>
        </p:nvSpPr>
        <p:spPr>
          <a:xfrm>
            <a:off x="914400" y="2011680"/>
            <a:ext cx="1371600" cy="36576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Goal</a:t>
            </a:r>
            <a:endParaRPr lang="en-US" sz="1100" dirty="0"/>
          </a:p>
        </p:txBody>
      </p:sp>
      <p:sp>
        <p:nvSpPr>
          <p:cNvPr id="7" name="Text 5"/>
          <p:cNvSpPr txBox="1"/>
          <p:nvPr/>
        </p:nvSpPr>
        <p:spPr>
          <a:xfrm>
            <a:off x="2377440" y="2011680"/>
            <a:ext cx="4389120" cy="365760"/>
          </a:xfrm>
          <a:prstGeom prst="rect">
            <a:avLst/>
          </a:prstGeom>
          <a:noFill/>
          <a:ln/>
        </p:spPr>
        <p:txBody>
          <a:bodyPr wrap="square" lIns="0" tIns="0" rIns="0" bIns="0" rtlCol="0" anchor="ctr"/>
          <a:lstStyle/>
          <a:p>
            <a:pPr indent="0" marL="0">
              <a:buNone/>
            </a:pPr>
            <a:r>
              <a:rPr lang="en-US" sz="1150" dirty="0">
                <a:solidFill>
                  <a:srgbClr val="0F2843"/>
                </a:solidFill>
                <a:latin typeface="Calibri" pitchFamily="34" charset="0"/>
                <a:ea typeface="Calibri" pitchFamily="34" charset="-122"/>
                <a:cs typeface="Calibri" pitchFamily="34" charset="-120"/>
              </a:rPr>
              <a:t>Evacuate Zone 7</a:t>
            </a:r>
            <a:endParaRPr lang="en-US" sz="1150" dirty="0"/>
          </a:p>
        </p:txBody>
      </p:sp>
      <p:sp>
        <p:nvSpPr>
          <p:cNvPr id="8" name="Text 6"/>
          <p:cNvSpPr txBox="1"/>
          <p:nvPr/>
        </p:nvSpPr>
        <p:spPr>
          <a:xfrm>
            <a:off x="914400" y="2468880"/>
            <a:ext cx="1371600" cy="36576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Step 1</a:t>
            </a:r>
            <a:endParaRPr lang="en-US" sz="1100" dirty="0"/>
          </a:p>
        </p:txBody>
      </p:sp>
      <p:sp>
        <p:nvSpPr>
          <p:cNvPr id="9" name="Text 7"/>
          <p:cNvSpPr txBox="1"/>
          <p:nvPr/>
        </p:nvSpPr>
        <p:spPr>
          <a:xfrm>
            <a:off x="2377440" y="2468880"/>
            <a:ext cx="4389120" cy="365760"/>
          </a:xfrm>
          <a:prstGeom prst="rect">
            <a:avLst/>
          </a:prstGeom>
          <a:noFill/>
          <a:ln/>
        </p:spPr>
        <p:txBody>
          <a:bodyPr wrap="square" lIns="0" tIns="0" rIns="0" bIns="0" rtlCol="0" anchor="ctr"/>
          <a:lstStyle/>
          <a:p>
            <a:pPr indent="0" marL="0">
              <a:buNone/>
            </a:pPr>
            <a:r>
              <a:rPr lang="en-US" sz="1150" dirty="0">
                <a:solidFill>
                  <a:srgbClr val="0F2843"/>
                </a:solidFill>
                <a:latin typeface="Calibri" pitchFamily="34" charset="0"/>
                <a:ea typeface="Calibri" pitchFamily="34" charset="-122"/>
                <a:cs typeface="Calibri" pitchFamily="34" charset="-120"/>
              </a:rPr>
              <a:t>Check ambulance availability</a:t>
            </a:r>
            <a:endParaRPr lang="en-US" sz="1150" dirty="0"/>
          </a:p>
        </p:txBody>
      </p:sp>
      <p:sp>
        <p:nvSpPr>
          <p:cNvPr id="10" name="Text 8"/>
          <p:cNvSpPr txBox="1"/>
          <p:nvPr/>
        </p:nvSpPr>
        <p:spPr>
          <a:xfrm>
            <a:off x="914400" y="2926080"/>
            <a:ext cx="1371600" cy="36576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Step 2</a:t>
            </a:r>
            <a:endParaRPr lang="en-US" sz="1100" dirty="0"/>
          </a:p>
        </p:txBody>
      </p:sp>
      <p:sp>
        <p:nvSpPr>
          <p:cNvPr id="11" name="Text 9"/>
          <p:cNvSpPr txBox="1"/>
          <p:nvPr/>
        </p:nvSpPr>
        <p:spPr>
          <a:xfrm>
            <a:off x="2377440" y="2926080"/>
            <a:ext cx="4389120" cy="365760"/>
          </a:xfrm>
          <a:prstGeom prst="rect">
            <a:avLst/>
          </a:prstGeom>
          <a:noFill/>
          <a:ln/>
        </p:spPr>
        <p:txBody>
          <a:bodyPr wrap="square" lIns="0" tIns="0" rIns="0" bIns="0" rtlCol="0" anchor="ctr"/>
          <a:lstStyle/>
          <a:p>
            <a:pPr indent="0" marL="0">
              <a:buNone/>
            </a:pPr>
            <a:r>
              <a:rPr lang="en-US" sz="1150" dirty="0">
                <a:solidFill>
                  <a:srgbClr val="E63946"/>
                </a:solidFill>
                <a:latin typeface="Calibri" pitchFamily="34" charset="0"/>
                <a:ea typeface="Calibri" pitchFamily="34" charset="-122"/>
                <a:cs typeface="Calibri" pitchFamily="34" charset="-120"/>
              </a:rPr>
              <a:t>Check ambulance availability  ← Duplicate</a:t>
            </a:r>
            <a:endParaRPr lang="en-US" sz="1150" dirty="0"/>
          </a:p>
        </p:txBody>
      </p:sp>
      <p:sp>
        <p:nvSpPr>
          <p:cNvPr id="12" name="Text 10"/>
          <p:cNvSpPr txBox="1"/>
          <p:nvPr/>
        </p:nvSpPr>
        <p:spPr>
          <a:xfrm>
            <a:off x="914400" y="3383280"/>
            <a:ext cx="1371600" cy="36576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Step 3</a:t>
            </a:r>
            <a:endParaRPr lang="en-US" sz="1100" dirty="0"/>
          </a:p>
        </p:txBody>
      </p:sp>
      <p:sp>
        <p:nvSpPr>
          <p:cNvPr id="13" name="Text 11"/>
          <p:cNvSpPr txBox="1"/>
          <p:nvPr/>
        </p:nvSpPr>
        <p:spPr>
          <a:xfrm>
            <a:off x="2377440" y="3383280"/>
            <a:ext cx="4389120" cy="365760"/>
          </a:xfrm>
          <a:prstGeom prst="rect">
            <a:avLst/>
          </a:prstGeom>
          <a:noFill/>
          <a:ln/>
        </p:spPr>
        <p:txBody>
          <a:bodyPr wrap="square" lIns="0" tIns="0" rIns="0" bIns="0" rtlCol="0" anchor="ctr"/>
          <a:lstStyle/>
          <a:p>
            <a:pPr indent="0" marL="0">
              <a:buNone/>
            </a:pPr>
            <a:r>
              <a:rPr lang="en-US" sz="1150" dirty="0">
                <a:solidFill>
                  <a:srgbClr val="0F2843"/>
                </a:solidFill>
                <a:latin typeface="Calibri" pitchFamily="34" charset="0"/>
                <a:ea typeface="Calibri" pitchFamily="34" charset="-122"/>
                <a:cs typeface="Calibri" pitchFamily="34" charset="-120"/>
              </a:rPr>
              <a:t>Notify shelter of incoming evacuees</a:t>
            </a:r>
            <a:endParaRPr lang="en-US" sz="1150" dirty="0"/>
          </a:p>
        </p:txBody>
      </p:sp>
      <p:sp>
        <p:nvSpPr>
          <p:cNvPr id="14" name="Shape 12"/>
          <p:cNvSpPr/>
          <p:nvPr/>
        </p:nvSpPr>
        <p:spPr>
          <a:xfrm>
            <a:off x="7315200" y="1828800"/>
            <a:ext cx="640080" cy="640080"/>
          </a:xfrm>
          <a:prstGeom prst="ellipse">
            <a:avLst/>
          </a:prstGeom>
          <a:solidFill>
            <a:srgbClr val="0F2843"/>
          </a:solidFill>
          <a:ln/>
        </p:spPr>
      </p:sp>
      <p:sp>
        <p:nvSpPr>
          <p:cNvPr id="15" name="Text 13"/>
          <p:cNvSpPr txBox="1"/>
          <p:nvPr/>
        </p:nvSpPr>
        <p:spPr>
          <a:xfrm>
            <a:off x="7315200" y="1828800"/>
            <a:ext cx="640080" cy="6400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Text 14"/>
          <p:cNvSpPr txBox="1"/>
          <p:nvPr/>
        </p:nvSpPr>
        <p:spPr>
          <a:xfrm>
            <a:off x="8092440" y="1920240"/>
            <a:ext cx="3383280" cy="457200"/>
          </a:xfrm>
          <a:prstGeom prst="rect">
            <a:avLst/>
          </a:prstGeom>
          <a:noFill/>
          <a:ln/>
        </p:spPr>
        <p:txBody>
          <a:bodyPr wrap="square" lIns="0" tIns="0" rIns="0" bIns="0" rtlCol="0" anchor="ctr"/>
          <a:lstStyle/>
          <a:p>
            <a:pPr indent="0" marL="0">
              <a:buNone/>
            </a:pPr>
            <a:r>
              <a:rPr lang="en-US" sz="1500" b="1" dirty="0">
                <a:solidFill>
                  <a:srgbClr val="0F2843"/>
                </a:solidFill>
                <a:latin typeface="Calibri" pitchFamily="34" charset="0"/>
                <a:ea typeface="Calibri" pitchFamily="34" charset="-122"/>
                <a:cs typeface="Calibri" pitchFamily="34" charset="-120"/>
              </a:rPr>
              <a:t>WORKFLOW ENGINEER</a:t>
            </a:r>
            <a:endParaRPr lang="en-US" sz="1500" dirty="0"/>
          </a:p>
        </p:txBody>
      </p:sp>
      <p:sp>
        <p:nvSpPr>
          <p:cNvPr id="17" name="Text 15"/>
          <p:cNvSpPr txBox="1"/>
          <p:nvPr/>
        </p:nvSpPr>
        <p:spPr>
          <a:xfrm>
            <a:off x="7315200" y="2423160"/>
            <a:ext cx="4114800" cy="1371600"/>
          </a:xfrm>
          <a:prstGeom prst="rect">
            <a:avLst/>
          </a:prstGeom>
          <a:noFill/>
          <a:ln/>
        </p:spPr>
        <p:txBody>
          <a:bodyPr wrap="square" lIns="0" tIns="0" rIns="0" bIns="0" rtlCol="0" anchor="ctr"/>
          <a:lstStyle/>
          <a:p>
            <a:pPr indent="0" marL="0">
              <a:lnSpc>
                <a:spcPct val="120000"/>
              </a:lnSpc>
              <a:buNone/>
            </a:pPr>
            <a:r>
              <a:rPr lang="en-US" sz="1150" dirty="0">
                <a:solidFill>
                  <a:srgbClr val="5B6B82"/>
                </a:solidFill>
                <a:latin typeface="Calibri" pitchFamily="34" charset="0"/>
                <a:ea typeface="Calibri" pitchFamily="34" charset="-122"/>
                <a:cs typeface="Calibri" pitchFamily="34" charset="-120"/>
              </a:rPr>
              <a:t>Deconstructs macro goals into concrete, tool-executable subtasks and checks whether the breakdown makes sense.</a:t>
            </a:r>
            <a:endParaRPr lang="en-US" sz="1150" dirty="0"/>
          </a:p>
        </p:txBody>
      </p:sp>
      <p:sp>
        <p:nvSpPr>
          <p:cNvPr id="18" name="Shape 16"/>
          <p:cNvSpPr/>
          <p:nvPr/>
        </p:nvSpPr>
        <p:spPr>
          <a:xfrm>
            <a:off x="640080" y="4297680"/>
            <a:ext cx="2651760" cy="548640"/>
          </a:xfrm>
          <a:prstGeom prst="roundRect">
            <a:avLst>
              <a:gd name="adj" fmla="val 50000"/>
            </a:avLst>
          </a:prstGeom>
          <a:solidFill>
            <a:srgbClr val="EEF2F7"/>
          </a:solidFill>
          <a:ln/>
        </p:spPr>
      </p:sp>
      <p:sp>
        <p:nvSpPr>
          <p:cNvPr id="19" name="Text 17"/>
          <p:cNvSpPr txBox="1"/>
          <p:nvPr/>
        </p:nvSpPr>
        <p:spPr>
          <a:xfrm>
            <a:off x="640080" y="4297680"/>
            <a:ext cx="2651760" cy="548640"/>
          </a:xfrm>
          <a:prstGeom prst="rect">
            <a:avLst/>
          </a:prstGeom>
          <a:noFill/>
          <a:ln/>
        </p:spPr>
        <p:txBody>
          <a:bodyPr wrap="square" lIns="0" tIns="0" rIns="0" bIns="0" rtlCol="0" anchor="ctr"/>
          <a:lstStyle/>
          <a:p>
            <a:pPr algn="ctr" indent="0" marL="0">
              <a:buNone/>
            </a:pPr>
            <a:r>
              <a:rPr lang="en-US" sz="1050" b="1" dirty="0">
                <a:solidFill>
                  <a:srgbClr val="0F2843"/>
                </a:solidFill>
                <a:latin typeface="Calibri" pitchFamily="34" charset="0"/>
                <a:ea typeface="Calibri" pitchFamily="34" charset="-122"/>
                <a:cs typeface="Calibri" pitchFamily="34" charset="-120"/>
              </a:rPr>
              <a:t>Clean Knowledge Base</a:t>
            </a:r>
            <a:endParaRPr lang="en-US" sz="1050" dirty="0"/>
          </a:p>
        </p:txBody>
      </p:sp>
      <p:sp>
        <p:nvSpPr>
          <p:cNvPr id="20" name="Text 18"/>
          <p:cNvSpPr txBox="1"/>
          <p:nvPr/>
        </p:nvSpPr>
        <p:spPr>
          <a:xfrm>
            <a:off x="3300984" y="4297680"/>
            <a:ext cx="182880" cy="548640"/>
          </a:xfrm>
          <a:prstGeom prst="rect">
            <a:avLst/>
          </a:prstGeom>
          <a:noFill/>
          <a:ln/>
        </p:spPr>
        <p:txBody>
          <a:bodyPr wrap="square" lIns="0" tIns="0" rIns="0" bIns="0" rtlCol="0" anchor="ctr"/>
          <a:lstStyle/>
          <a:p>
            <a:pPr algn="ctr" indent="0" marL="0">
              <a:buNone/>
            </a:pPr>
            <a:r>
              <a:rPr lang="en-US" sz="1400" dirty="0">
                <a:solidFill>
                  <a:srgbClr val="5B6B82"/>
                </a:solidFill>
              </a:rPr>
              <a:t>→</a:t>
            </a:r>
            <a:endParaRPr lang="en-US" sz="1400" dirty="0"/>
          </a:p>
        </p:txBody>
      </p:sp>
      <p:sp>
        <p:nvSpPr>
          <p:cNvPr id="21" name="Shape 19"/>
          <p:cNvSpPr/>
          <p:nvPr/>
        </p:nvSpPr>
        <p:spPr>
          <a:xfrm>
            <a:off x="3429000" y="4297680"/>
            <a:ext cx="2651760" cy="548640"/>
          </a:xfrm>
          <a:prstGeom prst="roundRect">
            <a:avLst>
              <a:gd name="adj" fmla="val 50000"/>
            </a:avLst>
          </a:prstGeom>
          <a:solidFill>
            <a:srgbClr val="EEF2F7"/>
          </a:solidFill>
          <a:ln/>
        </p:spPr>
      </p:sp>
      <p:sp>
        <p:nvSpPr>
          <p:cNvPr id="22" name="Text 20"/>
          <p:cNvSpPr txBox="1"/>
          <p:nvPr/>
        </p:nvSpPr>
        <p:spPr>
          <a:xfrm>
            <a:off x="3429000" y="4297680"/>
            <a:ext cx="2651760" cy="548640"/>
          </a:xfrm>
          <a:prstGeom prst="rect">
            <a:avLst/>
          </a:prstGeom>
          <a:noFill/>
          <a:ln/>
        </p:spPr>
        <p:txBody>
          <a:bodyPr wrap="square" lIns="0" tIns="0" rIns="0" bIns="0" rtlCol="0" anchor="ctr"/>
          <a:lstStyle/>
          <a:p>
            <a:pPr algn="ctr" indent="0" marL="0">
              <a:buNone/>
            </a:pPr>
            <a:r>
              <a:rPr lang="en-US" sz="1050" b="1" dirty="0">
                <a:solidFill>
                  <a:srgbClr val="0F2843"/>
                </a:solidFill>
                <a:latin typeface="Calibri" pitchFamily="34" charset="0"/>
                <a:ea typeface="Calibri" pitchFamily="34" charset="-122"/>
                <a:cs typeface="Calibri" pitchFamily="34" charset="-120"/>
              </a:rPr>
              <a:t>Break Down Goal</a:t>
            </a:r>
            <a:endParaRPr lang="en-US" sz="1050" dirty="0"/>
          </a:p>
        </p:txBody>
      </p:sp>
      <p:sp>
        <p:nvSpPr>
          <p:cNvPr id="23" name="Text 21"/>
          <p:cNvSpPr txBox="1"/>
          <p:nvPr/>
        </p:nvSpPr>
        <p:spPr>
          <a:xfrm>
            <a:off x="6089904" y="4297680"/>
            <a:ext cx="182880" cy="548640"/>
          </a:xfrm>
          <a:prstGeom prst="rect">
            <a:avLst/>
          </a:prstGeom>
          <a:noFill/>
          <a:ln/>
        </p:spPr>
        <p:txBody>
          <a:bodyPr wrap="square" lIns="0" tIns="0" rIns="0" bIns="0" rtlCol="0" anchor="ctr"/>
          <a:lstStyle/>
          <a:p>
            <a:pPr algn="ctr" indent="0" marL="0">
              <a:buNone/>
            </a:pPr>
            <a:r>
              <a:rPr lang="en-US" sz="1400" dirty="0">
                <a:solidFill>
                  <a:srgbClr val="5B6B82"/>
                </a:solidFill>
              </a:rPr>
              <a:t>→</a:t>
            </a:r>
            <a:endParaRPr lang="en-US" sz="1400" dirty="0"/>
          </a:p>
        </p:txBody>
      </p:sp>
      <p:sp>
        <p:nvSpPr>
          <p:cNvPr id="24" name="Shape 22"/>
          <p:cNvSpPr/>
          <p:nvPr/>
        </p:nvSpPr>
        <p:spPr>
          <a:xfrm>
            <a:off x="6217920" y="4297680"/>
            <a:ext cx="2651760" cy="548640"/>
          </a:xfrm>
          <a:prstGeom prst="roundRect">
            <a:avLst>
              <a:gd name="adj" fmla="val 50000"/>
            </a:avLst>
          </a:prstGeom>
          <a:solidFill>
            <a:srgbClr val="EEF2F7"/>
          </a:solidFill>
          <a:ln/>
        </p:spPr>
      </p:sp>
      <p:sp>
        <p:nvSpPr>
          <p:cNvPr id="25" name="Text 23"/>
          <p:cNvSpPr txBox="1"/>
          <p:nvPr/>
        </p:nvSpPr>
        <p:spPr>
          <a:xfrm>
            <a:off x="6217920" y="4297680"/>
            <a:ext cx="2651760" cy="548640"/>
          </a:xfrm>
          <a:prstGeom prst="rect">
            <a:avLst/>
          </a:prstGeom>
          <a:noFill/>
          <a:ln/>
        </p:spPr>
        <p:txBody>
          <a:bodyPr wrap="square" lIns="0" tIns="0" rIns="0" bIns="0" rtlCol="0" anchor="ctr"/>
          <a:lstStyle/>
          <a:p>
            <a:pPr algn="ctr" indent="0" marL="0">
              <a:buNone/>
            </a:pPr>
            <a:r>
              <a:rPr lang="en-US" sz="1050" b="1" dirty="0">
                <a:solidFill>
                  <a:srgbClr val="0F2843"/>
                </a:solidFill>
                <a:latin typeface="Calibri" pitchFamily="34" charset="0"/>
                <a:ea typeface="Calibri" pitchFamily="34" charset="-122"/>
                <a:cs typeface="Calibri" pitchFamily="34" charset="-120"/>
              </a:rPr>
              <a:t>Check Subtasks</a:t>
            </a:r>
            <a:endParaRPr lang="en-US" sz="1050" dirty="0"/>
          </a:p>
        </p:txBody>
      </p:sp>
      <p:sp>
        <p:nvSpPr>
          <p:cNvPr id="26" name="Text 24"/>
          <p:cNvSpPr txBox="1"/>
          <p:nvPr/>
        </p:nvSpPr>
        <p:spPr>
          <a:xfrm>
            <a:off x="8878824" y="4297680"/>
            <a:ext cx="182880" cy="548640"/>
          </a:xfrm>
          <a:prstGeom prst="rect">
            <a:avLst/>
          </a:prstGeom>
          <a:noFill/>
          <a:ln/>
        </p:spPr>
        <p:txBody>
          <a:bodyPr wrap="square" lIns="0" tIns="0" rIns="0" bIns="0" rtlCol="0" anchor="ctr"/>
          <a:lstStyle/>
          <a:p>
            <a:pPr algn="ctr" indent="0" marL="0">
              <a:buNone/>
            </a:pPr>
            <a:r>
              <a:rPr lang="en-US" sz="1400" dirty="0">
                <a:solidFill>
                  <a:srgbClr val="5B6B82"/>
                </a:solidFill>
              </a:rPr>
              <a:t>→</a:t>
            </a:r>
            <a:endParaRPr lang="en-US" sz="1400" dirty="0"/>
          </a:p>
        </p:txBody>
      </p:sp>
      <p:sp>
        <p:nvSpPr>
          <p:cNvPr id="27" name="Shape 25"/>
          <p:cNvSpPr/>
          <p:nvPr/>
        </p:nvSpPr>
        <p:spPr>
          <a:xfrm>
            <a:off x="9006840" y="4297680"/>
            <a:ext cx="2651760" cy="548640"/>
          </a:xfrm>
          <a:prstGeom prst="roundRect">
            <a:avLst>
              <a:gd name="adj" fmla="val 50000"/>
            </a:avLst>
          </a:prstGeom>
          <a:solidFill>
            <a:srgbClr val="2A9D8F"/>
          </a:solidFill>
          <a:ln/>
        </p:spPr>
      </p:sp>
      <p:sp>
        <p:nvSpPr>
          <p:cNvPr id="28" name="Text 26"/>
          <p:cNvSpPr txBox="1"/>
          <p:nvPr/>
        </p:nvSpPr>
        <p:spPr>
          <a:xfrm>
            <a:off x="9006840" y="4297680"/>
            <a:ext cx="265176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Verified Task Plan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81527"/>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MEET THE ROLE</a:t>
            </a:r>
            <a:endParaRPr lang="en-US" sz="1200" dirty="0"/>
          </a:p>
        </p:txBody>
      </p:sp>
      <p:sp>
        <p:nvSpPr>
          <p:cNvPr id="3" name="Text 1"/>
          <p:cNvSpPr txBox="1"/>
          <p:nvPr/>
        </p:nvSpPr>
        <p:spPr>
          <a:xfrm>
            <a:off x="640080" y="731520"/>
            <a:ext cx="10058400" cy="457200"/>
          </a:xfrm>
          <a:prstGeom prst="rect">
            <a:avLst/>
          </a:prstGeom>
          <a:noFill/>
          <a:ln/>
        </p:spPr>
        <p:txBody>
          <a:bodyPr wrap="square" lIns="0" tIns="0" rIns="0" bIns="0" rtlCol="0" anchor="ctr"/>
          <a:lstStyle/>
          <a:p>
            <a:pPr indent="0" marL="0">
              <a:buNone/>
            </a:pPr>
            <a:r>
              <a:rPr lang="en-US" sz="1300" i="1" dirty="0">
                <a:solidFill>
                  <a:srgbClr val="9FB3CC"/>
                </a:solidFill>
                <a:latin typeface="Calibri" pitchFamily="34" charset="0"/>
                <a:ea typeface="Calibri" pitchFamily="34" charset="-122"/>
                <a:cs typeface="Calibri" pitchFamily="34" charset="-120"/>
              </a:rPr>
              <a:t>Now our knowledge base and task plan are ready. What should we do next?</a:t>
            </a:r>
            <a:endParaRPr lang="en-US" sz="1300" dirty="0"/>
          </a:p>
        </p:txBody>
      </p:sp>
      <p:sp>
        <p:nvSpPr>
          <p:cNvPr id="4" name="Shape 2"/>
          <p:cNvSpPr/>
          <p:nvPr/>
        </p:nvSpPr>
        <p:spPr>
          <a:xfrm>
            <a:off x="640080" y="1325880"/>
            <a:ext cx="777240" cy="777240"/>
          </a:xfrm>
          <a:prstGeom prst="ellipse">
            <a:avLst/>
          </a:prstGeom>
          <a:solidFill>
            <a:srgbClr val="17263B"/>
          </a:solidFill>
          <a:ln w="15240">
            <a:solidFill>
              <a:srgbClr val="FFB627"/>
            </a:solidFill>
            <a:prstDash val="solid"/>
          </a:ln>
        </p:spPr>
      </p:sp>
      <p:sp>
        <p:nvSpPr>
          <p:cNvPr id="5" name="Text 3"/>
          <p:cNvSpPr txBox="1"/>
          <p:nvPr/>
        </p:nvSpPr>
        <p:spPr>
          <a:xfrm>
            <a:off x="640080" y="1325880"/>
            <a:ext cx="777240" cy="77724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6" name="Text 4"/>
          <p:cNvSpPr txBox="1"/>
          <p:nvPr/>
        </p:nvSpPr>
        <p:spPr>
          <a:xfrm>
            <a:off x="1554480" y="1463040"/>
            <a:ext cx="73152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AGENT ENGINEER</a:t>
            </a:r>
            <a:endParaRPr lang="en-US" sz="2600" dirty="0"/>
          </a:p>
        </p:txBody>
      </p:sp>
      <p:sp>
        <p:nvSpPr>
          <p:cNvPr id="7" name="Shape 5"/>
          <p:cNvSpPr/>
          <p:nvPr/>
        </p:nvSpPr>
        <p:spPr>
          <a:xfrm>
            <a:off x="640080" y="2468880"/>
            <a:ext cx="2834640" cy="384048"/>
          </a:xfrm>
          <a:prstGeom prst="roundRect">
            <a:avLst>
              <a:gd name="adj" fmla="val 11905"/>
            </a:avLst>
          </a:prstGeom>
          <a:solidFill>
            <a:srgbClr val="17263B"/>
          </a:solidFill>
          <a:ln/>
        </p:spPr>
      </p:sp>
      <p:sp>
        <p:nvSpPr>
          <p:cNvPr id="8" name="Text 6"/>
          <p:cNvSpPr txBox="1"/>
          <p:nvPr/>
        </p:nvSpPr>
        <p:spPr>
          <a:xfrm>
            <a:off x="822960" y="2468880"/>
            <a:ext cx="2468880" cy="384048"/>
          </a:xfrm>
          <a:prstGeom prst="rect">
            <a:avLst/>
          </a:prstGeom>
          <a:noFill/>
          <a:ln/>
        </p:spPr>
        <p:txBody>
          <a:bodyPr wrap="square" lIns="0" tIns="0" rIns="0" bIns="0" rtlCol="0" anchor="ctr"/>
          <a:lstStyle/>
          <a:p>
            <a:pPr indent="0" marL="0">
              <a:buNone/>
            </a:pPr>
            <a:r>
              <a:rPr lang="en-US" sz="1100" dirty="0">
                <a:solidFill>
                  <a:srgbClr val="E3E9F2"/>
                </a:solidFill>
                <a:latin typeface="Calibri" pitchFamily="34" charset="0"/>
                <a:ea typeface="Calibri" pitchFamily="34" charset="-122"/>
                <a:cs typeface="Calibri" pitchFamily="34" charset="-120"/>
              </a:rPr>
              <a:t>Zone Risk Data</a:t>
            </a:r>
            <a:endParaRPr lang="en-US" sz="1100" dirty="0"/>
          </a:p>
        </p:txBody>
      </p:sp>
      <p:sp>
        <p:nvSpPr>
          <p:cNvPr id="9" name="Shape 7"/>
          <p:cNvSpPr/>
          <p:nvPr/>
        </p:nvSpPr>
        <p:spPr>
          <a:xfrm>
            <a:off x="640080" y="2971800"/>
            <a:ext cx="2834640" cy="384048"/>
          </a:xfrm>
          <a:prstGeom prst="roundRect">
            <a:avLst>
              <a:gd name="adj" fmla="val 11905"/>
            </a:avLst>
          </a:prstGeom>
          <a:solidFill>
            <a:srgbClr val="17263B"/>
          </a:solidFill>
          <a:ln/>
        </p:spPr>
      </p:sp>
      <p:sp>
        <p:nvSpPr>
          <p:cNvPr id="10" name="Text 8"/>
          <p:cNvSpPr txBox="1"/>
          <p:nvPr/>
        </p:nvSpPr>
        <p:spPr>
          <a:xfrm>
            <a:off x="822960" y="2971800"/>
            <a:ext cx="2468880" cy="384048"/>
          </a:xfrm>
          <a:prstGeom prst="rect">
            <a:avLst/>
          </a:prstGeom>
          <a:noFill/>
          <a:ln/>
        </p:spPr>
        <p:txBody>
          <a:bodyPr wrap="square" lIns="0" tIns="0" rIns="0" bIns="0" rtlCol="0" anchor="ctr"/>
          <a:lstStyle/>
          <a:p>
            <a:pPr indent="0" marL="0">
              <a:buNone/>
            </a:pPr>
            <a:r>
              <a:rPr lang="en-US" sz="1100" dirty="0">
                <a:solidFill>
                  <a:srgbClr val="E3E9F2"/>
                </a:solidFill>
                <a:latin typeface="Calibri" pitchFamily="34" charset="0"/>
                <a:ea typeface="Calibri" pitchFamily="34" charset="-122"/>
                <a:cs typeface="Calibri" pitchFamily="34" charset="-120"/>
              </a:rPr>
              <a:t>Vision Alerts</a:t>
            </a:r>
            <a:endParaRPr lang="en-US" sz="1100" dirty="0"/>
          </a:p>
        </p:txBody>
      </p:sp>
      <p:sp>
        <p:nvSpPr>
          <p:cNvPr id="11" name="Shape 9"/>
          <p:cNvSpPr/>
          <p:nvPr/>
        </p:nvSpPr>
        <p:spPr>
          <a:xfrm>
            <a:off x="640080" y="3474720"/>
            <a:ext cx="2834640" cy="384048"/>
          </a:xfrm>
          <a:prstGeom prst="roundRect">
            <a:avLst>
              <a:gd name="adj" fmla="val 11905"/>
            </a:avLst>
          </a:prstGeom>
          <a:solidFill>
            <a:srgbClr val="17263B"/>
          </a:solidFill>
          <a:ln/>
        </p:spPr>
      </p:sp>
      <p:sp>
        <p:nvSpPr>
          <p:cNvPr id="12" name="Text 10"/>
          <p:cNvSpPr txBox="1"/>
          <p:nvPr/>
        </p:nvSpPr>
        <p:spPr>
          <a:xfrm>
            <a:off x="822960" y="3474720"/>
            <a:ext cx="2468880" cy="384048"/>
          </a:xfrm>
          <a:prstGeom prst="rect">
            <a:avLst/>
          </a:prstGeom>
          <a:noFill/>
          <a:ln/>
        </p:spPr>
        <p:txBody>
          <a:bodyPr wrap="square" lIns="0" tIns="0" rIns="0" bIns="0" rtlCol="0" anchor="ctr"/>
          <a:lstStyle/>
          <a:p>
            <a:pPr indent="0" marL="0">
              <a:buNone/>
            </a:pPr>
            <a:r>
              <a:rPr lang="en-US" sz="1100" dirty="0">
                <a:solidFill>
                  <a:srgbClr val="E3E9F2"/>
                </a:solidFill>
                <a:latin typeface="Calibri" pitchFamily="34" charset="0"/>
                <a:ea typeface="Calibri" pitchFamily="34" charset="-122"/>
                <a:cs typeface="Calibri" pitchFamily="34" charset="-120"/>
              </a:rPr>
              <a:t>Text Urgency</a:t>
            </a:r>
            <a:endParaRPr lang="en-US" sz="1100" dirty="0"/>
          </a:p>
        </p:txBody>
      </p:sp>
      <p:sp>
        <p:nvSpPr>
          <p:cNvPr id="13" name="Shape 11"/>
          <p:cNvSpPr/>
          <p:nvPr/>
        </p:nvSpPr>
        <p:spPr>
          <a:xfrm>
            <a:off x="640080" y="3977640"/>
            <a:ext cx="2834640" cy="384048"/>
          </a:xfrm>
          <a:prstGeom prst="roundRect">
            <a:avLst>
              <a:gd name="adj" fmla="val 11905"/>
            </a:avLst>
          </a:prstGeom>
          <a:solidFill>
            <a:srgbClr val="17263B"/>
          </a:solidFill>
          <a:ln/>
        </p:spPr>
      </p:sp>
      <p:sp>
        <p:nvSpPr>
          <p:cNvPr id="14" name="Text 12"/>
          <p:cNvSpPr txBox="1"/>
          <p:nvPr/>
        </p:nvSpPr>
        <p:spPr>
          <a:xfrm>
            <a:off x="822960" y="3977640"/>
            <a:ext cx="2468880" cy="384048"/>
          </a:xfrm>
          <a:prstGeom prst="rect">
            <a:avLst/>
          </a:prstGeom>
          <a:noFill/>
          <a:ln/>
        </p:spPr>
        <p:txBody>
          <a:bodyPr wrap="square" lIns="0" tIns="0" rIns="0" bIns="0" rtlCol="0" anchor="ctr"/>
          <a:lstStyle/>
          <a:p>
            <a:pPr indent="0" marL="0">
              <a:buNone/>
            </a:pPr>
            <a:r>
              <a:rPr lang="en-US" sz="1100" dirty="0">
                <a:solidFill>
                  <a:srgbClr val="E3E9F2"/>
                </a:solidFill>
                <a:latin typeface="Calibri" pitchFamily="34" charset="0"/>
                <a:ea typeface="Calibri" pitchFamily="34" charset="-122"/>
                <a:cs typeface="Calibri" pitchFamily="34" charset="-120"/>
              </a:rPr>
              <a:t>Resource Inventory</a:t>
            </a:r>
            <a:endParaRPr lang="en-US" sz="1100" dirty="0"/>
          </a:p>
        </p:txBody>
      </p:sp>
      <p:sp>
        <p:nvSpPr>
          <p:cNvPr id="15" name="Text 13"/>
          <p:cNvSpPr txBox="1"/>
          <p:nvPr/>
        </p:nvSpPr>
        <p:spPr>
          <a:xfrm>
            <a:off x="3611880" y="3063240"/>
            <a:ext cx="548640" cy="548640"/>
          </a:xfrm>
          <a:prstGeom prst="rect">
            <a:avLst/>
          </a:prstGeom>
          <a:noFill/>
          <a:ln/>
        </p:spPr>
        <p:txBody>
          <a:bodyPr wrap="square" lIns="0" tIns="0" rIns="0" bIns="0" rtlCol="0" anchor="ctr"/>
          <a:lstStyle/>
          <a:p>
            <a:pPr algn="ctr" indent="0" marL="0">
              <a:buNone/>
            </a:pPr>
            <a:r>
              <a:rPr lang="en-US" sz="2200" dirty="0">
                <a:solidFill>
                  <a:srgbClr val="9FB3CC"/>
                </a:solidFill>
              </a:rPr>
              <a:t>→</a:t>
            </a:r>
            <a:endParaRPr lang="en-US" sz="2200" dirty="0"/>
          </a:p>
        </p:txBody>
      </p:sp>
      <p:sp>
        <p:nvSpPr>
          <p:cNvPr id="16" name="Shape 14"/>
          <p:cNvSpPr/>
          <p:nvPr/>
        </p:nvSpPr>
        <p:spPr>
          <a:xfrm>
            <a:off x="4297680" y="2651760"/>
            <a:ext cx="2834640" cy="1463040"/>
          </a:xfrm>
          <a:prstGeom prst="roundRect">
            <a:avLst>
              <a:gd name="adj" fmla="val 4375"/>
            </a:avLst>
          </a:prstGeom>
          <a:solidFill>
            <a:srgbClr val="FFB627"/>
          </a:solidFill>
          <a:ln/>
        </p:spPr>
      </p:sp>
      <p:sp>
        <p:nvSpPr>
          <p:cNvPr id="17" name="Text 15"/>
          <p:cNvSpPr txBox="1"/>
          <p:nvPr/>
        </p:nvSpPr>
        <p:spPr>
          <a:xfrm>
            <a:off x="4297680" y="2651760"/>
            <a:ext cx="2834640" cy="1463040"/>
          </a:xfrm>
          <a:prstGeom prst="rect">
            <a:avLst/>
          </a:prstGeom>
          <a:noFill/>
          <a:ln/>
        </p:spPr>
        <p:txBody>
          <a:bodyPr wrap="square" lIns="0" tIns="0" rIns="0" bIns="0" rtlCol="0" anchor="ctr"/>
          <a:lstStyle/>
          <a:p>
            <a:pPr algn="ctr" indent="0" marL="0">
              <a:buNone/>
            </a:pPr>
            <a:r>
              <a:rPr lang="en-US" sz="1500" b="1" dirty="0">
                <a:solidFill>
                  <a:srgbClr val="081527"/>
                </a:solidFill>
                <a:latin typeface="Calibri" pitchFamily="34" charset="0"/>
                <a:ea typeface="Calibri" pitchFamily="34" charset="-122"/>
                <a:cs typeface="Calibri" pitchFamily="34" charset="-120"/>
              </a:rPr>
              <a:t>AGENT</a:t>
            </a:r>
            <a:endParaRPr lang="en-US" sz="1500" dirty="0"/>
          </a:p>
          <a:p>
            <a:pPr algn="ctr" indent="0" marL="0">
              <a:buNone/>
            </a:pPr>
            <a:r>
              <a:rPr lang="en-US" sz="1500" b="1" dirty="0">
                <a:solidFill>
                  <a:srgbClr val="081527"/>
                </a:solidFill>
                <a:latin typeface="Calibri" pitchFamily="34" charset="0"/>
                <a:ea typeface="Calibri" pitchFamily="34" charset="-122"/>
                <a:cs typeface="Calibri" pitchFamily="34" charset="-120"/>
              </a:rPr>
              <a:t>(ReAct Loop)</a:t>
            </a:r>
            <a:endParaRPr lang="en-US" sz="1500" dirty="0"/>
          </a:p>
        </p:txBody>
      </p:sp>
      <p:sp>
        <p:nvSpPr>
          <p:cNvPr id="18" name="Text 16"/>
          <p:cNvSpPr txBox="1"/>
          <p:nvPr/>
        </p:nvSpPr>
        <p:spPr>
          <a:xfrm>
            <a:off x="7315200" y="3063240"/>
            <a:ext cx="548640" cy="548640"/>
          </a:xfrm>
          <a:prstGeom prst="rect">
            <a:avLst/>
          </a:prstGeom>
          <a:noFill/>
          <a:ln/>
        </p:spPr>
        <p:txBody>
          <a:bodyPr wrap="square" lIns="0" tIns="0" rIns="0" bIns="0" rtlCol="0" anchor="ctr"/>
          <a:lstStyle/>
          <a:p>
            <a:pPr algn="ctr" indent="0" marL="0">
              <a:buNone/>
            </a:pPr>
            <a:r>
              <a:rPr lang="en-US" sz="2200" dirty="0">
                <a:solidFill>
                  <a:srgbClr val="9FB3CC"/>
                </a:solidFill>
              </a:rPr>
              <a:t>→</a:t>
            </a:r>
            <a:endParaRPr lang="en-US" sz="2200" dirty="0"/>
          </a:p>
        </p:txBody>
      </p:sp>
      <p:sp>
        <p:nvSpPr>
          <p:cNvPr id="19" name="Shape 17"/>
          <p:cNvSpPr/>
          <p:nvPr/>
        </p:nvSpPr>
        <p:spPr>
          <a:xfrm>
            <a:off x="8001000" y="2651760"/>
            <a:ext cx="3108960" cy="384048"/>
          </a:xfrm>
          <a:prstGeom prst="roundRect">
            <a:avLst>
              <a:gd name="adj" fmla="val 11905"/>
            </a:avLst>
          </a:prstGeom>
          <a:solidFill>
            <a:srgbClr val="2A9D8F"/>
          </a:solidFill>
          <a:ln/>
        </p:spPr>
      </p:sp>
      <p:sp>
        <p:nvSpPr>
          <p:cNvPr id="20" name="Text 18"/>
          <p:cNvSpPr txBox="1"/>
          <p:nvPr/>
        </p:nvSpPr>
        <p:spPr>
          <a:xfrm>
            <a:off x="8183880" y="2651760"/>
            <a:ext cx="274320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Low</a:t>
            </a:r>
            <a:endParaRPr lang="en-US" sz="1100" dirty="0"/>
          </a:p>
        </p:txBody>
      </p:sp>
      <p:sp>
        <p:nvSpPr>
          <p:cNvPr id="21" name="Shape 19"/>
          <p:cNvSpPr/>
          <p:nvPr/>
        </p:nvSpPr>
        <p:spPr>
          <a:xfrm>
            <a:off x="8001000" y="3154680"/>
            <a:ext cx="3108960" cy="384048"/>
          </a:xfrm>
          <a:prstGeom prst="roundRect">
            <a:avLst>
              <a:gd name="adj" fmla="val 11905"/>
            </a:avLst>
          </a:prstGeom>
          <a:solidFill>
            <a:srgbClr val="F4A300"/>
          </a:solidFill>
          <a:ln/>
        </p:spPr>
      </p:sp>
      <p:sp>
        <p:nvSpPr>
          <p:cNvPr id="22" name="Text 20"/>
          <p:cNvSpPr txBox="1"/>
          <p:nvPr/>
        </p:nvSpPr>
        <p:spPr>
          <a:xfrm>
            <a:off x="8183880" y="3154680"/>
            <a:ext cx="274320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Moderate</a:t>
            </a:r>
            <a:endParaRPr lang="en-US" sz="1100" dirty="0"/>
          </a:p>
        </p:txBody>
      </p:sp>
      <p:sp>
        <p:nvSpPr>
          <p:cNvPr id="23" name="Shape 21"/>
          <p:cNvSpPr/>
          <p:nvPr/>
        </p:nvSpPr>
        <p:spPr>
          <a:xfrm>
            <a:off x="8001000" y="3657600"/>
            <a:ext cx="3108960" cy="384048"/>
          </a:xfrm>
          <a:prstGeom prst="roundRect">
            <a:avLst>
              <a:gd name="adj" fmla="val 11905"/>
            </a:avLst>
          </a:prstGeom>
          <a:solidFill>
            <a:srgbClr val="E63946"/>
          </a:solidFill>
          <a:ln/>
        </p:spPr>
      </p:sp>
      <p:sp>
        <p:nvSpPr>
          <p:cNvPr id="24" name="Text 22"/>
          <p:cNvSpPr txBox="1"/>
          <p:nvPr/>
        </p:nvSpPr>
        <p:spPr>
          <a:xfrm>
            <a:off x="8183880" y="3657600"/>
            <a:ext cx="274320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Severe → Dispatch</a:t>
            </a:r>
            <a:endParaRPr lang="en-US" sz="1100" dirty="0"/>
          </a:p>
        </p:txBody>
      </p:sp>
      <p:sp>
        <p:nvSpPr>
          <p:cNvPr id="25" name="Shape 23"/>
          <p:cNvSpPr/>
          <p:nvPr/>
        </p:nvSpPr>
        <p:spPr>
          <a:xfrm>
            <a:off x="640080" y="4709160"/>
            <a:ext cx="10515600" cy="640080"/>
          </a:xfrm>
          <a:prstGeom prst="roundRect">
            <a:avLst>
              <a:gd name="adj" fmla="val 8571"/>
            </a:avLst>
          </a:prstGeom>
          <a:solidFill>
            <a:srgbClr val="0F3D5C"/>
          </a:solidFill>
          <a:ln/>
        </p:spPr>
      </p:sp>
      <p:sp>
        <p:nvSpPr>
          <p:cNvPr id="26" name="Text 24"/>
          <p:cNvSpPr txBox="1"/>
          <p:nvPr/>
        </p:nvSpPr>
        <p:spPr>
          <a:xfrm>
            <a:off x="914400" y="4709160"/>
            <a:ext cx="9966960" cy="640080"/>
          </a:xfrm>
          <a:prstGeom prst="rect">
            <a:avLst/>
          </a:prstGeom>
          <a:noFill/>
          <a:ln/>
        </p:spPr>
        <p:txBody>
          <a:bodyPr wrap="square" lIns="0" tIns="0" rIns="0" bIns="0" rtlCol="0" anchor="ctr"/>
          <a:lstStyle/>
          <a:p>
            <a:pPr indent="0" marL="0">
              <a:buNone/>
            </a:pPr>
            <a:r>
              <a:rPr lang="en-US" sz="1200" i="1" dirty="0">
                <a:solidFill>
                  <a:srgbClr val="E3E9F2"/>
                </a:solidFill>
                <a:latin typeface="Calibri" pitchFamily="34" charset="0"/>
                <a:ea typeface="Calibri" pitchFamily="34" charset="-122"/>
                <a:cs typeface="Calibri" pitchFamily="34" charset="-120"/>
              </a:rPr>
              <a:t>The Agent Engineer designs the core reasoning loop, tool-invocation logic, and decision-making process.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F4A300"/>
                </a:solidFill>
                <a:latin typeface="Calibri" pitchFamily="34" charset="0"/>
                <a:ea typeface="Calibri" pitchFamily="34" charset="-122"/>
                <a:cs typeface="Calibri" pitchFamily="34" charset="-120"/>
              </a:rPr>
              <a:t>CAN WE TRUST IT?</a:t>
            </a:r>
            <a:endParaRPr lang="en-US" sz="1200" dirty="0"/>
          </a:p>
        </p:txBody>
      </p:sp>
      <p:sp>
        <p:nvSpPr>
          <p:cNvPr id="3" name="Text 1"/>
          <p:cNvSpPr txBox="1"/>
          <p:nvPr/>
        </p:nvSpPr>
        <p:spPr>
          <a:xfrm>
            <a:off x="640080" y="777240"/>
            <a:ext cx="10332720" cy="548640"/>
          </a:xfrm>
          <a:prstGeom prst="rect">
            <a:avLst/>
          </a:prstGeom>
          <a:noFill/>
          <a:ln/>
        </p:spPr>
        <p:txBody>
          <a:bodyPr wrap="square" lIns="0" tIns="0" rIns="0" bIns="0" rtlCol="0" anchor="ctr"/>
          <a:lstStyle/>
          <a:p>
            <a:pPr indent="0" marL="0">
              <a:buNone/>
            </a:pPr>
            <a:r>
              <a:rPr lang="en-US" sz="2200" b="1" dirty="0">
                <a:solidFill>
                  <a:srgbClr val="0F2843"/>
                </a:solidFill>
                <a:latin typeface="Cambria" pitchFamily="34" charset="0"/>
                <a:ea typeface="Cambria" pitchFamily="34" charset="-122"/>
                <a:cs typeface="Cambria" pitchFamily="34" charset="-120"/>
              </a:rPr>
              <a:t>The agent's plan is perfect on the training scenarios. Should we trust it immediately?</a:t>
            </a:r>
            <a:endParaRPr lang="en-US" sz="2200" dirty="0"/>
          </a:p>
        </p:txBody>
      </p:sp>
      <p:sp>
        <p:nvSpPr>
          <p:cNvPr id="4" name="Text 2"/>
          <p:cNvSpPr txBox="1"/>
          <p:nvPr/>
        </p:nvSpPr>
        <p:spPr>
          <a:xfrm>
            <a:off x="640080" y="1371600"/>
            <a:ext cx="2743200" cy="457200"/>
          </a:xfrm>
          <a:prstGeom prst="rect">
            <a:avLst/>
          </a:prstGeom>
          <a:noFill/>
          <a:ln/>
        </p:spPr>
        <p:txBody>
          <a:bodyPr wrap="square" lIns="0" tIns="0" rIns="0" bIns="0" rtlCol="0" anchor="ctr"/>
          <a:lstStyle/>
          <a:p>
            <a:pPr indent="0" marL="0">
              <a:buNone/>
            </a:pPr>
            <a:r>
              <a:rPr lang="en-US" sz="2600" b="1" dirty="0">
                <a:solidFill>
                  <a:srgbClr val="E63946"/>
                </a:solidFill>
                <a:latin typeface="Cambria" pitchFamily="34" charset="0"/>
                <a:ea typeface="Cambria" pitchFamily="34" charset="-122"/>
                <a:cs typeface="Cambria" pitchFamily="34" charset="-120"/>
              </a:rPr>
              <a:t>NO.</a:t>
            </a:r>
            <a:endParaRPr lang="en-US" sz="2600" dirty="0"/>
          </a:p>
        </p:txBody>
      </p:sp>
      <p:sp>
        <p:nvSpPr>
          <p:cNvPr id="5" name="Shape 3"/>
          <p:cNvSpPr/>
          <p:nvPr/>
        </p:nvSpPr>
        <p:spPr>
          <a:xfrm>
            <a:off x="640080" y="1965960"/>
            <a:ext cx="5212080" cy="1097280"/>
          </a:xfrm>
          <a:prstGeom prst="roundRect">
            <a:avLst>
              <a:gd name="adj" fmla="val 5833"/>
            </a:avLst>
          </a:prstGeom>
          <a:solidFill>
            <a:srgbClr val="E7F5F3"/>
          </a:solidFill>
          <a:ln/>
        </p:spPr>
      </p:sp>
      <p:sp>
        <p:nvSpPr>
          <p:cNvPr id="6" name="Text 4"/>
          <p:cNvSpPr txBox="1"/>
          <p:nvPr/>
        </p:nvSpPr>
        <p:spPr>
          <a:xfrm>
            <a:off x="914400" y="2103120"/>
            <a:ext cx="4663440" cy="320040"/>
          </a:xfrm>
          <a:prstGeom prst="rect">
            <a:avLst/>
          </a:prstGeom>
          <a:noFill/>
          <a:ln/>
        </p:spPr>
        <p:txBody>
          <a:bodyPr wrap="square" lIns="0" tIns="0" rIns="0" bIns="0" rtlCol="0" anchor="ctr"/>
          <a:lstStyle/>
          <a:p>
            <a:pPr indent="0" marL="0">
              <a:buNone/>
            </a:pPr>
            <a:r>
              <a:rPr lang="en-US" sz="1300" b="1" dirty="0">
                <a:solidFill>
                  <a:srgbClr val="2A9D8F"/>
                </a:solidFill>
                <a:latin typeface="Calibri" pitchFamily="34" charset="0"/>
                <a:ea typeface="Calibri" pitchFamily="34" charset="-122"/>
                <a:cs typeface="Calibri" pitchFamily="34" charset="-120"/>
              </a:rPr>
              <a:t>TRAINING SCENARIOS</a:t>
            </a:r>
            <a:endParaRPr lang="en-US" sz="1300" dirty="0"/>
          </a:p>
        </p:txBody>
      </p:sp>
      <p:sp>
        <p:nvSpPr>
          <p:cNvPr id="7" name="Text 5"/>
          <p:cNvSpPr txBox="1"/>
          <p:nvPr/>
        </p:nvSpPr>
        <p:spPr>
          <a:xfrm>
            <a:off x="914400" y="2423160"/>
            <a:ext cx="4663440" cy="502920"/>
          </a:xfrm>
          <a:prstGeom prst="rect">
            <a:avLst/>
          </a:prstGeom>
          <a:noFill/>
          <a:ln/>
        </p:spPr>
        <p:txBody>
          <a:bodyPr wrap="square" lIns="0" tIns="0" rIns="0" bIns="0" rtlCol="0" anchor="ctr"/>
          <a:lstStyle/>
          <a:p>
            <a:pPr indent="0" marL="0">
              <a:buNone/>
            </a:pPr>
            <a:r>
              <a:rPr lang="en-US" sz="1150" dirty="0">
                <a:solidFill>
                  <a:srgbClr val="5B6B82"/>
                </a:solidFill>
                <a:latin typeface="Calibri" pitchFamily="34" charset="0"/>
                <a:ea typeface="Calibri" pitchFamily="34" charset="-122"/>
                <a:cs typeface="Calibri" pitchFamily="34" charset="-120"/>
              </a:rPr>
              <a:t>Agent has already seen these</a:t>
            </a:r>
            <a:endParaRPr lang="en-US" sz="1150" dirty="0"/>
          </a:p>
        </p:txBody>
      </p:sp>
      <p:sp>
        <p:nvSpPr>
          <p:cNvPr id="8" name="Shape 6"/>
          <p:cNvSpPr/>
          <p:nvPr/>
        </p:nvSpPr>
        <p:spPr>
          <a:xfrm>
            <a:off x="6035040" y="1965960"/>
            <a:ext cx="5212080" cy="1097280"/>
          </a:xfrm>
          <a:prstGeom prst="roundRect">
            <a:avLst>
              <a:gd name="adj" fmla="val 5833"/>
            </a:avLst>
          </a:prstGeom>
          <a:solidFill>
            <a:srgbClr val="FFE3E4"/>
          </a:solidFill>
          <a:ln/>
        </p:spPr>
      </p:sp>
      <p:sp>
        <p:nvSpPr>
          <p:cNvPr id="9" name="Text 7"/>
          <p:cNvSpPr txBox="1"/>
          <p:nvPr/>
        </p:nvSpPr>
        <p:spPr>
          <a:xfrm>
            <a:off x="6309360" y="2103120"/>
            <a:ext cx="4663440" cy="320040"/>
          </a:xfrm>
          <a:prstGeom prst="rect">
            <a:avLst/>
          </a:prstGeom>
          <a:noFill/>
          <a:ln/>
        </p:spPr>
        <p:txBody>
          <a:bodyPr wrap="square" lIns="0" tIns="0" rIns="0" bIns="0" rtlCol="0" anchor="ctr"/>
          <a:lstStyle/>
          <a:p>
            <a:pPr indent="0" marL="0">
              <a:buNone/>
            </a:pPr>
            <a:r>
              <a:rPr lang="en-US" sz="1300" b="1" dirty="0">
                <a:solidFill>
                  <a:srgbClr val="E63946"/>
                </a:solidFill>
                <a:latin typeface="Calibri" pitchFamily="34" charset="0"/>
                <a:ea typeface="Calibri" pitchFamily="34" charset="-122"/>
                <a:cs typeface="Calibri" pitchFamily="34" charset="-120"/>
              </a:rPr>
              <a:t>LIVE UNSEEN INCIDENTS</a:t>
            </a:r>
            <a:endParaRPr lang="en-US" sz="1300" dirty="0"/>
          </a:p>
        </p:txBody>
      </p:sp>
      <p:sp>
        <p:nvSpPr>
          <p:cNvPr id="10" name="Text 8"/>
          <p:cNvSpPr txBox="1"/>
          <p:nvPr/>
        </p:nvSpPr>
        <p:spPr>
          <a:xfrm>
            <a:off x="6309360" y="2423160"/>
            <a:ext cx="4663440" cy="502920"/>
          </a:xfrm>
          <a:prstGeom prst="rect">
            <a:avLst/>
          </a:prstGeom>
          <a:noFill/>
          <a:ln/>
        </p:spPr>
        <p:txBody>
          <a:bodyPr wrap="square" lIns="0" tIns="0" rIns="0" bIns="0" rtlCol="0" anchor="ctr"/>
          <a:lstStyle/>
          <a:p>
            <a:pPr indent="0" marL="0">
              <a:buNone/>
            </a:pPr>
            <a:r>
              <a:rPr lang="en-US" sz="1150" dirty="0">
                <a:solidFill>
                  <a:srgbClr val="5B6B82"/>
                </a:solidFill>
                <a:latin typeface="Calibri" pitchFamily="34" charset="0"/>
                <a:ea typeface="Calibri" pitchFamily="34" charset="-122"/>
                <a:cs typeface="Calibri" pitchFamily="34" charset="-120"/>
              </a:rPr>
              <a:t>Agent has never encountered these</a:t>
            </a:r>
            <a:endParaRPr lang="en-US" sz="1150" dirty="0"/>
          </a:p>
        </p:txBody>
      </p:sp>
      <p:sp>
        <p:nvSpPr>
          <p:cNvPr id="11" name="Shape 9"/>
          <p:cNvSpPr/>
          <p:nvPr/>
        </p:nvSpPr>
        <p:spPr>
          <a:xfrm>
            <a:off x="640080" y="3337560"/>
            <a:ext cx="548640" cy="548640"/>
          </a:xfrm>
          <a:prstGeom prst="ellipse">
            <a:avLst/>
          </a:prstGeom>
          <a:solidFill>
            <a:srgbClr val="2A9D8F"/>
          </a:solidFill>
          <a:ln/>
        </p:spPr>
      </p:sp>
      <p:sp>
        <p:nvSpPr>
          <p:cNvPr id="12" name="Text 10"/>
          <p:cNvSpPr txBox="1"/>
          <p:nvPr/>
        </p:nvSpPr>
        <p:spPr>
          <a:xfrm>
            <a:off x="640080" y="3337560"/>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3" name="Text 11"/>
          <p:cNvSpPr txBox="1"/>
          <p:nvPr/>
        </p:nvSpPr>
        <p:spPr>
          <a:xfrm>
            <a:off x="1325880" y="3401568"/>
            <a:ext cx="4572000" cy="411480"/>
          </a:xfrm>
          <a:prstGeom prst="rect">
            <a:avLst/>
          </a:prstGeom>
          <a:noFill/>
          <a:ln/>
        </p:spPr>
        <p:txBody>
          <a:bodyPr wrap="square" lIns="0" tIns="0" rIns="0" bIns="0" rtlCol="0" anchor="ctr"/>
          <a:lstStyle/>
          <a:p>
            <a:pPr indent="0" marL="0">
              <a:buNone/>
            </a:pPr>
            <a:r>
              <a:rPr lang="en-US" sz="1500" b="1" dirty="0">
                <a:solidFill>
                  <a:srgbClr val="0F2843"/>
                </a:solidFill>
                <a:latin typeface="Calibri" pitchFamily="34" charset="0"/>
                <a:ea typeface="Calibri" pitchFamily="34" charset="-122"/>
                <a:cs typeface="Calibri" pitchFamily="34" charset="-120"/>
              </a:rPr>
              <a:t>EVALUATION ENGINEER</a:t>
            </a:r>
            <a:endParaRPr lang="en-US" sz="1500" dirty="0"/>
          </a:p>
        </p:txBody>
      </p:sp>
      <p:sp>
        <p:nvSpPr>
          <p:cNvPr id="14" name="Text 12"/>
          <p:cNvSpPr txBox="1"/>
          <p:nvPr/>
        </p:nvSpPr>
        <p:spPr>
          <a:xfrm>
            <a:off x="640080" y="3977640"/>
            <a:ext cx="5669280" cy="1005840"/>
          </a:xfrm>
          <a:prstGeom prst="rect">
            <a:avLst/>
          </a:prstGeom>
          <a:noFill/>
          <a:ln/>
        </p:spPr>
        <p:txBody>
          <a:bodyPr wrap="square" lIns="0" tIns="0" rIns="0" bIns="0" rtlCol="0" anchor="ctr"/>
          <a:lstStyle/>
          <a:p>
            <a:pPr indent="0" marL="0">
              <a:lnSpc>
                <a:spcPct val="120000"/>
              </a:lnSpc>
              <a:buNone/>
            </a:pPr>
            <a:r>
              <a:rPr lang="en-US" sz="1200" dirty="0">
                <a:solidFill>
                  <a:srgbClr val="5B6B82"/>
                </a:solidFill>
                <a:latin typeface="Calibri" pitchFamily="34" charset="0"/>
                <a:ea typeface="Calibri" pitchFamily="34" charset="-122"/>
                <a:cs typeface="Calibri" pitchFamily="34" charset="-120"/>
              </a:rPr>
              <a:t>Executes simulated incident runs to check whether the agent really reasons well — or only memorized scripted scenarios.</a:t>
            </a:r>
            <a:endParaRPr lang="en-US" sz="1200" dirty="0"/>
          </a:p>
        </p:txBody>
      </p:sp>
      <p:sp>
        <p:nvSpPr>
          <p:cNvPr id="15" name="Text 13"/>
          <p:cNvSpPr txBox="1"/>
          <p:nvPr/>
        </p:nvSpPr>
        <p:spPr>
          <a:xfrm>
            <a:off x="640080" y="5029200"/>
            <a:ext cx="5669280" cy="365760"/>
          </a:xfrm>
          <a:prstGeom prst="rect">
            <a:avLst/>
          </a:prstGeom>
          <a:noFill/>
          <a:ln/>
        </p:spPr>
        <p:txBody>
          <a:bodyPr wrap="square" lIns="0" tIns="0" rIns="0" bIns="0" rtlCol="0" anchor="ctr"/>
          <a:lstStyle/>
          <a:p>
            <a:pPr indent="0" marL="0">
              <a:buNone/>
            </a:pPr>
            <a:r>
              <a:rPr lang="en-US" sz="1100" i="1" dirty="0">
                <a:solidFill>
                  <a:srgbClr val="5B6B82"/>
                </a:solidFill>
                <a:latin typeface="Calibri" pitchFamily="34" charset="0"/>
                <a:ea typeface="Calibri" pitchFamily="34" charset="-122"/>
                <a:cs typeface="Calibri" pitchFamily="34" charset="-120"/>
              </a:rPr>
              <a:t>Predicted Action  vs  Actual Outcome</a:t>
            </a:r>
            <a:endParaRPr lang="en-US" sz="1100" dirty="0"/>
          </a:p>
        </p:txBody>
      </p:sp>
      <p:sp>
        <p:nvSpPr>
          <p:cNvPr id="16" name="Shape 14"/>
          <p:cNvSpPr/>
          <p:nvPr/>
        </p:nvSpPr>
        <p:spPr>
          <a:xfrm>
            <a:off x="6766560" y="3337560"/>
            <a:ext cx="2148840" cy="2011680"/>
          </a:xfrm>
          <a:prstGeom prst="roundRect">
            <a:avLst>
              <a:gd name="adj" fmla="val 3182"/>
            </a:avLst>
          </a:prstGeom>
          <a:solidFill>
            <a:srgbClr val="FFFFFF"/>
          </a:solidFill>
          <a:ln w="12700">
            <a:solidFill>
              <a:srgbClr val="EEF2F7"/>
            </a:solidFill>
            <a:prstDash val="solid"/>
          </a:ln>
        </p:spPr>
      </p:sp>
      <p:sp>
        <p:nvSpPr>
          <p:cNvPr id="17" name="Text 15"/>
          <p:cNvSpPr txBox="1"/>
          <p:nvPr/>
        </p:nvSpPr>
        <p:spPr>
          <a:xfrm>
            <a:off x="6903720" y="3520440"/>
            <a:ext cx="1874520" cy="54864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Task Success</a:t>
            </a:r>
            <a:endParaRPr lang="en-US" sz="1100" dirty="0"/>
          </a:p>
          <a:p>
            <a:pPr indent="0" marL="0">
              <a:buNone/>
            </a:pPr>
            <a:r>
              <a:rPr lang="en-US" sz="1100" b="1" dirty="0">
                <a:solidFill>
                  <a:srgbClr val="5B6B82"/>
                </a:solidFill>
                <a:latin typeface="Calibri" pitchFamily="34" charset="0"/>
                <a:ea typeface="Calibri" pitchFamily="34" charset="-122"/>
                <a:cs typeface="Calibri" pitchFamily="34" charset="-120"/>
              </a:rPr>
              <a:t>Rate</a:t>
            </a:r>
            <a:endParaRPr lang="en-US" sz="1100" dirty="0"/>
          </a:p>
        </p:txBody>
      </p:sp>
      <p:sp>
        <p:nvSpPr>
          <p:cNvPr id="18" name="Text 16"/>
          <p:cNvSpPr txBox="1"/>
          <p:nvPr/>
        </p:nvSpPr>
        <p:spPr>
          <a:xfrm>
            <a:off x="6903720" y="4206240"/>
            <a:ext cx="1874520" cy="91440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How many dispatch</a:t>
            </a:r>
            <a:endParaRPr lang="en-US" sz="950" dirty="0"/>
          </a:p>
          <a:p>
            <a:pPr indent="0" marL="0">
              <a:buNone/>
            </a:pPr>
            <a:r>
              <a:rPr lang="en-US" sz="950" dirty="0">
                <a:solidFill>
                  <a:srgbClr val="5B6B82"/>
                </a:solidFill>
                <a:latin typeface="Calibri" pitchFamily="34" charset="0"/>
                <a:ea typeface="Calibri" pitchFamily="34" charset="-122"/>
                <a:cs typeface="Calibri" pitchFamily="34" charset="-120"/>
              </a:rPr>
              <a:t>decisions were correct</a:t>
            </a:r>
            <a:endParaRPr lang="en-US" sz="950" dirty="0"/>
          </a:p>
        </p:txBody>
      </p:sp>
      <p:sp>
        <p:nvSpPr>
          <p:cNvPr id="19" name="Shape 17"/>
          <p:cNvSpPr/>
          <p:nvPr/>
        </p:nvSpPr>
        <p:spPr>
          <a:xfrm>
            <a:off x="9098280" y="3337560"/>
            <a:ext cx="2423160" cy="2011680"/>
          </a:xfrm>
          <a:prstGeom prst="roundRect">
            <a:avLst>
              <a:gd name="adj" fmla="val 3182"/>
            </a:avLst>
          </a:prstGeom>
          <a:solidFill>
            <a:srgbClr val="FFFFFF"/>
          </a:solidFill>
          <a:ln w="12700">
            <a:solidFill>
              <a:srgbClr val="EEF2F7"/>
            </a:solidFill>
            <a:prstDash val="solid"/>
          </a:ln>
        </p:spPr>
      </p:sp>
      <p:sp>
        <p:nvSpPr>
          <p:cNvPr id="20" name="Text 18"/>
          <p:cNvSpPr txBox="1"/>
          <p:nvPr/>
        </p:nvSpPr>
        <p:spPr>
          <a:xfrm>
            <a:off x="9235440" y="3520440"/>
            <a:ext cx="2148840" cy="548640"/>
          </a:xfrm>
          <a:prstGeom prst="rect">
            <a:avLst/>
          </a:prstGeom>
          <a:noFill/>
          <a:ln/>
        </p:spPr>
        <p:txBody>
          <a:bodyPr wrap="square" lIns="0" tIns="0" rIns="0" bIns="0" rtlCol="0" anchor="ctr"/>
          <a:lstStyle/>
          <a:p>
            <a:pPr indent="0" marL="0">
              <a:buNone/>
            </a:pPr>
            <a:r>
              <a:rPr lang="en-US" sz="1100" b="1" dirty="0">
                <a:solidFill>
                  <a:srgbClr val="5B6B82"/>
                </a:solidFill>
                <a:latin typeface="Calibri" pitchFamily="34" charset="0"/>
                <a:ea typeface="Calibri" pitchFamily="34" charset="-122"/>
                <a:cs typeface="Calibri" pitchFamily="34" charset="-120"/>
              </a:rPr>
              <a:t>Bad Trade-off</a:t>
            </a:r>
            <a:endParaRPr lang="en-US" sz="1100" dirty="0"/>
          </a:p>
          <a:p>
            <a:pPr indent="0" marL="0">
              <a:buNone/>
            </a:pPr>
            <a:r>
              <a:rPr lang="en-US" sz="1100" b="1" dirty="0">
                <a:solidFill>
                  <a:srgbClr val="5B6B82"/>
                </a:solidFill>
                <a:latin typeface="Calibri" pitchFamily="34" charset="0"/>
                <a:ea typeface="Calibri" pitchFamily="34" charset="-122"/>
                <a:cs typeface="Calibri" pitchFamily="34" charset="-120"/>
              </a:rPr>
              <a:t>Risk</a:t>
            </a:r>
            <a:endParaRPr lang="en-US" sz="1100" dirty="0"/>
          </a:p>
        </p:txBody>
      </p:sp>
      <p:sp>
        <p:nvSpPr>
          <p:cNvPr id="21" name="Text 19"/>
          <p:cNvSpPr txBox="1"/>
          <p:nvPr/>
        </p:nvSpPr>
        <p:spPr>
          <a:xfrm>
            <a:off x="9235440" y="4206240"/>
            <a:ext cx="2148840" cy="914400"/>
          </a:xfrm>
          <a:prstGeom prst="rect">
            <a:avLst/>
          </a:prstGeom>
          <a:noFill/>
          <a:ln/>
        </p:spPr>
        <p:txBody>
          <a:bodyPr wrap="square" lIns="0" tIns="0" rIns="0" bIns="0" rtlCol="0" anchor="ctr"/>
          <a:lstStyle/>
          <a:p>
            <a:pPr indent="0" marL="0">
              <a:buNone/>
            </a:pPr>
            <a:r>
              <a:rPr lang="en-US" sz="950" dirty="0">
                <a:solidFill>
                  <a:srgbClr val="5B6B82"/>
                </a:solidFill>
                <a:latin typeface="Calibri" pitchFamily="34" charset="0"/>
                <a:ea typeface="Calibri" pitchFamily="34" charset="-122"/>
                <a:cs typeface="Calibri" pitchFamily="34" charset="-120"/>
              </a:rPr>
              <a:t>Agent is confident but</a:t>
            </a:r>
            <a:endParaRPr lang="en-US" sz="950" dirty="0"/>
          </a:p>
          <a:p>
            <a:pPr indent="0" marL="0">
              <a:buNone/>
            </a:pPr>
            <a:r>
              <a:rPr lang="en-US" sz="950" dirty="0">
                <a:solidFill>
                  <a:srgbClr val="5B6B82"/>
                </a:solidFill>
                <a:latin typeface="Calibri" pitchFamily="34" charset="0"/>
                <a:ea typeface="Calibri" pitchFamily="34" charset="-122"/>
                <a:cs typeface="Calibri" pitchFamily="34" charset="-120"/>
              </a:rPr>
              <a:t>chooses the wrong zone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81527"/>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FINAL PROBLEM</a:t>
            </a:r>
            <a:endParaRPr lang="en-US" sz="1200" dirty="0"/>
          </a:p>
        </p:txBody>
      </p:sp>
      <p:sp>
        <p:nvSpPr>
          <p:cNvPr id="3" name="Text 1"/>
          <p:cNvSpPr txBox="1"/>
          <p:nvPr/>
        </p:nvSpPr>
        <p:spPr>
          <a:xfrm>
            <a:off x="640080" y="731520"/>
            <a:ext cx="1005840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Can the commander read raw agent logs and JSON tool calls during an emergency?</a:t>
            </a:r>
            <a:endParaRPr lang="en-US" sz="2000" dirty="0"/>
          </a:p>
        </p:txBody>
      </p:sp>
      <p:sp>
        <p:nvSpPr>
          <p:cNvPr id="4" name="Text 2"/>
          <p:cNvSpPr txBox="1"/>
          <p:nvPr/>
        </p:nvSpPr>
        <p:spPr>
          <a:xfrm>
            <a:off x="640080" y="1280160"/>
            <a:ext cx="2743200" cy="457200"/>
          </a:xfrm>
          <a:prstGeom prst="rect">
            <a:avLst/>
          </a:prstGeom>
          <a:noFill/>
          <a:ln/>
        </p:spPr>
        <p:txBody>
          <a:bodyPr wrap="square" lIns="0" tIns="0" rIns="0" bIns="0" rtlCol="0" anchor="ctr"/>
          <a:lstStyle/>
          <a:p>
            <a:pPr indent="0" marL="0">
              <a:buNone/>
            </a:pPr>
            <a:r>
              <a:rPr lang="en-US" sz="2400" b="1" dirty="0">
                <a:solidFill>
                  <a:srgbClr val="FFB627"/>
                </a:solidFill>
                <a:latin typeface="Cambria" pitchFamily="34" charset="0"/>
                <a:ea typeface="Cambria" pitchFamily="34" charset="-122"/>
                <a:cs typeface="Cambria" pitchFamily="34" charset="-120"/>
              </a:rPr>
              <a:t>NO.</a:t>
            </a:r>
            <a:endParaRPr lang="en-US" sz="2400" dirty="0"/>
          </a:p>
        </p:txBody>
      </p:sp>
      <p:sp>
        <p:nvSpPr>
          <p:cNvPr id="5" name="Shape 3"/>
          <p:cNvSpPr/>
          <p:nvPr/>
        </p:nvSpPr>
        <p:spPr>
          <a:xfrm>
            <a:off x="640080" y="1920240"/>
            <a:ext cx="640080" cy="640080"/>
          </a:xfrm>
          <a:prstGeom prst="ellipse">
            <a:avLst/>
          </a:prstGeom>
          <a:solidFill>
            <a:srgbClr val="17263B"/>
          </a:solidFill>
          <a:ln w="15240">
            <a:solidFill>
              <a:srgbClr val="FFB627"/>
            </a:solidFill>
            <a:prstDash val="solid"/>
          </a:ln>
        </p:spPr>
      </p:sp>
      <p:sp>
        <p:nvSpPr>
          <p:cNvPr id="6" name="Text 4"/>
          <p:cNvSpPr txBox="1"/>
          <p:nvPr/>
        </p:nvSpPr>
        <p:spPr>
          <a:xfrm>
            <a:off x="640080" y="1920240"/>
            <a:ext cx="640080" cy="6400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Text 5"/>
          <p:cNvSpPr txBox="1"/>
          <p:nvPr/>
        </p:nvSpPr>
        <p:spPr>
          <a:xfrm>
            <a:off x="1417320" y="2011680"/>
            <a:ext cx="54864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INTEGRATION ENGINEER</a:t>
            </a:r>
            <a:endParaRPr lang="en-US" sz="2000" dirty="0"/>
          </a:p>
        </p:txBody>
      </p:sp>
      <p:sp>
        <p:nvSpPr>
          <p:cNvPr id="8" name="Shape 6"/>
          <p:cNvSpPr/>
          <p:nvPr/>
        </p:nvSpPr>
        <p:spPr>
          <a:xfrm>
            <a:off x="640080" y="2743200"/>
            <a:ext cx="5120640" cy="777240"/>
          </a:xfrm>
          <a:prstGeom prst="roundRect">
            <a:avLst>
              <a:gd name="adj" fmla="val 7059"/>
            </a:avLst>
          </a:prstGeom>
          <a:solidFill>
            <a:srgbClr val="17263B"/>
          </a:solidFill>
          <a:ln/>
        </p:spPr>
      </p:sp>
      <p:sp>
        <p:nvSpPr>
          <p:cNvPr id="9" name="Text 7"/>
          <p:cNvSpPr txBox="1"/>
          <p:nvPr/>
        </p:nvSpPr>
        <p:spPr>
          <a:xfrm>
            <a:off x="868680" y="2816352"/>
            <a:ext cx="4663440" cy="274320"/>
          </a:xfrm>
          <a:prstGeom prst="rect">
            <a:avLst/>
          </a:prstGeom>
          <a:noFill/>
          <a:ln/>
        </p:spPr>
        <p:txBody>
          <a:bodyPr wrap="square" lIns="0" tIns="0" rIns="0" bIns="0" rtlCol="0" anchor="ctr"/>
          <a:lstStyle/>
          <a:p>
            <a:pPr indent="0" marL="0">
              <a:buNone/>
            </a:pPr>
            <a:r>
              <a:rPr lang="en-US" sz="1100" dirty="0">
                <a:solidFill>
                  <a:srgbClr val="9FB3CC"/>
                </a:solidFill>
                <a:latin typeface="Calibri" pitchFamily="34" charset="0"/>
                <a:ea typeface="Calibri" pitchFamily="34" charset="-122"/>
                <a:cs typeface="Calibri" pitchFamily="34" charset="-120"/>
              </a:rPr>
              <a:t>New Zone Alert</a:t>
            </a:r>
            <a:endParaRPr lang="en-US" sz="1100" dirty="0"/>
          </a:p>
        </p:txBody>
      </p:sp>
      <p:sp>
        <p:nvSpPr>
          <p:cNvPr id="10" name="Text 8"/>
          <p:cNvSpPr txBox="1"/>
          <p:nvPr/>
        </p:nvSpPr>
        <p:spPr>
          <a:xfrm>
            <a:off x="868680" y="3090672"/>
            <a:ext cx="46634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Risk: SEVERE</a:t>
            </a:r>
            <a:endParaRPr lang="en-US" sz="1300" dirty="0"/>
          </a:p>
        </p:txBody>
      </p:sp>
      <p:sp>
        <p:nvSpPr>
          <p:cNvPr id="11" name="Text 9"/>
          <p:cNvSpPr txBox="1"/>
          <p:nvPr/>
        </p:nvSpPr>
        <p:spPr>
          <a:xfrm>
            <a:off x="640080" y="3502152"/>
            <a:ext cx="5120640" cy="182880"/>
          </a:xfrm>
          <a:prstGeom prst="rect">
            <a:avLst/>
          </a:prstGeom>
          <a:noFill/>
          <a:ln/>
        </p:spPr>
        <p:txBody>
          <a:bodyPr wrap="square" lIns="0" tIns="0" rIns="0" bIns="0" rtlCol="0" anchor="ctr"/>
          <a:lstStyle/>
          <a:p>
            <a:pPr algn="ctr" indent="0" marL="0">
              <a:buNone/>
            </a:pPr>
            <a:r>
              <a:rPr lang="en-US" sz="1200" dirty="0">
                <a:solidFill>
                  <a:srgbClr val="9FB3CC"/>
                </a:solidFill>
              </a:rPr>
              <a:t>↓</a:t>
            </a:r>
            <a:endParaRPr lang="en-US" sz="1200" dirty="0"/>
          </a:p>
        </p:txBody>
      </p:sp>
      <p:sp>
        <p:nvSpPr>
          <p:cNvPr id="12" name="Shape 10"/>
          <p:cNvSpPr/>
          <p:nvPr/>
        </p:nvSpPr>
        <p:spPr>
          <a:xfrm>
            <a:off x="640080" y="3639312"/>
            <a:ext cx="5120640" cy="777240"/>
          </a:xfrm>
          <a:prstGeom prst="roundRect">
            <a:avLst>
              <a:gd name="adj" fmla="val 7059"/>
            </a:avLst>
          </a:prstGeom>
          <a:solidFill>
            <a:srgbClr val="17263B"/>
          </a:solidFill>
          <a:ln/>
        </p:spPr>
      </p:sp>
      <p:sp>
        <p:nvSpPr>
          <p:cNvPr id="13" name="Text 11"/>
          <p:cNvSpPr txBox="1"/>
          <p:nvPr/>
        </p:nvSpPr>
        <p:spPr>
          <a:xfrm>
            <a:off x="868680" y="3712464"/>
            <a:ext cx="4663440" cy="274320"/>
          </a:xfrm>
          <a:prstGeom prst="rect">
            <a:avLst/>
          </a:prstGeom>
          <a:noFill/>
          <a:ln/>
        </p:spPr>
        <p:txBody>
          <a:bodyPr wrap="square" lIns="0" tIns="0" rIns="0" bIns="0" rtlCol="0" anchor="ctr"/>
          <a:lstStyle/>
          <a:p>
            <a:pPr indent="0" marL="0">
              <a:buNone/>
            </a:pPr>
            <a:r>
              <a:rPr lang="en-US" sz="1100" dirty="0">
                <a:solidFill>
                  <a:srgbClr val="9FB3CC"/>
                </a:solidFill>
                <a:latin typeface="Calibri" pitchFamily="34" charset="0"/>
                <a:ea typeface="Calibri" pitchFamily="34" charset="-122"/>
                <a:cs typeface="Calibri" pitchFamily="34" charset="-120"/>
              </a:rPr>
              <a:t>Agent Reasoning</a:t>
            </a:r>
            <a:endParaRPr lang="en-US" sz="1100" dirty="0"/>
          </a:p>
        </p:txBody>
      </p:sp>
      <p:sp>
        <p:nvSpPr>
          <p:cNvPr id="14" name="Text 12"/>
          <p:cNvSpPr txBox="1"/>
          <p:nvPr/>
        </p:nvSpPr>
        <p:spPr>
          <a:xfrm>
            <a:off x="868680" y="3986784"/>
            <a:ext cx="46634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Confidence: 92%</a:t>
            </a:r>
            <a:endParaRPr lang="en-US" sz="1300" dirty="0"/>
          </a:p>
        </p:txBody>
      </p:sp>
      <p:sp>
        <p:nvSpPr>
          <p:cNvPr id="15" name="Text 13"/>
          <p:cNvSpPr txBox="1"/>
          <p:nvPr/>
        </p:nvSpPr>
        <p:spPr>
          <a:xfrm>
            <a:off x="640080" y="4398264"/>
            <a:ext cx="5120640" cy="182880"/>
          </a:xfrm>
          <a:prstGeom prst="rect">
            <a:avLst/>
          </a:prstGeom>
          <a:noFill/>
          <a:ln/>
        </p:spPr>
        <p:txBody>
          <a:bodyPr wrap="square" lIns="0" tIns="0" rIns="0" bIns="0" rtlCol="0" anchor="ctr"/>
          <a:lstStyle/>
          <a:p>
            <a:pPr algn="ctr" indent="0" marL="0">
              <a:buNone/>
            </a:pPr>
            <a:r>
              <a:rPr lang="en-US" sz="1200" dirty="0">
                <a:solidFill>
                  <a:srgbClr val="9FB3CC"/>
                </a:solidFill>
              </a:rPr>
              <a:t>↓</a:t>
            </a:r>
            <a:endParaRPr lang="en-US" sz="1200" dirty="0"/>
          </a:p>
        </p:txBody>
      </p:sp>
      <p:sp>
        <p:nvSpPr>
          <p:cNvPr id="16" name="Shape 14"/>
          <p:cNvSpPr/>
          <p:nvPr/>
        </p:nvSpPr>
        <p:spPr>
          <a:xfrm>
            <a:off x="640080" y="4535424"/>
            <a:ext cx="5120640" cy="777240"/>
          </a:xfrm>
          <a:prstGeom prst="roundRect">
            <a:avLst>
              <a:gd name="adj" fmla="val 7059"/>
            </a:avLst>
          </a:prstGeom>
          <a:solidFill>
            <a:srgbClr val="17263B"/>
          </a:solidFill>
          <a:ln/>
        </p:spPr>
      </p:sp>
      <p:sp>
        <p:nvSpPr>
          <p:cNvPr id="17" name="Text 15"/>
          <p:cNvSpPr txBox="1"/>
          <p:nvPr/>
        </p:nvSpPr>
        <p:spPr>
          <a:xfrm>
            <a:off x="868680" y="4608576"/>
            <a:ext cx="4663440" cy="274320"/>
          </a:xfrm>
          <a:prstGeom prst="rect">
            <a:avLst/>
          </a:prstGeom>
          <a:noFill/>
          <a:ln/>
        </p:spPr>
        <p:txBody>
          <a:bodyPr wrap="square" lIns="0" tIns="0" rIns="0" bIns="0" rtlCol="0" anchor="ctr"/>
          <a:lstStyle/>
          <a:p>
            <a:pPr indent="0" marL="0">
              <a:buNone/>
            </a:pPr>
            <a:r>
              <a:rPr lang="en-US" sz="1100" dirty="0">
                <a:solidFill>
                  <a:srgbClr val="9FB3CC"/>
                </a:solidFill>
                <a:latin typeface="Calibri" pitchFamily="34" charset="0"/>
                <a:ea typeface="Calibri" pitchFamily="34" charset="-122"/>
                <a:cs typeface="Calibri" pitchFamily="34" charset="-120"/>
              </a:rPr>
              <a:t>Recommended Action</a:t>
            </a:r>
            <a:endParaRPr lang="en-US" sz="1100" dirty="0"/>
          </a:p>
        </p:txBody>
      </p:sp>
      <p:sp>
        <p:nvSpPr>
          <p:cNvPr id="18" name="Text 16"/>
          <p:cNvSpPr txBox="1"/>
          <p:nvPr/>
        </p:nvSpPr>
        <p:spPr>
          <a:xfrm>
            <a:off x="868680" y="4882896"/>
            <a:ext cx="46634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Dispatch ambulance to Zone 7 · Reroute Zone 12</a:t>
            </a:r>
            <a:endParaRPr lang="en-US" sz="1300" dirty="0"/>
          </a:p>
        </p:txBody>
      </p:sp>
      <p:sp>
        <p:nvSpPr>
          <p:cNvPr id="19" name="Shape 17"/>
          <p:cNvSpPr/>
          <p:nvPr/>
        </p:nvSpPr>
        <p:spPr>
          <a:xfrm>
            <a:off x="6126480" y="2743200"/>
            <a:ext cx="5394960" cy="2651760"/>
          </a:xfrm>
          <a:prstGeom prst="roundRect">
            <a:avLst>
              <a:gd name="adj" fmla="val 2759"/>
            </a:avLst>
          </a:prstGeom>
          <a:solidFill>
            <a:srgbClr val="0F3D5C"/>
          </a:solidFill>
          <a:ln/>
        </p:spPr>
      </p:sp>
      <p:sp>
        <p:nvSpPr>
          <p:cNvPr id="20" name="Text 18"/>
          <p:cNvSpPr txBox="1"/>
          <p:nvPr/>
        </p:nvSpPr>
        <p:spPr>
          <a:xfrm>
            <a:off x="6400800" y="2926080"/>
            <a:ext cx="4846320" cy="320040"/>
          </a:xfrm>
          <a:prstGeom prst="rect">
            <a:avLst/>
          </a:prstGeom>
          <a:noFill/>
          <a:ln/>
        </p:spPr>
        <p:txBody>
          <a:bodyPr wrap="square" lIns="0" tIns="0" rIns="0" bIns="0" rtlCol="0" anchor="ctr"/>
          <a:lstStyle/>
          <a:p>
            <a:pPr indent="0" marL="0">
              <a:buNone/>
            </a:pPr>
            <a:r>
              <a:rPr lang="en-US" sz="1200" b="1" dirty="0">
                <a:solidFill>
                  <a:srgbClr val="FFB627"/>
                </a:solidFill>
                <a:latin typeface="Calibri" pitchFamily="34" charset="0"/>
                <a:ea typeface="Calibri" pitchFamily="34" charset="-122"/>
                <a:cs typeface="Calibri" pitchFamily="34" charset="-120"/>
              </a:rPr>
              <a:t>🖥️ COMMAND CENTER DASHBOARD</a:t>
            </a:r>
            <a:endParaRPr lang="en-US" sz="1200" dirty="0"/>
          </a:p>
        </p:txBody>
      </p:sp>
      <p:sp>
        <p:nvSpPr>
          <p:cNvPr id="21" name="Text 19"/>
          <p:cNvSpPr txBox="1"/>
          <p:nvPr/>
        </p:nvSpPr>
        <p:spPr>
          <a:xfrm>
            <a:off x="6400800" y="3291840"/>
            <a:ext cx="48463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ZONE 7 — SEVERE</a:t>
            </a:r>
            <a:endParaRPr lang="en-US" sz="1600" dirty="0"/>
          </a:p>
        </p:txBody>
      </p:sp>
      <p:sp>
        <p:nvSpPr>
          <p:cNvPr id="22" name="Text 20"/>
          <p:cNvSpPr txBox="1"/>
          <p:nvPr/>
        </p:nvSpPr>
        <p:spPr>
          <a:xfrm>
            <a:off x="6400800" y="3703320"/>
            <a:ext cx="4846320" cy="1097280"/>
          </a:xfrm>
          <a:prstGeom prst="rect">
            <a:avLst/>
          </a:prstGeom>
          <a:noFill/>
          <a:ln/>
        </p:spPr>
        <p:txBody>
          <a:bodyPr wrap="square" lIns="0" tIns="0" rIns="0" bIns="0" rtlCol="0" anchor="ctr"/>
          <a:lstStyle/>
          <a:p>
            <a:pPr indent="0" marL="0">
              <a:lnSpc>
                <a:spcPct val="125000"/>
              </a:lnSpc>
              <a:buNone/>
            </a:pPr>
            <a:r>
              <a:rPr lang="en-US" sz="1100" dirty="0">
                <a:solidFill>
                  <a:srgbClr val="E3E9F2"/>
                </a:solidFill>
                <a:latin typeface="Calibri" pitchFamily="34" charset="0"/>
                <a:ea typeface="Calibri" pitchFamily="34" charset="-122"/>
                <a:cs typeface="Calibri" pitchFamily="34" charset="-120"/>
              </a:rPr>
              <a:t>Recommended Action:</a:t>
            </a:r>
            <a:endParaRPr lang="en-US" sz="1100" dirty="0"/>
          </a:p>
          <a:p>
            <a:pPr indent="0" marL="0">
              <a:lnSpc>
                <a:spcPct val="125000"/>
              </a:lnSpc>
              <a:buNone/>
            </a:pPr>
            <a:r>
              <a:rPr lang="en-US" sz="1100" dirty="0">
                <a:solidFill>
                  <a:srgbClr val="E3E9F2"/>
                </a:solidFill>
                <a:latin typeface="Calibri" pitchFamily="34" charset="0"/>
                <a:ea typeface="Calibri" pitchFamily="34" charset="-122"/>
                <a:cs typeface="Calibri" pitchFamily="34" charset="-120"/>
              </a:rPr>
              <a:t>• Dispatch ambulance now</a:t>
            </a:r>
            <a:endParaRPr lang="en-US" sz="1100" dirty="0"/>
          </a:p>
          <a:p>
            <a:pPr indent="0" marL="0">
              <a:lnSpc>
                <a:spcPct val="125000"/>
              </a:lnSpc>
              <a:buNone/>
            </a:pPr>
            <a:r>
              <a:rPr lang="en-US" sz="1100" dirty="0">
                <a:solidFill>
                  <a:srgbClr val="E3E9F2"/>
                </a:solidFill>
                <a:latin typeface="Calibri" pitchFamily="34" charset="0"/>
                <a:ea typeface="Calibri" pitchFamily="34" charset="-122"/>
                <a:cs typeface="Calibri" pitchFamily="34" charset="-120"/>
              </a:rPr>
              <a:t>• Reroute Zone 12 to secondary responder</a:t>
            </a:r>
            <a:endParaRPr lang="en-US" sz="1100" dirty="0"/>
          </a:p>
          <a:p>
            <a:pPr indent="0" marL="0">
              <a:lnSpc>
                <a:spcPct val="125000"/>
              </a:lnSpc>
              <a:buNone/>
            </a:pPr>
            <a:r>
              <a:rPr lang="en-US" sz="1100" dirty="0">
                <a:solidFill>
                  <a:srgbClr val="E3E9F2"/>
                </a:solidFill>
                <a:latin typeface="Calibri" pitchFamily="34" charset="0"/>
                <a:ea typeface="Calibri" pitchFamily="34" charset="-122"/>
                <a:cs typeface="Calibri" pitchFamily="34" charset="-120"/>
              </a:rPr>
              <a:t>• Notify shelter of incoming evacuees</a:t>
            </a:r>
            <a:endParaRPr lang="en-US" sz="1100" dirty="0"/>
          </a:p>
        </p:txBody>
      </p:sp>
      <p:sp>
        <p:nvSpPr>
          <p:cNvPr id="23" name="Shape 21"/>
          <p:cNvSpPr/>
          <p:nvPr/>
        </p:nvSpPr>
        <p:spPr>
          <a:xfrm>
            <a:off x="6400800" y="4892040"/>
            <a:ext cx="2194560" cy="384048"/>
          </a:xfrm>
          <a:prstGeom prst="roundRect">
            <a:avLst>
              <a:gd name="adj" fmla="val 50000"/>
            </a:avLst>
          </a:prstGeom>
          <a:solidFill>
            <a:srgbClr val="2A9D8F"/>
          </a:solidFill>
          <a:ln/>
        </p:spPr>
      </p:sp>
      <p:sp>
        <p:nvSpPr>
          <p:cNvPr id="24" name="Text 22"/>
          <p:cNvSpPr txBox="1"/>
          <p:nvPr/>
        </p:nvSpPr>
        <p:spPr>
          <a:xfrm>
            <a:off x="6400800" y="4892040"/>
            <a:ext cx="21945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APPROVE</a:t>
            </a:r>
            <a:endParaRPr lang="en-US" sz="1100" dirty="0"/>
          </a:p>
        </p:txBody>
      </p:sp>
      <p:sp>
        <p:nvSpPr>
          <p:cNvPr id="25" name="Shape 23"/>
          <p:cNvSpPr/>
          <p:nvPr/>
        </p:nvSpPr>
        <p:spPr>
          <a:xfrm>
            <a:off x="8778240" y="4892040"/>
            <a:ext cx="2468880" cy="384048"/>
          </a:xfrm>
          <a:prstGeom prst="roundRect">
            <a:avLst>
              <a:gd name="adj" fmla="val 50000"/>
            </a:avLst>
          </a:prstGeom>
          <a:solidFill>
            <a:srgbClr val="E63946"/>
          </a:solidFill>
          <a:ln/>
        </p:spPr>
      </p:sp>
      <p:sp>
        <p:nvSpPr>
          <p:cNvPr id="26" name="Text 24"/>
          <p:cNvSpPr txBox="1"/>
          <p:nvPr/>
        </p:nvSpPr>
        <p:spPr>
          <a:xfrm>
            <a:off x="8778240" y="4892040"/>
            <a:ext cx="24688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OVERRIDE</a:t>
            </a:r>
            <a:endParaRPr lang="en-US" sz="1100" dirty="0"/>
          </a:p>
        </p:txBody>
      </p:sp>
      <p:sp>
        <p:nvSpPr>
          <p:cNvPr id="27" name="Text 25"/>
          <p:cNvSpPr txBox="1"/>
          <p:nvPr/>
        </p:nvSpPr>
        <p:spPr>
          <a:xfrm>
            <a:off x="640080" y="5623560"/>
            <a:ext cx="10881360" cy="457200"/>
          </a:xfrm>
          <a:prstGeom prst="rect">
            <a:avLst/>
          </a:prstGeom>
          <a:noFill/>
          <a:ln/>
        </p:spPr>
        <p:txBody>
          <a:bodyPr wrap="square" lIns="0" tIns="0" rIns="0" bIns="0" rtlCol="0" anchor="ctr"/>
          <a:lstStyle/>
          <a:p>
            <a:pPr indent="0" marL="0">
              <a:buNone/>
            </a:pPr>
            <a:r>
              <a:rPr lang="en-US" sz="1150" i="1" dirty="0">
                <a:solidFill>
                  <a:srgbClr val="9FB3CC"/>
                </a:solidFill>
                <a:latin typeface="Calibri" pitchFamily="34" charset="0"/>
                <a:ea typeface="Calibri" pitchFamily="34" charset="-122"/>
                <a:cs typeface="Calibri" pitchFamily="34" charset="-120"/>
              </a:rPr>
              <a:t>The Integration Engineer builds the Orchestration Command Center UI with live execution monitoring and manual override.</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F4A300"/>
                </a:solidFill>
                <a:latin typeface="Calibri" pitchFamily="34" charset="0"/>
                <a:ea typeface="Calibri" pitchFamily="34" charset="-122"/>
                <a:cs typeface="Calibri" pitchFamily="34" charset="-120"/>
              </a:rPr>
              <a:t>THE FULL JOURNEY</a:t>
            </a:r>
            <a:endParaRPr lang="en-US" sz="1200" dirty="0"/>
          </a:p>
        </p:txBody>
      </p:sp>
      <p:sp>
        <p:nvSpPr>
          <p:cNvPr id="3" name="Text 1"/>
          <p:cNvSpPr txBox="1"/>
          <p:nvPr/>
        </p:nvSpPr>
        <p:spPr>
          <a:xfrm>
            <a:off x="640080" y="777240"/>
            <a:ext cx="10058400" cy="502920"/>
          </a:xfrm>
          <a:prstGeom prst="rect">
            <a:avLst/>
          </a:prstGeom>
          <a:noFill/>
          <a:ln/>
        </p:spPr>
        <p:txBody>
          <a:bodyPr wrap="square" lIns="0" tIns="0" rIns="0" bIns="0" rtlCol="0" anchor="ctr"/>
          <a:lstStyle/>
          <a:p>
            <a:pPr indent="0" marL="0">
              <a:buNone/>
            </a:pPr>
            <a:r>
              <a:rPr lang="en-US" sz="2600" b="1" dirty="0">
                <a:solidFill>
                  <a:srgbClr val="0F2843"/>
                </a:solidFill>
                <a:latin typeface="Cambria" pitchFamily="34" charset="0"/>
                <a:ea typeface="Cambria" pitchFamily="34" charset="-122"/>
                <a:cs typeface="Cambria" pitchFamily="34" charset="-120"/>
              </a:rPr>
              <a:t>From Command Decision to Autonomous Agent</a:t>
            </a:r>
            <a:endParaRPr lang="en-US" sz="2600" dirty="0"/>
          </a:p>
        </p:txBody>
      </p:sp>
      <p:sp>
        <p:nvSpPr>
          <p:cNvPr id="4" name="Shape 2"/>
          <p:cNvSpPr/>
          <p:nvPr/>
        </p:nvSpPr>
        <p:spPr>
          <a:xfrm>
            <a:off x="640080" y="1508760"/>
            <a:ext cx="3383280" cy="566928"/>
          </a:xfrm>
          <a:prstGeom prst="roundRect">
            <a:avLst>
              <a:gd name="adj" fmla="val 8065"/>
            </a:avLst>
          </a:prstGeom>
          <a:solidFill>
            <a:srgbClr val="0F2843"/>
          </a:solidFill>
          <a:ln/>
        </p:spPr>
      </p:sp>
      <p:sp>
        <p:nvSpPr>
          <p:cNvPr id="5" name="Text 3"/>
          <p:cNvSpPr txBox="1"/>
          <p:nvPr/>
        </p:nvSpPr>
        <p:spPr>
          <a:xfrm>
            <a:off x="640080" y="1508760"/>
            <a:ext cx="33832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EMERGENCY</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PROBLEM</a:t>
            </a:r>
            <a:endParaRPr lang="en-US" sz="1200" dirty="0"/>
          </a:p>
        </p:txBody>
      </p:sp>
      <p:sp>
        <p:nvSpPr>
          <p:cNvPr id="6" name="Text 4"/>
          <p:cNvSpPr txBox="1"/>
          <p:nvPr/>
        </p:nvSpPr>
        <p:spPr>
          <a:xfrm>
            <a:off x="4023360" y="1508760"/>
            <a:ext cx="320040" cy="566928"/>
          </a:xfrm>
          <a:prstGeom prst="rect">
            <a:avLst/>
          </a:prstGeom>
          <a:noFill/>
          <a:ln/>
        </p:spPr>
        <p:txBody>
          <a:bodyPr wrap="square" lIns="0" tIns="0" rIns="0" bIns="0" rtlCol="0" anchor="ctr"/>
          <a:lstStyle/>
          <a:p>
            <a:pPr algn="ctr" indent="0" marL="0">
              <a:buNone/>
            </a:pPr>
            <a:r>
              <a:rPr lang="en-US" sz="1600" dirty="0">
                <a:solidFill>
                  <a:srgbClr val="5B6B82"/>
                </a:solidFill>
              </a:rPr>
              <a:t>→</a:t>
            </a:r>
            <a:endParaRPr lang="en-US" sz="1600" dirty="0"/>
          </a:p>
        </p:txBody>
      </p:sp>
      <p:sp>
        <p:nvSpPr>
          <p:cNvPr id="7" name="Shape 5"/>
          <p:cNvSpPr/>
          <p:nvPr/>
        </p:nvSpPr>
        <p:spPr>
          <a:xfrm>
            <a:off x="4343400" y="1508760"/>
            <a:ext cx="3383280" cy="566928"/>
          </a:xfrm>
          <a:prstGeom prst="roundRect">
            <a:avLst>
              <a:gd name="adj" fmla="val 8065"/>
            </a:avLst>
          </a:prstGeom>
          <a:solidFill>
            <a:srgbClr val="0F2843"/>
          </a:solidFill>
          <a:ln/>
        </p:spPr>
      </p:sp>
      <p:sp>
        <p:nvSpPr>
          <p:cNvPr id="8" name="Text 6"/>
          <p:cNvSpPr txBox="1"/>
          <p:nvPr/>
        </p:nvSpPr>
        <p:spPr>
          <a:xfrm>
            <a:off x="4343400" y="1508760"/>
            <a:ext cx="33832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GOAL &amp;</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CONTEXT</a:t>
            </a:r>
            <a:endParaRPr lang="en-US" sz="1200" dirty="0"/>
          </a:p>
        </p:txBody>
      </p:sp>
      <p:sp>
        <p:nvSpPr>
          <p:cNvPr id="9" name="Text 7"/>
          <p:cNvSpPr txBox="1"/>
          <p:nvPr/>
        </p:nvSpPr>
        <p:spPr>
          <a:xfrm>
            <a:off x="7726680" y="1508760"/>
            <a:ext cx="320040" cy="566928"/>
          </a:xfrm>
          <a:prstGeom prst="rect">
            <a:avLst/>
          </a:prstGeom>
          <a:noFill/>
          <a:ln/>
        </p:spPr>
        <p:txBody>
          <a:bodyPr wrap="square" lIns="0" tIns="0" rIns="0" bIns="0" rtlCol="0" anchor="ctr"/>
          <a:lstStyle/>
          <a:p>
            <a:pPr algn="ctr" indent="0" marL="0">
              <a:buNone/>
            </a:pPr>
            <a:r>
              <a:rPr lang="en-US" sz="1600" dirty="0">
                <a:solidFill>
                  <a:srgbClr val="5B6B82"/>
                </a:solidFill>
              </a:rPr>
              <a:t>→</a:t>
            </a:r>
            <a:endParaRPr lang="en-US" sz="1600" dirty="0"/>
          </a:p>
        </p:txBody>
      </p:sp>
      <p:sp>
        <p:nvSpPr>
          <p:cNvPr id="10" name="Shape 8"/>
          <p:cNvSpPr/>
          <p:nvPr/>
        </p:nvSpPr>
        <p:spPr>
          <a:xfrm>
            <a:off x="8046720" y="1508760"/>
            <a:ext cx="3383280" cy="566928"/>
          </a:xfrm>
          <a:prstGeom prst="roundRect">
            <a:avLst>
              <a:gd name="adj" fmla="val 8065"/>
            </a:avLst>
          </a:prstGeom>
          <a:solidFill>
            <a:srgbClr val="0F2843"/>
          </a:solidFill>
          <a:ln/>
        </p:spPr>
      </p:sp>
      <p:sp>
        <p:nvSpPr>
          <p:cNvPr id="11" name="Text 9"/>
          <p:cNvSpPr txBox="1"/>
          <p:nvPr/>
        </p:nvSpPr>
        <p:spPr>
          <a:xfrm>
            <a:off x="8046720" y="1508760"/>
            <a:ext cx="33832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AGENTIC AI</a:t>
            </a:r>
            <a:endParaRPr lang="en-US" sz="1200" dirty="0"/>
          </a:p>
        </p:txBody>
      </p:sp>
      <p:sp>
        <p:nvSpPr>
          <p:cNvPr id="12" name="Shape 10"/>
          <p:cNvSpPr/>
          <p:nvPr/>
        </p:nvSpPr>
        <p:spPr>
          <a:xfrm>
            <a:off x="640080" y="2395728"/>
            <a:ext cx="2606040" cy="1371600"/>
          </a:xfrm>
          <a:prstGeom prst="roundRect">
            <a:avLst>
              <a:gd name="adj" fmla="val 4000"/>
            </a:avLst>
          </a:prstGeom>
          <a:solidFill>
            <a:srgbClr val="FFFFFF"/>
          </a:solidFill>
          <a:ln w="12700">
            <a:solidFill>
              <a:srgbClr val="EEF2F7"/>
            </a:solidFill>
            <a:prstDash val="solid"/>
          </a:ln>
        </p:spPr>
      </p:sp>
      <p:sp>
        <p:nvSpPr>
          <p:cNvPr id="13" name="Text 11"/>
          <p:cNvSpPr txBox="1"/>
          <p:nvPr/>
        </p:nvSpPr>
        <p:spPr>
          <a:xfrm>
            <a:off x="777240" y="2532888"/>
            <a:ext cx="2331720" cy="5029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KNOWLEDGE</a:t>
            </a:r>
            <a:endParaRPr lang="en-US" sz="1150" dirty="0"/>
          </a:p>
          <a:p>
            <a:pPr indent="0" marL="0">
              <a:buNone/>
            </a:pPr>
            <a:r>
              <a:rPr lang="en-US" sz="1150" b="1" dirty="0">
                <a:solidFill>
                  <a:srgbClr val="0F2843"/>
                </a:solidFill>
                <a:latin typeface="Calibri" pitchFamily="34" charset="0"/>
                <a:ea typeface="Calibri" pitchFamily="34" charset="-122"/>
                <a:cs typeface="Calibri" pitchFamily="34" charset="-120"/>
              </a:rPr>
              <a:t>ENGINEER</a:t>
            </a:r>
            <a:endParaRPr lang="en-US" sz="1150" dirty="0"/>
          </a:p>
        </p:txBody>
      </p:sp>
      <p:sp>
        <p:nvSpPr>
          <p:cNvPr id="14" name="Text 12"/>
          <p:cNvSpPr txBox="1"/>
          <p:nvPr/>
        </p:nvSpPr>
        <p:spPr>
          <a:xfrm>
            <a:off x="777240" y="3081528"/>
            <a:ext cx="2331720" cy="594360"/>
          </a:xfrm>
          <a:prstGeom prst="rect">
            <a:avLst/>
          </a:prstGeom>
          <a:noFill/>
          <a:ln/>
        </p:spPr>
        <p:txBody>
          <a:bodyPr wrap="square" lIns="0" tIns="0" rIns="0" bIns="0" rtlCol="0" anchor="ctr"/>
          <a:lstStyle/>
          <a:p>
            <a:pPr indent="0" marL="0">
              <a:buNone/>
            </a:pPr>
            <a:r>
              <a:rPr lang="en-US" sz="1000" i="1" dirty="0">
                <a:solidFill>
                  <a:srgbClr val="5B6B82"/>
                </a:solidFill>
                <a:latin typeface="Calibri" pitchFamily="34" charset="0"/>
                <a:ea typeface="Calibri" pitchFamily="34" charset="-122"/>
                <a:cs typeface="Calibri" pitchFamily="34" charset="-120"/>
              </a:rPr>
              <a:t>What SOPs &amp; tools</a:t>
            </a:r>
            <a:endParaRPr lang="en-US" sz="1000" dirty="0"/>
          </a:p>
          <a:p>
            <a:pPr indent="0" marL="0">
              <a:buNone/>
            </a:pPr>
            <a:r>
              <a:rPr lang="en-US" sz="1000" i="1" dirty="0">
                <a:solidFill>
                  <a:srgbClr val="5B6B82"/>
                </a:solidFill>
                <a:latin typeface="Calibri" pitchFamily="34" charset="0"/>
                <a:ea typeface="Calibri" pitchFamily="34" charset="-122"/>
                <a:cs typeface="Calibri" pitchFamily="34" charset="-120"/>
              </a:rPr>
              <a:t>do we need?</a:t>
            </a:r>
            <a:endParaRPr lang="en-US" sz="1000" dirty="0"/>
          </a:p>
        </p:txBody>
      </p:sp>
      <p:sp>
        <p:nvSpPr>
          <p:cNvPr id="15" name="Text 13"/>
          <p:cNvSpPr txBox="1"/>
          <p:nvPr/>
        </p:nvSpPr>
        <p:spPr>
          <a:xfrm>
            <a:off x="3246120" y="2761488"/>
            <a:ext cx="155448" cy="548640"/>
          </a:xfrm>
          <a:prstGeom prst="rect">
            <a:avLst/>
          </a:prstGeom>
          <a:noFill/>
          <a:ln/>
        </p:spPr>
        <p:txBody>
          <a:bodyPr wrap="square" lIns="0" tIns="0" rIns="0" bIns="0" rtlCol="0" anchor="ctr"/>
          <a:lstStyle/>
          <a:p>
            <a:pPr algn="ctr" indent="0" marL="0">
              <a:buNone/>
            </a:pPr>
            <a:r>
              <a:rPr lang="en-US" sz="1200" dirty="0">
                <a:solidFill>
                  <a:srgbClr val="5B6B82"/>
                </a:solidFill>
              </a:rPr>
              <a:t>→</a:t>
            </a:r>
            <a:endParaRPr lang="en-US" sz="1200" dirty="0"/>
          </a:p>
        </p:txBody>
      </p:sp>
      <p:sp>
        <p:nvSpPr>
          <p:cNvPr id="16" name="Shape 14"/>
          <p:cNvSpPr/>
          <p:nvPr/>
        </p:nvSpPr>
        <p:spPr>
          <a:xfrm>
            <a:off x="3383280" y="2395728"/>
            <a:ext cx="2606040" cy="1371600"/>
          </a:xfrm>
          <a:prstGeom prst="roundRect">
            <a:avLst>
              <a:gd name="adj" fmla="val 4000"/>
            </a:avLst>
          </a:prstGeom>
          <a:solidFill>
            <a:srgbClr val="FFFFFF"/>
          </a:solidFill>
          <a:ln w="12700">
            <a:solidFill>
              <a:srgbClr val="EEF2F7"/>
            </a:solidFill>
            <a:prstDash val="solid"/>
          </a:ln>
        </p:spPr>
      </p:sp>
      <p:sp>
        <p:nvSpPr>
          <p:cNvPr id="17" name="Text 15"/>
          <p:cNvSpPr txBox="1"/>
          <p:nvPr/>
        </p:nvSpPr>
        <p:spPr>
          <a:xfrm>
            <a:off x="3520440" y="2532888"/>
            <a:ext cx="2331720" cy="5029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WORKFLOW</a:t>
            </a:r>
            <a:endParaRPr lang="en-US" sz="1150" dirty="0"/>
          </a:p>
          <a:p>
            <a:pPr indent="0" marL="0">
              <a:buNone/>
            </a:pPr>
            <a:r>
              <a:rPr lang="en-US" sz="1150" b="1" dirty="0">
                <a:solidFill>
                  <a:srgbClr val="0F2843"/>
                </a:solidFill>
                <a:latin typeface="Calibri" pitchFamily="34" charset="0"/>
                <a:ea typeface="Calibri" pitchFamily="34" charset="-122"/>
                <a:cs typeface="Calibri" pitchFamily="34" charset="-120"/>
              </a:rPr>
              <a:t>ENGINEER</a:t>
            </a:r>
            <a:endParaRPr lang="en-US" sz="1150" dirty="0"/>
          </a:p>
        </p:txBody>
      </p:sp>
      <p:sp>
        <p:nvSpPr>
          <p:cNvPr id="18" name="Text 16"/>
          <p:cNvSpPr txBox="1"/>
          <p:nvPr/>
        </p:nvSpPr>
        <p:spPr>
          <a:xfrm>
            <a:off x="3520440" y="3081528"/>
            <a:ext cx="2331720" cy="594360"/>
          </a:xfrm>
          <a:prstGeom prst="rect">
            <a:avLst/>
          </a:prstGeom>
          <a:noFill/>
          <a:ln/>
        </p:spPr>
        <p:txBody>
          <a:bodyPr wrap="square" lIns="0" tIns="0" rIns="0" bIns="0" rtlCol="0" anchor="ctr"/>
          <a:lstStyle/>
          <a:p>
            <a:pPr indent="0" marL="0">
              <a:buNone/>
            </a:pPr>
            <a:r>
              <a:rPr lang="en-US" sz="1000" i="1" dirty="0">
                <a:solidFill>
                  <a:srgbClr val="5B6B82"/>
                </a:solidFill>
                <a:latin typeface="Calibri" pitchFamily="34" charset="0"/>
                <a:ea typeface="Calibri" pitchFamily="34" charset="-122"/>
                <a:cs typeface="Calibri" pitchFamily="34" charset="-120"/>
              </a:rPr>
              <a:t>Can we break the</a:t>
            </a:r>
            <a:endParaRPr lang="en-US" sz="1000" dirty="0"/>
          </a:p>
          <a:p>
            <a:pPr indent="0" marL="0">
              <a:buNone/>
            </a:pPr>
            <a:r>
              <a:rPr lang="en-US" sz="1000" i="1" dirty="0">
                <a:solidFill>
                  <a:srgbClr val="5B6B82"/>
                </a:solidFill>
                <a:latin typeface="Calibri" pitchFamily="34" charset="0"/>
                <a:ea typeface="Calibri" pitchFamily="34" charset="-122"/>
                <a:cs typeface="Calibri" pitchFamily="34" charset="-120"/>
              </a:rPr>
              <a:t>goal into steps?</a:t>
            </a:r>
            <a:endParaRPr lang="en-US" sz="1000" dirty="0"/>
          </a:p>
        </p:txBody>
      </p:sp>
      <p:sp>
        <p:nvSpPr>
          <p:cNvPr id="19" name="Text 17"/>
          <p:cNvSpPr txBox="1"/>
          <p:nvPr/>
        </p:nvSpPr>
        <p:spPr>
          <a:xfrm>
            <a:off x="5989320" y="2761488"/>
            <a:ext cx="155448" cy="548640"/>
          </a:xfrm>
          <a:prstGeom prst="rect">
            <a:avLst/>
          </a:prstGeom>
          <a:noFill/>
          <a:ln/>
        </p:spPr>
        <p:txBody>
          <a:bodyPr wrap="square" lIns="0" tIns="0" rIns="0" bIns="0" rtlCol="0" anchor="ctr"/>
          <a:lstStyle/>
          <a:p>
            <a:pPr algn="ctr" indent="0" marL="0">
              <a:buNone/>
            </a:pPr>
            <a:r>
              <a:rPr lang="en-US" sz="1200" dirty="0">
                <a:solidFill>
                  <a:srgbClr val="5B6B82"/>
                </a:solidFill>
              </a:rPr>
              <a:t>→</a:t>
            </a:r>
            <a:endParaRPr lang="en-US" sz="1200" dirty="0"/>
          </a:p>
        </p:txBody>
      </p:sp>
      <p:sp>
        <p:nvSpPr>
          <p:cNvPr id="20" name="Shape 18"/>
          <p:cNvSpPr/>
          <p:nvPr/>
        </p:nvSpPr>
        <p:spPr>
          <a:xfrm>
            <a:off x="6126480" y="2395728"/>
            <a:ext cx="2606040" cy="1371600"/>
          </a:xfrm>
          <a:prstGeom prst="roundRect">
            <a:avLst>
              <a:gd name="adj" fmla="val 4000"/>
            </a:avLst>
          </a:prstGeom>
          <a:solidFill>
            <a:srgbClr val="FFFFFF"/>
          </a:solidFill>
          <a:ln w="12700">
            <a:solidFill>
              <a:srgbClr val="EEF2F7"/>
            </a:solidFill>
            <a:prstDash val="solid"/>
          </a:ln>
        </p:spPr>
      </p:sp>
      <p:sp>
        <p:nvSpPr>
          <p:cNvPr id="21" name="Text 19"/>
          <p:cNvSpPr txBox="1"/>
          <p:nvPr/>
        </p:nvSpPr>
        <p:spPr>
          <a:xfrm>
            <a:off x="6263640" y="2532888"/>
            <a:ext cx="2331720" cy="5029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AGENT</a:t>
            </a:r>
            <a:endParaRPr lang="en-US" sz="1150" dirty="0"/>
          </a:p>
          <a:p>
            <a:pPr indent="0" marL="0">
              <a:buNone/>
            </a:pPr>
            <a:r>
              <a:rPr lang="en-US" sz="1150" b="1" dirty="0">
                <a:solidFill>
                  <a:srgbClr val="0F2843"/>
                </a:solidFill>
                <a:latin typeface="Calibri" pitchFamily="34" charset="0"/>
                <a:ea typeface="Calibri" pitchFamily="34" charset="-122"/>
                <a:cs typeface="Calibri" pitchFamily="34" charset="-120"/>
              </a:rPr>
              <a:t>ENGINEER</a:t>
            </a:r>
            <a:endParaRPr lang="en-US" sz="1150" dirty="0"/>
          </a:p>
        </p:txBody>
      </p:sp>
      <p:sp>
        <p:nvSpPr>
          <p:cNvPr id="22" name="Text 20"/>
          <p:cNvSpPr txBox="1"/>
          <p:nvPr/>
        </p:nvSpPr>
        <p:spPr>
          <a:xfrm>
            <a:off x="6263640" y="3081528"/>
            <a:ext cx="2331720" cy="594360"/>
          </a:xfrm>
          <a:prstGeom prst="rect">
            <a:avLst/>
          </a:prstGeom>
          <a:noFill/>
          <a:ln/>
        </p:spPr>
        <p:txBody>
          <a:bodyPr wrap="square" lIns="0" tIns="0" rIns="0" bIns="0" rtlCol="0" anchor="ctr"/>
          <a:lstStyle/>
          <a:p>
            <a:pPr indent="0" marL="0">
              <a:buNone/>
            </a:pPr>
            <a:r>
              <a:rPr lang="en-US" sz="1000" i="1" dirty="0">
                <a:solidFill>
                  <a:srgbClr val="5B6B82"/>
                </a:solidFill>
                <a:latin typeface="Calibri" pitchFamily="34" charset="0"/>
                <a:ea typeface="Calibri" pitchFamily="34" charset="-122"/>
                <a:cs typeface="Calibri" pitchFamily="34" charset="-120"/>
              </a:rPr>
              <a:t>Can the agent reason</a:t>
            </a:r>
            <a:endParaRPr lang="en-US" sz="1000" dirty="0"/>
          </a:p>
          <a:p>
            <a:pPr indent="0" marL="0">
              <a:buNone/>
            </a:pPr>
            <a:r>
              <a:rPr lang="en-US" sz="1000" i="1" dirty="0">
                <a:solidFill>
                  <a:srgbClr val="5B6B82"/>
                </a:solidFill>
                <a:latin typeface="Calibri" pitchFamily="34" charset="0"/>
                <a:ea typeface="Calibri" pitchFamily="34" charset="-122"/>
                <a:cs typeface="Calibri" pitchFamily="34" charset="-120"/>
              </a:rPr>
              <a:t>and decide?</a:t>
            </a:r>
            <a:endParaRPr lang="en-US" sz="1000" dirty="0"/>
          </a:p>
        </p:txBody>
      </p:sp>
      <p:sp>
        <p:nvSpPr>
          <p:cNvPr id="23" name="Text 21"/>
          <p:cNvSpPr txBox="1"/>
          <p:nvPr/>
        </p:nvSpPr>
        <p:spPr>
          <a:xfrm>
            <a:off x="8732520" y="2761488"/>
            <a:ext cx="155448" cy="548640"/>
          </a:xfrm>
          <a:prstGeom prst="rect">
            <a:avLst/>
          </a:prstGeom>
          <a:noFill/>
          <a:ln/>
        </p:spPr>
        <p:txBody>
          <a:bodyPr wrap="square" lIns="0" tIns="0" rIns="0" bIns="0" rtlCol="0" anchor="ctr"/>
          <a:lstStyle/>
          <a:p>
            <a:pPr algn="ctr" indent="0" marL="0">
              <a:buNone/>
            </a:pPr>
            <a:r>
              <a:rPr lang="en-US" sz="1200" dirty="0">
                <a:solidFill>
                  <a:srgbClr val="5B6B82"/>
                </a:solidFill>
              </a:rPr>
              <a:t>→</a:t>
            </a:r>
            <a:endParaRPr lang="en-US" sz="1200" dirty="0"/>
          </a:p>
        </p:txBody>
      </p:sp>
      <p:sp>
        <p:nvSpPr>
          <p:cNvPr id="24" name="Shape 22"/>
          <p:cNvSpPr/>
          <p:nvPr/>
        </p:nvSpPr>
        <p:spPr>
          <a:xfrm>
            <a:off x="8869680" y="2395728"/>
            <a:ext cx="2606040" cy="1371600"/>
          </a:xfrm>
          <a:prstGeom prst="roundRect">
            <a:avLst>
              <a:gd name="adj" fmla="val 4000"/>
            </a:avLst>
          </a:prstGeom>
          <a:solidFill>
            <a:srgbClr val="FFFFFF"/>
          </a:solidFill>
          <a:ln w="12700">
            <a:solidFill>
              <a:srgbClr val="EEF2F7"/>
            </a:solidFill>
            <a:prstDash val="solid"/>
          </a:ln>
        </p:spPr>
      </p:sp>
      <p:sp>
        <p:nvSpPr>
          <p:cNvPr id="25" name="Text 23"/>
          <p:cNvSpPr txBox="1"/>
          <p:nvPr/>
        </p:nvSpPr>
        <p:spPr>
          <a:xfrm>
            <a:off x="9006840" y="2532888"/>
            <a:ext cx="2331720" cy="502920"/>
          </a:xfrm>
          <a:prstGeom prst="rect">
            <a:avLst/>
          </a:prstGeom>
          <a:noFill/>
          <a:ln/>
        </p:spPr>
        <p:txBody>
          <a:bodyPr wrap="square" lIns="0" tIns="0" rIns="0" bIns="0" rtlCol="0" anchor="ctr"/>
          <a:lstStyle/>
          <a:p>
            <a:pPr indent="0" marL="0">
              <a:buNone/>
            </a:pPr>
            <a:r>
              <a:rPr lang="en-US" sz="1150" b="1" dirty="0">
                <a:solidFill>
                  <a:srgbClr val="0F2843"/>
                </a:solidFill>
                <a:latin typeface="Calibri" pitchFamily="34" charset="0"/>
                <a:ea typeface="Calibri" pitchFamily="34" charset="-122"/>
                <a:cs typeface="Calibri" pitchFamily="34" charset="-120"/>
              </a:rPr>
              <a:t>EVALUATION</a:t>
            </a:r>
            <a:endParaRPr lang="en-US" sz="1150" dirty="0"/>
          </a:p>
          <a:p>
            <a:pPr indent="0" marL="0">
              <a:buNone/>
            </a:pPr>
            <a:r>
              <a:rPr lang="en-US" sz="1150" b="1" dirty="0">
                <a:solidFill>
                  <a:srgbClr val="0F2843"/>
                </a:solidFill>
                <a:latin typeface="Calibri" pitchFamily="34" charset="0"/>
                <a:ea typeface="Calibri" pitchFamily="34" charset="-122"/>
                <a:cs typeface="Calibri" pitchFamily="34" charset="-120"/>
              </a:rPr>
              <a:t>ENGINEER</a:t>
            </a:r>
            <a:endParaRPr lang="en-US" sz="1150" dirty="0"/>
          </a:p>
        </p:txBody>
      </p:sp>
      <p:sp>
        <p:nvSpPr>
          <p:cNvPr id="26" name="Text 24"/>
          <p:cNvSpPr txBox="1"/>
          <p:nvPr/>
        </p:nvSpPr>
        <p:spPr>
          <a:xfrm>
            <a:off x="9006840" y="3081528"/>
            <a:ext cx="2331720" cy="594360"/>
          </a:xfrm>
          <a:prstGeom prst="rect">
            <a:avLst/>
          </a:prstGeom>
          <a:noFill/>
          <a:ln/>
        </p:spPr>
        <p:txBody>
          <a:bodyPr wrap="square" lIns="0" tIns="0" rIns="0" bIns="0" rtlCol="0" anchor="ctr"/>
          <a:lstStyle/>
          <a:p>
            <a:pPr indent="0" marL="0">
              <a:buNone/>
            </a:pPr>
            <a:r>
              <a:rPr lang="en-US" sz="1000" i="1" dirty="0">
                <a:solidFill>
                  <a:srgbClr val="5B6B82"/>
                </a:solidFill>
                <a:latin typeface="Calibri" pitchFamily="34" charset="0"/>
                <a:ea typeface="Calibri" pitchFamily="34" charset="-122"/>
                <a:cs typeface="Calibri" pitchFamily="34" charset="-120"/>
              </a:rPr>
              <a:t>Can we trust the</a:t>
            </a:r>
            <a:endParaRPr lang="en-US" sz="1000" dirty="0"/>
          </a:p>
          <a:p>
            <a:pPr indent="0" marL="0">
              <a:buNone/>
            </a:pPr>
            <a:r>
              <a:rPr lang="en-US" sz="1000" i="1" dirty="0">
                <a:solidFill>
                  <a:srgbClr val="5B6B82"/>
                </a:solidFill>
                <a:latin typeface="Calibri" pitchFamily="34" charset="0"/>
                <a:ea typeface="Calibri" pitchFamily="34" charset="-122"/>
                <a:cs typeface="Calibri" pitchFamily="34" charset="-120"/>
              </a:rPr>
              <a:t>agent's plan?</a:t>
            </a:r>
            <a:endParaRPr lang="en-US" sz="1000" dirty="0"/>
          </a:p>
        </p:txBody>
      </p:sp>
      <p:sp>
        <p:nvSpPr>
          <p:cNvPr id="27" name="Shape 25"/>
          <p:cNvSpPr/>
          <p:nvPr/>
        </p:nvSpPr>
        <p:spPr>
          <a:xfrm>
            <a:off x="640080" y="4041648"/>
            <a:ext cx="10881360" cy="594360"/>
          </a:xfrm>
          <a:prstGeom prst="roundRect">
            <a:avLst>
              <a:gd name="adj" fmla="val 9231"/>
            </a:avLst>
          </a:prstGeom>
          <a:solidFill>
            <a:srgbClr val="0F2843"/>
          </a:solidFill>
          <a:ln/>
        </p:spPr>
      </p:sp>
      <p:sp>
        <p:nvSpPr>
          <p:cNvPr id="28" name="Text 26"/>
          <p:cNvSpPr txBox="1"/>
          <p:nvPr/>
        </p:nvSpPr>
        <p:spPr>
          <a:xfrm>
            <a:off x="914400" y="4041648"/>
            <a:ext cx="10332720" cy="5943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INTEGRATION ENGINEER   —   Can responders act on it?</a:t>
            </a:r>
            <a:endParaRPr lang="en-US" sz="1300" dirty="0"/>
          </a:p>
        </p:txBody>
      </p:sp>
      <p:sp>
        <p:nvSpPr>
          <p:cNvPr id="29" name="Shape 27"/>
          <p:cNvSpPr/>
          <p:nvPr/>
        </p:nvSpPr>
        <p:spPr>
          <a:xfrm>
            <a:off x="640080" y="4818888"/>
            <a:ext cx="10881360" cy="548640"/>
          </a:xfrm>
          <a:prstGeom prst="roundRect">
            <a:avLst>
              <a:gd name="adj" fmla="val 50000"/>
            </a:avLst>
          </a:prstGeom>
          <a:solidFill>
            <a:srgbClr val="E63946"/>
          </a:solidFill>
          <a:ln/>
        </p:spPr>
      </p:sp>
      <p:sp>
        <p:nvSpPr>
          <p:cNvPr id="30" name="Text 28"/>
          <p:cNvSpPr txBox="1"/>
          <p:nvPr/>
        </p:nvSpPr>
        <p:spPr>
          <a:xfrm>
            <a:off x="640080" y="4818888"/>
            <a:ext cx="1088136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LIVE ORCHESTRATION COMMAND CENTER</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81527"/>
        </a:solidFill>
      </p:bgPr>
    </p:bg>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LIVE CASE</a:t>
            </a:r>
            <a:endParaRPr lang="en-US" sz="1200" dirty="0"/>
          </a:p>
        </p:txBody>
      </p:sp>
      <p:sp>
        <p:nvSpPr>
          <p:cNvPr id="3" name="Text 1"/>
          <p:cNvSpPr txBox="1"/>
          <p:nvPr/>
        </p:nvSpPr>
        <p:spPr>
          <a:xfrm>
            <a:off x="640080" y="7315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You Are the Dispatch Agent.</a:t>
            </a:r>
            <a:endParaRPr lang="en-US" sz="2800" dirty="0"/>
          </a:p>
        </p:txBody>
      </p:sp>
      <p:sp>
        <p:nvSpPr>
          <p:cNvPr id="4" name="Text 2"/>
          <p:cNvSpPr txBox="1"/>
          <p:nvPr/>
        </p:nvSpPr>
        <p:spPr>
          <a:xfrm>
            <a:off x="640080" y="1280160"/>
            <a:ext cx="7315200" cy="365760"/>
          </a:xfrm>
          <a:prstGeom prst="rect">
            <a:avLst/>
          </a:prstGeom>
          <a:noFill/>
          <a:ln/>
        </p:spPr>
        <p:txBody>
          <a:bodyPr wrap="square" lIns="0" tIns="0" rIns="0" bIns="0" rtlCol="0" anchor="ctr"/>
          <a:lstStyle/>
          <a:p>
            <a:pPr indent="0" marL="0">
              <a:buNone/>
            </a:pPr>
            <a:r>
              <a:rPr lang="en-US" sz="1300" i="1" dirty="0">
                <a:solidFill>
                  <a:srgbClr val="9FB3CC"/>
                </a:solidFill>
                <a:latin typeface="Calibri" pitchFamily="34" charset="0"/>
                <a:ea typeface="Calibri" pitchFamily="34" charset="-122"/>
                <a:cs typeface="Calibri" pitchFamily="34" charset="-120"/>
              </a:rPr>
              <a:t>What should the agent decide?</a:t>
            </a:r>
            <a:endParaRPr lang="en-US" sz="1300" dirty="0"/>
          </a:p>
        </p:txBody>
      </p:sp>
      <p:sp>
        <p:nvSpPr>
          <p:cNvPr id="5" name="Shape 3"/>
          <p:cNvSpPr/>
          <p:nvPr/>
        </p:nvSpPr>
        <p:spPr>
          <a:xfrm>
            <a:off x="640080" y="1828800"/>
            <a:ext cx="2514600" cy="1097280"/>
          </a:xfrm>
          <a:prstGeom prst="roundRect">
            <a:avLst>
              <a:gd name="adj" fmla="val 5000"/>
            </a:avLst>
          </a:prstGeom>
          <a:solidFill>
            <a:srgbClr val="17263B"/>
          </a:solidFill>
          <a:ln/>
        </p:spPr>
      </p:sp>
      <p:sp>
        <p:nvSpPr>
          <p:cNvPr id="6" name="Text 4"/>
          <p:cNvSpPr txBox="1"/>
          <p:nvPr/>
        </p:nvSpPr>
        <p:spPr>
          <a:xfrm>
            <a:off x="777240" y="1965960"/>
            <a:ext cx="2240280" cy="320040"/>
          </a:xfrm>
          <a:prstGeom prst="rect">
            <a:avLst/>
          </a:prstGeom>
          <a:noFill/>
          <a:ln/>
        </p:spPr>
        <p:txBody>
          <a:bodyPr wrap="square" lIns="0" tIns="0" rIns="0" bIns="0" rtlCol="0" anchor="ctr"/>
          <a:lstStyle/>
          <a:p>
            <a:pPr indent="0" marL="0">
              <a:buNone/>
            </a:pPr>
            <a:r>
              <a:rPr lang="en-US" sz="1300" b="1" dirty="0">
                <a:solidFill>
                  <a:srgbClr val="FFB627"/>
                </a:solidFill>
                <a:latin typeface="Calibri" pitchFamily="34" charset="0"/>
                <a:ea typeface="Calibri" pitchFamily="34" charset="-122"/>
                <a:cs typeface="Calibri" pitchFamily="34" charset="-120"/>
              </a:rPr>
              <a:t>Zone 7</a:t>
            </a:r>
            <a:endParaRPr lang="en-US" sz="1300" dirty="0"/>
          </a:p>
        </p:txBody>
      </p:sp>
      <p:sp>
        <p:nvSpPr>
          <p:cNvPr id="7" name="Text 5"/>
          <p:cNvSpPr txBox="1"/>
          <p:nvPr/>
        </p:nvSpPr>
        <p:spPr>
          <a:xfrm>
            <a:off x="777240" y="2331720"/>
            <a:ext cx="2240280" cy="502920"/>
          </a:xfrm>
          <a:prstGeom prst="rect">
            <a:avLst/>
          </a:prstGeom>
          <a:noFill/>
          <a:ln/>
        </p:spPr>
        <p:txBody>
          <a:bodyPr wrap="square" lIns="0" tIns="0" rIns="0" bIns="0" rtlCol="0" anchor="ctr"/>
          <a:lstStyle/>
          <a:p>
            <a:pPr indent="0" marL="0">
              <a:buNone/>
            </a:pPr>
            <a:r>
              <a:rPr lang="en-US" sz="1050" dirty="0">
                <a:solidFill>
                  <a:srgbClr val="E3E9F2"/>
                </a:solidFill>
                <a:latin typeface="Calibri" pitchFamily="34" charset="0"/>
                <a:ea typeface="Calibri" pitchFamily="34" charset="-122"/>
                <a:cs typeface="Calibri" pitchFamily="34" charset="-120"/>
              </a:rPr>
              <a:t>Severe · 38 calls · 1 ambulance</a:t>
            </a:r>
            <a:endParaRPr lang="en-US" sz="1050" dirty="0"/>
          </a:p>
        </p:txBody>
      </p:sp>
      <p:sp>
        <p:nvSpPr>
          <p:cNvPr id="8" name="Shape 6"/>
          <p:cNvSpPr/>
          <p:nvPr/>
        </p:nvSpPr>
        <p:spPr>
          <a:xfrm>
            <a:off x="3383280" y="1828800"/>
            <a:ext cx="2514600" cy="1097280"/>
          </a:xfrm>
          <a:prstGeom prst="roundRect">
            <a:avLst>
              <a:gd name="adj" fmla="val 5000"/>
            </a:avLst>
          </a:prstGeom>
          <a:solidFill>
            <a:srgbClr val="17263B"/>
          </a:solidFill>
          <a:ln/>
        </p:spPr>
      </p:sp>
      <p:sp>
        <p:nvSpPr>
          <p:cNvPr id="9" name="Text 7"/>
          <p:cNvSpPr txBox="1"/>
          <p:nvPr/>
        </p:nvSpPr>
        <p:spPr>
          <a:xfrm>
            <a:off x="3520440" y="1965960"/>
            <a:ext cx="2240280" cy="320040"/>
          </a:xfrm>
          <a:prstGeom prst="rect">
            <a:avLst/>
          </a:prstGeom>
          <a:noFill/>
          <a:ln/>
        </p:spPr>
        <p:txBody>
          <a:bodyPr wrap="square" lIns="0" tIns="0" rIns="0" bIns="0" rtlCol="0" anchor="ctr"/>
          <a:lstStyle/>
          <a:p>
            <a:pPr indent="0" marL="0">
              <a:buNone/>
            </a:pPr>
            <a:r>
              <a:rPr lang="en-US" sz="1300" b="1" dirty="0">
                <a:solidFill>
                  <a:srgbClr val="FFB627"/>
                </a:solidFill>
                <a:latin typeface="Calibri" pitchFamily="34" charset="0"/>
                <a:ea typeface="Calibri" pitchFamily="34" charset="-122"/>
                <a:cs typeface="Calibri" pitchFamily="34" charset="-120"/>
              </a:rPr>
              <a:t>Zone 12</a:t>
            </a:r>
            <a:endParaRPr lang="en-US" sz="1300" dirty="0"/>
          </a:p>
        </p:txBody>
      </p:sp>
      <p:sp>
        <p:nvSpPr>
          <p:cNvPr id="10" name="Text 8"/>
          <p:cNvSpPr txBox="1"/>
          <p:nvPr/>
        </p:nvSpPr>
        <p:spPr>
          <a:xfrm>
            <a:off x="3520440" y="2331720"/>
            <a:ext cx="2240280" cy="502920"/>
          </a:xfrm>
          <a:prstGeom prst="rect">
            <a:avLst/>
          </a:prstGeom>
          <a:noFill/>
          <a:ln/>
        </p:spPr>
        <p:txBody>
          <a:bodyPr wrap="square" lIns="0" tIns="0" rIns="0" bIns="0" rtlCol="0" anchor="ctr"/>
          <a:lstStyle/>
          <a:p>
            <a:pPr indent="0" marL="0">
              <a:buNone/>
            </a:pPr>
            <a:r>
              <a:rPr lang="en-US" sz="1050" dirty="0">
                <a:solidFill>
                  <a:srgbClr val="E3E9F2"/>
                </a:solidFill>
                <a:latin typeface="Calibri" pitchFamily="34" charset="0"/>
                <a:ea typeface="Calibri" pitchFamily="34" charset="-122"/>
                <a:cs typeface="Calibri" pitchFamily="34" charset="-120"/>
              </a:rPr>
              <a:t>Severe · 15 calls · 0 units free</a:t>
            </a:r>
            <a:endParaRPr lang="en-US" sz="1050" dirty="0"/>
          </a:p>
        </p:txBody>
      </p:sp>
      <p:sp>
        <p:nvSpPr>
          <p:cNvPr id="11" name="Shape 9"/>
          <p:cNvSpPr/>
          <p:nvPr/>
        </p:nvSpPr>
        <p:spPr>
          <a:xfrm>
            <a:off x="6309360" y="1828800"/>
            <a:ext cx="5212080" cy="1097280"/>
          </a:xfrm>
          <a:prstGeom prst="roundRect">
            <a:avLst>
              <a:gd name="adj" fmla="val 5000"/>
            </a:avLst>
          </a:prstGeom>
          <a:solidFill>
            <a:srgbClr val="17263B"/>
          </a:solidFill>
          <a:ln/>
        </p:spPr>
      </p:sp>
      <p:sp>
        <p:nvSpPr>
          <p:cNvPr id="12" name="Text 10"/>
          <p:cNvSpPr txBox="1"/>
          <p:nvPr/>
        </p:nvSpPr>
        <p:spPr>
          <a:xfrm>
            <a:off x="6537960" y="1828800"/>
            <a:ext cx="4754880" cy="1097280"/>
          </a:xfrm>
          <a:prstGeom prst="rect">
            <a:avLst/>
          </a:prstGeom>
          <a:noFill/>
          <a:ln/>
        </p:spPr>
        <p:txBody>
          <a:bodyPr wrap="square" lIns="0" tIns="0" rIns="0" bIns="0" rtlCol="0" anchor="ctr"/>
          <a:lstStyle/>
          <a:p>
            <a:pPr indent="0" marL="0">
              <a:buNone/>
            </a:pPr>
            <a:r>
              <a:rPr lang="en-US" sz="1200" dirty="0">
                <a:solidFill>
                  <a:srgbClr val="E3E9F2"/>
                </a:solidFill>
                <a:latin typeface="Calibri" pitchFamily="34" charset="0"/>
                <a:ea typeface="Calibri" pitchFamily="34" charset="-122"/>
                <a:cs typeface="Calibri" pitchFamily="34" charset="-120"/>
              </a:rPr>
              <a:t>Only 1 ambulance is available across both zones.</a:t>
            </a:r>
            <a:endParaRPr lang="en-US" sz="1200" dirty="0"/>
          </a:p>
        </p:txBody>
      </p:sp>
      <p:sp>
        <p:nvSpPr>
          <p:cNvPr id="13" name="Shape 11"/>
          <p:cNvSpPr/>
          <p:nvPr/>
        </p:nvSpPr>
        <p:spPr>
          <a:xfrm>
            <a:off x="640080" y="3291840"/>
            <a:ext cx="10881360" cy="548640"/>
          </a:xfrm>
          <a:prstGeom prst="roundRect">
            <a:avLst>
              <a:gd name="adj" fmla="val 50000"/>
            </a:avLst>
          </a:prstGeom>
          <a:solidFill>
            <a:srgbClr val="2A9D8F"/>
          </a:solidFill>
          <a:ln/>
        </p:spPr>
      </p:sp>
      <p:sp>
        <p:nvSpPr>
          <p:cNvPr id="14" name="Text 12"/>
          <p:cNvSpPr txBox="1"/>
          <p:nvPr/>
        </p:nvSpPr>
        <p:spPr>
          <a:xfrm>
            <a:off x="640080" y="3291840"/>
            <a:ext cx="1088136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Dispatch to Zone 12</a:t>
            </a:r>
            <a:endParaRPr lang="en-US" sz="1400" dirty="0"/>
          </a:p>
        </p:txBody>
      </p:sp>
      <p:sp>
        <p:nvSpPr>
          <p:cNvPr id="15" name="Shape 13"/>
          <p:cNvSpPr/>
          <p:nvPr/>
        </p:nvSpPr>
        <p:spPr>
          <a:xfrm>
            <a:off x="640080" y="3977640"/>
            <a:ext cx="10881360" cy="548640"/>
          </a:xfrm>
          <a:prstGeom prst="roundRect">
            <a:avLst>
              <a:gd name="adj" fmla="val 50000"/>
            </a:avLst>
          </a:prstGeom>
          <a:solidFill>
            <a:srgbClr val="F4A300"/>
          </a:solidFill>
          <a:ln/>
        </p:spPr>
      </p:sp>
      <p:sp>
        <p:nvSpPr>
          <p:cNvPr id="16" name="Text 14"/>
          <p:cNvSpPr txBox="1"/>
          <p:nvPr/>
        </p:nvSpPr>
        <p:spPr>
          <a:xfrm>
            <a:off x="640080" y="3977640"/>
            <a:ext cx="1088136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Split resources</a:t>
            </a:r>
            <a:endParaRPr lang="en-US" sz="1400" dirty="0"/>
          </a:p>
        </p:txBody>
      </p:sp>
      <p:sp>
        <p:nvSpPr>
          <p:cNvPr id="17" name="Shape 15"/>
          <p:cNvSpPr/>
          <p:nvPr/>
        </p:nvSpPr>
        <p:spPr>
          <a:xfrm>
            <a:off x="640080" y="4663440"/>
            <a:ext cx="10881360" cy="548640"/>
          </a:xfrm>
          <a:prstGeom prst="roundRect">
            <a:avLst>
              <a:gd name="adj" fmla="val 50000"/>
            </a:avLst>
          </a:prstGeom>
          <a:solidFill>
            <a:srgbClr val="E63946"/>
          </a:solidFill>
          <a:ln/>
        </p:spPr>
      </p:sp>
      <p:sp>
        <p:nvSpPr>
          <p:cNvPr id="18" name="Text 16"/>
          <p:cNvSpPr txBox="1"/>
          <p:nvPr/>
        </p:nvSpPr>
        <p:spPr>
          <a:xfrm>
            <a:off x="640080" y="4663440"/>
            <a:ext cx="1088136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Dispatch to Zone 7 + reroute Zone 12</a:t>
            </a:r>
            <a:endParaRPr lang="en-US" sz="1400" dirty="0"/>
          </a:p>
        </p:txBody>
      </p:sp>
      <p:sp>
        <p:nvSpPr>
          <p:cNvPr id="19" name="Shape 17"/>
          <p:cNvSpPr/>
          <p:nvPr/>
        </p:nvSpPr>
        <p:spPr>
          <a:xfrm>
            <a:off x="640080" y="5486400"/>
            <a:ext cx="10881360" cy="502920"/>
          </a:xfrm>
          <a:prstGeom prst="roundRect">
            <a:avLst>
              <a:gd name="adj" fmla="val 9091"/>
            </a:avLst>
          </a:prstGeom>
          <a:solidFill>
            <a:srgbClr val="FFB627"/>
          </a:solidFill>
          <a:ln/>
        </p:spPr>
      </p:sp>
      <p:sp>
        <p:nvSpPr>
          <p:cNvPr id="20" name="Text 18"/>
          <p:cNvSpPr txBox="1"/>
          <p:nvPr/>
        </p:nvSpPr>
        <p:spPr>
          <a:xfrm>
            <a:off x="640080" y="5486400"/>
            <a:ext cx="10881360" cy="502920"/>
          </a:xfrm>
          <a:prstGeom prst="rect">
            <a:avLst/>
          </a:prstGeom>
          <a:noFill/>
          <a:ln/>
        </p:spPr>
        <p:txBody>
          <a:bodyPr wrap="square" lIns="0" tIns="0" rIns="0" bIns="0" rtlCol="0" anchor="ctr"/>
          <a:lstStyle/>
          <a:p>
            <a:pPr algn="ctr" indent="0" marL="0">
              <a:buNone/>
            </a:pPr>
            <a:r>
              <a:rPr lang="en-US" sz="1300" b="1" dirty="0">
                <a:solidFill>
                  <a:srgbClr val="081527"/>
                </a:solidFill>
                <a:latin typeface="Calibri" pitchFamily="34" charset="0"/>
                <a:ea typeface="Calibri" pitchFamily="34" charset="-122"/>
                <a:cs typeface="Calibri" pitchFamily="34" charset="-120"/>
              </a:rPr>
              <a:t>Let's see if the trained agent agrees with you.</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B"/>
        </a:solidFill>
      </p:bgPr>
    </p:bg>
    <p:spTree>
      <p:nvGrpSpPr>
        <p:cNvPr id="1" name=""/>
        <p:cNvGrpSpPr/>
        <p:nvPr/>
      </p:nvGrpSpPr>
      <p:grpSpPr>
        <a:xfrm>
          <a:off x="0" y="0"/>
          <a:ext cx="0" cy="0"/>
          <a:chOff x="0" y="0"/>
          <a:chExt cx="0" cy="0"/>
        </a:xfrm>
      </p:grpSpPr>
      <p:sp>
        <p:nvSpPr>
          <p:cNvPr id="2" name="Text 0"/>
          <p:cNvSpPr txBox="1"/>
          <p:nvPr/>
        </p:nvSpPr>
        <p:spPr>
          <a:xfrm>
            <a:off x="640080" y="457200"/>
            <a:ext cx="10515600" cy="502920"/>
          </a:xfrm>
          <a:prstGeom prst="rect">
            <a:avLst/>
          </a:prstGeom>
          <a:noFill/>
          <a:ln/>
        </p:spPr>
        <p:txBody>
          <a:bodyPr wrap="square" lIns="0" tIns="0" rIns="0" bIns="0" rtlCol="0" anchor="ctr"/>
          <a:lstStyle/>
          <a:p>
            <a:pPr indent="0" marL="0">
              <a:buNone/>
            </a:pPr>
            <a:r>
              <a:rPr lang="en-US" sz="2500" b="1" dirty="0">
                <a:solidFill>
                  <a:srgbClr val="0F2843"/>
                </a:solidFill>
                <a:latin typeface="Cambria" pitchFamily="34" charset="0"/>
                <a:ea typeface="Cambria" pitchFamily="34" charset="-122"/>
                <a:cs typeface="Cambria" pitchFamily="34" charset="-120"/>
              </a:rPr>
              <a:t>What You Did Manually → What the Agent Does</a:t>
            </a:r>
            <a:endParaRPr lang="en-US" sz="2500" dirty="0"/>
          </a:p>
        </p:txBody>
      </p:sp>
      <p:sp>
        <p:nvSpPr>
          <p:cNvPr id="3" name="Shape 1"/>
          <p:cNvSpPr/>
          <p:nvPr/>
        </p:nvSpPr>
        <p:spPr>
          <a:xfrm>
            <a:off x="640080" y="1280160"/>
            <a:ext cx="4846320" cy="566928"/>
          </a:xfrm>
          <a:prstGeom prst="roundRect">
            <a:avLst>
              <a:gd name="adj" fmla="val 9677"/>
            </a:avLst>
          </a:prstGeom>
          <a:solidFill>
            <a:srgbClr val="FFFFFF"/>
          </a:solidFill>
          <a:ln w="12700">
            <a:solidFill>
              <a:srgbClr val="EEF2F7"/>
            </a:solidFill>
            <a:prstDash val="solid"/>
          </a:ln>
        </p:spPr>
      </p:sp>
      <p:sp>
        <p:nvSpPr>
          <p:cNvPr id="4" name="Text 2"/>
          <p:cNvSpPr txBox="1"/>
          <p:nvPr/>
        </p:nvSpPr>
        <p:spPr>
          <a:xfrm>
            <a:off x="868680" y="1280160"/>
            <a:ext cx="4389120" cy="566928"/>
          </a:xfrm>
          <a:prstGeom prst="rect">
            <a:avLst/>
          </a:prstGeom>
          <a:noFill/>
          <a:ln/>
        </p:spPr>
        <p:txBody>
          <a:bodyPr wrap="square" lIns="0" tIns="0" rIns="0" bIns="0" rtlCol="0" anchor="ctr"/>
          <a:lstStyle/>
          <a:p>
            <a:pPr indent="0" marL="0">
              <a:buNone/>
            </a:pPr>
            <a:r>
              <a:rPr lang="en-US" sz="1200" dirty="0">
                <a:solidFill>
                  <a:srgbClr val="0F2843"/>
                </a:solidFill>
                <a:latin typeface="Calibri" pitchFamily="34" charset="0"/>
                <a:ea typeface="Calibri" pitchFamily="34" charset="-122"/>
                <a:cs typeface="Calibri" pitchFamily="34" charset="-120"/>
              </a:rPr>
              <a:t>You structured the SOPs</a:t>
            </a:r>
            <a:endParaRPr lang="en-US" sz="1200" dirty="0"/>
          </a:p>
        </p:txBody>
      </p:sp>
      <p:sp>
        <p:nvSpPr>
          <p:cNvPr id="5" name="Text 3"/>
          <p:cNvSpPr txBox="1"/>
          <p:nvPr/>
        </p:nvSpPr>
        <p:spPr>
          <a:xfrm>
            <a:off x="5532120" y="1280160"/>
            <a:ext cx="457200" cy="566928"/>
          </a:xfrm>
          <a:prstGeom prst="rect">
            <a:avLst/>
          </a:prstGeom>
          <a:noFill/>
          <a:ln/>
        </p:spPr>
        <p:txBody>
          <a:bodyPr wrap="square" lIns="0" tIns="0" rIns="0" bIns="0" rtlCol="0" anchor="ctr"/>
          <a:lstStyle/>
          <a:p>
            <a:pPr algn="ctr" indent="0" marL="0">
              <a:buNone/>
            </a:pPr>
            <a:r>
              <a:rPr lang="en-US" sz="1600" dirty="0">
                <a:solidFill>
                  <a:srgbClr val="5B6B82"/>
                </a:solidFill>
              </a:rPr>
              <a:t>→</a:t>
            </a:r>
            <a:endParaRPr lang="en-US" sz="1600" dirty="0"/>
          </a:p>
        </p:txBody>
      </p:sp>
      <p:sp>
        <p:nvSpPr>
          <p:cNvPr id="6" name="Shape 4"/>
          <p:cNvSpPr/>
          <p:nvPr/>
        </p:nvSpPr>
        <p:spPr>
          <a:xfrm>
            <a:off x="6035040" y="1280160"/>
            <a:ext cx="5486400" cy="566928"/>
          </a:xfrm>
          <a:prstGeom prst="roundRect">
            <a:avLst>
              <a:gd name="adj" fmla="val 9677"/>
            </a:avLst>
          </a:prstGeom>
          <a:solidFill>
            <a:srgbClr val="0F2843"/>
          </a:solidFill>
          <a:ln/>
        </p:spPr>
      </p:sp>
      <p:sp>
        <p:nvSpPr>
          <p:cNvPr id="7" name="Text 5"/>
          <p:cNvSpPr txBox="1"/>
          <p:nvPr/>
        </p:nvSpPr>
        <p:spPr>
          <a:xfrm>
            <a:off x="6263640" y="1280160"/>
            <a:ext cx="5029200"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Knowledge base indexes SOPs</a:t>
            </a:r>
            <a:endParaRPr lang="en-US" sz="1200" dirty="0"/>
          </a:p>
        </p:txBody>
      </p:sp>
      <p:sp>
        <p:nvSpPr>
          <p:cNvPr id="8" name="Shape 6"/>
          <p:cNvSpPr/>
          <p:nvPr/>
        </p:nvSpPr>
        <p:spPr>
          <a:xfrm>
            <a:off x="640080" y="1965960"/>
            <a:ext cx="4846320" cy="566928"/>
          </a:xfrm>
          <a:prstGeom prst="roundRect">
            <a:avLst>
              <a:gd name="adj" fmla="val 9677"/>
            </a:avLst>
          </a:prstGeom>
          <a:solidFill>
            <a:srgbClr val="FFFFFF"/>
          </a:solidFill>
          <a:ln w="12700">
            <a:solidFill>
              <a:srgbClr val="EEF2F7"/>
            </a:solidFill>
            <a:prstDash val="solid"/>
          </a:ln>
        </p:spPr>
      </p:sp>
      <p:sp>
        <p:nvSpPr>
          <p:cNvPr id="9" name="Text 7"/>
          <p:cNvSpPr txBox="1"/>
          <p:nvPr/>
        </p:nvSpPr>
        <p:spPr>
          <a:xfrm>
            <a:off x="868680" y="1965960"/>
            <a:ext cx="4389120" cy="566928"/>
          </a:xfrm>
          <a:prstGeom prst="rect">
            <a:avLst/>
          </a:prstGeom>
          <a:noFill/>
          <a:ln/>
        </p:spPr>
        <p:txBody>
          <a:bodyPr wrap="square" lIns="0" tIns="0" rIns="0" bIns="0" rtlCol="0" anchor="ctr"/>
          <a:lstStyle/>
          <a:p>
            <a:pPr indent="0" marL="0">
              <a:buNone/>
            </a:pPr>
            <a:r>
              <a:rPr lang="en-US" sz="1200" dirty="0">
                <a:solidFill>
                  <a:srgbClr val="0F2843"/>
                </a:solidFill>
                <a:latin typeface="Calibri" pitchFamily="34" charset="0"/>
                <a:ea typeface="Calibri" pitchFamily="34" charset="-122"/>
                <a:cs typeface="Calibri" pitchFamily="34" charset="-120"/>
              </a:rPr>
              <a:t>You broke the goal into steps</a:t>
            </a:r>
            <a:endParaRPr lang="en-US" sz="1200" dirty="0"/>
          </a:p>
        </p:txBody>
      </p:sp>
      <p:sp>
        <p:nvSpPr>
          <p:cNvPr id="10" name="Text 8"/>
          <p:cNvSpPr txBox="1"/>
          <p:nvPr/>
        </p:nvSpPr>
        <p:spPr>
          <a:xfrm>
            <a:off x="5532120" y="1965960"/>
            <a:ext cx="457200" cy="566928"/>
          </a:xfrm>
          <a:prstGeom prst="rect">
            <a:avLst/>
          </a:prstGeom>
          <a:noFill/>
          <a:ln/>
        </p:spPr>
        <p:txBody>
          <a:bodyPr wrap="square" lIns="0" tIns="0" rIns="0" bIns="0" rtlCol="0" anchor="ctr"/>
          <a:lstStyle/>
          <a:p>
            <a:pPr algn="ctr" indent="0" marL="0">
              <a:buNone/>
            </a:pPr>
            <a:r>
              <a:rPr lang="en-US" sz="1600" dirty="0">
                <a:solidFill>
                  <a:srgbClr val="5B6B82"/>
                </a:solidFill>
              </a:rPr>
              <a:t>→</a:t>
            </a:r>
            <a:endParaRPr lang="en-US" sz="1600" dirty="0"/>
          </a:p>
        </p:txBody>
      </p:sp>
      <p:sp>
        <p:nvSpPr>
          <p:cNvPr id="11" name="Shape 9"/>
          <p:cNvSpPr/>
          <p:nvPr/>
        </p:nvSpPr>
        <p:spPr>
          <a:xfrm>
            <a:off x="6035040" y="1965960"/>
            <a:ext cx="5486400" cy="566928"/>
          </a:xfrm>
          <a:prstGeom prst="roundRect">
            <a:avLst>
              <a:gd name="adj" fmla="val 9677"/>
            </a:avLst>
          </a:prstGeom>
          <a:solidFill>
            <a:srgbClr val="0F2843"/>
          </a:solidFill>
          <a:ln/>
        </p:spPr>
      </p:sp>
      <p:sp>
        <p:nvSpPr>
          <p:cNvPr id="12" name="Text 10"/>
          <p:cNvSpPr txBox="1"/>
          <p:nvPr/>
        </p:nvSpPr>
        <p:spPr>
          <a:xfrm>
            <a:off x="6263640" y="1965960"/>
            <a:ext cx="5029200"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Workflow engine decomposes goals</a:t>
            </a:r>
            <a:endParaRPr lang="en-US" sz="1200" dirty="0"/>
          </a:p>
        </p:txBody>
      </p:sp>
      <p:sp>
        <p:nvSpPr>
          <p:cNvPr id="13" name="Shape 11"/>
          <p:cNvSpPr/>
          <p:nvPr/>
        </p:nvSpPr>
        <p:spPr>
          <a:xfrm>
            <a:off x="640080" y="2651760"/>
            <a:ext cx="4846320" cy="566928"/>
          </a:xfrm>
          <a:prstGeom prst="roundRect">
            <a:avLst>
              <a:gd name="adj" fmla="val 9677"/>
            </a:avLst>
          </a:prstGeom>
          <a:solidFill>
            <a:srgbClr val="FFFFFF"/>
          </a:solidFill>
          <a:ln w="12700">
            <a:solidFill>
              <a:srgbClr val="EEF2F7"/>
            </a:solidFill>
            <a:prstDash val="solid"/>
          </a:ln>
        </p:spPr>
      </p:sp>
      <p:sp>
        <p:nvSpPr>
          <p:cNvPr id="14" name="Text 12"/>
          <p:cNvSpPr txBox="1"/>
          <p:nvPr/>
        </p:nvSpPr>
        <p:spPr>
          <a:xfrm>
            <a:off x="868680" y="2651760"/>
            <a:ext cx="4389120" cy="566928"/>
          </a:xfrm>
          <a:prstGeom prst="rect">
            <a:avLst/>
          </a:prstGeom>
          <a:noFill/>
          <a:ln/>
        </p:spPr>
        <p:txBody>
          <a:bodyPr wrap="square" lIns="0" tIns="0" rIns="0" bIns="0" rtlCol="0" anchor="ctr"/>
          <a:lstStyle/>
          <a:p>
            <a:pPr indent="0" marL="0">
              <a:buNone/>
            </a:pPr>
            <a:r>
              <a:rPr lang="en-US" sz="1200" dirty="0">
                <a:solidFill>
                  <a:srgbClr val="0F2843"/>
                </a:solidFill>
                <a:latin typeface="Calibri" pitchFamily="34" charset="0"/>
                <a:ea typeface="Calibri" pitchFamily="34" charset="-122"/>
                <a:cs typeface="Calibri" pitchFamily="34" charset="-120"/>
              </a:rPr>
              <a:t>You reasoned through the trade-off</a:t>
            </a:r>
            <a:endParaRPr lang="en-US" sz="1200" dirty="0"/>
          </a:p>
        </p:txBody>
      </p:sp>
      <p:sp>
        <p:nvSpPr>
          <p:cNvPr id="15" name="Text 13"/>
          <p:cNvSpPr txBox="1"/>
          <p:nvPr/>
        </p:nvSpPr>
        <p:spPr>
          <a:xfrm>
            <a:off x="5532120" y="2651760"/>
            <a:ext cx="457200" cy="566928"/>
          </a:xfrm>
          <a:prstGeom prst="rect">
            <a:avLst/>
          </a:prstGeom>
          <a:noFill/>
          <a:ln/>
        </p:spPr>
        <p:txBody>
          <a:bodyPr wrap="square" lIns="0" tIns="0" rIns="0" bIns="0" rtlCol="0" anchor="ctr"/>
          <a:lstStyle/>
          <a:p>
            <a:pPr algn="ctr" indent="0" marL="0">
              <a:buNone/>
            </a:pPr>
            <a:r>
              <a:rPr lang="en-US" sz="1600" dirty="0">
                <a:solidFill>
                  <a:srgbClr val="5B6B82"/>
                </a:solidFill>
              </a:rPr>
              <a:t>→</a:t>
            </a:r>
            <a:endParaRPr lang="en-US" sz="1600" dirty="0"/>
          </a:p>
        </p:txBody>
      </p:sp>
      <p:sp>
        <p:nvSpPr>
          <p:cNvPr id="16" name="Shape 14"/>
          <p:cNvSpPr/>
          <p:nvPr/>
        </p:nvSpPr>
        <p:spPr>
          <a:xfrm>
            <a:off x="6035040" y="2651760"/>
            <a:ext cx="5486400" cy="566928"/>
          </a:xfrm>
          <a:prstGeom prst="roundRect">
            <a:avLst>
              <a:gd name="adj" fmla="val 9677"/>
            </a:avLst>
          </a:prstGeom>
          <a:solidFill>
            <a:srgbClr val="0F2843"/>
          </a:solidFill>
          <a:ln/>
        </p:spPr>
      </p:sp>
      <p:sp>
        <p:nvSpPr>
          <p:cNvPr id="17" name="Text 15"/>
          <p:cNvSpPr txBox="1"/>
          <p:nvPr/>
        </p:nvSpPr>
        <p:spPr>
          <a:xfrm>
            <a:off x="6263640" y="2651760"/>
            <a:ext cx="5029200"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Agent reasons via ReAct loop</a:t>
            </a:r>
            <a:endParaRPr lang="en-US" sz="1200" dirty="0"/>
          </a:p>
        </p:txBody>
      </p:sp>
      <p:sp>
        <p:nvSpPr>
          <p:cNvPr id="18" name="Shape 16"/>
          <p:cNvSpPr/>
          <p:nvPr/>
        </p:nvSpPr>
        <p:spPr>
          <a:xfrm>
            <a:off x="640080" y="3337560"/>
            <a:ext cx="4846320" cy="566928"/>
          </a:xfrm>
          <a:prstGeom prst="roundRect">
            <a:avLst>
              <a:gd name="adj" fmla="val 9677"/>
            </a:avLst>
          </a:prstGeom>
          <a:solidFill>
            <a:srgbClr val="FFFFFF"/>
          </a:solidFill>
          <a:ln w="12700">
            <a:solidFill>
              <a:srgbClr val="EEF2F7"/>
            </a:solidFill>
            <a:prstDash val="solid"/>
          </a:ln>
        </p:spPr>
      </p:sp>
      <p:sp>
        <p:nvSpPr>
          <p:cNvPr id="19" name="Text 17"/>
          <p:cNvSpPr txBox="1"/>
          <p:nvPr/>
        </p:nvSpPr>
        <p:spPr>
          <a:xfrm>
            <a:off x="868680" y="3337560"/>
            <a:ext cx="4389120" cy="566928"/>
          </a:xfrm>
          <a:prstGeom prst="rect">
            <a:avLst/>
          </a:prstGeom>
          <a:noFill/>
          <a:ln/>
        </p:spPr>
        <p:txBody>
          <a:bodyPr wrap="square" lIns="0" tIns="0" rIns="0" bIns="0" rtlCol="0" anchor="ctr"/>
          <a:lstStyle/>
          <a:p>
            <a:pPr indent="0" marL="0">
              <a:buNone/>
            </a:pPr>
            <a:r>
              <a:rPr lang="en-US" sz="1200" dirty="0">
                <a:solidFill>
                  <a:srgbClr val="0F2843"/>
                </a:solidFill>
                <a:latin typeface="Calibri" pitchFamily="34" charset="0"/>
                <a:ea typeface="Calibri" pitchFamily="34" charset="-122"/>
                <a:cs typeface="Calibri" pitchFamily="34" charset="-120"/>
              </a:rPr>
              <a:t>You checked if the plan made sense</a:t>
            </a:r>
            <a:endParaRPr lang="en-US" sz="1200" dirty="0"/>
          </a:p>
        </p:txBody>
      </p:sp>
      <p:sp>
        <p:nvSpPr>
          <p:cNvPr id="20" name="Text 18"/>
          <p:cNvSpPr txBox="1"/>
          <p:nvPr/>
        </p:nvSpPr>
        <p:spPr>
          <a:xfrm>
            <a:off x="5532120" y="3337560"/>
            <a:ext cx="457200" cy="566928"/>
          </a:xfrm>
          <a:prstGeom prst="rect">
            <a:avLst/>
          </a:prstGeom>
          <a:noFill/>
          <a:ln/>
        </p:spPr>
        <p:txBody>
          <a:bodyPr wrap="square" lIns="0" tIns="0" rIns="0" bIns="0" rtlCol="0" anchor="ctr"/>
          <a:lstStyle/>
          <a:p>
            <a:pPr algn="ctr" indent="0" marL="0">
              <a:buNone/>
            </a:pPr>
            <a:r>
              <a:rPr lang="en-US" sz="1600" dirty="0">
                <a:solidFill>
                  <a:srgbClr val="5B6B82"/>
                </a:solidFill>
              </a:rPr>
              <a:t>→</a:t>
            </a:r>
            <a:endParaRPr lang="en-US" sz="1600" dirty="0"/>
          </a:p>
        </p:txBody>
      </p:sp>
      <p:sp>
        <p:nvSpPr>
          <p:cNvPr id="21" name="Shape 19"/>
          <p:cNvSpPr/>
          <p:nvPr/>
        </p:nvSpPr>
        <p:spPr>
          <a:xfrm>
            <a:off x="6035040" y="3337560"/>
            <a:ext cx="5486400" cy="566928"/>
          </a:xfrm>
          <a:prstGeom prst="roundRect">
            <a:avLst>
              <a:gd name="adj" fmla="val 9677"/>
            </a:avLst>
          </a:prstGeom>
          <a:solidFill>
            <a:srgbClr val="0F2843"/>
          </a:solidFill>
          <a:ln/>
        </p:spPr>
      </p:sp>
      <p:sp>
        <p:nvSpPr>
          <p:cNvPr id="22" name="Text 20"/>
          <p:cNvSpPr txBox="1"/>
          <p:nvPr/>
        </p:nvSpPr>
        <p:spPr>
          <a:xfrm>
            <a:off x="6263640" y="3337560"/>
            <a:ext cx="5029200"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Evaluation tests decision quality</a:t>
            </a:r>
            <a:endParaRPr lang="en-US" sz="1200" dirty="0"/>
          </a:p>
        </p:txBody>
      </p:sp>
      <p:sp>
        <p:nvSpPr>
          <p:cNvPr id="23" name="Shape 21"/>
          <p:cNvSpPr/>
          <p:nvPr/>
        </p:nvSpPr>
        <p:spPr>
          <a:xfrm>
            <a:off x="640080" y="4023360"/>
            <a:ext cx="4846320" cy="566928"/>
          </a:xfrm>
          <a:prstGeom prst="roundRect">
            <a:avLst>
              <a:gd name="adj" fmla="val 9677"/>
            </a:avLst>
          </a:prstGeom>
          <a:solidFill>
            <a:srgbClr val="FFFFFF"/>
          </a:solidFill>
          <a:ln w="12700">
            <a:solidFill>
              <a:srgbClr val="EEF2F7"/>
            </a:solidFill>
            <a:prstDash val="solid"/>
          </a:ln>
        </p:spPr>
      </p:sp>
      <p:sp>
        <p:nvSpPr>
          <p:cNvPr id="24" name="Text 22"/>
          <p:cNvSpPr txBox="1"/>
          <p:nvPr/>
        </p:nvSpPr>
        <p:spPr>
          <a:xfrm>
            <a:off x="868680" y="4023360"/>
            <a:ext cx="4389120" cy="566928"/>
          </a:xfrm>
          <a:prstGeom prst="rect">
            <a:avLst/>
          </a:prstGeom>
          <a:noFill/>
          <a:ln/>
        </p:spPr>
        <p:txBody>
          <a:bodyPr wrap="square" lIns="0" tIns="0" rIns="0" bIns="0" rtlCol="0" anchor="ctr"/>
          <a:lstStyle/>
          <a:p>
            <a:pPr indent="0" marL="0">
              <a:buNone/>
            </a:pPr>
            <a:r>
              <a:rPr lang="en-US" sz="1200" dirty="0">
                <a:solidFill>
                  <a:srgbClr val="0F2843"/>
                </a:solidFill>
                <a:latin typeface="Calibri" pitchFamily="34" charset="0"/>
                <a:ea typeface="Calibri" pitchFamily="34" charset="-122"/>
                <a:cs typeface="Calibri" pitchFamily="34" charset="-120"/>
              </a:rPr>
              <a:t>You gave the final order</a:t>
            </a:r>
            <a:endParaRPr lang="en-US" sz="1200" dirty="0"/>
          </a:p>
        </p:txBody>
      </p:sp>
      <p:sp>
        <p:nvSpPr>
          <p:cNvPr id="25" name="Text 23"/>
          <p:cNvSpPr txBox="1"/>
          <p:nvPr/>
        </p:nvSpPr>
        <p:spPr>
          <a:xfrm>
            <a:off x="5532120" y="4023360"/>
            <a:ext cx="457200" cy="566928"/>
          </a:xfrm>
          <a:prstGeom prst="rect">
            <a:avLst/>
          </a:prstGeom>
          <a:noFill/>
          <a:ln/>
        </p:spPr>
        <p:txBody>
          <a:bodyPr wrap="square" lIns="0" tIns="0" rIns="0" bIns="0" rtlCol="0" anchor="ctr"/>
          <a:lstStyle/>
          <a:p>
            <a:pPr algn="ctr" indent="0" marL="0">
              <a:buNone/>
            </a:pPr>
            <a:r>
              <a:rPr lang="en-US" sz="1600" dirty="0">
                <a:solidFill>
                  <a:srgbClr val="5B6B82"/>
                </a:solidFill>
              </a:rPr>
              <a:t>→</a:t>
            </a:r>
            <a:endParaRPr lang="en-US" sz="1600" dirty="0"/>
          </a:p>
        </p:txBody>
      </p:sp>
      <p:sp>
        <p:nvSpPr>
          <p:cNvPr id="26" name="Shape 24"/>
          <p:cNvSpPr/>
          <p:nvPr/>
        </p:nvSpPr>
        <p:spPr>
          <a:xfrm>
            <a:off x="6035040" y="4023360"/>
            <a:ext cx="5486400" cy="566928"/>
          </a:xfrm>
          <a:prstGeom prst="roundRect">
            <a:avLst>
              <a:gd name="adj" fmla="val 9677"/>
            </a:avLst>
          </a:prstGeom>
          <a:solidFill>
            <a:srgbClr val="0F2843"/>
          </a:solidFill>
          <a:ln/>
        </p:spPr>
      </p:sp>
      <p:sp>
        <p:nvSpPr>
          <p:cNvPr id="27" name="Text 25"/>
          <p:cNvSpPr txBox="1"/>
          <p:nvPr/>
        </p:nvSpPr>
        <p:spPr>
          <a:xfrm>
            <a:off x="6263640" y="4023360"/>
            <a:ext cx="5029200"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Integration executes &amp; dispatches via API</a:t>
            </a:r>
            <a:endParaRPr lang="en-US" sz="1200" dirty="0"/>
          </a:p>
        </p:txBody>
      </p:sp>
      <p:sp>
        <p:nvSpPr>
          <p:cNvPr id="28" name="Shape 26"/>
          <p:cNvSpPr/>
          <p:nvPr/>
        </p:nvSpPr>
        <p:spPr>
          <a:xfrm>
            <a:off x="640080" y="4800600"/>
            <a:ext cx="10881360" cy="777240"/>
          </a:xfrm>
          <a:prstGeom prst="roundRect">
            <a:avLst>
              <a:gd name="adj" fmla="val 7059"/>
            </a:avLst>
          </a:prstGeom>
          <a:solidFill>
            <a:srgbClr val="FFB627"/>
          </a:solidFill>
          <a:ln/>
        </p:spPr>
      </p:sp>
      <p:sp>
        <p:nvSpPr>
          <p:cNvPr id="29" name="Text 27"/>
          <p:cNvSpPr txBox="1"/>
          <p:nvPr/>
        </p:nvSpPr>
        <p:spPr>
          <a:xfrm>
            <a:off x="914400" y="4800600"/>
            <a:ext cx="10332720" cy="777240"/>
          </a:xfrm>
          <a:prstGeom prst="rect">
            <a:avLst/>
          </a:prstGeom>
          <a:noFill/>
          <a:ln/>
        </p:spPr>
        <p:txBody>
          <a:bodyPr wrap="square" lIns="0" tIns="0" rIns="0" bIns="0" rtlCol="0" anchor="ctr"/>
          <a:lstStyle/>
          <a:p>
            <a:pPr indent="0" marL="0">
              <a:lnSpc>
                <a:spcPct val="120000"/>
              </a:lnSpc>
              <a:buNone/>
            </a:pPr>
            <a:r>
              <a:rPr lang="en-US" sz="1300" b="1" dirty="0">
                <a:solidFill>
                  <a:srgbClr val="081527"/>
                </a:solidFill>
                <a:latin typeface="Calibri" pitchFamily="34" charset="0"/>
                <a:ea typeface="Calibri" pitchFamily="34" charset="-122"/>
                <a:cs typeface="Calibri" pitchFamily="34" charset="-120"/>
              </a:rPr>
              <a:t>First, you understood the process manually.</a:t>
            </a:r>
            <a:endParaRPr lang="en-US" sz="1300" dirty="0"/>
          </a:p>
          <a:p>
            <a:pPr indent="0" marL="0">
              <a:lnSpc>
                <a:spcPct val="120000"/>
              </a:lnSpc>
              <a:buNone/>
            </a:pPr>
            <a:r>
              <a:rPr lang="en-US" sz="1300" b="1" dirty="0">
                <a:solidFill>
                  <a:srgbClr val="081527"/>
                </a:solidFill>
                <a:latin typeface="Calibri" pitchFamily="34" charset="0"/>
                <a:ea typeface="Calibri" pitchFamily="34" charset="-122"/>
                <a:cs typeface="Calibri" pitchFamily="34" charset="-120"/>
              </a:rPr>
              <a:t>Now, the agent automates the same reasoning.</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81527"/>
        </a:solidFill>
      </p:bgPr>
    </p:bg>
    <p:spTree>
      <p:nvGrpSpPr>
        <p:cNvPr id="1" name=""/>
        <p:cNvGrpSpPr/>
        <p:nvPr/>
      </p:nvGrpSpPr>
      <p:grpSpPr>
        <a:xfrm>
          <a:off x="0" y="0"/>
          <a:ext cx="0" cy="0"/>
          <a:chOff x="0" y="0"/>
          <a:chExt cx="0" cy="0"/>
        </a:xfrm>
      </p:grpSpPr>
      <p:sp>
        <p:nvSpPr>
          <p:cNvPr id="2" name="Text 0"/>
          <p:cNvSpPr txBox="1"/>
          <p:nvPr/>
        </p:nvSpPr>
        <p:spPr>
          <a:xfrm>
            <a:off x="640080" y="502920"/>
            <a:ext cx="10515600" cy="640080"/>
          </a:xfrm>
          <a:prstGeom prst="rect">
            <a:avLst/>
          </a:prstGeom>
          <a:noFill/>
          <a:ln/>
        </p:spPr>
        <p:txBody>
          <a:bodyPr wrap="square" lIns="0" tIns="0" rIns="0" bIns="0" rtlCol="0" anchor="ctr"/>
          <a:lstStyle/>
          <a:p>
            <a:pPr indent="0" marL="0">
              <a:buNone/>
            </a:pPr>
            <a:r>
              <a:rPr lang="en-US" sz="2700" b="1" i="1" dirty="0">
                <a:solidFill>
                  <a:srgbClr val="FFB627"/>
                </a:solidFill>
                <a:latin typeface="Cambria" pitchFamily="34" charset="0"/>
                <a:ea typeface="Cambria" pitchFamily="34" charset="-122"/>
                <a:cs typeface="Cambria" pitchFamily="34" charset="-120"/>
              </a:rPr>
              <a:t>"Today, You Didn't Just Learn Agentic AI."</a:t>
            </a:r>
            <a:endParaRPr lang="en-US" sz="2700" dirty="0"/>
          </a:p>
        </p:txBody>
      </p:sp>
      <p:sp>
        <p:nvSpPr>
          <p:cNvPr id="3" name="Shape 1"/>
          <p:cNvSpPr/>
          <p:nvPr/>
        </p:nvSpPr>
        <p:spPr>
          <a:xfrm>
            <a:off x="640080" y="1371600"/>
            <a:ext cx="310896" cy="310896"/>
          </a:xfrm>
          <a:prstGeom prst="ellipse">
            <a:avLst/>
          </a:prstGeom>
          <a:solidFill>
            <a:srgbClr val="17263B"/>
          </a:solidFill>
          <a:ln w="15240">
            <a:solidFill>
              <a:srgbClr val="2A9D8F"/>
            </a:solidFill>
            <a:prstDash val="solid"/>
          </a:ln>
        </p:spPr>
      </p:sp>
      <p:sp>
        <p:nvSpPr>
          <p:cNvPr id="4" name="Text 2"/>
          <p:cNvSpPr txBox="1"/>
          <p:nvPr/>
        </p:nvSpPr>
        <p:spPr>
          <a:xfrm>
            <a:off x="640080" y="1371600"/>
            <a:ext cx="310896" cy="310896"/>
          </a:xfrm>
          <a:prstGeom prst="rect">
            <a:avLst/>
          </a:prstGeom>
          <a:noFill/>
          <a:ln/>
        </p:spPr>
        <p:txBody>
          <a:bodyPr wrap="square" lIns="0" tIns="0" rIns="0" bIns="0" rtlCol="0" anchor="ctr"/>
          <a:lstStyle/>
          <a:p>
            <a:pPr algn="ctr" indent="0" marL="0">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5" name="Text 3"/>
          <p:cNvSpPr txBox="1"/>
          <p:nvPr/>
        </p:nvSpPr>
        <p:spPr>
          <a:xfrm>
            <a:off x="1097280" y="1353312"/>
            <a:ext cx="9875520" cy="347472"/>
          </a:xfrm>
          <a:prstGeom prst="rect">
            <a:avLst/>
          </a:prstGeom>
          <a:noFill/>
          <a:ln/>
        </p:spPr>
        <p:txBody>
          <a:bodyPr wrap="square" lIns="0" tIns="0" rIns="0" bIns="0" rtlCol="0" anchor="ctr"/>
          <a:lstStyle/>
          <a:p>
            <a:pPr indent="0" marL="0">
              <a:buNone/>
            </a:pPr>
            <a:r>
              <a:rPr lang="en-US" sz="1300" dirty="0">
                <a:solidFill>
                  <a:srgbClr val="E3E9F2"/>
                </a:solidFill>
                <a:latin typeface="Calibri" pitchFamily="34" charset="0"/>
                <a:ea typeface="Calibri" pitchFamily="34" charset="-122"/>
                <a:cs typeface="Calibri" pitchFamily="34" charset="-120"/>
              </a:rPr>
              <a:t>You were the incident commander</a:t>
            </a:r>
            <a:endParaRPr lang="en-US" sz="1300" dirty="0"/>
          </a:p>
        </p:txBody>
      </p:sp>
      <p:sp>
        <p:nvSpPr>
          <p:cNvPr id="6" name="Shape 4"/>
          <p:cNvSpPr/>
          <p:nvPr/>
        </p:nvSpPr>
        <p:spPr>
          <a:xfrm>
            <a:off x="640080" y="1828800"/>
            <a:ext cx="310896" cy="310896"/>
          </a:xfrm>
          <a:prstGeom prst="ellipse">
            <a:avLst/>
          </a:prstGeom>
          <a:solidFill>
            <a:srgbClr val="17263B"/>
          </a:solidFill>
          <a:ln w="15240">
            <a:solidFill>
              <a:srgbClr val="2A9D8F"/>
            </a:solidFill>
            <a:prstDash val="solid"/>
          </a:ln>
        </p:spPr>
      </p:sp>
      <p:sp>
        <p:nvSpPr>
          <p:cNvPr id="7" name="Text 5"/>
          <p:cNvSpPr txBox="1"/>
          <p:nvPr/>
        </p:nvSpPr>
        <p:spPr>
          <a:xfrm>
            <a:off x="640080" y="1828800"/>
            <a:ext cx="310896" cy="310896"/>
          </a:xfrm>
          <a:prstGeom prst="rect">
            <a:avLst/>
          </a:prstGeom>
          <a:noFill/>
          <a:ln/>
        </p:spPr>
        <p:txBody>
          <a:bodyPr wrap="square" lIns="0" tIns="0" rIns="0" bIns="0" rtlCol="0" anchor="ctr"/>
          <a:lstStyle/>
          <a:p>
            <a:pPr algn="ctr" indent="0" marL="0">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8" name="Text 6"/>
          <p:cNvSpPr txBox="1"/>
          <p:nvPr/>
        </p:nvSpPr>
        <p:spPr>
          <a:xfrm>
            <a:off x="1097280" y="1810512"/>
            <a:ext cx="9875520" cy="347472"/>
          </a:xfrm>
          <a:prstGeom prst="rect">
            <a:avLst/>
          </a:prstGeom>
          <a:noFill/>
          <a:ln/>
        </p:spPr>
        <p:txBody>
          <a:bodyPr wrap="square" lIns="0" tIns="0" rIns="0" bIns="0" rtlCol="0" anchor="ctr"/>
          <a:lstStyle/>
          <a:p>
            <a:pPr indent="0" marL="0">
              <a:buNone/>
            </a:pPr>
            <a:r>
              <a:rPr lang="en-US" sz="1300" dirty="0">
                <a:solidFill>
                  <a:srgbClr val="E3E9F2"/>
                </a:solidFill>
                <a:latin typeface="Calibri" pitchFamily="34" charset="0"/>
                <a:ea typeface="Calibri" pitchFamily="34" charset="-122"/>
                <a:cs typeface="Calibri" pitchFamily="34" charset="-120"/>
              </a:rPr>
              <a:t>You reasoned through competing priorities</a:t>
            </a:r>
            <a:endParaRPr lang="en-US" sz="1300" dirty="0"/>
          </a:p>
        </p:txBody>
      </p:sp>
      <p:sp>
        <p:nvSpPr>
          <p:cNvPr id="9" name="Shape 7"/>
          <p:cNvSpPr/>
          <p:nvPr/>
        </p:nvSpPr>
        <p:spPr>
          <a:xfrm>
            <a:off x="640080" y="2286000"/>
            <a:ext cx="310896" cy="310896"/>
          </a:xfrm>
          <a:prstGeom prst="ellipse">
            <a:avLst/>
          </a:prstGeom>
          <a:solidFill>
            <a:srgbClr val="17263B"/>
          </a:solidFill>
          <a:ln w="15240">
            <a:solidFill>
              <a:srgbClr val="2A9D8F"/>
            </a:solidFill>
            <a:prstDash val="solid"/>
          </a:ln>
        </p:spPr>
      </p:sp>
      <p:sp>
        <p:nvSpPr>
          <p:cNvPr id="10" name="Text 8"/>
          <p:cNvSpPr txBox="1"/>
          <p:nvPr/>
        </p:nvSpPr>
        <p:spPr>
          <a:xfrm>
            <a:off x="640080" y="2286000"/>
            <a:ext cx="310896" cy="310896"/>
          </a:xfrm>
          <a:prstGeom prst="rect">
            <a:avLst/>
          </a:prstGeom>
          <a:noFill/>
          <a:ln/>
        </p:spPr>
        <p:txBody>
          <a:bodyPr wrap="square" lIns="0" tIns="0" rIns="0" bIns="0" rtlCol="0" anchor="ctr"/>
          <a:lstStyle/>
          <a:p>
            <a:pPr algn="ctr" indent="0" marL="0">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11" name="Text 9"/>
          <p:cNvSpPr txBox="1"/>
          <p:nvPr/>
        </p:nvSpPr>
        <p:spPr>
          <a:xfrm>
            <a:off x="1097280" y="2267712"/>
            <a:ext cx="9875520" cy="347472"/>
          </a:xfrm>
          <a:prstGeom prst="rect">
            <a:avLst/>
          </a:prstGeom>
          <a:noFill/>
          <a:ln/>
        </p:spPr>
        <p:txBody>
          <a:bodyPr wrap="square" lIns="0" tIns="0" rIns="0" bIns="0" rtlCol="0" anchor="ctr"/>
          <a:lstStyle/>
          <a:p>
            <a:pPr indent="0" marL="0">
              <a:buNone/>
            </a:pPr>
            <a:r>
              <a:rPr lang="en-US" sz="1300" dirty="0">
                <a:solidFill>
                  <a:srgbClr val="E3E9F2"/>
                </a:solidFill>
                <a:latin typeface="Calibri" pitchFamily="34" charset="0"/>
                <a:ea typeface="Calibri" pitchFamily="34" charset="-122"/>
                <a:cs typeface="Calibri" pitchFamily="34" charset="-120"/>
              </a:rPr>
              <a:t>You built a ReAct reasoning loop</a:t>
            </a:r>
            <a:endParaRPr lang="en-US" sz="1300" dirty="0"/>
          </a:p>
        </p:txBody>
      </p:sp>
      <p:sp>
        <p:nvSpPr>
          <p:cNvPr id="12" name="Shape 10"/>
          <p:cNvSpPr/>
          <p:nvPr/>
        </p:nvSpPr>
        <p:spPr>
          <a:xfrm>
            <a:off x="640080" y="2743200"/>
            <a:ext cx="310896" cy="310896"/>
          </a:xfrm>
          <a:prstGeom prst="ellipse">
            <a:avLst/>
          </a:prstGeom>
          <a:solidFill>
            <a:srgbClr val="17263B"/>
          </a:solidFill>
          <a:ln w="15240">
            <a:solidFill>
              <a:srgbClr val="2A9D8F"/>
            </a:solidFill>
            <a:prstDash val="solid"/>
          </a:ln>
        </p:spPr>
      </p:sp>
      <p:sp>
        <p:nvSpPr>
          <p:cNvPr id="13" name="Text 11"/>
          <p:cNvSpPr txBox="1"/>
          <p:nvPr/>
        </p:nvSpPr>
        <p:spPr>
          <a:xfrm>
            <a:off x="640080" y="2743200"/>
            <a:ext cx="310896" cy="310896"/>
          </a:xfrm>
          <a:prstGeom prst="rect">
            <a:avLst/>
          </a:prstGeom>
          <a:noFill/>
          <a:ln/>
        </p:spPr>
        <p:txBody>
          <a:bodyPr wrap="square" lIns="0" tIns="0" rIns="0" bIns="0" rtlCol="0" anchor="ctr"/>
          <a:lstStyle/>
          <a:p>
            <a:pPr algn="ctr" indent="0" marL="0">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1097280" y="2724912"/>
            <a:ext cx="9875520" cy="347472"/>
          </a:xfrm>
          <a:prstGeom prst="rect">
            <a:avLst/>
          </a:prstGeom>
          <a:noFill/>
          <a:ln/>
        </p:spPr>
        <p:txBody>
          <a:bodyPr wrap="square" lIns="0" tIns="0" rIns="0" bIns="0" rtlCol="0" anchor="ctr"/>
          <a:lstStyle/>
          <a:p>
            <a:pPr indent="0" marL="0">
              <a:buNone/>
            </a:pPr>
            <a:r>
              <a:rPr lang="en-US" sz="1300" dirty="0">
                <a:solidFill>
                  <a:srgbClr val="E3E9F2"/>
                </a:solidFill>
                <a:latin typeface="Calibri" pitchFamily="34" charset="0"/>
                <a:ea typeface="Calibri" pitchFamily="34" charset="-122"/>
                <a:cs typeface="Calibri" pitchFamily="34" charset="-120"/>
              </a:rPr>
              <a:t>You discovered why tools need a curated knowledge base</a:t>
            </a:r>
            <a:endParaRPr lang="en-US" sz="1300" dirty="0"/>
          </a:p>
        </p:txBody>
      </p:sp>
      <p:sp>
        <p:nvSpPr>
          <p:cNvPr id="15" name="Shape 13"/>
          <p:cNvSpPr/>
          <p:nvPr/>
        </p:nvSpPr>
        <p:spPr>
          <a:xfrm>
            <a:off x="640080" y="3200400"/>
            <a:ext cx="310896" cy="310896"/>
          </a:xfrm>
          <a:prstGeom prst="ellipse">
            <a:avLst/>
          </a:prstGeom>
          <a:solidFill>
            <a:srgbClr val="17263B"/>
          </a:solidFill>
          <a:ln w="15240">
            <a:solidFill>
              <a:srgbClr val="2A9D8F"/>
            </a:solidFill>
            <a:prstDash val="solid"/>
          </a:ln>
        </p:spPr>
      </p:sp>
      <p:sp>
        <p:nvSpPr>
          <p:cNvPr id="16" name="Text 14"/>
          <p:cNvSpPr txBox="1"/>
          <p:nvPr/>
        </p:nvSpPr>
        <p:spPr>
          <a:xfrm>
            <a:off x="640080" y="3200400"/>
            <a:ext cx="310896" cy="310896"/>
          </a:xfrm>
          <a:prstGeom prst="rect">
            <a:avLst/>
          </a:prstGeom>
          <a:noFill/>
          <a:ln/>
        </p:spPr>
        <p:txBody>
          <a:bodyPr wrap="square" lIns="0" tIns="0" rIns="0" bIns="0" rtlCol="0" anchor="ctr"/>
          <a:lstStyle/>
          <a:p>
            <a:pPr algn="ctr" indent="0" marL="0">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17" name="Text 15"/>
          <p:cNvSpPr txBox="1"/>
          <p:nvPr/>
        </p:nvSpPr>
        <p:spPr>
          <a:xfrm>
            <a:off x="1097280" y="3182112"/>
            <a:ext cx="9875520" cy="347472"/>
          </a:xfrm>
          <a:prstGeom prst="rect">
            <a:avLst/>
          </a:prstGeom>
          <a:noFill/>
          <a:ln/>
        </p:spPr>
        <p:txBody>
          <a:bodyPr wrap="square" lIns="0" tIns="0" rIns="0" bIns="0" rtlCol="0" anchor="ctr"/>
          <a:lstStyle/>
          <a:p>
            <a:pPr indent="0" marL="0">
              <a:buNone/>
            </a:pPr>
            <a:r>
              <a:rPr lang="en-US" sz="1300" dirty="0">
                <a:solidFill>
                  <a:srgbClr val="E3E9F2"/>
                </a:solidFill>
                <a:latin typeface="Calibri" pitchFamily="34" charset="0"/>
                <a:ea typeface="Calibri" pitchFamily="34" charset="-122"/>
                <a:cs typeface="Calibri" pitchFamily="34" charset="-120"/>
              </a:rPr>
              <a:t>You tested whether the agent could be trusted</a:t>
            </a:r>
            <a:endParaRPr lang="en-US" sz="1300" dirty="0"/>
          </a:p>
        </p:txBody>
      </p:sp>
      <p:sp>
        <p:nvSpPr>
          <p:cNvPr id="18" name="Shape 16"/>
          <p:cNvSpPr/>
          <p:nvPr/>
        </p:nvSpPr>
        <p:spPr>
          <a:xfrm>
            <a:off x="640080" y="3657600"/>
            <a:ext cx="310896" cy="310896"/>
          </a:xfrm>
          <a:prstGeom prst="ellipse">
            <a:avLst/>
          </a:prstGeom>
          <a:solidFill>
            <a:srgbClr val="17263B"/>
          </a:solidFill>
          <a:ln w="15240">
            <a:solidFill>
              <a:srgbClr val="2A9D8F"/>
            </a:solidFill>
            <a:prstDash val="solid"/>
          </a:ln>
        </p:spPr>
      </p:sp>
      <p:sp>
        <p:nvSpPr>
          <p:cNvPr id="19" name="Text 17"/>
          <p:cNvSpPr txBox="1"/>
          <p:nvPr/>
        </p:nvSpPr>
        <p:spPr>
          <a:xfrm>
            <a:off x="640080" y="3657600"/>
            <a:ext cx="310896" cy="310896"/>
          </a:xfrm>
          <a:prstGeom prst="rect">
            <a:avLst/>
          </a:prstGeom>
          <a:noFill/>
          <a:ln/>
        </p:spPr>
        <p:txBody>
          <a:bodyPr wrap="square" lIns="0" tIns="0" rIns="0" bIns="0" rtlCol="0" anchor="ctr"/>
          <a:lstStyle/>
          <a:p>
            <a:pPr algn="ctr" indent="0" marL="0">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20" name="Text 18"/>
          <p:cNvSpPr txBox="1"/>
          <p:nvPr/>
        </p:nvSpPr>
        <p:spPr>
          <a:xfrm>
            <a:off x="1097280" y="3639312"/>
            <a:ext cx="9875520" cy="347472"/>
          </a:xfrm>
          <a:prstGeom prst="rect">
            <a:avLst/>
          </a:prstGeom>
          <a:noFill/>
          <a:ln/>
        </p:spPr>
        <p:txBody>
          <a:bodyPr wrap="square" lIns="0" tIns="0" rIns="0" bIns="0" rtlCol="0" anchor="ctr"/>
          <a:lstStyle/>
          <a:p>
            <a:pPr indent="0" marL="0">
              <a:buNone/>
            </a:pPr>
            <a:r>
              <a:rPr lang="en-US" sz="1300" dirty="0">
                <a:solidFill>
                  <a:srgbClr val="E3E9F2"/>
                </a:solidFill>
                <a:latin typeface="Calibri" pitchFamily="34" charset="0"/>
                <a:ea typeface="Calibri" pitchFamily="34" charset="-122"/>
                <a:cs typeface="Calibri" pitchFamily="34" charset="-120"/>
              </a:rPr>
              <a:t>You saw how autonomous reasoning becomes a real command system</a:t>
            </a:r>
            <a:endParaRPr lang="en-US" sz="1300" dirty="0"/>
          </a:p>
        </p:txBody>
      </p:sp>
      <p:sp>
        <p:nvSpPr>
          <p:cNvPr id="21" name="Shape 19"/>
          <p:cNvSpPr/>
          <p:nvPr/>
        </p:nvSpPr>
        <p:spPr>
          <a:xfrm>
            <a:off x="640080" y="4114800"/>
            <a:ext cx="310896" cy="310896"/>
          </a:xfrm>
          <a:prstGeom prst="ellipse">
            <a:avLst/>
          </a:prstGeom>
          <a:solidFill>
            <a:srgbClr val="17263B"/>
          </a:solidFill>
          <a:ln w="15240">
            <a:solidFill>
              <a:srgbClr val="2A9D8F"/>
            </a:solidFill>
            <a:prstDash val="solid"/>
          </a:ln>
        </p:spPr>
      </p:sp>
      <p:sp>
        <p:nvSpPr>
          <p:cNvPr id="22" name="Text 20"/>
          <p:cNvSpPr txBox="1"/>
          <p:nvPr/>
        </p:nvSpPr>
        <p:spPr>
          <a:xfrm>
            <a:off x="640080" y="4114800"/>
            <a:ext cx="310896" cy="310896"/>
          </a:xfrm>
          <a:prstGeom prst="rect">
            <a:avLst/>
          </a:prstGeom>
          <a:noFill/>
          <a:ln/>
        </p:spPr>
        <p:txBody>
          <a:bodyPr wrap="square" lIns="0" tIns="0" rIns="0" bIns="0" rtlCol="0" anchor="ctr"/>
          <a:lstStyle/>
          <a:p>
            <a:pPr algn="ctr" indent="0" marL="0">
              <a:buNone/>
            </a:pPr>
            <a:r>
              <a:rPr lang="en-US" sz="1300" b="1" dirty="0">
                <a:solidFill>
                  <a:srgbClr val="2A9D8F"/>
                </a:solidFill>
                <a:latin typeface="Calibri" pitchFamily="34" charset="0"/>
                <a:ea typeface="Calibri" pitchFamily="34" charset="-122"/>
                <a:cs typeface="Calibri" pitchFamily="34" charset="-120"/>
              </a:rPr>
              <a:t>✓</a:t>
            </a:r>
            <a:endParaRPr lang="en-US" sz="1300" dirty="0"/>
          </a:p>
        </p:txBody>
      </p:sp>
      <p:sp>
        <p:nvSpPr>
          <p:cNvPr id="23" name="Text 21"/>
          <p:cNvSpPr txBox="1"/>
          <p:nvPr/>
        </p:nvSpPr>
        <p:spPr>
          <a:xfrm>
            <a:off x="1097280" y="4096512"/>
            <a:ext cx="9875520" cy="347472"/>
          </a:xfrm>
          <a:prstGeom prst="rect">
            <a:avLst/>
          </a:prstGeom>
          <a:noFill/>
          <a:ln/>
        </p:spPr>
        <p:txBody>
          <a:bodyPr wrap="square" lIns="0" tIns="0" rIns="0" bIns="0" rtlCol="0" anchor="ctr"/>
          <a:lstStyle/>
          <a:p>
            <a:pPr indent="0" marL="0">
              <a:buNone/>
            </a:pPr>
            <a:r>
              <a:rPr lang="en-US" sz="1300" dirty="0">
                <a:solidFill>
                  <a:srgbClr val="E3E9F2"/>
                </a:solidFill>
                <a:latin typeface="Calibri" pitchFamily="34" charset="0"/>
                <a:ea typeface="Calibri" pitchFamily="34" charset="-122"/>
                <a:cs typeface="Calibri" pitchFamily="34" charset="-120"/>
              </a:rPr>
              <a:t>You decided when a human must stay in control</a:t>
            </a:r>
            <a:endParaRPr lang="en-US" sz="1300" dirty="0"/>
          </a:p>
        </p:txBody>
      </p:sp>
      <p:sp>
        <p:nvSpPr>
          <p:cNvPr id="24" name="Shape 22"/>
          <p:cNvSpPr/>
          <p:nvPr/>
        </p:nvSpPr>
        <p:spPr>
          <a:xfrm>
            <a:off x="640080" y="4709160"/>
            <a:ext cx="10881360" cy="914400"/>
          </a:xfrm>
          <a:prstGeom prst="roundRect">
            <a:avLst>
              <a:gd name="adj" fmla="val 6000"/>
            </a:avLst>
          </a:prstGeom>
          <a:solidFill>
            <a:srgbClr val="17263B"/>
          </a:solidFill>
          <a:ln/>
        </p:spPr>
      </p:sp>
      <p:sp>
        <p:nvSpPr>
          <p:cNvPr id="25" name="Text 23"/>
          <p:cNvSpPr txBox="1"/>
          <p:nvPr/>
        </p:nvSpPr>
        <p:spPr>
          <a:xfrm>
            <a:off x="914400" y="4709160"/>
            <a:ext cx="10332720" cy="914400"/>
          </a:xfrm>
          <a:prstGeom prst="rect">
            <a:avLst/>
          </a:prstGeom>
          <a:noFill/>
          <a:ln/>
        </p:spPr>
        <p:txBody>
          <a:bodyPr wrap="square" lIns="0" tIns="0" rIns="0" bIns="0" rtlCol="0" anchor="ctr"/>
          <a:lstStyle/>
          <a:p>
            <a:pPr indent="0" marL="0">
              <a:lnSpc>
                <a:spcPct val="125000"/>
              </a:lnSpc>
              <a:buNone/>
            </a:pPr>
            <a:r>
              <a:rPr lang="en-US" sz="1400" b="1" i="1" dirty="0">
                <a:solidFill>
                  <a:srgbClr val="FFFFFF"/>
                </a:solidFill>
                <a:latin typeface="Calibri" pitchFamily="34" charset="0"/>
                <a:ea typeface="Calibri" pitchFamily="34" charset="-122"/>
                <a:cs typeface="Calibri" pitchFamily="34" charset="-120"/>
              </a:rPr>
              <a:t>Agentic AI is not just calling an LLM in a loop.
</a:t>
            </a:r>
            <a:pPr indent="0" marL="0">
              <a:lnSpc>
                <a:spcPct val="125000"/>
              </a:lnSpc>
              <a:buNone/>
            </a:pPr>
            <a:r>
              <a:rPr lang="en-US" sz="1400" b="1" i="1" dirty="0">
                <a:solidFill>
                  <a:srgbClr val="FFFFFF"/>
                </a:solidFill>
                <a:latin typeface="Calibri" pitchFamily="34" charset="0"/>
                <a:ea typeface="Calibri" pitchFamily="34" charset="-122"/>
                <a:cs typeface="Calibri" pitchFamily="34" charset="-120"/>
              </a:rPr>
              <a:t>It is a complete journey from raw judgment to a trustworthy autonomous system.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2026-08-28T05:56:33Z</dcterms:created>
  <dcterms:modified xsi:type="dcterms:W3CDTF">2026-08-28T05:56:33Z</dcterms:modified>
</cp:coreProperties>
</file>
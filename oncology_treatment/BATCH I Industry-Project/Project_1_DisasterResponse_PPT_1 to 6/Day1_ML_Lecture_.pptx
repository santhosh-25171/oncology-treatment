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76" r:id="rId3"/>
    <p:sldId id="277" r:id="rId4"/>
    <p:sldId id="256" r:id="rId5"/>
    <p:sldId id="257" r:id="rId7"/>
    <p:sldId id="258" r:id="rId8"/>
    <p:sldId id="259" r:id="rId9"/>
    <p:sldId id="260" r:id="rId10"/>
    <p:sldId id="261" r:id="rId11"/>
    <p:sldId id="275" r:id="rId12"/>
    <p:sldId id="300" r:id="rId13"/>
    <p:sldId id="262" r:id="rId14"/>
    <p:sldId id="274" r:id="rId15"/>
    <p:sldId id="301" r:id="rId16"/>
    <p:sldId id="302" r:id="rId17"/>
    <p:sldId id="263" r:id="rId18"/>
    <p:sldId id="264" r:id="rId19"/>
    <p:sldId id="265" r:id="rId20"/>
    <p:sldId id="266" r:id="rId21"/>
    <p:sldId id="267" r:id="rId22"/>
    <p:sldId id="268" r:id="rId23"/>
    <p:sldId id="269" r:id="rId24"/>
    <p:sldId id="270" r:id="rId25"/>
    <p:sldId id="271" r:id="rId26"/>
    <p:sldId id="272" r:id="rId27"/>
    <p:sldId id="27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this is a mission, not a lecture. Speak slowly, like a control-room briefing. Do not mention 'Machine Learning' by name yet — let the story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out loud and pause. Let the room sit in the uncertainty for a few seconds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real show-of-hands vote for A / B / C. Do not reveal which is correct — the reveal comes naturally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say 'no human can do this' in their own words before you reveal the ocean-blue statement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example rows left to right before asking the closing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quick vote (Low / Moderate / Severe) before revealing the red SEVERE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already said we're using Supervised Learning — now zoom out and show all three types side by side before narrowing back in. Read each card's flood example out loud; ask students to guess a fourth example for each type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unsupervised/reinforcement to one line each — they are context, not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equally on all six — the point is 'many strategies exist.' Spend most of the time on card 3, Decision Tree, since it's circled in gold and is exactly what the class builds together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tree live with the class — ask 'what should we check next?' after each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duplicate row and the missing cell — let students name the problems before you label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Slide 9's messy table — this role fixes exactly what students just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argue both sides — 'false alarm' vs 'real emergency' — before naming the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'training' finally gets a face — the ML Engineer, not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analogy: memorizing exam answers vs actually understanding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mock is the payoff moment — this is what all five roles were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full chain slowly, left to right, top row then bottom row — this is the 'aha' recap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vote, then transition straight into the live code / dashboard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before opening the notebook / dashboard for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students to say, in one sentence, which role they'd want to be on a real ML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p:sp>
        <p:nvSpPr>
          <p:cNvPr id="2" name="Oval 1"/>
          <p:cNvSpPr/>
          <p:nvPr/>
        </p:nvSpPr>
        <p:spPr>
          <a:xfrm>
            <a:off x="9966960" y="640080"/>
            <a:ext cx="1554480" cy="1554480"/>
          </a:xfrm>
          <a:prstGeom prst="ellipse">
            <a:avLst/>
          </a:prstGeom>
          <a:solidFill>
            <a:srgbClr val="13233D"/>
          </a:solidFill>
          <a:ln w="19050">
            <a:solidFill>
              <a:srgbClr val="FFB6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0" y="640080"/>
            <a:ext cx="1554480" cy="1554480"/>
          </a:xfrm>
          <a:prstGeom prst="rect">
            <a:avLst/>
          </a:prstGeom>
          <a:noFill/>
        </p:spPr>
        <p:txBody>
          <a:bodyPr wrap="square" lIns="0" tIns="0" rIns="0" bIns="0" anchor="ctr">
            <a:spAutoFit/>
          </a:bodyPr>
          <a:lstStyle/>
          <a:p>
            <a:pPr algn="ctr"/>
            <a:r>
              <a:rPr sz="3600" b="0">
                <a:solidFill>
                  <a:srgbClr val="FFFFFF"/>
                </a:solidFill>
                <a:latin typeface="Calibri" panose="020F0502020204030204"/>
              </a:rPr>
              <a:t>🧠</a:t>
            </a:r>
            <a:endParaRPr sz="3600" b="0">
              <a:solidFill>
                <a:srgbClr val="FFFFFF"/>
              </a:solidFill>
              <a:latin typeface="Calibri" panose="020F0502020204030204"/>
            </a:endParaRPr>
          </a:p>
        </p:txBody>
      </p:sp>
      <p:sp>
        <p:nvSpPr>
          <p:cNvPr id="6" name="TextBox 5"/>
          <p:cNvSpPr txBox="1"/>
          <p:nvPr/>
        </p:nvSpPr>
        <p:spPr>
          <a:xfrm>
            <a:off x="640080" y="2863065"/>
            <a:ext cx="9500000" cy="738505"/>
          </a:xfrm>
          <a:prstGeom prst="rect">
            <a:avLst/>
          </a:prstGeom>
          <a:noFill/>
        </p:spPr>
        <p:txBody>
          <a:bodyPr wrap="square" lIns="0" tIns="0" rIns="0" bIns="0" anchor="b">
            <a:spAutoFit/>
          </a:bodyPr>
          <a:lstStyle/>
          <a:p>
            <a:pPr algn="l">
              <a:lnSpc>
                <a:spcPct val="100000"/>
              </a:lnSpc>
            </a:pPr>
            <a:r>
              <a:rPr sz="4800" b="1">
                <a:solidFill>
                  <a:srgbClr val="FFFFFF"/>
                </a:solidFill>
                <a:latin typeface="Cambria" panose="02040503050406030204"/>
              </a:rPr>
              <a:t>MACHINE</a:t>
            </a:r>
            <a:r>
              <a:rPr lang="en-US" sz="4800" b="1">
                <a:solidFill>
                  <a:srgbClr val="FFFFFF"/>
                </a:solidFill>
                <a:latin typeface="Cambria" panose="02040503050406030204"/>
              </a:rPr>
              <a:t> </a:t>
            </a:r>
            <a:r>
              <a:rPr sz="4800" b="1">
                <a:solidFill>
                  <a:srgbClr val="FFB627"/>
                </a:solidFill>
                <a:latin typeface="Cambria" panose="02040503050406030204"/>
              </a:rPr>
              <a:t>LEARNING</a:t>
            </a:r>
            <a:endParaRPr sz="4800" b="1">
              <a:solidFill>
                <a:srgbClr val="FFB627"/>
              </a:solidFill>
              <a:latin typeface="Cambria" panose="02040503050406030204"/>
            </a:endParaRPr>
          </a:p>
        </p:txBody>
      </p:sp>
      <p:sp>
        <p:nvSpPr>
          <p:cNvPr id="11" name="Text 3"/>
          <p:cNvSpPr/>
          <p:nvPr/>
        </p:nvSpPr>
        <p:spPr>
          <a:xfrm>
            <a:off x="640080" y="3839210"/>
            <a:ext cx="8686800" cy="548640"/>
          </a:xfrm>
          <a:prstGeom prst="rect">
            <a:avLst/>
          </a:prstGeom>
          <a:noFill/>
        </p:spPr>
        <p:txBody>
          <a:bodyPr wrap="square" rtlCol="0" anchor="ctr"/>
          <a:lstStyle/>
          <a:p>
            <a:pPr marL="0" indent="0">
              <a:buNone/>
            </a:pPr>
            <a:r>
              <a:rPr lang="en-US" sz="2000" dirty="0">
                <a:solidFill>
                  <a:srgbClr val="AFC5E8"/>
                </a:solidFill>
                <a:latin typeface="Calibri" panose="020F0502020204030204" pitchFamily="34" charset="0"/>
                <a:ea typeface="Calibri" panose="020F0502020204030204" pitchFamily="34" charset="-122"/>
                <a:cs typeface="Calibri" panose="020F0502020204030204" pitchFamily="34" charset="-120"/>
              </a:rPr>
              <a:t>Day 1 · Disaster Response Coordination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p:sp>
        <p:nvSpPr>
          <p:cNvPr id="2" name="TextBox 1"/>
          <p:cNvSpPr txBox="1"/>
          <p:nvPr/>
        </p:nvSpPr>
        <p:spPr>
          <a:xfrm>
            <a:off x="640080" y="502920"/>
            <a:ext cx="5486400" cy="320040"/>
          </a:xfrm>
          <a:prstGeom prst="rect">
            <a:avLst/>
          </a:prstGeom>
          <a:noFill/>
        </p:spPr>
        <p:txBody>
          <a:bodyPr wrap="square" lIns="0" tIns="0" rIns="0" bIns="0" anchor="ctr">
            <a:spAutoFit/>
          </a:bodyPr>
          <a:lstStyle/>
          <a:p>
            <a:pPr algn="l"/>
            <a:r>
              <a:rPr sz="1200" b="1" spc="200">
                <a:solidFill>
                  <a:srgbClr val="FFB627"/>
                </a:solidFill>
                <a:latin typeface="Calibri" panose="020F0502020204030204"/>
              </a:rPr>
              <a:t>TODAY'S AGENDA</a:t>
            </a:r>
            <a:endParaRPr sz="1200" b="1" spc="200">
              <a:solidFill>
                <a:srgbClr val="FFB627"/>
              </a:solidFill>
              <a:latin typeface="Calibri" panose="020F0502020204030204"/>
            </a:endParaRPr>
          </a:p>
        </p:txBody>
      </p:sp>
      <p:sp>
        <p:nvSpPr>
          <p:cNvPr id="3" name="TextBox 2"/>
          <p:cNvSpPr txBox="1"/>
          <p:nvPr/>
        </p:nvSpPr>
        <p:spPr>
          <a:xfrm>
            <a:off x="640080" y="800000"/>
            <a:ext cx="10908792" cy="548640"/>
          </a:xfrm>
          <a:prstGeom prst="rect">
            <a:avLst/>
          </a:prstGeom>
          <a:noFill/>
        </p:spPr>
        <p:txBody>
          <a:bodyPr wrap="square" lIns="0" tIns="0" rIns="0" bIns="0" anchor="ctr">
            <a:spAutoFit/>
          </a:bodyPr>
          <a:lstStyle/>
          <a:p>
            <a:pPr algn="l"/>
            <a:r>
              <a:rPr sz="2400" b="1">
                <a:solidFill>
                  <a:srgbClr val="FFFFFF"/>
                </a:solidFill>
                <a:latin typeface="Cambria" panose="02040503050406030204"/>
              </a:rPr>
              <a:t>What We'll Cover Today</a:t>
            </a:r>
            <a:endParaRPr sz="2400" b="1">
              <a:solidFill>
                <a:srgbClr val="FFFFFF"/>
              </a:solidFill>
              <a:latin typeface="Cambria" panose="02040503050406030204"/>
            </a:endParaRPr>
          </a:p>
        </p:txBody>
      </p:sp>
      <p:sp>
        <p:nvSpPr>
          <p:cNvPr id="4" name="TextBox 3"/>
          <p:cNvSpPr txBox="1"/>
          <p:nvPr/>
        </p:nvSpPr>
        <p:spPr>
          <a:xfrm>
            <a:off x="640080" y="1330000"/>
            <a:ext cx="10908792" cy="365760"/>
          </a:xfrm>
          <a:prstGeom prst="rect">
            <a:avLst/>
          </a:prstGeom>
          <a:noFill/>
        </p:spPr>
        <p:txBody>
          <a:bodyPr wrap="square" lIns="0" tIns="0" rIns="0" bIns="0" anchor="ctr">
            <a:spAutoFit/>
          </a:bodyPr>
          <a:lstStyle/>
          <a:p>
            <a:pPr algn="l"/>
            <a:r>
              <a:rPr sz="1400" b="0">
                <a:solidFill>
                  <a:srgbClr val="C9D6E8"/>
                </a:solidFill>
                <a:latin typeface="Calibri" panose="020F0502020204030204"/>
              </a:rPr>
              <a:t>Six stages — from a flood emergency to a working AI system</a:t>
            </a:r>
            <a:endParaRPr sz="1400" b="0">
              <a:solidFill>
                <a:srgbClr val="C9D6E8"/>
              </a:solidFill>
              <a:latin typeface="Calibri" panose="020F0502020204030204"/>
            </a:endParaRPr>
          </a:p>
        </p:txBody>
      </p:sp>
      <p:sp>
        <p:nvSpPr>
          <p:cNvPr id="5" name="Rounded Rectangle 4"/>
          <p:cNvSpPr/>
          <p:nvPr/>
        </p:nvSpPr>
        <p:spPr>
          <a:xfrm>
            <a:off x="640080" y="185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00000" y="200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200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1</a:t>
            </a:r>
            <a:endParaRPr sz="1600" b="1">
              <a:solidFill>
                <a:srgbClr val="081527"/>
              </a:solidFill>
              <a:latin typeface="Cambria" panose="02040503050406030204"/>
            </a:endParaRPr>
          </a:p>
        </p:txBody>
      </p:sp>
      <p:sp>
        <p:nvSpPr>
          <p:cNvPr id="8" name="TextBox 7"/>
          <p:cNvSpPr txBox="1"/>
          <p:nvPr/>
        </p:nvSpPr>
        <p:spPr>
          <a:xfrm>
            <a:off x="1280000" y="191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The Emergency</a:t>
            </a:r>
            <a:endParaRPr sz="1500" b="1">
              <a:solidFill>
                <a:srgbClr val="FFFFFF"/>
              </a:solidFill>
              <a:latin typeface="Calibri" panose="020F0502020204030204"/>
            </a:endParaRPr>
          </a:p>
        </p:txBody>
      </p:sp>
      <p:sp>
        <p:nvSpPr>
          <p:cNvPr id="9" name="TextBox 8"/>
          <p:cNvSpPr txBox="1"/>
          <p:nvPr/>
        </p:nvSpPr>
        <p:spPr>
          <a:xfrm>
            <a:off x="5600000" y="191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Why a human alone can't monitor a flood in real time</a:t>
            </a:r>
            <a:endParaRPr sz="1250" b="0">
              <a:solidFill>
                <a:srgbClr val="AEBBD1"/>
              </a:solidFill>
              <a:latin typeface="Calibri" panose="020F0502020204030204"/>
            </a:endParaRPr>
          </a:p>
        </p:txBody>
      </p:sp>
      <p:sp>
        <p:nvSpPr>
          <p:cNvPr id="10" name="Rounded Rectangle 9"/>
          <p:cNvSpPr/>
          <p:nvPr/>
        </p:nvSpPr>
        <p:spPr>
          <a:xfrm>
            <a:off x="640080" y="260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275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0000" y="275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2</a:t>
            </a:r>
            <a:endParaRPr sz="1600" b="1">
              <a:solidFill>
                <a:srgbClr val="081527"/>
              </a:solidFill>
              <a:latin typeface="Cambria" panose="02040503050406030204"/>
            </a:endParaRPr>
          </a:p>
        </p:txBody>
      </p:sp>
      <p:sp>
        <p:nvSpPr>
          <p:cNvPr id="13" name="TextBox 12"/>
          <p:cNvSpPr txBox="1"/>
          <p:nvPr/>
        </p:nvSpPr>
        <p:spPr>
          <a:xfrm>
            <a:off x="1280000" y="266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What Is Machine Learning?</a:t>
            </a:r>
            <a:endParaRPr sz="1500" b="1">
              <a:solidFill>
                <a:srgbClr val="FFFFFF"/>
              </a:solidFill>
              <a:latin typeface="Calibri" panose="020F0502020204030204"/>
            </a:endParaRPr>
          </a:p>
        </p:txBody>
      </p:sp>
      <p:sp>
        <p:nvSpPr>
          <p:cNvPr id="14" name="TextBox 13"/>
          <p:cNvSpPr txBox="1"/>
          <p:nvPr/>
        </p:nvSpPr>
        <p:spPr>
          <a:xfrm>
            <a:off x="5600000" y="266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Learning patterns from past flood cases to predict new ones</a:t>
            </a:r>
            <a:endParaRPr sz="1250" b="0">
              <a:solidFill>
                <a:srgbClr val="AEBBD1"/>
              </a:solidFill>
              <a:latin typeface="Calibri" panose="020F0502020204030204"/>
            </a:endParaRPr>
          </a:p>
        </p:txBody>
      </p:sp>
      <p:sp>
        <p:nvSpPr>
          <p:cNvPr id="15" name="Rounded Rectangle 14"/>
          <p:cNvSpPr/>
          <p:nvPr/>
        </p:nvSpPr>
        <p:spPr>
          <a:xfrm>
            <a:off x="640080" y="335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00000" y="350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0000" y="350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3</a:t>
            </a:r>
            <a:endParaRPr sz="1600" b="1">
              <a:solidFill>
                <a:srgbClr val="081527"/>
              </a:solidFill>
              <a:latin typeface="Cambria" panose="02040503050406030204"/>
            </a:endParaRPr>
          </a:p>
        </p:txBody>
      </p:sp>
      <p:sp>
        <p:nvSpPr>
          <p:cNvPr id="18" name="TextBox 17"/>
          <p:cNvSpPr txBox="1"/>
          <p:nvPr/>
        </p:nvSpPr>
        <p:spPr>
          <a:xfrm>
            <a:off x="1280000" y="341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Types &amp; Algorithms of ML</a:t>
            </a:r>
            <a:endParaRPr sz="1500" b="1">
              <a:solidFill>
                <a:srgbClr val="FFFFFF"/>
              </a:solidFill>
              <a:latin typeface="Calibri" panose="020F0502020204030204"/>
            </a:endParaRPr>
          </a:p>
        </p:txBody>
      </p:sp>
      <p:sp>
        <p:nvSpPr>
          <p:cNvPr id="19" name="TextBox 18"/>
          <p:cNvSpPr txBox="1"/>
          <p:nvPr/>
        </p:nvSpPr>
        <p:spPr>
          <a:xfrm>
            <a:off x="5600000" y="341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Supervised, Unsupervised, Reinforcement — and what powers each</a:t>
            </a:r>
            <a:endParaRPr sz="1250" b="0">
              <a:solidFill>
                <a:srgbClr val="AEBBD1"/>
              </a:solidFill>
              <a:latin typeface="Calibri" panose="020F0502020204030204"/>
            </a:endParaRPr>
          </a:p>
        </p:txBody>
      </p:sp>
      <p:sp>
        <p:nvSpPr>
          <p:cNvPr id="20" name="Rounded Rectangle 19"/>
          <p:cNvSpPr/>
          <p:nvPr/>
        </p:nvSpPr>
        <p:spPr>
          <a:xfrm>
            <a:off x="640080" y="410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0000" y="425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0000" y="425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4</a:t>
            </a:r>
            <a:endParaRPr sz="1600" b="1">
              <a:solidFill>
                <a:srgbClr val="081527"/>
              </a:solidFill>
              <a:latin typeface="Cambria" panose="02040503050406030204"/>
            </a:endParaRPr>
          </a:p>
        </p:txBody>
      </p:sp>
      <p:sp>
        <p:nvSpPr>
          <p:cNvPr id="23" name="TextBox 22"/>
          <p:cNvSpPr txBox="1"/>
          <p:nvPr/>
        </p:nvSpPr>
        <p:spPr>
          <a:xfrm>
            <a:off x="1280000" y="416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Meet the 5 ML Roles</a:t>
            </a:r>
            <a:endParaRPr sz="1500" b="1">
              <a:solidFill>
                <a:srgbClr val="FFFFFF"/>
              </a:solidFill>
              <a:latin typeface="Calibri" panose="020F0502020204030204"/>
            </a:endParaRPr>
          </a:p>
        </p:txBody>
      </p:sp>
      <p:sp>
        <p:nvSpPr>
          <p:cNvPr id="24" name="TextBox 23"/>
          <p:cNvSpPr txBox="1"/>
          <p:nvPr/>
        </p:nvSpPr>
        <p:spPr>
          <a:xfrm>
            <a:off x="5600000" y="416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Data Engineer → EDA → ML → Evaluation → Integration Engineer</a:t>
            </a:r>
            <a:endParaRPr sz="1250" b="0">
              <a:solidFill>
                <a:srgbClr val="AEBBD1"/>
              </a:solidFill>
              <a:latin typeface="Calibri" panose="020F0502020204030204"/>
            </a:endParaRPr>
          </a:p>
        </p:txBody>
      </p:sp>
      <p:sp>
        <p:nvSpPr>
          <p:cNvPr id="25" name="Rounded Rectangle 24"/>
          <p:cNvSpPr/>
          <p:nvPr/>
        </p:nvSpPr>
        <p:spPr>
          <a:xfrm>
            <a:off x="640080" y="485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00000" y="500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0000" y="500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5</a:t>
            </a:r>
            <a:endParaRPr sz="1600" b="1">
              <a:solidFill>
                <a:srgbClr val="081527"/>
              </a:solidFill>
              <a:latin typeface="Cambria" panose="02040503050406030204"/>
            </a:endParaRPr>
          </a:p>
        </p:txBody>
      </p:sp>
      <p:sp>
        <p:nvSpPr>
          <p:cNvPr id="28" name="TextBox 27"/>
          <p:cNvSpPr txBox="1"/>
          <p:nvPr/>
        </p:nvSpPr>
        <p:spPr>
          <a:xfrm>
            <a:off x="1280000" y="491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Building &amp; Trusting the Model</a:t>
            </a:r>
            <a:endParaRPr sz="1500" b="1">
              <a:solidFill>
                <a:srgbClr val="FFFFFF"/>
              </a:solidFill>
              <a:latin typeface="Calibri" panose="020F0502020204030204"/>
            </a:endParaRPr>
          </a:p>
        </p:txBody>
      </p:sp>
      <p:sp>
        <p:nvSpPr>
          <p:cNvPr id="29" name="TextBox 28"/>
          <p:cNvSpPr txBox="1"/>
          <p:nvPr/>
        </p:nvSpPr>
        <p:spPr>
          <a:xfrm>
            <a:off x="5600000" y="491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Building a Decision Tree together, then testing if it can be trusted</a:t>
            </a:r>
            <a:endParaRPr sz="1250" b="0">
              <a:solidFill>
                <a:srgbClr val="AEBBD1"/>
              </a:solidFill>
              <a:latin typeface="Calibri" panose="020F0502020204030204"/>
            </a:endParaRPr>
          </a:p>
        </p:txBody>
      </p:sp>
      <p:sp>
        <p:nvSpPr>
          <p:cNvPr id="30" name="Rounded Rectangle 29"/>
          <p:cNvSpPr/>
          <p:nvPr/>
        </p:nvSpPr>
        <p:spPr>
          <a:xfrm>
            <a:off x="640080" y="560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00000" y="575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0000" y="575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6</a:t>
            </a:r>
            <a:endParaRPr sz="1600" b="1">
              <a:solidFill>
                <a:srgbClr val="081527"/>
              </a:solidFill>
              <a:latin typeface="Cambria" panose="02040503050406030204"/>
            </a:endParaRPr>
          </a:p>
        </p:txBody>
      </p:sp>
      <p:sp>
        <p:nvSpPr>
          <p:cNvPr id="33" name="TextBox 32"/>
          <p:cNvSpPr txBox="1"/>
          <p:nvPr/>
        </p:nvSpPr>
        <p:spPr>
          <a:xfrm>
            <a:off x="1280000" y="566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Live Case &amp; Recap</a:t>
            </a:r>
            <a:endParaRPr sz="1500" b="1">
              <a:solidFill>
                <a:srgbClr val="FFFFFF"/>
              </a:solidFill>
              <a:latin typeface="Calibri" panose="020F0502020204030204"/>
            </a:endParaRPr>
          </a:p>
        </p:txBody>
      </p:sp>
      <p:sp>
        <p:nvSpPr>
          <p:cNvPr id="34" name="TextBox 33"/>
          <p:cNvSpPr txBox="1"/>
          <p:nvPr/>
        </p:nvSpPr>
        <p:spPr>
          <a:xfrm>
            <a:off x="5600000" y="566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Watch the trained model predict risk — then recap the full journey</a:t>
            </a:r>
            <a:endParaRPr sz="1250" b="0">
              <a:solidFill>
                <a:srgbClr val="AEBBD1"/>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Shape 0"/>
          <p:cNvSpPr/>
          <p:nvPr/>
        </p:nvSpPr>
        <p:spPr>
          <a:xfrm>
            <a:off x="1523619" y="0"/>
            <a:ext cx="0" cy="6858000"/>
          </a:xfrm>
          <a:prstGeom prst="line">
            <a:avLst/>
          </a:prstGeom>
          <a:noFill/>
          <a:ln w="6350">
            <a:solidFill>
              <a:srgbClr val="132A45"/>
            </a:solidFill>
            <a:prstDash val="solid"/>
          </a:ln>
        </p:spPr>
        <p:txBody>
          <a:bodyPr/>
          <a:p/>
        </p:txBody>
      </p:sp>
      <p:sp>
        <p:nvSpPr>
          <p:cNvPr id="3" name="Shape 1"/>
          <p:cNvSpPr/>
          <p:nvPr/>
        </p:nvSpPr>
        <p:spPr>
          <a:xfrm>
            <a:off x="3047238" y="0"/>
            <a:ext cx="0" cy="6858000"/>
          </a:xfrm>
          <a:prstGeom prst="line">
            <a:avLst/>
          </a:prstGeom>
          <a:noFill/>
          <a:ln w="6350">
            <a:solidFill>
              <a:srgbClr val="132A45"/>
            </a:solidFill>
            <a:prstDash val="solid"/>
          </a:ln>
        </p:spPr>
        <p:txBody>
          <a:bodyPr/>
          <a:p/>
        </p:txBody>
      </p:sp>
      <p:sp>
        <p:nvSpPr>
          <p:cNvPr id="4" name="Shape 2"/>
          <p:cNvSpPr/>
          <p:nvPr/>
        </p:nvSpPr>
        <p:spPr>
          <a:xfrm>
            <a:off x="4570857" y="0"/>
            <a:ext cx="0" cy="6858000"/>
          </a:xfrm>
          <a:prstGeom prst="line">
            <a:avLst/>
          </a:prstGeom>
          <a:noFill/>
          <a:ln w="6350">
            <a:solidFill>
              <a:srgbClr val="132A45"/>
            </a:solidFill>
            <a:prstDash val="solid"/>
          </a:ln>
        </p:spPr>
        <p:txBody>
          <a:bodyPr/>
          <a:p/>
        </p:txBody>
      </p:sp>
      <p:sp>
        <p:nvSpPr>
          <p:cNvPr id="5" name="Shape 3"/>
          <p:cNvSpPr/>
          <p:nvPr/>
        </p:nvSpPr>
        <p:spPr>
          <a:xfrm>
            <a:off x="6094476" y="0"/>
            <a:ext cx="0" cy="6858000"/>
          </a:xfrm>
          <a:prstGeom prst="line">
            <a:avLst/>
          </a:prstGeom>
          <a:noFill/>
          <a:ln w="6350">
            <a:solidFill>
              <a:srgbClr val="132A45"/>
            </a:solidFill>
            <a:prstDash val="solid"/>
          </a:ln>
        </p:spPr>
        <p:txBody>
          <a:bodyPr/>
          <a:p/>
        </p:txBody>
      </p:sp>
      <p:sp>
        <p:nvSpPr>
          <p:cNvPr id="6" name="Shape 4"/>
          <p:cNvSpPr/>
          <p:nvPr/>
        </p:nvSpPr>
        <p:spPr>
          <a:xfrm>
            <a:off x="7618095" y="0"/>
            <a:ext cx="0" cy="6858000"/>
          </a:xfrm>
          <a:prstGeom prst="line">
            <a:avLst/>
          </a:prstGeom>
          <a:noFill/>
          <a:ln w="6350">
            <a:solidFill>
              <a:srgbClr val="132A45"/>
            </a:solidFill>
            <a:prstDash val="solid"/>
          </a:ln>
        </p:spPr>
        <p:txBody>
          <a:bodyPr/>
          <a:p/>
        </p:txBody>
      </p:sp>
      <p:sp>
        <p:nvSpPr>
          <p:cNvPr id="7" name="Shape 5"/>
          <p:cNvSpPr/>
          <p:nvPr/>
        </p:nvSpPr>
        <p:spPr>
          <a:xfrm>
            <a:off x="9141714" y="0"/>
            <a:ext cx="0" cy="6858000"/>
          </a:xfrm>
          <a:prstGeom prst="line">
            <a:avLst/>
          </a:prstGeom>
          <a:noFill/>
          <a:ln w="6350">
            <a:solidFill>
              <a:srgbClr val="132A45"/>
            </a:solidFill>
            <a:prstDash val="solid"/>
          </a:ln>
        </p:spPr>
        <p:txBody>
          <a:bodyPr/>
          <a:p/>
        </p:txBody>
      </p:sp>
      <p:sp>
        <p:nvSpPr>
          <p:cNvPr id="8" name="Shape 6"/>
          <p:cNvSpPr/>
          <p:nvPr/>
        </p:nvSpPr>
        <p:spPr>
          <a:xfrm>
            <a:off x="10665333" y="0"/>
            <a:ext cx="0" cy="6858000"/>
          </a:xfrm>
          <a:prstGeom prst="line">
            <a:avLst/>
          </a:prstGeom>
          <a:noFill/>
          <a:ln w="6350">
            <a:solidFill>
              <a:srgbClr val="132A45"/>
            </a:solidFill>
            <a:prstDash val="solid"/>
          </a:ln>
        </p:spPr>
        <p:txBody>
          <a:bodyPr/>
          <a:p/>
        </p:txBody>
      </p:sp>
      <p:sp>
        <p:nvSpPr>
          <p:cNvPr id="11" name="Shape 9"/>
          <p:cNvSpPr/>
          <p:nvPr/>
        </p:nvSpPr>
        <p:spPr>
          <a:xfrm>
            <a:off x="9966960" y="457200"/>
            <a:ext cx="1554480" cy="1554480"/>
          </a:xfrm>
          <a:prstGeom prst="ellipse">
            <a:avLst/>
          </a:prstGeom>
          <a:solidFill>
            <a:srgbClr val="0F3D5C"/>
          </a:solidFill>
        </p:spPr>
        <p:txBody>
          <a:bodyPr/>
          <a:p/>
        </p:txBody>
      </p:sp>
      <p:sp>
        <p:nvSpPr>
          <p:cNvPr id="12" name="Text 10"/>
          <p:cNvSpPr/>
          <p:nvPr/>
        </p:nvSpPr>
        <p:spPr>
          <a:xfrm>
            <a:off x="9966960" y="457200"/>
            <a:ext cx="1554480" cy="1554480"/>
          </a:xfrm>
          <a:prstGeom prst="rect">
            <a:avLst/>
          </a:prstGeom>
          <a:noFill/>
        </p:spPr>
        <p:txBody>
          <a:bodyPr wrap="square" lIns="0" tIns="0" rIns="0" bIns="0" rtlCol="0" anchor="ctr"/>
          <a:lstStyle/>
          <a:p>
            <a:pPr marL="0" indent="0" algn="ctr">
              <a:buNone/>
            </a:pPr>
            <a:r>
              <a:rPr lang="en-US" sz="62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6200" dirty="0"/>
          </a:p>
        </p:txBody>
      </p:sp>
      <p:sp>
        <p:nvSpPr>
          <p:cNvPr id="13" name="Text 11"/>
          <p:cNvSpPr txBox="1"/>
          <p:nvPr/>
        </p:nvSpPr>
        <p:spPr>
          <a:xfrm>
            <a:off x="640080" y="2286000"/>
            <a:ext cx="9692640" cy="2103120"/>
          </a:xfrm>
          <a:prstGeom prst="rect">
            <a:avLst/>
          </a:prstGeom>
          <a:noFill/>
        </p:spPr>
        <p:txBody>
          <a:bodyPr wrap="square" lIns="0" tIns="0" rIns="0" bIns="0" rtlCol="0" anchor="ctr"/>
          <a:lstStyle/>
          <a:p>
            <a:pPr marL="0" indent="0">
              <a:lnSpc>
                <a:spcPct val="105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CAN WE BUILD AN AI SYSTEM</a:t>
            </a:r>
            <a:endParaRPr lang="en-US" sz="4000" dirty="0"/>
          </a:p>
          <a:p>
            <a:pPr marL="0" indent="0">
              <a:lnSpc>
                <a:spcPct val="105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TO SAVE A CITY DURING A FLOOD?</a:t>
            </a:r>
            <a:endParaRPr lang="en-US" sz="4000" dirty="0"/>
          </a:p>
        </p:txBody>
      </p:sp>
      <p:sp>
        <p:nvSpPr>
          <p:cNvPr id="14" name="Shape 12"/>
          <p:cNvSpPr/>
          <p:nvPr/>
        </p:nvSpPr>
        <p:spPr>
          <a:xfrm>
            <a:off x="685800" y="4343400"/>
            <a:ext cx="2011680" cy="0"/>
          </a:xfrm>
          <a:prstGeom prst="line">
            <a:avLst/>
          </a:prstGeom>
          <a:noFill/>
          <a:ln w="38100">
            <a:solidFill>
              <a:srgbClr val="FFB627"/>
            </a:solidFill>
            <a:prstDash val="solid"/>
          </a:ln>
        </p:spPr>
        <p:txBody>
          <a:bodyPr/>
          <a:p/>
        </p:txBody>
      </p:sp>
      <p:sp>
        <p:nvSpPr>
          <p:cNvPr id="15" name="Text 13"/>
          <p:cNvSpPr txBox="1"/>
          <p:nvPr/>
        </p:nvSpPr>
        <p:spPr>
          <a:xfrm>
            <a:off x="640080" y="4526280"/>
            <a:ext cx="8686800" cy="548640"/>
          </a:xfrm>
          <a:prstGeom prst="rect">
            <a:avLst/>
          </a:prstGeom>
          <a:noFill/>
        </p:spPr>
        <p:txBody>
          <a:bodyPr wrap="square" lIns="0" tIns="0" rIns="0" bIns="0" rtlCol="0" anchor="ctr"/>
          <a:lstStyle/>
          <a:p>
            <a:pPr marL="0" indent="0">
              <a:buNone/>
            </a:pPr>
            <a:r>
              <a:rPr lang="en-US" sz="1800" i="1" dirty="0">
                <a:solidFill>
                  <a:srgbClr val="CADCFC"/>
                </a:solidFill>
                <a:latin typeface="Calibri" panose="020F0502020204030204" pitchFamily="34" charset="0"/>
                <a:ea typeface="Calibri" panose="020F0502020204030204" pitchFamily="34" charset="-122"/>
                <a:cs typeface="Calibri" panose="020F0502020204030204" pitchFamily="34" charset="-120"/>
              </a:rPr>
              <a:t>Machine Learning through a Real Disaster Response Case Study</a:t>
            </a:r>
            <a:endParaRPr lang="en-US" sz="1800" dirty="0"/>
          </a:p>
        </p:txBody>
      </p:sp>
      <p:sp>
        <p:nvSpPr>
          <p:cNvPr id="16" name="Shape 14"/>
          <p:cNvSpPr/>
          <p:nvPr/>
        </p:nvSpPr>
        <p:spPr>
          <a:xfrm>
            <a:off x="640080" y="5394960"/>
            <a:ext cx="9052560" cy="960120"/>
          </a:xfrm>
          <a:prstGeom prst="roundRect">
            <a:avLst>
              <a:gd name="adj" fmla="val 9524"/>
            </a:avLst>
          </a:prstGeom>
          <a:solidFill>
            <a:srgbClr val="0F3D5C"/>
          </a:solidFill>
        </p:spPr>
        <p:txBody>
          <a:bodyPr/>
          <a:p/>
        </p:txBody>
      </p:sp>
      <p:sp>
        <p:nvSpPr>
          <p:cNvPr id="17" name="Text 15"/>
          <p:cNvSpPr txBox="1"/>
          <p:nvPr/>
        </p:nvSpPr>
        <p:spPr>
          <a:xfrm>
            <a:off x="914400" y="5394960"/>
            <a:ext cx="8503920" cy="960120"/>
          </a:xfrm>
          <a:prstGeom prst="rect">
            <a:avLst/>
          </a:prstGeom>
          <a:noFill/>
        </p:spPr>
        <p:txBody>
          <a:bodyPr wrap="square" lIns="0" tIns="0" rIns="0" bIns="0" rtlCol="0" anchor="ctr"/>
          <a:lstStyle/>
          <a:p>
            <a:pPr marL="0" indent="0">
              <a:buNone/>
            </a:pPr>
            <a:r>
              <a:rPr lang="en-US" sz="1500" dirty="0">
                <a:solidFill>
                  <a:srgbClr val="CADCFC"/>
                </a:solidFill>
                <a:latin typeface="Cambria" panose="02040503050406030204" pitchFamily="34" charset="0"/>
                <a:ea typeface="Cambria" panose="02040503050406030204" pitchFamily="34" charset="-122"/>
                <a:cs typeface="Cambria" panose="02040503050406030204" pitchFamily="34" charset="-120"/>
              </a:rPr>
              <a:t>Today, you are not just students.
</a:t>
            </a:r>
            <a:r>
              <a:rPr lang="en-US" sz="1900" b="1" dirty="0">
                <a:solidFill>
                  <a:srgbClr val="FFB627"/>
                </a:solidFill>
                <a:latin typeface="Cambria" panose="02040503050406030204" pitchFamily="34" charset="0"/>
                <a:ea typeface="Cambria" panose="02040503050406030204" pitchFamily="34" charset="-122"/>
                <a:cs typeface="Cambria" panose="02040503050406030204" pitchFamily="34" charset="-120"/>
              </a:rPr>
              <a:t>You are the AI Disaster Response Team.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3" name="Text 1"/>
          <p:cNvSpPr txBox="1"/>
          <p:nvPr/>
        </p:nvSpPr>
        <p:spPr>
          <a:xfrm>
            <a:off x="640080" y="731520"/>
            <a:ext cx="7315200" cy="640080"/>
          </a:xfrm>
          <a:prstGeom prst="rect">
            <a:avLst/>
          </a:prstGeom>
          <a:noFill/>
        </p:spPr>
        <p:txBody>
          <a:bodyPr wrap="square" lIns="0" tIns="0" rIns="0" bIns="0"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 Emergency</a:t>
            </a:r>
            <a:endParaRPr lang="en-US" sz="3200" dirty="0"/>
          </a:p>
        </p:txBody>
      </p:sp>
      <p:sp>
        <p:nvSpPr>
          <p:cNvPr id="4" name="Shape 2"/>
          <p:cNvSpPr/>
          <p:nvPr/>
        </p:nvSpPr>
        <p:spPr>
          <a:xfrm>
            <a:off x="640080" y="1737360"/>
            <a:ext cx="5212080" cy="841248"/>
          </a:xfrm>
          <a:prstGeom prst="roundRect">
            <a:avLst>
              <a:gd name="adj" fmla="val 10870"/>
            </a:avLst>
          </a:prstGeom>
          <a:solidFill>
            <a:srgbClr val="0F2843"/>
          </a:solidFill>
        </p:spPr>
        <p:txBody>
          <a:bodyPr/>
          <a:p/>
        </p:txBody>
      </p:sp>
      <p:sp>
        <p:nvSpPr>
          <p:cNvPr id="5" name="Shape 3"/>
          <p:cNvSpPr/>
          <p:nvPr/>
        </p:nvSpPr>
        <p:spPr>
          <a:xfrm>
            <a:off x="841248" y="1883664"/>
            <a:ext cx="548640" cy="548640"/>
          </a:xfrm>
          <a:prstGeom prst="ellipse">
            <a:avLst/>
          </a:prstGeom>
          <a:solidFill>
            <a:srgbClr val="0F3D5C"/>
          </a:solidFill>
        </p:spPr>
        <p:txBody>
          <a:bodyPr/>
          <a:p/>
        </p:txBody>
      </p:sp>
      <p:sp>
        <p:nvSpPr>
          <p:cNvPr id="6" name="Text 4"/>
          <p:cNvSpPr/>
          <p:nvPr/>
        </p:nvSpPr>
        <p:spPr>
          <a:xfrm>
            <a:off x="841248" y="1883664"/>
            <a:ext cx="548640" cy="548640"/>
          </a:xfrm>
          <a:prstGeom prst="rect">
            <a:avLst/>
          </a:prstGeom>
          <a:noFill/>
        </p:spPr>
        <p:txBody>
          <a:bodyPr wrap="square" lIns="0" tIns="0" rIns="0" bIns="0"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7" name="Text 5"/>
          <p:cNvSpPr txBox="1"/>
          <p:nvPr/>
        </p:nvSpPr>
        <p:spPr>
          <a:xfrm>
            <a:off x="1600200" y="1737360"/>
            <a:ext cx="4023360" cy="841248"/>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Heavy Rain</a:t>
            </a:r>
            <a:endParaRPr lang="en-US" sz="1800" dirty="0"/>
          </a:p>
        </p:txBody>
      </p:sp>
      <p:sp>
        <p:nvSpPr>
          <p:cNvPr id="8" name="Shape 6"/>
          <p:cNvSpPr/>
          <p:nvPr/>
        </p:nvSpPr>
        <p:spPr>
          <a:xfrm>
            <a:off x="640080" y="2724912"/>
            <a:ext cx="5212080" cy="841248"/>
          </a:xfrm>
          <a:prstGeom prst="roundRect">
            <a:avLst>
              <a:gd name="adj" fmla="val 10870"/>
            </a:avLst>
          </a:prstGeom>
          <a:solidFill>
            <a:srgbClr val="0F2843"/>
          </a:solidFill>
        </p:spPr>
        <p:txBody>
          <a:bodyPr/>
          <a:p/>
        </p:txBody>
      </p:sp>
      <p:sp>
        <p:nvSpPr>
          <p:cNvPr id="9" name="Shape 7"/>
          <p:cNvSpPr/>
          <p:nvPr/>
        </p:nvSpPr>
        <p:spPr>
          <a:xfrm>
            <a:off x="841248" y="2871216"/>
            <a:ext cx="548640" cy="548640"/>
          </a:xfrm>
          <a:prstGeom prst="ellipse">
            <a:avLst/>
          </a:prstGeom>
          <a:solidFill>
            <a:srgbClr val="0F3D5C"/>
          </a:solidFill>
        </p:spPr>
        <p:txBody>
          <a:bodyPr/>
          <a:p/>
        </p:txBody>
      </p:sp>
      <p:sp>
        <p:nvSpPr>
          <p:cNvPr id="10" name="Text 8"/>
          <p:cNvSpPr/>
          <p:nvPr/>
        </p:nvSpPr>
        <p:spPr>
          <a:xfrm>
            <a:off x="841248" y="2871216"/>
            <a:ext cx="548640" cy="548640"/>
          </a:xfrm>
          <a:prstGeom prst="rect">
            <a:avLst/>
          </a:prstGeom>
          <a:noFill/>
        </p:spPr>
        <p:txBody>
          <a:bodyPr wrap="square" lIns="0" tIns="0" rIns="0" bIns="0"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11" name="Text 9"/>
          <p:cNvSpPr txBox="1"/>
          <p:nvPr/>
        </p:nvSpPr>
        <p:spPr>
          <a:xfrm>
            <a:off x="1600200" y="2724912"/>
            <a:ext cx="4023360" cy="841248"/>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Rising River</a:t>
            </a:r>
            <a:endParaRPr lang="en-US" sz="1800" dirty="0"/>
          </a:p>
        </p:txBody>
      </p:sp>
      <p:sp>
        <p:nvSpPr>
          <p:cNvPr id="12" name="Shape 10"/>
          <p:cNvSpPr/>
          <p:nvPr/>
        </p:nvSpPr>
        <p:spPr>
          <a:xfrm>
            <a:off x="640080" y="3712464"/>
            <a:ext cx="5212080" cy="841248"/>
          </a:xfrm>
          <a:prstGeom prst="roundRect">
            <a:avLst>
              <a:gd name="adj" fmla="val 10870"/>
            </a:avLst>
          </a:prstGeom>
          <a:solidFill>
            <a:srgbClr val="0F2843"/>
          </a:solidFill>
        </p:spPr>
        <p:txBody>
          <a:bodyPr/>
          <a:p/>
        </p:txBody>
      </p:sp>
      <p:sp>
        <p:nvSpPr>
          <p:cNvPr id="13" name="Shape 11"/>
          <p:cNvSpPr/>
          <p:nvPr/>
        </p:nvSpPr>
        <p:spPr>
          <a:xfrm>
            <a:off x="841248" y="3858768"/>
            <a:ext cx="548640" cy="548640"/>
          </a:xfrm>
          <a:prstGeom prst="ellipse">
            <a:avLst/>
          </a:prstGeom>
          <a:solidFill>
            <a:srgbClr val="0F3D5C"/>
          </a:solidFill>
        </p:spPr>
        <p:txBody>
          <a:bodyPr/>
          <a:p/>
        </p:txBody>
      </p:sp>
      <p:sp>
        <p:nvSpPr>
          <p:cNvPr id="14" name="Text 12"/>
          <p:cNvSpPr/>
          <p:nvPr/>
        </p:nvSpPr>
        <p:spPr>
          <a:xfrm>
            <a:off x="841248" y="3858768"/>
            <a:ext cx="548640" cy="548640"/>
          </a:xfrm>
          <a:prstGeom prst="rect">
            <a:avLst/>
          </a:prstGeom>
          <a:noFill/>
        </p:spPr>
        <p:txBody>
          <a:bodyPr wrap="square" lIns="0" tIns="0" rIns="0" bIns="0"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15" name="Text 13"/>
          <p:cNvSpPr txBox="1"/>
          <p:nvPr/>
        </p:nvSpPr>
        <p:spPr>
          <a:xfrm>
            <a:off x="1600200" y="3712464"/>
            <a:ext cx="4023360" cy="841248"/>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Emergency Calls</a:t>
            </a:r>
            <a:endParaRPr lang="en-US" sz="1800" dirty="0"/>
          </a:p>
        </p:txBody>
      </p:sp>
      <p:sp>
        <p:nvSpPr>
          <p:cNvPr id="16" name="Shape 14"/>
          <p:cNvSpPr/>
          <p:nvPr/>
        </p:nvSpPr>
        <p:spPr>
          <a:xfrm>
            <a:off x="640080" y="4700016"/>
            <a:ext cx="5212080" cy="841248"/>
          </a:xfrm>
          <a:prstGeom prst="roundRect">
            <a:avLst>
              <a:gd name="adj" fmla="val 10870"/>
            </a:avLst>
          </a:prstGeom>
          <a:solidFill>
            <a:srgbClr val="0F2843"/>
          </a:solidFill>
        </p:spPr>
        <p:txBody>
          <a:bodyPr/>
          <a:p/>
        </p:txBody>
      </p:sp>
      <p:sp>
        <p:nvSpPr>
          <p:cNvPr id="17" name="Shape 15"/>
          <p:cNvSpPr/>
          <p:nvPr/>
        </p:nvSpPr>
        <p:spPr>
          <a:xfrm>
            <a:off x="841248" y="4846320"/>
            <a:ext cx="548640" cy="548640"/>
          </a:xfrm>
          <a:prstGeom prst="ellipse">
            <a:avLst/>
          </a:prstGeom>
          <a:solidFill>
            <a:srgbClr val="0F3D5C"/>
          </a:solidFill>
        </p:spPr>
        <p:txBody>
          <a:bodyPr/>
          <a:p/>
        </p:txBody>
      </p:sp>
      <p:sp>
        <p:nvSpPr>
          <p:cNvPr id="18" name="Text 16"/>
          <p:cNvSpPr/>
          <p:nvPr/>
        </p:nvSpPr>
        <p:spPr>
          <a:xfrm>
            <a:off x="841248" y="4846320"/>
            <a:ext cx="548640" cy="548640"/>
          </a:xfrm>
          <a:prstGeom prst="rect">
            <a:avLst/>
          </a:prstGeom>
          <a:noFill/>
        </p:spPr>
        <p:txBody>
          <a:bodyPr wrap="square" lIns="0" tIns="0" rIns="0" bIns="0"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19" name="Text 17"/>
          <p:cNvSpPr txBox="1"/>
          <p:nvPr/>
        </p:nvSpPr>
        <p:spPr>
          <a:xfrm>
            <a:off x="1600200" y="4700016"/>
            <a:ext cx="4023360" cy="841248"/>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Limited Rescue Resources</a:t>
            </a:r>
            <a:endParaRPr lang="en-US" sz="1800" dirty="0"/>
          </a:p>
        </p:txBody>
      </p:sp>
      <p:sp>
        <p:nvSpPr>
          <p:cNvPr id="20" name="Shape 18"/>
          <p:cNvSpPr/>
          <p:nvPr/>
        </p:nvSpPr>
        <p:spPr>
          <a:xfrm>
            <a:off x="6400800" y="1737360"/>
            <a:ext cx="5148072" cy="3429000"/>
          </a:xfrm>
          <a:prstGeom prst="roundRect">
            <a:avLst>
              <a:gd name="adj" fmla="val 3200"/>
            </a:avLst>
          </a:prstGeom>
          <a:solidFill>
            <a:srgbClr val="13233D"/>
          </a:solidFill>
          <a:effectLst>
            <a:outerShdw blurRad="101600" dist="38100" dir="5400000" algn="bl" rotWithShape="0">
              <a:srgbClr val="000000">
                <a:alpha val="25000"/>
              </a:srgbClr>
            </a:outerShdw>
          </a:effectLst>
        </p:spPr>
        <p:txBody>
          <a:bodyPr/>
          <a:p/>
        </p:txBody>
      </p:sp>
      <p:sp>
        <p:nvSpPr>
          <p:cNvPr id="21" name="Text 19"/>
          <p:cNvSpPr txBox="1"/>
          <p:nvPr/>
        </p:nvSpPr>
        <p:spPr>
          <a:xfrm>
            <a:off x="6675120" y="1737360"/>
            <a:ext cx="4599432" cy="3429000"/>
          </a:xfrm>
          <a:prstGeom prst="rect">
            <a:avLst/>
          </a:prstGeom>
          <a:noFill/>
        </p:spPr>
        <p:txBody>
          <a:bodyPr wrap="square" lIns="0" tIns="0" rIns="0" bIns="0" rtlCol="0" anchor="ctr"/>
          <a:lstStyle/>
          <a:p>
            <a:pPr marL="0" indent="0" algn="l">
              <a:buNone/>
            </a:pPr>
            <a:r>
              <a:rPr lang="en-US" sz="21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You have only ONE rescue team.</a:t>
            </a:r>
            <a:endParaRPr lang="en-US" sz="2100" dirty="0"/>
          </a:p>
          <a:p>
            <a:pPr marL="0" indent="0" algn="l">
              <a:buNone/>
            </a:pPr>
            <a:r>
              <a:rPr lang="en-US" sz="21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Which zone should receive help first?</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85800"/>
            <a:ext cx="8686800" cy="640080"/>
          </a:xfrm>
          <a:prstGeom prst="rect">
            <a:avLst/>
          </a:prstGeom>
          <a:noFill/>
        </p:spPr>
        <p:txBody>
          <a:bodyPr wrap="square" lIns="0" tIns="0" rIns="0" bIns="0" rtlCol="0" anchor="ctr"/>
          <a:lstStyle/>
          <a:p>
            <a:pPr marL="0" indent="0">
              <a:buNone/>
            </a:pPr>
            <a:r>
              <a:rPr lang="en-US" sz="2800" b="1" dirty="0">
                <a:solidFill>
                  <a:srgbClr val="17263B"/>
                </a:solidFill>
                <a:latin typeface="Cambria" panose="02040503050406030204" pitchFamily="34" charset="0"/>
                <a:ea typeface="Cambria" panose="02040503050406030204" pitchFamily="34" charset="-122"/>
                <a:cs typeface="Cambria" panose="02040503050406030204" pitchFamily="34" charset="-120"/>
              </a:rPr>
              <a:t>Which Zone Would You Prioritize?</a:t>
            </a:r>
            <a:endParaRPr lang="en-US" sz="2800" dirty="0"/>
          </a:p>
        </p:txBody>
      </p:sp>
      <p:sp>
        <p:nvSpPr>
          <p:cNvPr id="6" name="Shape 4"/>
          <p:cNvSpPr/>
          <p:nvPr/>
        </p:nvSpPr>
        <p:spPr>
          <a:xfrm>
            <a:off x="640080" y="1554480"/>
            <a:ext cx="3520440" cy="3566160"/>
          </a:xfrm>
          <a:prstGeom prst="roundRect">
            <a:avLst>
              <a:gd name="adj" fmla="val 3117"/>
            </a:avLst>
          </a:prstGeom>
          <a:solidFill>
            <a:srgbClr val="FFFFFF"/>
          </a:solidFill>
          <a:ln w="12700">
            <a:solidFill>
              <a:srgbClr val="E3E9F2"/>
            </a:solidFill>
            <a:prstDash val="solid"/>
          </a:ln>
          <a:effectLst>
            <a:outerShdw blurRad="76200" dist="25400" dir="5400000" algn="bl" rotWithShape="0">
              <a:srgbClr val="000000">
                <a:alpha val="12000"/>
              </a:srgbClr>
            </a:outerShdw>
          </a:effectLst>
        </p:spPr>
        <p:txBody>
          <a:bodyPr/>
          <a:p/>
        </p:txBody>
      </p:sp>
      <p:sp>
        <p:nvSpPr>
          <p:cNvPr id="7" name="Shape 5"/>
          <p:cNvSpPr/>
          <p:nvPr/>
        </p:nvSpPr>
        <p:spPr>
          <a:xfrm>
            <a:off x="640080" y="1554480"/>
            <a:ext cx="3520440" cy="640080"/>
          </a:xfrm>
          <a:prstGeom prst="roundRect">
            <a:avLst>
              <a:gd name="adj" fmla="val 17143"/>
            </a:avLst>
          </a:prstGeom>
          <a:solidFill>
            <a:srgbClr val="2A9D8F"/>
          </a:solidFill>
        </p:spPr>
        <p:txBody>
          <a:bodyPr/>
          <a:p/>
        </p:txBody>
      </p:sp>
      <p:sp>
        <p:nvSpPr>
          <p:cNvPr id="8" name="Shape 6"/>
          <p:cNvSpPr/>
          <p:nvPr/>
        </p:nvSpPr>
        <p:spPr>
          <a:xfrm>
            <a:off x="640080" y="1874520"/>
            <a:ext cx="3520440" cy="320040"/>
          </a:xfrm>
          <a:prstGeom prst="rect">
            <a:avLst/>
          </a:prstGeom>
          <a:solidFill>
            <a:srgbClr val="2A9D8F"/>
          </a:solidFill>
        </p:spPr>
        <p:txBody>
          <a:bodyPr/>
          <a:p/>
        </p:txBody>
      </p:sp>
      <p:sp>
        <p:nvSpPr>
          <p:cNvPr id="9" name="Text 7"/>
          <p:cNvSpPr txBox="1"/>
          <p:nvPr/>
        </p:nvSpPr>
        <p:spPr>
          <a:xfrm>
            <a:off x="640080" y="1554480"/>
            <a:ext cx="3520440" cy="64008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ZONE A</a:t>
            </a:r>
            <a:endParaRPr lang="en-US" sz="2000" dirty="0"/>
          </a:p>
        </p:txBody>
      </p:sp>
      <p:sp>
        <p:nvSpPr>
          <p:cNvPr id="10" name="Text 8"/>
          <p:cNvSpPr txBox="1"/>
          <p:nvPr/>
        </p:nvSpPr>
        <p:spPr>
          <a:xfrm>
            <a:off x="914400" y="246888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Rainfall</a:t>
            </a:r>
            <a:endParaRPr lang="en-US" sz="1200" dirty="0"/>
          </a:p>
        </p:txBody>
      </p:sp>
      <p:sp>
        <p:nvSpPr>
          <p:cNvPr id="11" name="Text 9"/>
          <p:cNvSpPr txBox="1"/>
          <p:nvPr/>
        </p:nvSpPr>
        <p:spPr>
          <a:xfrm>
            <a:off x="914400" y="274320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20 mm</a:t>
            </a:r>
            <a:endParaRPr lang="en-US" sz="2600" dirty="0"/>
          </a:p>
        </p:txBody>
      </p:sp>
      <p:sp>
        <p:nvSpPr>
          <p:cNvPr id="12" name="Text 10"/>
          <p:cNvSpPr txBox="1"/>
          <p:nvPr/>
        </p:nvSpPr>
        <p:spPr>
          <a:xfrm>
            <a:off x="914400" y="324612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River Level</a:t>
            </a:r>
            <a:endParaRPr lang="en-US" sz="1200" dirty="0"/>
          </a:p>
        </p:txBody>
      </p:sp>
      <p:sp>
        <p:nvSpPr>
          <p:cNvPr id="13" name="Text 11"/>
          <p:cNvSpPr txBox="1"/>
          <p:nvPr/>
        </p:nvSpPr>
        <p:spPr>
          <a:xfrm>
            <a:off x="914400" y="352044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2.1 m</a:t>
            </a:r>
            <a:endParaRPr lang="en-US" sz="2600" dirty="0"/>
          </a:p>
        </p:txBody>
      </p:sp>
      <p:sp>
        <p:nvSpPr>
          <p:cNvPr id="14" name="Text 12"/>
          <p:cNvSpPr txBox="1"/>
          <p:nvPr/>
        </p:nvSpPr>
        <p:spPr>
          <a:xfrm>
            <a:off x="914400" y="402336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Emergency Calls</a:t>
            </a:r>
            <a:endParaRPr lang="en-US" sz="1200" dirty="0"/>
          </a:p>
        </p:txBody>
      </p:sp>
      <p:sp>
        <p:nvSpPr>
          <p:cNvPr id="15" name="Text 13"/>
          <p:cNvSpPr txBox="1"/>
          <p:nvPr/>
        </p:nvSpPr>
        <p:spPr>
          <a:xfrm>
            <a:off x="914400" y="429768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3</a:t>
            </a:r>
            <a:endParaRPr lang="en-US" sz="2600" dirty="0"/>
          </a:p>
        </p:txBody>
      </p:sp>
      <p:sp>
        <p:nvSpPr>
          <p:cNvPr id="16" name="Shape 14"/>
          <p:cNvSpPr/>
          <p:nvPr/>
        </p:nvSpPr>
        <p:spPr>
          <a:xfrm>
            <a:off x="4480560" y="1554480"/>
            <a:ext cx="3520440" cy="3566160"/>
          </a:xfrm>
          <a:prstGeom prst="roundRect">
            <a:avLst>
              <a:gd name="adj" fmla="val 3117"/>
            </a:avLst>
          </a:prstGeom>
          <a:solidFill>
            <a:srgbClr val="FFFFFF"/>
          </a:solidFill>
          <a:ln w="12700">
            <a:solidFill>
              <a:srgbClr val="E3E9F2"/>
            </a:solidFill>
            <a:prstDash val="solid"/>
          </a:ln>
          <a:effectLst>
            <a:outerShdw blurRad="76200" dist="25400" dir="5400000" algn="bl" rotWithShape="0">
              <a:srgbClr val="000000">
                <a:alpha val="12000"/>
              </a:srgbClr>
            </a:outerShdw>
          </a:effectLst>
        </p:spPr>
        <p:txBody>
          <a:bodyPr/>
          <a:p/>
        </p:txBody>
      </p:sp>
      <p:sp>
        <p:nvSpPr>
          <p:cNvPr id="17" name="Shape 15"/>
          <p:cNvSpPr/>
          <p:nvPr/>
        </p:nvSpPr>
        <p:spPr>
          <a:xfrm>
            <a:off x="4480560" y="1554480"/>
            <a:ext cx="3520440" cy="640080"/>
          </a:xfrm>
          <a:prstGeom prst="roundRect">
            <a:avLst>
              <a:gd name="adj" fmla="val 17143"/>
            </a:avLst>
          </a:prstGeom>
          <a:solidFill>
            <a:srgbClr val="E63946"/>
          </a:solidFill>
        </p:spPr>
        <p:txBody>
          <a:bodyPr/>
          <a:p/>
        </p:txBody>
      </p:sp>
      <p:sp>
        <p:nvSpPr>
          <p:cNvPr id="18" name="Shape 16"/>
          <p:cNvSpPr/>
          <p:nvPr/>
        </p:nvSpPr>
        <p:spPr>
          <a:xfrm>
            <a:off x="4480560" y="1874520"/>
            <a:ext cx="3520440" cy="320040"/>
          </a:xfrm>
          <a:prstGeom prst="rect">
            <a:avLst/>
          </a:prstGeom>
          <a:solidFill>
            <a:srgbClr val="E63946"/>
          </a:solidFill>
        </p:spPr>
        <p:txBody>
          <a:bodyPr/>
          <a:p/>
        </p:txBody>
      </p:sp>
      <p:sp>
        <p:nvSpPr>
          <p:cNvPr id="19" name="Text 17"/>
          <p:cNvSpPr txBox="1"/>
          <p:nvPr/>
        </p:nvSpPr>
        <p:spPr>
          <a:xfrm>
            <a:off x="4480560" y="1554480"/>
            <a:ext cx="3520440" cy="64008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ZONE B</a:t>
            </a:r>
            <a:endParaRPr lang="en-US" sz="2000" dirty="0"/>
          </a:p>
        </p:txBody>
      </p:sp>
      <p:sp>
        <p:nvSpPr>
          <p:cNvPr id="20" name="Text 18"/>
          <p:cNvSpPr txBox="1"/>
          <p:nvPr/>
        </p:nvSpPr>
        <p:spPr>
          <a:xfrm>
            <a:off x="4754880" y="246888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Rainfall</a:t>
            </a:r>
            <a:endParaRPr lang="en-US" sz="1200" dirty="0"/>
          </a:p>
        </p:txBody>
      </p:sp>
      <p:sp>
        <p:nvSpPr>
          <p:cNvPr id="21" name="Text 19"/>
          <p:cNvSpPr txBox="1"/>
          <p:nvPr/>
        </p:nvSpPr>
        <p:spPr>
          <a:xfrm>
            <a:off x="4754880" y="274320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90 mm</a:t>
            </a:r>
            <a:endParaRPr lang="en-US" sz="2600" dirty="0"/>
          </a:p>
        </p:txBody>
      </p:sp>
      <p:sp>
        <p:nvSpPr>
          <p:cNvPr id="22" name="Text 20"/>
          <p:cNvSpPr txBox="1"/>
          <p:nvPr/>
        </p:nvSpPr>
        <p:spPr>
          <a:xfrm>
            <a:off x="4754880" y="324612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River Level</a:t>
            </a:r>
            <a:endParaRPr lang="en-US" sz="1200" dirty="0"/>
          </a:p>
        </p:txBody>
      </p:sp>
      <p:sp>
        <p:nvSpPr>
          <p:cNvPr id="23" name="Text 21"/>
          <p:cNvSpPr txBox="1"/>
          <p:nvPr/>
        </p:nvSpPr>
        <p:spPr>
          <a:xfrm>
            <a:off x="4754880" y="352044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4.7 m</a:t>
            </a:r>
            <a:endParaRPr lang="en-US" sz="2600" dirty="0"/>
          </a:p>
        </p:txBody>
      </p:sp>
      <p:sp>
        <p:nvSpPr>
          <p:cNvPr id="24" name="Text 22"/>
          <p:cNvSpPr txBox="1"/>
          <p:nvPr/>
        </p:nvSpPr>
        <p:spPr>
          <a:xfrm>
            <a:off x="4754880" y="402336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Emergency Calls</a:t>
            </a:r>
            <a:endParaRPr lang="en-US" sz="1200" dirty="0"/>
          </a:p>
        </p:txBody>
      </p:sp>
      <p:sp>
        <p:nvSpPr>
          <p:cNvPr id="25" name="Text 23"/>
          <p:cNvSpPr txBox="1"/>
          <p:nvPr/>
        </p:nvSpPr>
        <p:spPr>
          <a:xfrm>
            <a:off x="4754880" y="429768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38</a:t>
            </a:r>
            <a:endParaRPr lang="en-US" sz="2600" dirty="0"/>
          </a:p>
        </p:txBody>
      </p:sp>
      <p:sp>
        <p:nvSpPr>
          <p:cNvPr id="26" name="Shape 24"/>
          <p:cNvSpPr/>
          <p:nvPr/>
        </p:nvSpPr>
        <p:spPr>
          <a:xfrm>
            <a:off x="8321040" y="1554480"/>
            <a:ext cx="3520440" cy="3566160"/>
          </a:xfrm>
          <a:prstGeom prst="roundRect">
            <a:avLst>
              <a:gd name="adj" fmla="val 3117"/>
            </a:avLst>
          </a:prstGeom>
          <a:solidFill>
            <a:srgbClr val="FFFFFF"/>
          </a:solidFill>
          <a:ln w="12700">
            <a:solidFill>
              <a:srgbClr val="E3E9F2"/>
            </a:solidFill>
            <a:prstDash val="solid"/>
          </a:ln>
          <a:effectLst>
            <a:outerShdw blurRad="76200" dist="25400" dir="5400000" algn="bl" rotWithShape="0">
              <a:srgbClr val="000000">
                <a:alpha val="12000"/>
              </a:srgbClr>
            </a:outerShdw>
          </a:effectLst>
        </p:spPr>
        <p:txBody>
          <a:bodyPr/>
          <a:p/>
        </p:txBody>
      </p:sp>
      <p:sp>
        <p:nvSpPr>
          <p:cNvPr id="27" name="Shape 25"/>
          <p:cNvSpPr/>
          <p:nvPr/>
        </p:nvSpPr>
        <p:spPr>
          <a:xfrm>
            <a:off x="8321040" y="1554480"/>
            <a:ext cx="3520440" cy="640080"/>
          </a:xfrm>
          <a:prstGeom prst="roundRect">
            <a:avLst>
              <a:gd name="adj" fmla="val 17143"/>
            </a:avLst>
          </a:prstGeom>
          <a:solidFill>
            <a:srgbClr val="F4A300"/>
          </a:solidFill>
        </p:spPr>
        <p:txBody>
          <a:bodyPr/>
          <a:p/>
        </p:txBody>
      </p:sp>
      <p:sp>
        <p:nvSpPr>
          <p:cNvPr id="28" name="Shape 26"/>
          <p:cNvSpPr/>
          <p:nvPr/>
        </p:nvSpPr>
        <p:spPr>
          <a:xfrm>
            <a:off x="8321040" y="1874520"/>
            <a:ext cx="3520440" cy="320040"/>
          </a:xfrm>
          <a:prstGeom prst="rect">
            <a:avLst/>
          </a:prstGeom>
          <a:solidFill>
            <a:srgbClr val="F4A300"/>
          </a:solidFill>
        </p:spPr>
        <p:txBody>
          <a:bodyPr/>
          <a:p/>
        </p:txBody>
      </p:sp>
      <p:sp>
        <p:nvSpPr>
          <p:cNvPr id="29" name="Text 27"/>
          <p:cNvSpPr txBox="1"/>
          <p:nvPr/>
        </p:nvSpPr>
        <p:spPr>
          <a:xfrm>
            <a:off x="8321040" y="1554480"/>
            <a:ext cx="3520440" cy="64008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ZONE C</a:t>
            </a:r>
            <a:endParaRPr lang="en-US" sz="2000" dirty="0"/>
          </a:p>
        </p:txBody>
      </p:sp>
      <p:sp>
        <p:nvSpPr>
          <p:cNvPr id="30" name="Text 28"/>
          <p:cNvSpPr txBox="1"/>
          <p:nvPr/>
        </p:nvSpPr>
        <p:spPr>
          <a:xfrm>
            <a:off x="8595360" y="246888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Rainfall</a:t>
            </a:r>
            <a:endParaRPr lang="en-US" sz="1200" dirty="0"/>
          </a:p>
        </p:txBody>
      </p:sp>
      <p:sp>
        <p:nvSpPr>
          <p:cNvPr id="31" name="Text 29"/>
          <p:cNvSpPr txBox="1"/>
          <p:nvPr/>
        </p:nvSpPr>
        <p:spPr>
          <a:xfrm>
            <a:off x="8595360" y="274320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50 mm</a:t>
            </a:r>
            <a:endParaRPr lang="en-US" sz="2600" dirty="0"/>
          </a:p>
        </p:txBody>
      </p:sp>
      <p:sp>
        <p:nvSpPr>
          <p:cNvPr id="32" name="Text 30"/>
          <p:cNvSpPr txBox="1"/>
          <p:nvPr/>
        </p:nvSpPr>
        <p:spPr>
          <a:xfrm>
            <a:off x="8595360" y="324612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River Level</a:t>
            </a:r>
            <a:endParaRPr lang="en-US" sz="1200" dirty="0"/>
          </a:p>
        </p:txBody>
      </p:sp>
      <p:sp>
        <p:nvSpPr>
          <p:cNvPr id="33" name="Text 31"/>
          <p:cNvSpPr txBox="1"/>
          <p:nvPr/>
        </p:nvSpPr>
        <p:spPr>
          <a:xfrm>
            <a:off x="8595360" y="352044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3.2 m</a:t>
            </a:r>
            <a:endParaRPr lang="en-US" sz="2600" dirty="0"/>
          </a:p>
        </p:txBody>
      </p:sp>
      <p:sp>
        <p:nvSpPr>
          <p:cNvPr id="34" name="Text 32"/>
          <p:cNvSpPr txBox="1"/>
          <p:nvPr/>
        </p:nvSpPr>
        <p:spPr>
          <a:xfrm>
            <a:off x="8595360" y="402336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Emergency Calls</a:t>
            </a:r>
            <a:endParaRPr lang="en-US" sz="1200" dirty="0"/>
          </a:p>
        </p:txBody>
      </p:sp>
      <p:sp>
        <p:nvSpPr>
          <p:cNvPr id="35" name="Text 33"/>
          <p:cNvSpPr txBox="1"/>
          <p:nvPr/>
        </p:nvSpPr>
        <p:spPr>
          <a:xfrm>
            <a:off x="8595360" y="429768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15</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320040"/>
          </a:xfrm>
          <a:prstGeom prst="rect">
            <a:avLst/>
          </a:prstGeom>
          <a:noFill/>
        </p:spPr>
        <p:txBody>
          <a:bodyPr wrap="square" lIns="0" tIns="0" rIns="0" bIns="0" rtlCol="0" anchor="ctr"/>
          <a:lstStyle/>
          <a:p>
            <a:pPr marL="0" indent="0">
              <a:buNone/>
            </a:pPr>
            <a:r>
              <a:rPr lang="en-US" sz="1200" b="1" kern="0" spc="200" dirty="0">
                <a:solidFill>
                  <a:srgbClr val="0F3D5C"/>
                </a:solidFill>
                <a:latin typeface="Calibri" panose="020F0502020204030204" pitchFamily="34" charset="0"/>
                <a:ea typeface="Calibri" panose="020F0502020204030204" pitchFamily="34" charset="-122"/>
                <a:cs typeface="Calibri" panose="020F0502020204030204" pitchFamily="34" charset="-120"/>
              </a:rPr>
              <a:t>THE REAL PROBLEM</a:t>
            </a:r>
            <a:endParaRPr lang="en-US" sz="1200" dirty="0"/>
          </a:p>
        </p:txBody>
      </p:sp>
      <p:sp>
        <p:nvSpPr>
          <p:cNvPr id="3" name="Shape 1"/>
          <p:cNvSpPr/>
          <p:nvPr/>
        </p:nvSpPr>
        <p:spPr>
          <a:xfrm>
            <a:off x="640080" y="731520"/>
            <a:ext cx="10908792" cy="1051560"/>
          </a:xfrm>
          <a:prstGeom prst="roundRect">
            <a:avLst>
              <a:gd name="adj" fmla="val 10435"/>
            </a:avLst>
          </a:prstGeom>
          <a:solidFill>
            <a:srgbClr val="0B2A4A"/>
          </a:solidFill>
          <a:effectLst>
            <a:outerShdw blurRad="101600" dist="38100" dir="5400000" algn="bl" rotWithShape="0">
              <a:srgbClr val="000000">
                <a:alpha val="25000"/>
              </a:srgbClr>
            </a:outerShdw>
          </a:effectLst>
        </p:spPr>
        <p:txBody>
          <a:bodyPr/>
          <a:p/>
        </p:txBody>
      </p:sp>
      <p:sp>
        <p:nvSpPr>
          <p:cNvPr id="4" name="Text 2"/>
          <p:cNvSpPr txBox="1"/>
          <p:nvPr/>
        </p:nvSpPr>
        <p:spPr>
          <a:xfrm>
            <a:off x="914400" y="731520"/>
            <a:ext cx="10360152" cy="1051560"/>
          </a:xfrm>
          <a:prstGeom prst="rect">
            <a:avLst/>
          </a:prstGeom>
          <a:noFill/>
        </p:spPr>
        <p:txBody>
          <a:bodyPr wrap="square" lIns="0" tIns="0" rIns="0" bIns="0" rtlCol="0" anchor="ctr"/>
          <a:lstStyle/>
          <a:p>
            <a:pPr marL="0" indent="0" algn="l">
              <a:buNone/>
            </a:pPr>
            <a:r>
              <a:rPr lang="en-US" sz="22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Can a human monitor thousands of sensor readings</a:t>
            </a:r>
            <a:endParaRPr lang="en-US" sz="2200" dirty="0"/>
          </a:p>
          <a:p>
            <a:pPr marL="0" indent="0" algn="l">
              <a:buNone/>
            </a:pPr>
            <a:r>
              <a:rPr lang="en-US" sz="22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and emergency calls, 24 / 7?</a:t>
            </a:r>
            <a:endParaRPr lang="en-US" sz="2200" dirty="0"/>
          </a:p>
        </p:txBody>
      </p:sp>
      <p:sp>
        <p:nvSpPr>
          <p:cNvPr id="5" name="Shape 3"/>
          <p:cNvSpPr/>
          <p:nvPr/>
        </p:nvSpPr>
        <p:spPr>
          <a:xfrm>
            <a:off x="640080" y="2148840"/>
            <a:ext cx="2514600" cy="1463040"/>
          </a:xfrm>
          <a:prstGeom prst="roundRect">
            <a:avLst>
              <a:gd name="adj" fmla="val 6250"/>
            </a:avLst>
          </a:prstGeom>
          <a:solidFill>
            <a:srgbClr val="FFFFFF"/>
          </a:solidFill>
          <a:ln w="12700">
            <a:solidFill>
              <a:srgbClr val="E3E9F2"/>
            </a:solidFill>
            <a:prstDash val="solid"/>
          </a:ln>
        </p:spPr>
        <p:txBody>
          <a:bodyPr/>
          <a:p/>
        </p:txBody>
      </p:sp>
      <p:sp>
        <p:nvSpPr>
          <p:cNvPr id="6" name="Text 4"/>
          <p:cNvSpPr txBox="1"/>
          <p:nvPr/>
        </p:nvSpPr>
        <p:spPr>
          <a:xfrm>
            <a:off x="777240" y="2148840"/>
            <a:ext cx="2240280" cy="1463040"/>
          </a:xfrm>
          <a:prstGeom prst="rect">
            <a:avLst/>
          </a:prstGeom>
          <a:noFill/>
        </p:spPr>
        <p:txBody>
          <a:bodyPr wrap="square" lIns="0" tIns="0" rIns="0" bIns="0" rtlCol="0" anchor="ctr"/>
          <a:lstStyle/>
          <a:p>
            <a:pPr marL="0" indent="0" algn="ct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Thousands of readings</a:t>
            </a:r>
            <a:endParaRPr lang="en-US" sz="1500" dirty="0"/>
          </a:p>
        </p:txBody>
      </p:sp>
      <p:sp>
        <p:nvSpPr>
          <p:cNvPr id="7" name="Text 5"/>
          <p:cNvSpPr txBox="1"/>
          <p:nvPr/>
        </p:nvSpPr>
        <p:spPr>
          <a:xfrm>
            <a:off x="3154680" y="2148840"/>
            <a:ext cx="256032" cy="1463040"/>
          </a:xfrm>
          <a:prstGeom prst="rect">
            <a:avLst/>
          </a:prstGeom>
          <a:noFill/>
        </p:spPr>
        <p:txBody>
          <a:bodyPr wrap="square" lIns="0" tIns="0" rIns="0" bIns="0" rtlCol="0" anchor="ctr"/>
          <a:lstStyle/>
          <a:p>
            <a:pPr marL="0" indent="0" algn="ctr">
              <a:buNone/>
            </a:pPr>
            <a:r>
              <a:rPr lang="en-US" sz="2600" b="1" dirty="0">
                <a:solidFill>
                  <a:srgbClr val="0F3D5C"/>
                </a:solidFill>
                <a:latin typeface="Cambria" panose="02040503050406030204" pitchFamily="34" charset="0"/>
                <a:ea typeface="Cambria" panose="02040503050406030204" pitchFamily="34" charset="-122"/>
                <a:cs typeface="Cambria" panose="02040503050406030204" pitchFamily="34" charset="-120"/>
              </a:rPr>
              <a:t>+</a:t>
            </a:r>
            <a:endParaRPr lang="en-US" sz="2600" dirty="0"/>
          </a:p>
        </p:txBody>
      </p:sp>
      <p:sp>
        <p:nvSpPr>
          <p:cNvPr id="8" name="Shape 6"/>
          <p:cNvSpPr/>
          <p:nvPr/>
        </p:nvSpPr>
        <p:spPr>
          <a:xfrm>
            <a:off x="3410712" y="2148840"/>
            <a:ext cx="2514600" cy="1463040"/>
          </a:xfrm>
          <a:prstGeom prst="roundRect">
            <a:avLst>
              <a:gd name="adj" fmla="val 6250"/>
            </a:avLst>
          </a:prstGeom>
          <a:solidFill>
            <a:srgbClr val="FFFFFF"/>
          </a:solidFill>
          <a:ln w="12700">
            <a:solidFill>
              <a:srgbClr val="E3E9F2"/>
            </a:solidFill>
            <a:prstDash val="solid"/>
          </a:ln>
        </p:spPr>
        <p:txBody>
          <a:bodyPr/>
          <a:p/>
        </p:txBody>
      </p:sp>
      <p:sp>
        <p:nvSpPr>
          <p:cNvPr id="9" name="Text 7"/>
          <p:cNvSpPr txBox="1"/>
          <p:nvPr/>
        </p:nvSpPr>
        <p:spPr>
          <a:xfrm>
            <a:off x="3547872" y="2148840"/>
            <a:ext cx="2240280" cy="1463040"/>
          </a:xfrm>
          <a:prstGeom prst="rect">
            <a:avLst/>
          </a:prstGeom>
          <a:noFill/>
        </p:spPr>
        <p:txBody>
          <a:bodyPr wrap="square" lIns="0" tIns="0" rIns="0" bIns="0" rtlCol="0" anchor="ctr"/>
          <a:lstStyle/>
          <a:p>
            <a:pPr marL="0" indent="0" algn="ct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Multiple zones</a:t>
            </a:r>
            <a:endParaRPr lang="en-US" sz="1500" dirty="0"/>
          </a:p>
        </p:txBody>
      </p:sp>
      <p:sp>
        <p:nvSpPr>
          <p:cNvPr id="10" name="Text 8"/>
          <p:cNvSpPr txBox="1"/>
          <p:nvPr/>
        </p:nvSpPr>
        <p:spPr>
          <a:xfrm>
            <a:off x="5925312" y="2148840"/>
            <a:ext cx="256032" cy="1463040"/>
          </a:xfrm>
          <a:prstGeom prst="rect">
            <a:avLst/>
          </a:prstGeom>
          <a:noFill/>
        </p:spPr>
        <p:txBody>
          <a:bodyPr wrap="square" lIns="0" tIns="0" rIns="0" bIns="0" rtlCol="0" anchor="ctr"/>
          <a:lstStyle/>
          <a:p>
            <a:pPr marL="0" indent="0" algn="ctr">
              <a:buNone/>
            </a:pPr>
            <a:r>
              <a:rPr lang="en-US" sz="2600" b="1" dirty="0">
                <a:solidFill>
                  <a:srgbClr val="0F3D5C"/>
                </a:solidFill>
                <a:latin typeface="Cambria" panose="02040503050406030204" pitchFamily="34" charset="0"/>
                <a:ea typeface="Cambria" panose="02040503050406030204" pitchFamily="34" charset="-122"/>
                <a:cs typeface="Cambria" panose="02040503050406030204" pitchFamily="34" charset="-120"/>
              </a:rPr>
              <a:t>+</a:t>
            </a:r>
            <a:endParaRPr lang="en-US" sz="2600" dirty="0"/>
          </a:p>
        </p:txBody>
      </p:sp>
      <p:sp>
        <p:nvSpPr>
          <p:cNvPr id="11" name="Shape 9"/>
          <p:cNvSpPr/>
          <p:nvPr/>
        </p:nvSpPr>
        <p:spPr>
          <a:xfrm>
            <a:off x="6181344" y="2148840"/>
            <a:ext cx="2514600" cy="1463040"/>
          </a:xfrm>
          <a:prstGeom prst="roundRect">
            <a:avLst>
              <a:gd name="adj" fmla="val 6250"/>
            </a:avLst>
          </a:prstGeom>
          <a:solidFill>
            <a:srgbClr val="FFFFFF"/>
          </a:solidFill>
          <a:ln w="12700">
            <a:solidFill>
              <a:srgbClr val="E3E9F2"/>
            </a:solidFill>
            <a:prstDash val="solid"/>
          </a:ln>
        </p:spPr>
        <p:txBody>
          <a:bodyPr/>
          <a:p/>
        </p:txBody>
      </p:sp>
      <p:sp>
        <p:nvSpPr>
          <p:cNvPr id="12" name="Text 10"/>
          <p:cNvSpPr txBox="1"/>
          <p:nvPr/>
        </p:nvSpPr>
        <p:spPr>
          <a:xfrm>
            <a:off x="6318504" y="2148840"/>
            <a:ext cx="2240280" cy="1463040"/>
          </a:xfrm>
          <a:prstGeom prst="rect">
            <a:avLst/>
          </a:prstGeom>
          <a:noFill/>
        </p:spPr>
        <p:txBody>
          <a:bodyPr wrap="square" lIns="0" tIns="0" rIns="0" bIns="0" rtlCol="0" anchor="ctr"/>
          <a:lstStyle/>
          <a:p>
            <a:pPr marL="0" indent="0" algn="ct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Continuous updates</a:t>
            </a:r>
            <a:endParaRPr lang="en-US" sz="1500" dirty="0"/>
          </a:p>
        </p:txBody>
      </p:sp>
      <p:sp>
        <p:nvSpPr>
          <p:cNvPr id="13" name="Text 11"/>
          <p:cNvSpPr txBox="1"/>
          <p:nvPr/>
        </p:nvSpPr>
        <p:spPr>
          <a:xfrm>
            <a:off x="8695944" y="2148840"/>
            <a:ext cx="256032" cy="1463040"/>
          </a:xfrm>
          <a:prstGeom prst="rect">
            <a:avLst/>
          </a:prstGeom>
          <a:noFill/>
        </p:spPr>
        <p:txBody>
          <a:bodyPr wrap="square" lIns="0" tIns="0" rIns="0" bIns="0" rtlCol="0" anchor="ctr"/>
          <a:lstStyle/>
          <a:p>
            <a:pPr marL="0" indent="0" algn="ctr">
              <a:buNone/>
            </a:pPr>
            <a:r>
              <a:rPr lang="en-US" sz="2600" b="1" dirty="0">
                <a:solidFill>
                  <a:srgbClr val="0F3D5C"/>
                </a:solidFill>
                <a:latin typeface="Cambria" panose="02040503050406030204" pitchFamily="34" charset="0"/>
                <a:ea typeface="Cambria" panose="02040503050406030204" pitchFamily="34" charset="-122"/>
                <a:cs typeface="Cambria" panose="02040503050406030204" pitchFamily="34" charset="-120"/>
              </a:rPr>
              <a:t>+</a:t>
            </a:r>
            <a:endParaRPr lang="en-US" sz="2600" dirty="0"/>
          </a:p>
        </p:txBody>
      </p:sp>
      <p:sp>
        <p:nvSpPr>
          <p:cNvPr id="14" name="Shape 12"/>
          <p:cNvSpPr/>
          <p:nvPr/>
        </p:nvSpPr>
        <p:spPr>
          <a:xfrm>
            <a:off x="8951976" y="2148840"/>
            <a:ext cx="2514600" cy="1463040"/>
          </a:xfrm>
          <a:prstGeom prst="roundRect">
            <a:avLst>
              <a:gd name="adj" fmla="val 6250"/>
            </a:avLst>
          </a:prstGeom>
          <a:solidFill>
            <a:srgbClr val="FFFFFF"/>
          </a:solidFill>
          <a:ln w="12700">
            <a:solidFill>
              <a:srgbClr val="E3E9F2"/>
            </a:solidFill>
            <a:prstDash val="solid"/>
          </a:ln>
        </p:spPr>
        <p:txBody>
          <a:bodyPr/>
          <a:p/>
        </p:txBody>
      </p:sp>
      <p:sp>
        <p:nvSpPr>
          <p:cNvPr id="15" name="Text 13"/>
          <p:cNvSpPr txBox="1"/>
          <p:nvPr/>
        </p:nvSpPr>
        <p:spPr>
          <a:xfrm>
            <a:off x="9089136" y="2148840"/>
            <a:ext cx="2240280" cy="1463040"/>
          </a:xfrm>
          <a:prstGeom prst="rect">
            <a:avLst/>
          </a:prstGeom>
          <a:noFill/>
        </p:spPr>
        <p:txBody>
          <a:bodyPr wrap="square" lIns="0" tIns="0" rIns="0" bIns="0" rtlCol="0" anchor="ctr"/>
          <a:lstStyle/>
          <a:p>
            <a:pPr marL="0" indent="0" algn="ct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Need for instant decisions</a:t>
            </a:r>
            <a:endParaRPr lang="en-US" sz="1500" dirty="0"/>
          </a:p>
        </p:txBody>
      </p:sp>
      <p:sp>
        <p:nvSpPr>
          <p:cNvPr id="16" name="Shape 14"/>
          <p:cNvSpPr/>
          <p:nvPr/>
        </p:nvSpPr>
        <p:spPr>
          <a:xfrm>
            <a:off x="640080" y="3977640"/>
            <a:ext cx="10908792" cy="1371600"/>
          </a:xfrm>
          <a:prstGeom prst="roundRect">
            <a:avLst>
              <a:gd name="adj" fmla="val 8000"/>
            </a:avLst>
          </a:prstGeom>
          <a:solidFill>
            <a:srgbClr val="0F3D5C"/>
          </a:solidFill>
        </p:spPr>
        <p:txBody>
          <a:bodyPr/>
          <a:p/>
        </p:txBody>
      </p:sp>
      <p:sp>
        <p:nvSpPr>
          <p:cNvPr id="17" name="Text 15"/>
          <p:cNvSpPr txBox="1"/>
          <p:nvPr/>
        </p:nvSpPr>
        <p:spPr>
          <a:xfrm>
            <a:off x="1005840" y="3977640"/>
            <a:ext cx="10177272" cy="1371600"/>
          </a:xfrm>
          <a:prstGeom prst="rect">
            <a:avLst/>
          </a:prstGeom>
          <a:noFill/>
        </p:spPr>
        <p:txBody>
          <a:bodyPr wrap="square" lIns="0" tIns="0" rIns="0" bIns="0" rtlCol="0" anchor="ctr"/>
          <a:lstStyle/>
          <a:p>
            <a:pPr marL="0" indent="0">
              <a:buNone/>
            </a:pPr>
            <a:r>
              <a:rPr lang="en-US" sz="22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We need a system that can learn from past situations</a:t>
            </a:r>
            <a:endParaRPr lang="en-US" sz="2200" dirty="0"/>
          </a:p>
          <a:p>
            <a:pPr marL="0" indent="0">
              <a:buNone/>
            </a:pPr>
            <a:r>
              <a:rPr lang="en-US" sz="22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and help predict new situations.</a:t>
            </a:r>
            <a:endParaRPr lang="en-US" sz="2200" dirty="0"/>
          </a:p>
        </p:txBody>
      </p:sp>
      <p:sp>
        <p:nvSpPr>
          <p:cNvPr id="18" name="Text 16"/>
          <p:cNvSpPr txBox="1"/>
          <p:nvPr/>
        </p:nvSpPr>
        <p:spPr>
          <a:xfrm>
            <a:off x="640080" y="5623560"/>
            <a:ext cx="7315200" cy="457200"/>
          </a:xfrm>
          <a:prstGeom prst="rect">
            <a:avLst/>
          </a:prstGeom>
          <a:noFill/>
        </p:spPr>
        <p:txBody>
          <a:bodyPr wrap="square" lIns="0" tIns="0" rIns="0" bIns="0" rtlCol="0" anchor="ctr"/>
          <a:lstStyle/>
          <a:p>
            <a:pPr marL="0" indent="0">
              <a:buNone/>
            </a:pPr>
            <a:r>
              <a:rPr lang="en-US" sz="1400" i="1" dirty="0">
                <a:solidFill>
                  <a:srgbClr val="5B6B82"/>
                </a:solidFill>
                <a:latin typeface="Calibri" panose="020F0502020204030204" pitchFamily="34" charset="0"/>
                <a:ea typeface="Calibri" panose="020F0502020204030204" pitchFamily="34" charset="-122"/>
                <a:cs typeface="Calibri" panose="020F0502020204030204" pitchFamily="34" charset="-120"/>
              </a:rPr>
              <a:t>This is where Machine Learning enters the story.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8229600" cy="54864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What Is Machine Learning?</a:t>
            </a:r>
            <a:endParaRPr lang="en-US" sz="2600" dirty="0"/>
          </a:p>
        </p:txBody>
      </p:sp>
      <p:sp>
        <p:nvSpPr>
          <p:cNvPr id="4" name="Shape 2"/>
          <p:cNvSpPr/>
          <p:nvPr/>
        </p:nvSpPr>
        <p:spPr>
          <a:xfrm>
            <a:off x="640080" y="1325880"/>
            <a:ext cx="2377440" cy="868680"/>
          </a:xfrm>
          <a:prstGeom prst="roundRect">
            <a:avLst>
              <a:gd name="adj" fmla="val 10526"/>
            </a:avLst>
          </a:prstGeom>
          <a:solidFill>
            <a:srgbClr val="0F3D5C"/>
          </a:solidFill>
        </p:spPr>
        <p:txBody>
          <a:bodyPr/>
          <a:p/>
        </p:txBody>
      </p:sp>
      <p:sp>
        <p:nvSpPr>
          <p:cNvPr id="5" name="Text 3"/>
          <p:cNvSpPr txBox="1"/>
          <p:nvPr/>
        </p:nvSpPr>
        <p:spPr>
          <a:xfrm>
            <a:off x="640080" y="1325880"/>
            <a:ext cx="2377440" cy="86868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PAST FLOOD</a:t>
            </a:r>
            <a:endParaRPr lang="en-US" sz="1300" dirty="0"/>
          </a:p>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CASES</a:t>
            </a:r>
            <a:endParaRPr lang="en-US" sz="1300" dirty="0"/>
          </a:p>
        </p:txBody>
      </p:sp>
      <p:sp>
        <p:nvSpPr>
          <p:cNvPr id="6" name="Text 4"/>
          <p:cNvSpPr txBox="1"/>
          <p:nvPr/>
        </p:nvSpPr>
        <p:spPr>
          <a:xfrm>
            <a:off x="3017520" y="1325880"/>
            <a:ext cx="320040" cy="868680"/>
          </a:xfrm>
          <a:prstGeom prst="rect">
            <a:avLst/>
          </a:prstGeom>
          <a:noFill/>
        </p:spPr>
        <p:txBody>
          <a:bodyPr wrap="square" lIns="0" tIns="0" rIns="0" bIns="0" rtlCol="0" anchor="ctr"/>
          <a:lstStyle/>
          <a:p>
            <a:pPr marL="0" indent="0" algn="ctr">
              <a:buNone/>
            </a:pPr>
            <a:r>
              <a:rPr lang="en-US" sz="20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7" name="Shape 5"/>
          <p:cNvSpPr/>
          <p:nvPr/>
        </p:nvSpPr>
        <p:spPr>
          <a:xfrm>
            <a:off x="3337560" y="1325880"/>
            <a:ext cx="2377440" cy="868680"/>
          </a:xfrm>
          <a:prstGeom prst="roundRect">
            <a:avLst>
              <a:gd name="adj" fmla="val 10526"/>
            </a:avLst>
          </a:prstGeom>
          <a:solidFill>
            <a:srgbClr val="0F3D5C"/>
          </a:solidFill>
        </p:spPr>
        <p:txBody>
          <a:bodyPr/>
          <a:p/>
        </p:txBody>
      </p:sp>
      <p:sp>
        <p:nvSpPr>
          <p:cNvPr id="8" name="Text 6"/>
          <p:cNvSpPr txBox="1"/>
          <p:nvPr/>
        </p:nvSpPr>
        <p:spPr>
          <a:xfrm>
            <a:off x="3337560" y="1325880"/>
            <a:ext cx="2377440" cy="86868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FIND</a:t>
            </a:r>
            <a:endParaRPr lang="en-US" sz="1300" dirty="0"/>
          </a:p>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PATTERNS</a:t>
            </a:r>
            <a:endParaRPr lang="en-US" sz="1300" dirty="0"/>
          </a:p>
        </p:txBody>
      </p:sp>
      <p:sp>
        <p:nvSpPr>
          <p:cNvPr id="9" name="Text 7"/>
          <p:cNvSpPr txBox="1"/>
          <p:nvPr/>
        </p:nvSpPr>
        <p:spPr>
          <a:xfrm>
            <a:off x="5715000" y="1325880"/>
            <a:ext cx="320040" cy="868680"/>
          </a:xfrm>
          <a:prstGeom prst="rect">
            <a:avLst/>
          </a:prstGeom>
          <a:noFill/>
        </p:spPr>
        <p:txBody>
          <a:bodyPr wrap="square" lIns="0" tIns="0" rIns="0" bIns="0" rtlCol="0" anchor="ctr"/>
          <a:lstStyle/>
          <a:p>
            <a:pPr marL="0" indent="0" algn="ctr">
              <a:buNone/>
            </a:pPr>
            <a:r>
              <a:rPr lang="en-US" sz="20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0" name="Shape 8"/>
          <p:cNvSpPr/>
          <p:nvPr/>
        </p:nvSpPr>
        <p:spPr>
          <a:xfrm>
            <a:off x="6035040" y="1325880"/>
            <a:ext cx="2377440" cy="868680"/>
          </a:xfrm>
          <a:prstGeom prst="roundRect">
            <a:avLst>
              <a:gd name="adj" fmla="val 10526"/>
            </a:avLst>
          </a:prstGeom>
          <a:solidFill>
            <a:srgbClr val="0F3D5C"/>
          </a:solidFill>
        </p:spPr>
        <p:txBody>
          <a:bodyPr/>
          <a:p/>
        </p:txBody>
      </p:sp>
      <p:sp>
        <p:nvSpPr>
          <p:cNvPr id="11" name="Text 9"/>
          <p:cNvSpPr txBox="1"/>
          <p:nvPr/>
        </p:nvSpPr>
        <p:spPr>
          <a:xfrm>
            <a:off x="6035040" y="1325880"/>
            <a:ext cx="2377440" cy="86868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NEW FLOOD</a:t>
            </a:r>
            <a:endParaRPr lang="en-US" sz="1300" dirty="0"/>
          </a:p>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SITUATION</a:t>
            </a:r>
            <a:endParaRPr lang="en-US" sz="1300" dirty="0"/>
          </a:p>
        </p:txBody>
      </p:sp>
      <p:sp>
        <p:nvSpPr>
          <p:cNvPr id="12" name="Text 10"/>
          <p:cNvSpPr txBox="1"/>
          <p:nvPr/>
        </p:nvSpPr>
        <p:spPr>
          <a:xfrm>
            <a:off x="8412480" y="1325880"/>
            <a:ext cx="320040" cy="868680"/>
          </a:xfrm>
          <a:prstGeom prst="rect">
            <a:avLst/>
          </a:prstGeom>
          <a:noFill/>
        </p:spPr>
        <p:txBody>
          <a:bodyPr wrap="square" lIns="0" tIns="0" rIns="0" bIns="0" rtlCol="0" anchor="ctr"/>
          <a:lstStyle/>
          <a:p>
            <a:pPr marL="0" indent="0" algn="ctr">
              <a:buNone/>
            </a:pPr>
            <a:r>
              <a:rPr lang="en-US" sz="20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3" name="Shape 11"/>
          <p:cNvSpPr/>
          <p:nvPr/>
        </p:nvSpPr>
        <p:spPr>
          <a:xfrm>
            <a:off x="8732520" y="1325880"/>
            <a:ext cx="2377440" cy="868680"/>
          </a:xfrm>
          <a:prstGeom prst="roundRect">
            <a:avLst>
              <a:gd name="adj" fmla="val 10526"/>
            </a:avLst>
          </a:prstGeom>
          <a:solidFill>
            <a:srgbClr val="FFB627"/>
          </a:solidFill>
        </p:spPr>
        <p:txBody>
          <a:bodyPr/>
          <a:p/>
        </p:txBody>
      </p:sp>
      <p:sp>
        <p:nvSpPr>
          <p:cNvPr id="14" name="Text 12"/>
          <p:cNvSpPr txBox="1"/>
          <p:nvPr/>
        </p:nvSpPr>
        <p:spPr>
          <a:xfrm>
            <a:off x="8732520" y="1325880"/>
            <a:ext cx="2377440" cy="868680"/>
          </a:xfrm>
          <a:prstGeom prst="rect">
            <a:avLst/>
          </a:prstGeom>
          <a:noFill/>
        </p:spPr>
        <p:txBody>
          <a:bodyPr wrap="square" lIns="0" tIns="0" rIns="0" bIns="0" rtlCol="0" anchor="ctr"/>
          <a:lstStyle/>
          <a:p>
            <a:pPr marL="0" indent="0" algn="ctr">
              <a:buNone/>
            </a:pPr>
            <a:r>
              <a:rPr lang="en-US" sz="1300" b="1" dirty="0">
                <a:solidFill>
                  <a:srgbClr val="081527"/>
                </a:solidFill>
                <a:latin typeface="Cambria" panose="02040503050406030204" pitchFamily="34" charset="0"/>
                <a:ea typeface="Cambria" panose="02040503050406030204" pitchFamily="34" charset="-122"/>
                <a:cs typeface="Cambria" panose="02040503050406030204" pitchFamily="34" charset="-120"/>
              </a:rPr>
              <a:t>PREDICT</a:t>
            </a:r>
            <a:endParaRPr lang="en-US" sz="1300" dirty="0"/>
          </a:p>
          <a:p>
            <a:pPr marL="0" indent="0" algn="ctr">
              <a:buNone/>
            </a:pPr>
            <a:r>
              <a:rPr lang="en-US" sz="1300" b="1" dirty="0">
                <a:solidFill>
                  <a:srgbClr val="081527"/>
                </a:solidFill>
                <a:latin typeface="Cambria" panose="02040503050406030204" pitchFamily="34" charset="0"/>
                <a:ea typeface="Cambria" panose="02040503050406030204" pitchFamily="34" charset="-122"/>
                <a:cs typeface="Cambria" panose="02040503050406030204" pitchFamily="34" charset="-120"/>
              </a:rPr>
              <a:t>RISK</a:t>
            </a:r>
            <a:endParaRPr lang="en-US" sz="1300" dirty="0"/>
          </a:p>
        </p:txBody>
      </p:sp>
      <p:sp>
        <p:nvSpPr>
          <p:cNvPr id="15" name="Shape 13"/>
          <p:cNvSpPr/>
          <p:nvPr/>
        </p:nvSpPr>
        <p:spPr>
          <a:xfrm>
            <a:off x="640080" y="2468880"/>
            <a:ext cx="10908792" cy="777240"/>
          </a:xfrm>
          <a:prstGeom prst="roundRect">
            <a:avLst>
              <a:gd name="adj" fmla="val 11765"/>
            </a:avLst>
          </a:prstGeom>
          <a:solidFill>
            <a:srgbClr val="13233D"/>
          </a:solidFill>
        </p:spPr>
        <p:txBody>
          <a:bodyPr/>
          <a:p/>
        </p:txBody>
      </p:sp>
      <p:sp>
        <p:nvSpPr>
          <p:cNvPr id="16" name="Text 14"/>
          <p:cNvSpPr txBox="1"/>
          <p:nvPr/>
        </p:nvSpPr>
        <p:spPr>
          <a:xfrm>
            <a:off x="914400" y="2468880"/>
            <a:ext cx="10360152" cy="777240"/>
          </a:xfrm>
          <a:prstGeom prst="rect">
            <a:avLst/>
          </a:prstGeom>
          <a:noFill/>
        </p:spPr>
        <p:txBody>
          <a:bodyPr wrap="square" lIns="0" tIns="0" rIns="0" bIns="0" rtlCol="0" anchor="ctr"/>
          <a:lstStyle/>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Machine Learning means learning patterns from past examples</a:t>
            </a:r>
            <a:endParaRPr lang="en-US" sz="1500" dirty="0"/>
          </a:p>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to make predictions about new situations.</a:t>
            </a:r>
            <a:endParaRPr lang="en-US" sz="1500" dirty="0"/>
          </a:p>
        </p:txBody>
      </p:sp>
      <p:sp>
        <p:nvSpPr>
          <p:cNvPr id="17" name="Shape 15"/>
          <p:cNvSpPr/>
          <p:nvPr/>
        </p:nvSpPr>
        <p:spPr>
          <a:xfrm>
            <a:off x="640080" y="3429000"/>
            <a:ext cx="7589520" cy="457200"/>
          </a:xfrm>
          <a:prstGeom prst="roundRect">
            <a:avLst>
              <a:gd name="adj" fmla="val 12000"/>
            </a:avLst>
          </a:prstGeom>
          <a:solidFill>
            <a:srgbClr val="FFFFFF"/>
          </a:solidFill>
          <a:ln w="12700">
            <a:solidFill>
              <a:srgbClr val="E3E9F2"/>
            </a:solidFill>
            <a:prstDash val="solid"/>
          </a:ln>
        </p:spPr>
        <p:txBody>
          <a:bodyPr/>
          <a:p/>
        </p:txBody>
      </p:sp>
      <p:sp>
        <p:nvSpPr>
          <p:cNvPr id="18" name="Text 16"/>
          <p:cNvSpPr txBox="1"/>
          <p:nvPr/>
        </p:nvSpPr>
        <p:spPr>
          <a:xfrm>
            <a:off x="868680" y="3429000"/>
            <a:ext cx="6035040" cy="457200"/>
          </a:xfrm>
          <a:prstGeom prst="rect">
            <a:avLst/>
          </a:prstGeom>
          <a:noFill/>
        </p:spPr>
        <p:txBody>
          <a:bodyPr wrap="square" lIns="0" tIns="0" rIns="0" bIns="0" rtlCol="0" anchor="ctr"/>
          <a:lstStyle/>
          <a:p>
            <a:pPr marL="0" indent="0">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Low rainfall + low river level</a:t>
            </a:r>
            <a:endParaRPr lang="en-US" sz="1300" dirty="0"/>
          </a:p>
        </p:txBody>
      </p:sp>
      <p:sp>
        <p:nvSpPr>
          <p:cNvPr id="19" name="Shape 17"/>
          <p:cNvSpPr/>
          <p:nvPr/>
        </p:nvSpPr>
        <p:spPr>
          <a:xfrm>
            <a:off x="8366760" y="3429000"/>
            <a:ext cx="3182112" cy="457200"/>
          </a:xfrm>
          <a:prstGeom prst="roundRect">
            <a:avLst>
              <a:gd name="adj" fmla="val 12000"/>
            </a:avLst>
          </a:prstGeom>
          <a:solidFill>
            <a:srgbClr val="2A9D8F"/>
          </a:solidFill>
        </p:spPr>
        <p:txBody>
          <a:bodyPr/>
          <a:p/>
        </p:txBody>
      </p:sp>
      <p:sp>
        <p:nvSpPr>
          <p:cNvPr id="20" name="Text 18"/>
          <p:cNvSpPr txBox="1"/>
          <p:nvPr/>
        </p:nvSpPr>
        <p:spPr>
          <a:xfrm>
            <a:off x="8366760" y="3429000"/>
            <a:ext cx="3182112"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LOW RISK</a:t>
            </a:r>
            <a:endParaRPr lang="en-US" sz="1300" dirty="0"/>
          </a:p>
        </p:txBody>
      </p:sp>
      <p:sp>
        <p:nvSpPr>
          <p:cNvPr id="21" name="Shape 19"/>
          <p:cNvSpPr/>
          <p:nvPr/>
        </p:nvSpPr>
        <p:spPr>
          <a:xfrm>
            <a:off x="640080" y="3995928"/>
            <a:ext cx="7589520" cy="457200"/>
          </a:xfrm>
          <a:prstGeom prst="roundRect">
            <a:avLst>
              <a:gd name="adj" fmla="val 12000"/>
            </a:avLst>
          </a:prstGeom>
          <a:solidFill>
            <a:srgbClr val="FFFFFF"/>
          </a:solidFill>
          <a:ln w="12700">
            <a:solidFill>
              <a:srgbClr val="E3E9F2"/>
            </a:solidFill>
            <a:prstDash val="solid"/>
          </a:ln>
        </p:spPr>
        <p:txBody>
          <a:bodyPr/>
          <a:p/>
        </p:txBody>
      </p:sp>
      <p:sp>
        <p:nvSpPr>
          <p:cNvPr id="22" name="Text 20"/>
          <p:cNvSpPr txBox="1"/>
          <p:nvPr/>
        </p:nvSpPr>
        <p:spPr>
          <a:xfrm>
            <a:off x="868680" y="3995928"/>
            <a:ext cx="6035040" cy="457200"/>
          </a:xfrm>
          <a:prstGeom prst="rect">
            <a:avLst/>
          </a:prstGeom>
          <a:noFill/>
        </p:spPr>
        <p:txBody>
          <a:bodyPr wrap="square" lIns="0" tIns="0" rIns="0" bIns="0" rtlCol="0" anchor="ctr"/>
          <a:lstStyle/>
          <a:p>
            <a:pPr marL="0" indent="0">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Medium rainfall + medium river level</a:t>
            </a:r>
            <a:endParaRPr lang="en-US" sz="1300" dirty="0"/>
          </a:p>
        </p:txBody>
      </p:sp>
      <p:sp>
        <p:nvSpPr>
          <p:cNvPr id="23" name="Shape 21"/>
          <p:cNvSpPr/>
          <p:nvPr/>
        </p:nvSpPr>
        <p:spPr>
          <a:xfrm>
            <a:off x="8366760" y="3995928"/>
            <a:ext cx="3182112" cy="457200"/>
          </a:xfrm>
          <a:prstGeom prst="roundRect">
            <a:avLst>
              <a:gd name="adj" fmla="val 12000"/>
            </a:avLst>
          </a:prstGeom>
          <a:solidFill>
            <a:srgbClr val="F4A300"/>
          </a:solidFill>
        </p:spPr>
        <p:txBody>
          <a:bodyPr/>
          <a:p/>
        </p:txBody>
      </p:sp>
      <p:sp>
        <p:nvSpPr>
          <p:cNvPr id="24" name="Text 22"/>
          <p:cNvSpPr txBox="1"/>
          <p:nvPr/>
        </p:nvSpPr>
        <p:spPr>
          <a:xfrm>
            <a:off x="8366760" y="3995928"/>
            <a:ext cx="3182112"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MODERATE RISK</a:t>
            </a:r>
            <a:endParaRPr lang="en-US" sz="1300" dirty="0"/>
          </a:p>
        </p:txBody>
      </p:sp>
      <p:sp>
        <p:nvSpPr>
          <p:cNvPr id="25" name="Shape 23"/>
          <p:cNvSpPr/>
          <p:nvPr/>
        </p:nvSpPr>
        <p:spPr>
          <a:xfrm>
            <a:off x="640080" y="4562856"/>
            <a:ext cx="7589520" cy="457200"/>
          </a:xfrm>
          <a:prstGeom prst="roundRect">
            <a:avLst>
              <a:gd name="adj" fmla="val 12000"/>
            </a:avLst>
          </a:prstGeom>
          <a:solidFill>
            <a:srgbClr val="FFFFFF"/>
          </a:solidFill>
          <a:ln w="12700">
            <a:solidFill>
              <a:srgbClr val="E3E9F2"/>
            </a:solidFill>
            <a:prstDash val="solid"/>
          </a:ln>
        </p:spPr>
        <p:txBody>
          <a:bodyPr/>
          <a:p/>
        </p:txBody>
      </p:sp>
      <p:sp>
        <p:nvSpPr>
          <p:cNvPr id="26" name="Text 24"/>
          <p:cNvSpPr txBox="1"/>
          <p:nvPr/>
        </p:nvSpPr>
        <p:spPr>
          <a:xfrm>
            <a:off x="868680" y="4562856"/>
            <a:ext cx="6035040" cy="457200"/>
          </a:xfrm>
          <a:prstGeom prst="rect">
            <a:avLst/>
          </a:prstGeom>
          <a:noFill/>
        </p:spPr>
        <p:txBody>
          <a:bodyPr wrap="square" lIns="0" tIns="0" rIns="0" bIns="0" rtlCol="0" anchor="ctr"/>
          <a:lstStyle/>
          <a:p>
            <a:pPr marL="0" indent="0">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High rainfall + high river level</a:t>
            </a:r>
            <a:endParaRPr lang="en-US" sz="1300" dirty="0"/>
          </a:p>
        </p:txBody>
      </p:sp>
      <p:sp>
        <p:nvSpPr>
          <p:cNvPr id="27" name="Shape 25"/>
          <p:cNvSpPr/>
          <p:nvPr/>
        </p:nvSpPr>
        <p:spPr>
          <a:xfrm>
            <a:off x="8366760" y="4562856"/>
            <a:ext cx="3182112" cy="457200"/>
          </a:xfrm>
          <a:prstGeom prst="roundRect">
            <a:avLst>
              <a:gd name="adj" fmla="val 12000"/>
            </a:avLst>
          </a:prstGeom>
          <a:solidFill>
            <a:srgbClr val="E63946"/>
          </a:solidFill>
        </p:spPr>
        <p:txBody>
          <a:bodyPr/>
          <a:p/>
        </p:txBody>
      </p:sp>
      <p:sp>
        <p:nvSpPr>
          <p:cNvPr id="28" name="Text 26"/>
          <p:cNvSpPr txBox="1"/>
          <p:nvPr/>
        </p:nvSpPr>
        <p:spPr>
          <a:xfrm>
            <a:off x="8366760" y="4562856"/>
            <a:ext cx="3182112"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SEVERE RISK</a:t>
            </a:r>
            <a:endParaRPr lang="en-US" sz="1300" dirty="0"/>
          </a:p>
        </p:txBody>
      </p:sp>
      <p:sp>
        <p:nvSpPr>
          <p:cNvPr id="29" name="Shape 27"/>
          <p:cNvSpPr/>
          <p:nvPr/>
        </p:nvSpPr>
        <p:spPr>
          <a:xfrm>
            <a:off x="640080" y="5440680"/>
            <a:ext cx="10908792" cy="868680"/>
          </a:xfrm>
          <a:prstGeom prst="roundRect">
            <a:avLst>
              <a:gd name="adj" fmla="val 12632"/>
            </a:avLst>
          </a:prstGeom>
          <a:solidFill>
            <a:srgbClr val="0B2A4A"/>
          </a:solidFill>
          <a:effectLst>
            <a:outerShdw blurRad="101600" dist="38100" dir="5400000" algn="bl" rotWithShape="0">
              <a:srgbClr val="000000">
                <a:alpha val="25000"/>
              </a:srgbClr>
            </a:outerShdw>
          </a:effectLst>
        </p:spPr>
        <p:txBody>
          <a:bodyPr/>
          <a:p/>
        </p:txBody>
      </p:sp>
      <p:sp>
        <p:nvSpPr>
          <p:cNvPr id="30" name="Text 28"/>
          <p:cNvSpPr txBox="1"/>
          <p:nvPr/>
        </p:nvSpPr>
        <p:spPr>
          <a:xfrm>
            <a:off x="914400" y="5440680"/>
            <a:ext cx="10360152" cy="868680"/>
          </a:xfrm>
          <a:prstGeom prst="rect">
            <a:avLst/>
          </a:prstGeom>
          <a:noFill/>
        </p:spPr>
        <p:txBody>
          <a:bodyPr wrap="square" lIns="0" tIns="0" rIns="0" bIns="0" rtlCol="0" anchor="ctr"/>
          <a:lstStyle/>
          <a:p>
            <a:pPr marL="0" indent="0" algn="l">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If a new case looks similar to the Severe examples, what should the model predict?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YOUR FIRST PREDICTION</a:t>
            </a:r>
            <a:endParaRPr lang="en-US" sz="1200" dirty="0"/>
          </a:p>
        </p:txBody>
      </p:sp>
      <p:sp>
        <p:nvSpPr>
          <p:cNvPr id="3" name="Text 1"/>
          <p:cNvSpPr txBox="1"/>
          <p:nvPr/>
        </p:nvSpPr>
        <p:spPr>
          <a:xfrm>
            <a:off x="640080" y="731520"/>
            <a:ext cx="7315200" cy="54864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New Case Incoming...</a:t>
            </a:r>
            <a:endParaRPr lang="en-US" sz="2800" dirty="0"/>
          </a:p>
        </p:txBody>
      </p:sp>
      <p:sp>
        <p:nvSpPr>
          <p:cNvPr id="4" name="Shape 2"/>
          <p:cNvSpPr/>
          <p:nvPr/>
        </p:nvSpPr>
        <p:spPr>
          <a:xfrm>
            <a:off x="640080" y="1554480"/>
            <a:ext cx="5852160" cy="2926080"/>
          </a:xfrm>
          <a:prstGeom prst="roundRect">
            <a:avLst>
              <a:gd name="adj" fmla="val 4375"/>
            </a:avLst>
          </a:prstGeom>
          <a:solidFill>
            <a:srgbClr val="0F2843"/>
          </a:solidFill>
          <a:ln w="12700">
            <a:solidFill>
              <a:srgbClr val="16697A"/>
            </a:solidFill>
            <a:prstDash val="solid"/>
          </a:ln>
        </p:spPr>
        <p:txBody>
          <a:bodyPr/>
          <a:p/>
        </p:txBody>
      </p:sp>
      <p:sp>
        <p:nvSpPr>
          <p:cNvPr id="5" name="Text 3"/>
          <p:cNvSpPr txBox="1"/>
          <p:nvPr/>
        </p:nvSpPr>
        <p:spPr>
          <a:xfrm>
            <a:off x="960120" y="1783080"/>
            <a:ext cx="2926080" cy="457200"/>
          </a:xfrm>
          <a:prstGeom prst="rect">
            <a:avLst/>
          </a:prstGeom>
          <a:noFill/>
        </p:spPr>
        <p:txBody>
          <a:bodyPr wrap="square" lIns="0" tIns="0" rIns="0" bIns="0" rtlCol="0" anchor="ctr"/>
          <a:lstStyle/>
          <a:p>
            <a:pPr marL="0" indent="0">
              <a:buNone/>
            </a:pPr>
            <a:r>
              <a:rPr lang="en-US" sz="1600" dirty="0">
                <a:solidFill>
                  <a:srgbClr val="9FB3CC"/>
                </a:solidFill>
                <a:latin typeface="Calibri" panose="020F0502020204030204" pitchFamily="34" charset="0"/>
                <a:ea typeface="Calibri" panose="020F0502020204030204" pitchFamily="34" charset="-122"/>
                <a:cs typeface="Calibri" panose="020F0502020204030204" pitchFamily="34" charset="-120"/>
              </a:rPr>
              <a:t>Rainfall</a:t>
            </a:r>
            <a:endParaRPr lang="en-US" sz="1600" dirty="0"/>
          </a:p>
        </p:txBody>
      </p:sp>
      <p:sp>
        <p:nvSpPr>
          <p:cNvPr id="6" name="Text 4"/>
          <p:cNvSpPr txBox="1"/>
          <p:nvPr/>
        </p:nvSpPr>
        <p:spPr>
          <a:xfrm>
            <a:off x="3840480" y="1783080"/>
            <a:ext cx="2377440" cy="457200"/>
          </a:xfrm>
          <a:prstGeom prst="rect">
            <a:avLst/>
          </a:prstGeom>
          <a:noFill/>
        </p:spPr>
        <p:txBody>
          <a:bodyPr wrap="square" lIns="0" tIns="0" rIns="0" bIns="0" rtlCol="0" anchor="ctr"/>
          <a:lstStyle/>
          <a:p>
            <a:pPr marL="0" indent="0" algn="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88 mm</a:t>
            </a:r>
            <a:endParaRPr lang="en-US" sz="2200" dirty="0"/>
          </a:p>
        </p:txBody>
      </p:sp>
      <p:sp>
        <p:nvSpPr>
          <p:cNvPr id="7" name="Text 5"/>
          <p:cNvSpPr txBox="1"/>
          <p:nvPr/>
        </p:nvSpPr>
        <p:spPr>
          <a:xfrm>
            <a:off x="960120" y="2423160"/>
            <a:ext cx="2926080" cy="457200"/>
          </a:xfrm>
          <a:prstGeom prst="rect">
            <a:avLst/>
          </a:prstGeom>
          <a:noFill/>
        </p:spPr>
        <p:txBody>
          <a:bodyPr wrap="square" lIns="0" tIns="0" rIns="0" bIns="0" rtlCol="0" anchor="ctr"/>
          <a:lstStyle/>
          <a:p>
            <a:pPr marL="0" indent="0">
              <a:buNone/>
            </a:pPr>
            <a:r>
              <a:rPr lang="en-US" sz="1600" dirty="0">
                <a:solidFill>
                  <a:srgbClr val="9FB3CC"/>
                </a:solidFill>
                <a:latin typeface="Calibri" panose="020F0502020204030204" pitchFamily="34" charset="0"/>
                <a:ea typeface="Calibri" panose="020F0502020204030204" pitchFamily="34" charset="-122"/>
                <a:cs typeface="Calibri" panose="020F0502020204030204" pitchFamily="34" charset="-120"/>
              </a:rPr>
              <a:t>River Level</a:t>
            </a:r>
            <a:endParaRPr lang="en-US" sz="1600" dirty="0"/>
          </a:p>
        </p:txBody>
      </p:sp>
      <p:sp>
        <p:nvSpPr>
          <p:cNvPr id="8" name="Text 6"/>
          <p:cNvSpPr txBox="1"/>
          <p:nvPr/>
        </p:nvSpPr>
        <p:spPr>
          <a:xfrm>
            <a:off x="3840480" y="2423160"/>
            <a:ext cx="2377440" cy="457200"/>
          </a:xfrm>
          <a:prstGeom prst="rect">
            <a:avLst/>
          </a:prstGeom>
          <a:noFill/>
        </p:spPr>
        <p:txBody>
          <a:bodyPr wrap="square" lIns="0" tIns="0" rIns="0" bIns="0" rtlCol="0" anchor="ctr"/>
          <a:lstStyle/>
          <a:p>
            <a:pPr marL="0" indent="0" algn="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4.5 m</a:t>
            </a:r>
            <a:endParaRPr lang="en-US" sz="2200" dirty="0"/>
          </a:p>
        </p:txBody>
      </p:sp>
      <p:sp>
        <p:nvSpPr>
          <p:cNvPr id="9" name="Text 7"/>
          <p:cNvSpPr txBox="1"/>
          <p:nvPr/>
        </p:nvSpPr>
        <p:spPr>
          <a:xfrm>
            <a:off x="960120" y="3063240"/>
            <a:ext cx="2926080" cy="457200"/>
          </a:xfrm>
          <a:prstGeom prst="rect">
            <a:avLst/>
          </a:prstGeom>
          <a:noFill/>
        </p:spPr>
        <p:txBody>
          <a:bodyPr wrap="square" lIns="0" tIns="0" rIns="0" bIns="0" rtlCol="0" anchor="ctr"/>
          <a:lstStyle/>
          <a:p>
            <a:pPr marL="0" indent="0">
              <a:buNone/>
            </a:pPr>
            <a:r>
              <a:rPr lang="en-US" sz="1600" dirty="0">
                <a:solidFill>
                  <a:srgbClr val="9FB3CC"/>
                </a:solidFill>
                <a:latin typeface="Calibri" panose="020F0502020204030204" pitchFamily="34" charset="0"/>
                <a:ea typeface="Calibri" panose="020F0502020204030204" pitchFamily="34" charset="-122"/>
                <a:cs typeface="Calibri" panose="020F0502020204030204" pitchFamily="34" charset="-120"/>
              </a:rPr>
              <a:t>Emergency Calls</a:t>
            </a:r>
            <a:endParaRPr lang="en-US" sz="1600" dirty="0"/>
          </a:p>
        </p:txBody>
      </p:sp>
      <p:sp>
        <p:nvSpPr>
          <p:cNvPr id="10" name="Text 8"/>
          <p:cNvSpPr txBox="1"/>
          <p:nvPr/>
        </p:nvSpPr>
        <p:spPr>
          <a:xfrm>
            <a:off x="3840480" y="3063240"/>
            <a:ext cx="2377440" cy="457200"/>
          </a:xfrm>
          <a:prstGeom prst="rect">
            <a:avLst/>
          </a:prstGeom>
          <a:noFill/>
        </p:spPr>
        <p:txBody>
          <a:bodyPr wrap="square" lIns="0" tIns="0" rIns="0" bIns="0" rtlCol="0" anchor="ctr"/>
          <a:lstStyle/>
          <a:p>
            <a:pPr marL="0" indent="0" algn="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35</a:t>
            </a:r>
            <a:endParaRPr lang="en-US" sz="2200" dirty="0"/>
          </a:p>
        </p:txBody>
      </p:sp>
      <p:sp>
        <p:nvSpPr>
          <p:cNvPr id="11" name="Shape 9"/>
          <p:cNvSpPr/>
          <p:nvPr/>
        </p:nvSpPr>
        <p:spPr>
          <a:xfrm>
            <a:off x="960120" y="3749040"/>
            <a:ext cx="5257800" cy="0"/>
          </a:xfrm>
          <a:prstGeom prst="line">
            <a:avLst/>
          </a:prstGeom>
          <a:noFill/>
          <a:ln w="12700">
            <a:solidFill>
              <a:srgbClr val="16697A"/>
            </a:solidFill>
            <a:prstDash val="solid"/>
          </a:ln>
        </p:spPr>
        <p:txBody>
          <a:bodyPr/>
          <a:p/>
        </p:txBody>
      </p:sp>
      <p:sp>
        <p:nvSpPr>
          <p:cNvPr id="12" name="Text 10"/>
          <p:cNvSpPr txBox="1"/>
          <p:nvPr/>
        </p:nvSpPr>
        <p:spPr>
          <a:xfrm>
            <a:off x="640080" y="3794760"/>
            <a:ext cx="5852160" cy="548640"/>
          </a:xfrm>
          <a:prstGeom prst="rect">
            <a:avLst/>
          </a:prstGeom>
          <a:noFill/>
        </p:spPr>
        <p:txBody>
          <a:bodyPr wrap="square" lIns="0" tIns="0" rIns="0" bIns="0" rtlCol="0" anchor="ctr"/>
          <a:lstStyle/>
          <a:p>
            <a:pPr marL="0" indent="0" algn="ctr">
              <a:buNone/>
            </a:pPr>
            <a:r>
              <a:rPr lang="en-US" sz="2600" b="1" dirty="0">
                <a:solidFill>
                  <a:srgbClr val="FFB627"/>
                </a:solidFill>
                <a:latin typeface="Cambria" panose="02040503050406030204" pitchFamily="34" charset="0"/>
                <a:ea typeface="Cambria" panose="02040503050406030204" pitchFamily="34" charset="-122"/>
                <a:cs typeface="Cambria" panose="02040503050406030204" pitchFamily="34" charset="-120"/>
              </a:rPr>
              <a:t>RISK = ???</a:t>
            </a:r>
            <a:endParaRPr lang="en-US" sz="2600" dirty="0"/>
          </a:p>
        </p:txBody>
      </p:sp>
      <p:sp>
        <p:nvSpPr>
          <p:cNvPr id="13" name="Shape 11"/>
          <p:cNvSpPr/>
          <p:nvPr/>
        </p:nvSpPr>
        <p:spPr>
          <a:xfrm>
            <a:off x="6766560" y="1554480"/>
            <a:ext cx="4782312" cy="2926080"/>
          </a:xfrm>
          <a:prstGeom prst="roundRect">
            <a:avLst>
              <a:gd name="adj" fmla="val 4375"/>
            </a:avLst>
          </a:prstGeom>
          <a:solidFill>
            <a:srgbClr val="E63946"/>
          </a:solidFill>
        </p:spPr>
        <p:txBody>
          <a:bodyPr/>
          <a:p/>
        </p:txBody>
      </p:sp>
      <p:sp>
        <p:nvSpPr>
          <p:cNvPr id="14" name="Text 12"/>
          <p:cNvSpPr txBox="1"/>
          <p:nvPr/>
        </p:nvSpPr>
        <p:spPr>
          <a:xfrm>
            <a:off x="7040880" y="1783080"/>
            <a:ext cx="4297680" cy="822960"/>
          </a:xfrm>
          <a:prstGeom prst="rect">
            <a:avLst/>
          </a:prstGeom>
          <a:noFill/>
        </p:spPr>
        <p:txBody>
          <a:bodyPr wrap="square" lIns="0" tIns="0" rIns="0" bIns="0" rtlCol="0" anchor="ctr"/>
          <a:lstStyle/>
          <a:p>
            <a:pPr marL="0" indent="0">
              <a:buNone/>
            </a:pPr>
            <a:r>
              <a:rPr lang="en-US" sz="1500" dirty="0">
                <a:solidFill>
                  <a:srgbClr val="FFE3E4"/>
                </a:solidFill>
                <a:latin typeface="Calibri" panose="020F0502020204030204" pitchFamily="34" charset="0"/>
                <a:ea typeface="Calibri" panose="020F0502020204030204" pitchFamily="34" charset="-122"/>
                <a:cs typeface="Calibri" panose="020F0502020204030204" pitchFamily="34" charset="-120"/>
              </a:rPr>
              <a:t>Based on past examples,</a:t>
            </a:r>
            <a:endParaRPr lang="en-US" sz="1500" dirty="0"/>
          </a:p>
          <a:p>
            <a:pPr marL="0" indent="0">
              <a:buNone/>
            </a:pPr>
            <a:r>
              <a:rPr lang="en-US" sz="1500" dirty="0">
                <a:solidFill>
                  <a:srgbClr val="FFE3E4"/>
                </a:solidFill>
                <a:latin typeface="Calibri" panose="020F0502020204030204" pitchFamily="34" charset="0"/>
                <a:ea typeface="Calibri" panose="020F0502020204030204" pitchFamily="34" charset="-122"/>
                <a:cs typeface="Calibri" panose="020F0502020204030204" pitchFamily="34" charset="-120"/>
              </a:rPr>
              <a:t>we predict:</a:t>
            </a:r>
            <a:endParaRPr lang="en-US" sz="1500" dirty="0"/>
          </a:p>
        </p:txBody>
      </p:sp>
      <p:sp>
        <p:nvSpPr>
          <p:cNvPr id="15" name="Text 13"/>
          <p:cNvSpPr txBox="1"/>
          <p:nvPr/>
        </p:nvSpPr>
        <p:spPr>
          <a:xfrm>
            <a:off x="7040880" y="2514600"/>
            <a:ext cx="4297680" cy="1371600"/>
          </a:xfrm>
          <a:prstGeom prst="rect">
            <a:avLst/>
          </a:prstGeom>
          <a:noFill/>
        </p:spPr>
        <p:txBody>
          <a:bodyPr wrap="square" lIns="0" tIns="0" rIns="0" bIns="0" rtlCol="0" anchor="ctr"/>
          <a:lstStyle/>
          <a:p>
            <a:pPr marL="0" indent="0" algn="ctr">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 SEVERE</a:t>
            </a:r>
            <a:endParaRPr lang="en-US" sz="3800" dirty="0"/>
          </a:p>
        </p:txBody>
      </p:sp>
      <p:sp>
        <p:nvSpPr>
          <p:cNvPr id="16" name="Shape 14"/>
          <p:cNvSpPr/>
          <p:nvPr/>
        </p:nvSpPr>
        <p:spPr>
          <a:xfrm>
            <a:off x="640080" y="4754880"/>
            <a:ext cx="10908792" cy="1234440"/>
          </a:xfrm>
          <a:prstGeom prst="roundRect">
            <a:avLst>
              <a:gd name="adj" fmla="val 8889"/>
            </a:avLst>
          </a:prstGeom>
          <a:solidFill>
            <a:srgbClr val="0F2843"/>
          </a:solidFill>
          <a:effectLst>
            <a:outerShdw blurRad="101600" dist="38100" dir="5400000" algn="bl" rotWithShape="0">
              <a:srgbClr val="000000">
                <a:alpha val="25000"/>
              </a:srgbClr>
            </a:outerShdw>
          </a:effectLst>
        </p:spPr>
        <p:txBody>
          <a:bodyPr/>
          <a:p/>
        </p:txBody>
      </p:sp>
      <p:sp>
        <p:nvSpPr>
          <p:cNvPr id="17" name="Text 15"/>
          <p:cNvSpPr txBox="1"/>
          <p:nvPr/>
        </p:nvSpPr>
        <p:spPr>
          <a:xfrm>
            <a:off x="914400" y="4754880"/>
            <a:ext cx="10360152" cy="1234440"/>
          </a:xfrm>
          <a:prstGeom prst="rect">
            <a:avLst/>
          </a:prstGeom>
          <a:noFill/>
        </p:spPr>
        <p:txBody>
          <a:bodyPr wrap="square" lIns="0" tIns="0" rIns="0" bIns="0" rtlCol="0" anchor="ctr"/>
          <a:lstStyle/>
          <a:p>
            <a:pPr marL="0" indent="0" algn="l">
              <a:buNone/>
            </a:pPr>
            <a:r>
              <a:rPr lang="en-US" sz="18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You just performed the basic idea of Machine Learning:</a:t>
            </a:r>
            <a:endParaRPr lang="en-US" sz="1800" dirty="0"/>
          </a:p>
          <a:p>
            <a:pPr marL="0" indent="0" algn="l">
              <a:buNone/>
            </a:pPr>
            <a:r>
              <a:rPr lang="en-US" sz="18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Learn from past examples → Predict a new example.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058400" cy="54864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Types of Machine Learning</a:t>
            </a:r>
            <a:endParaRPr lang="en-US" sz="24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Three different ways a model can learn — before we pick one for our flood project</a:t>
            </a:r>
            <a:endParaRPr lang="en-US" sz="1400" dirty="0"/>
          </a:p>
        </p:txBody>
      </p:sp>
      <p:sp>
        <p:nvSpPr>
          <p:cNvPr id="26" name="Shape 24"/>
          <p:cNvSpPr/>
          <p:nvPr/>
        </p:nvSpPr>
        <p:spPr>
          <a:xfrm>
            <a:off x="640080" y="5349240"/>
            <a:ext cx="10908792" cy="731520"/>
          </a:xfrm>
          <a:prstGeom prst="roundRect">
            <a:avLst>
              <a:gd name="adj" fmla="val 15000"/>
            </a:avLst>
          </a:prstGeom>
          <a:solidFill>
            <a:srgbClr val="FFB627"/>
          </a:solidFill>
        </p:spPr>
        <p:txBody>
          <a:bodyPr/>
          <a:p/>
        </p:txBody>
      </p:sp>
      <p:sp>
        <p:nvSpPr>
          <p:cNvPr id="27" name="Text 25"/>
          <p:cNvSpPr txBox="1"/>
          <p:nvPr/>
        </p:nvSpPr>
        <p:spPr>
          <a:xfrm>
            <a:off x="822960" y="5349240"/>
            <a:ext cx="10543032" cy="731520"/>
          </a:xfrm>
          <a:prstGeom prst="rect">
            <a:avLst/>
          </a:prstGeom>
          <a:noFill/>
        </p:spPr>
        <p:txBody>
          <a:bodyPr wrap="square" lIns="0" tIns="0" rIns="0" bIns="0" rtlCol="0" anchor="ctr"/>
          <a:lstStyle/>
          <a:p>
            <a:pPr marL="0" indent="0" algn="ctr">
              <a:buNone/>
            </a:pPr>
            <a:r>
              <a:rPr lang="en-US" sz="1600" b="1" dirty="0">
                <a:solidFill>
                  <a:srgbClr val="081527"/>
                </a:solidFill>
                <a:latin typeface="Cambria" panose="02040503050406030204" pitchFamily="34" charset="0"/>
                <a:ea typeface="Cambria" panose="02040503050406030204" pitchFamily="34" charset="-122"/>
                <a:cs typeface="Cambria" panose="02040503050406030204" pitchFamily="34" charset="-120"/>
              </a:rPr>
              <a:t>Our flood project uses Supervised Learning — because we already know past flood outcomes.</a:t>
            </a:r>
            <a:endParaRPr lang="en-US" sz="1600" dirty="0"/>
          </a:p>
        </p:txBody>
      </p:sp>
      <p:graphicFrame>
        <p:nvGraphicFramePr>
          <p:cNvPr id="28" name="Table 27"/>
          <p:cNvGraphicFramePr>
            <a:graphicFrameLocks noGrp="1"/>
          </p:cNvGraphicFramePr>
          <p:nvPr/>
        </p:nvGraphicFramePr>
        <p:xfrm>
          <a:off x="640080" y="1691640"/>
          <a:ext cx="10908792" cy="3383280"/>
        </p:xfrm>
        <a:graphic>
          <a:graphicData uri="http://schemas.openxmlformats.org/drawingml/2006/table">
            <a:tbl>
              <a:tblPr>
                <a:tableStyleId>{5C22544A-7EE6-4342-B048-85BDC9FD1C3A}</a:tableStyleId>
              </a:tblPr>
              <a:tblGrid>
                <a:gridCol w="2200000"/>
                <a:gridCol w="2902931"/>
                <a:gridCol w="2902931"/>
                <a:gridCol w="2902930"/>
              </a:tblGrid>
              <a:tr h="500000">
                <a:tc>
                  <a:txBody>
                    <a:bodyPr wrap="square"/>
                    <a:lstStyle/>
                    <a:p>
                      <a:pPr algn="l"/>
                      <a:endParaRPr sz="1300" b="1">
                        <a:solidFill>
                          <a:srgbClr val="FFFFFF"/>
                        </a:solidFill>
                        <a:latin typeface="Cambria" panose="02040503050406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0F3D5C"/>
                    </a:solidFill>
                  </a:tcPr>
                </a:tc>
                <a:tc>
                  <a:txBody>
                    <a:bodyPr wrap="square"/>
                    <a:lstStyle/>
                    <a:p>
                      <a:pPr algn="ctr"/>
                      <a:r>
                        <a:rPr sz="1300" b="1">
                          <a:solidFill>
                            <a:srgbClr val="FFFFFF"/>
                          </a:solidFill>
                          <a:latin typeface="Cambria" panose="02040503050406030204"/>
                        </a:rPr>
                        <a:t>SUPERVISED</a:t>
                      </a:r>
                      <a:endParaRPr sz="1300" b="1">
                        <a:solidFill>
                          <a:srgbClr val="FFFFFF"/>
                        </a:solidFill>
                        <a:latin typeface="Cambria" panose="02040503050406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0F3D5C"/>
                    </a:solidFill>
                  </a:tcPr>
                </a:tc>
                <a:tc>
                  <a:txBody>
                    <a:bodyPr wrap="square"/>
                    <a:lstStyle/>
                    <a:p>
                      <a:pPr algn="ctr"/>
                      <a:r>
                        <a:rPr sz="1300" b="1">
                          <a:solidFill>
                            <a:srgbClr val="FFFFFF"/>
                          </a:solidFill>
                          <a:latin typeface="Cambria" panose="02040503050406030204"/>
                        </a:rPr>
                        <a:t>UNSUPERVISED</a:t>
                      </a:r>
                      <a:endParaRPr sz="1300" b="1">
                        <a:solidFill>
                          <a:srgbClr val="FFFFFF"/>
                        </a:solidFill>
                        <a:latin typeface="Cambria" panose="02040503050406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2A9D8F"/>
                    </a:solidFill>
                  </a:tcPr>
                </a:tc>
                <a:tc>
                  <a:txBody>
                    <a:bodyPr wrap="square"/>
                    <a:lstStyle/>
                    <a:p>
                      <a:pPr algn="ctr"/>
                      <a:r>
                        <a:rPr sz="1300" b="1">
                          <a:solidFill>
                            <a:srgbClr val="FFFFFF"/>
                          </a:solidFill>
                          <a:latin typeface="Cambria" panose="02040503050406030204"/>
                        </a:rPr>
                        <a:t>REINFORCEMENT</a:t>
                      </a:r>
                      <a:endParaRPr sz="1300" b="1">
                        <a:solidFill>
                          <a:srgbClr val="FFFFFF"/>
                        </a:solidFill>
                        <a:latin typeface="Cambria" panose="02040503050406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E63946"/>
                    </a:solidFill>
                  </a:tcPr>
                </a:tc>
              </a:tr>
              <a:tr h="750000">
                <a:tc>
                  <a:txBody>
                    <a:bodyPr wrap="square"/>
                    <a:lstStyle/>
                    <a:p>
                      <a:pPr algn="l"/>
                      <a:r>
                        <a:rPr sz="1200" b="1">
                          <a:solidFill>
                            <a:srgbClr val="17263B"/>
                          </a:solidFill>
                          <a:latin typeface="Calibri" panose="020F0502020204030204"/>
                        </a:rPr>
                        <a:t>Data given</a:t>
                      </a:r>
                      <a:endParaRPr sz="1200" b="1">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5F8FB"/>
                    </a:solidFill>
                  </a:tcPr>
                </a:tc>
                <a:tc>
                  <a:txBody>
                    <a:bodyPr wrap="square"/>
                    <a:lstStyle/>
                    <a:p>
                      <a:pPr algn="ctr"/>
                      <a:r>
                        <a:rPr sz="1150" b="0">
                          <a:solidFill>
                            <a:srgbClr val="17263B"/>
                          </a:solidFill>
                          <a:latin typeface="Calibri" panose="020F0502020204030204"/>
                        </a:rPr>
                        <a:t>Has correct answers</a:t>
                      </a:r>
                      <a:endParaRPr sz="1150" b="0">
                        <a:solidFill>
                          <a:srgbClr val="17263B"/>
                        </a:solidFill>
                        <a:latin typeface="Calibri" panose="020F0502020204030204"/>
                      </a:endParaRPr>
                    </a:p>
                    <a:p>
                      <a:pPr algn="ctr"/>
                      <a:r>
                        <a:rPr sz="1150" b="0">
                          <a:solidFill>
                            <a:srgbClr val="17263B"/>
                          </a:solidFill>
                          <a:latin typeface="Calibri" panose="020F0502020204030204"/>
                        </a:rPr>
                        <a:t>(flood risk labels)</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No labels —</a:t>
                      </a:r>
                      <a:endParaRPr sz="1150" b="0">
                        <a:solidFill>
                          <a:srgbClr val="17263B"/>
                        </a:solidFill>
                        <a:latin typeface="Calibri" panose="020F0502020204030204"/>
                      </a:endParaRPr>
                    </a:p>
                    <a:p>
                      <a:pPr algn="ctr"/>
                      <a:r>
                        <a:rPr sz="1150" b="0">
                          <a:solidFill>
                            <a:srgbClr val="17263B"/>
                          </a:solidFill>
                          <a:latin typeface="Calibri" panose="020F0502020204030204"/>
                        </a:rPr>
                        <a:t>raw data only</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No fixed answers —</a:t>
                      </a:r>
                      <a:endParaRPr sz="1150" b="0">
                        <a:solidFill>
                          <a:srgbClr val="17263B"/>
                        </a:solidFill>
                        <a:latin typeface="Calibri" panose="020F0502020204030204"/>
                      </a:endParaRPr>
                    </a:p>
                    <a:p>
                      <a:pPr algn="ctr"/>
                      <a:r>
                        <a:rPr sz="1150" b="0">
                          <a:solidFill>
                            <a:srgbClr val="17263B"/>
                          </a:solidFill>
                          <a:latin typeface="Calibri" panose="020F0502020204030204"/>
                        </a:rPr>
                        <a:t>learns from feedback</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r>
              <a:tr h="750000">
                <a:tc>
                  <a:txBody>
                    <a:bodyPr wrap="square"/>
                    <a:lstStyle/>
                    <a:p>
                      <a:pPr algn="l"/>
                      <a:r>
                        <a:rPr sz="1200" b="1">
                          <a:solidFill>
                            <a:srgbClr val="17263B"/>
                          </a:solidFill>
                          <a:latin typeface="Calibri" panose="020F0502020204030204"/>
                        </a:rPr>
                        <a:t>How it learns</a:t>
                      </a:r>
                      <a:endParaRPr sz="1200" b="1">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5F8FB"/>
                    </a:solidFill>
                  </a:tcPr>
                </a:tc>
                <a:tc>
                  <a:txBody>
                    <a:bodyPr wrap="square"/>
                    <a:lstStyle/>
                    <a:p>
                      <a:pPr algn="ctr"/>
                      <a:r>
                        <a:rPr sz="1150" b="0">
                          <a:solidFill>
                            <a:srgbClr val="17263B"/>
                          </a:solidFill>
                          <a:latin typeface="Calibri" panose="020F0502020204030204"/>
                        </a:rPr>
                        <a:t>Learns the relationship</a:t>
                      </a:r>
                      <a:endParaRPr sz="1150" b="0">
                        <a:solidFill>
                          <a:srgbClr val="17263B"/>
                        </a:solidFill>
                        <a:latin typeface="Calibri" panose="020F0502020204030204"/>
                      </a:endParaRPr>
                    </a:p>
                    <a:p>
                      <a:pPr algn="ctr"/>
                      <a:r>
                        <a:rPr sz="1150" b="0">
                          <a:solidFill>
                            <a:srgbClr val="17263B"/>
                          </a:solidFill>
                          <a:latin typeface="Calibri" panose="020F0502020204030204"/>
                        </a:rPr>
                        <a:t>between input &amp; output</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Groups similar things</a:t>
                      </a:r>
                      <a:endParaRPr sz="1150" b="0">
                        <a:solidFill>
                          <a:srgbClr val="17263B"/>
                        </a:solidFill>
                        <a:latin typeface="Calibri" panose="020F0502020204030204"/>
                      </a:endParaRPr>
                    </a:p>
                    <a:p>
                      <a:pPr algn="ctr"/>
                      <a:r>
                        <a:rPr sz="1150" b="0">
                          <a:solidFill>
                            <a:srgbClr val="17263B"/>
                          </a:solidFill>
                          <a:latin typeface="Calibri" panose="020F0502020204030204"/>
                        </a:rPr>
                        <a:t>on its own</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Trial &amp; error, guided by</a:t>
                      </a:r>
                      <a:endParaRPr sz="1150" b="0">
                        <a:solidFill>
                          <a:srgbClr val="17263B"/>
                        </a:solidFill>
                        <a:latin typeface="Calibri" panose="020F0502020204030204"/>
                      </a:endParaRPr>
                    </a:p>
                    <a:p>
                      <a:pPr algn="ctr"/>
                      <a:r>
                        <a:rPr sz="1150" b="0">
                          <a:solidFill>
                            <a:srgbClr val="17263B"/>
                          </a:solidFill>
                          <a:latin typeface="Calibri" panose="020F0502020204030204"/>
                        </a:rPr>
                        <a:t>rewards and penalties</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r>
              <a:tr h="750000">
                <a:tc>
                  <a:txBody>
                    <a:bodyPr wrap="square"/>
                    <a:lstStyle/>
                    <a:p>
                      <a:pPr algn="l"/>
                      <a:r>
                        <a:rPr sz="1200" b="1">
                          <a:solidFill>
                            <a:srgbClr val="17263B"/>
                          </a:solidFill>
                          <a:latin typeface="Calibri" panose="020F0502020204030204"/>
                        </a:rPr>
                        <a:t>Real flood example</a:t>
                      </a:r>
                      <a:endParaRPr sz="1200" b="1">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5F8FB"/>
                    </a:solidFill>
                  </a:tcPr>
                </a:tc>
                <a:tc>
                  <a:txBody>
                    <a:bodyPr wrap="square"/>
                    <a:lstStyle/>
                    <a:p>
                      <a:pPr algn="ctr"/>
                      <a:r>
                        <a:rPr sz="1150" b="0">
                          <a:solidFill>
                            <a:srgbClr val="17263B"/>
                          </a:solidFill>
                          <a:latin typeface="Calibri" panose="020F0502020204030204"/>
                        </a:rPr>
                        <a:t>Rainfall + river level →</a:t>
                      </a:r>
                      <a:endParaRPr sz="1150" b="0">
                        <a:solidFill>
                          <a:srgbClr val="17263B"/>
                        </a:solidFill>
                        <a:latin typeface="Calibri" panose="020F0502020204030204"/>
                      </a:endParaRPr>
                    </a:p>
                    <a:p>
                      <a:pPr algn="ctr"/>
                      <a:r>
                        <a:rPr sz="1150" b="0">
                          <a:solidFill>
                            <a:srgbClr val="17263B"/>
                          </a:solidFill>
                          <a:latin typeface="Calibri" panose="020F0502020204030204"/>
                        </a:rPr>
                        <a:t>Low / Moderate / Severe</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Grouping city zones by</a:t>
                      </a:r>
                      <a:endParaRPr sz="1150" b="0">
                        <a:solidFill>
                          <a:srgbClr val="17263B"/>
                        </a:solidFill>
                        <a:latin typeface="Calibri" panose="020F0502020204030204"/>
                      </a:endParaRPr>
                    </a:p>
                    <a:p>
                      <a:pPr algn="ctr"/>
                      <a:r>
                        <a:rPr sz="1150" b="0">
                          <a:solidFill>
                            <a:srgbClr val="17263B"/>
                          </a:solidFill>
                          <a:latin typeface="Calibri" panose="020F0502020204030204"/>
                        </a:rPr>
                        <a:t>rainfall + river patterns</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A rescue-drone route planner</a:t>
                      </a:r>
                      <a:endParaRPr sz="1150" b="0">
                        <a:solidFill>
                          <a:srgbClr val="17263B"/>
                        </a:solidFill>
                        <a:latin typeface="Calibri" panose="020F0502020204030204"/>
                      </a:endParaRPr>
                    </a:p>
                    <a:p>
                      <a:pPr algn="ctr"/>
                      <a:r>
                        <a:rPr sz="1150" b="0">
                          <a:solidFill>
                            <a:srgbClr val="17263B"/>
                          </a:solidFill>
                          <a:latin typeface="Calibri" panose="020F0502020204030204"/>
                        </a:rPr>
                        <a:t>improving with every mission</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r>
              <a:tr h="633280">
                <a:tc>
                  <a:txBody>
                    <a:bodyPr wrap="square"/>
                    <a:lstStyle/>
                    <a:p>
                      <a:pPr algn="l"/>
                      <a:r>
                        <a:rPr sz="1200" b="1">
                          <a:solidFill>
                            <a:srgbClr val="17263B"/>
                          </a:solidFill>
                          <a:latin typeface="Calibri" panose="020F0502020204030204"/>
                        </a:rPr>
                        <a:t>Used in our project</a:t>
                      </a:r>
                      <a:endParaRPr sz="1200" b="1">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5F8FB"/>
                    </a:solidFill>
                  </a:tcPr>
                </a:tc>
                <a:tc>
                  <a:txBody>
                    <a:bodyPr wrap="square"/>
                    <a:lstStyle/>
                    <a:p>
                      <a:pPr algn="ctr"/>
                      <a:r>
                        <a:rPr sz="1150" b="0">
                          <a:solidFill>
                            <a:srgbClr val="17263B"/>
                          </a:solidFill>
                          <a:latin typeface="Calibri" panose="020F0502020204030204"/>
                        </a:rPr>
                        <a:t>✅ Yes — our approach</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908792" cy="54864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Supervised vs Unsupervised Learning — Same Flood Data</a:t>
            </a:r>
            <a:endParaRPr lang="en-US" sz="22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The key difference: does the training data contain the correct answer?</a:t>
            </a:r>
            <a:endParaRPr lang="en-US" sz="1400" dirty="0"/>
          </a:p>
        </p:txBody>
      </p:sp>
      <p:sp>
        <p:nvSpPr>
          <p:cNvPr id="5" name="Shape 3"/>
          <p:cNvSpPr/>
          <p:nvPr/>
        </p:nvSpPr>
        <p:spPr>
          <a:xfrm>
            <a:off x="502920" y="1691640"/>
            <a:ext cx="5212080" cy="548640"/>
          </a:xfrm>
          <a:prstGeom prst="roundRect">
            <a:avLst>
              <a:gd name="adj" fmla="val 20000"/>
            </a:avLst>
          </a:prstGeom>
          <a:solidFill>
            <a:srgbClr val="0F3D5C"/>
          </a:solidFill>
        </p:spPr>
      </p:sp>
      <p:sp>
        <p:nvSpPr>
          <p:cNvPr id="6" name="Text 4"/>
          <p:cNvSpPr txBox="1"/>
          <p:nvPr/>
        </p:nvSpPr>
        <p:spPr>
          <a:xfrm>
            <a:off x="502920" y="1691640"/>
            <a:ext cx="521208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 SUPERVISED LEARNING</a:t>
            </a:r>
            <a:endParaRPr lang="en-US" sz="1600" dirty="0"/>
          </a:p>
        </p:txBody>
      </p:sp>
      <p:sp>
        <p:nvSpPr>
          <p:cNvPr id="7" name="Shape 5"/>
          <p:cNvSpPr/>
          <p:nvPr/>
        </p:nvSpPr>
        <p:spPr>
          <a:xfrm>
            <a:off x="6309360" y="1691640"/>
            <a:ext cx="5212080" cy="548640"/>
          </a:xfrm>
          <a:prstGeom prst="roundRect">
            <a:avLst>
              <a:gd name="adj" fmla="val 20000"/>
            </a:avLst>
          </a:prstGeom>
          <a:solidFill>
            <a:srgbClr val="2A9D8F"/>
          </a:solidFill>
        </p:spPr>
      </p:sp>
      <p:sp>
        <p:nvSpPr>
          <p:cNvPr id="8" name="Text 6"/>
          <p:cNvSpPr txBox="1"/>
          <p:nvPr/>
        </p:nvSpPr>
        <p:spPr>
          <a:xfrm>
            <a:off x="6309360" y="1691640"/>
            <a:ext cx="521208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  UNSUPERVISED LEARNING</a:t>
            </a:r>
            <a:endParaRPr lang="en-US" sz="1600" dirty="0"/>
          </a:p>
        </p:txBody>
      </p:sp>
      <p:graphicFrame>
        <p:nvGraphicFramePr>
          <p:cNvPr id="9" name="Table 0"/>
          <p:cNvGraphicFramePr>
            <a:graphicFrameLocks noGrp="1"/>
          </p:cNvGraphicFramePr>
          <p:nvPr/>
        </p:nvGraphicFramePr>
        <p:xfrm>
          <a:off x="502920" y="2377440"/>
          <a:ext cx="5212080" cy="1737360"/>
        </p:xfrm>
        <a:graphic>
          <a:graphicData uri="http://schemas.openxmlformats.org/drawingml/2006/table">
            <a:tbl>
              <a:tblPr/>
              <a:tblGrid>
                <a:gridCol w="1303020"/>
                <a:gridCol w="1303020"/>
                <a:gridCol w="1303020"/>
                <a:gridCol w="1303020"/>
              </a:tblGrid>
              <a:tr h="289560">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Zone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0F7"/>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Rainfall (mm)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0F7"/>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River (m)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0F7"/>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Risk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0F7"/>
                    </a:solidFill>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Low</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50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Moderate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Severe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Low</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78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Severe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bl>
          </a:graphicData>
        </a:graphic>
      </p:graphicFrame>
      <p:sp>
        <p:nvSpPr>
          <p:cNvPr id="10" name="Text 7"/>
          <p:cNvSpPr txBox="1"/>
          <p:nvPr/>
        </p:nvSpPr>
        <p:spPr>
          <a:xfrm>
            <a:off x="502920" y="4251960"/>
            <a:ext cx="5212080" cy="685800"/>
          </a:xfrm>
          <a:prstGeom prst="rect">
            <a:avLst/>
          </a:prstGeom>
          <a:noFill/>
        </p:spPr>
        <p:txBody>
          <a:bodyPr wrap="square" lIns="0" tIns="0" rIns="0" bIns="0" rtlCol="0" anchor="ctr"/>
          <a:lstStyle/>
          <a:p>
            <a:pPr marL="0" indent="0" algn="ctr">
              <a:buNone/>
            </a:pPr>
            <a:r>
              <a:rPr lang="en-US" sz="1400" b="1" dirty="0">
                <a:solidFill>
                  <a:srgbClr val="17263B"/>
                </a:solidFill>
                <a:latin typeface="Calibri" panose="020F0502020204030204" pitchFamily="34" charset="0"/>
                <a:ea typeface="Calibri" panose="020F0502020204030204" pitchFamily="34" charset="-122"/>
                <a:cs typeface="Calibri" panose="020F0502020204030204" pitchFamily="34" charset="-120"/>
              </a:rPr>
              <a:t>DATA + KNOWN ANSWER → MODEL LEARNS
</a:t>
            </a:r>
            <a:endParaRPr lang="en-US" sz="1400" dirty="0"/>
          </a:p>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Learns the relationship between rainfall/river data and flood risk.</a:t>
            </a:r>
            <a:endParaRPr lang="en-US" sz="1400" dirty="0"/>
          </a:p>
        </p:txBody>
      </p:sp>
      <p:sp>
        <p:nvSpPr>
          <p:cNvPr id="11" name="Shape 8"/>
          <p:cNvSpPr/>
          <p:nvPr/>
        </p:nvSpPr>
        <p:spPr>
          <a:xfrm>
            <a:off x="868680" y="5029200"/>
            <a:ext cx="4480560" cy="777240"/>
          </a:xfrm>
          <a:prstGeom prst="roundRect">
            <a:avLst>
              <a:gd name="adj" fmla="val 11765"/>
            </a:avLst>
          </a:prstGeom>
          <a:solidFill>
            <a:srgbClr val="0F3D5C"/>
          </a:solidFill>
        </p:spPr>
      </p:sp>
      <p:sp>
        <p:nvSpPr>
          <p:cNvPr id="12" name="Text 9"/>
          <p:cNvSpPr txBox="1"/>
          <p:nvPr/>
        </p:nvSpPr>
        <p:spPr>
          <a:xfrm>
            <a:off x="868680" y="5029200"/>
            <a:ext cx="4480560" cy="7772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NEW ZONE:  Rainfall 75mm  |  River 4.0m
</a:t>
            </a:r>
            <a:endParaRPr lang="en-US" sz="1200" dirty="0"/>
          </a:p>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Model predicts:  SEVERE RISK</a:t>
            </a:r>
            <a:endParaRPr lang="en-US" sz="1200" dirty="0"/>
          </a:p>
        </p:txBody>
      </p:sp>
      <p:graphicFrame>
        <p:nvGraphicFramePr>
          <p:cNvPr id="13" name="Table 1"/>
          <p:cNvGraphicFramePr>
            <a:graphicFrameLocks noGrp="1"/>
          </p:cNvGraphicFramePr>
          <p:nvPr/>
        </p:nvGraphicFramePr>
        <p:xfrm>
          <a:off x="6858000" y="2377440"/>
          <a:ext cx="4114800" cy="1737360"/>
        </p:xfrm>
        <a:graphic>
          <a:graphicData uri="http://schemas.openxmlformats.org/drawingml/2006/table">
            <a:tbl>
              <a:tblPr/>
              <a:tblGrid>
                <a:gridCol w="1371600"/>
                <a:gridCol w="1371600"/>
                <a:gridCol w="1371600"/>
              </a:tblGrid>
              <a:tr h="289560">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Zone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7F5F3"/>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Rainfall (mm)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7F5F3"/>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River (m)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7F5F3"/>
                    </a:solidFill>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85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bl>
          </a:graphicData>
        </a:graphic>
      </p:graphicFrame>
      <p:sp>
        <p:nvSpPr>
          <p:cNvPr id="14" name="Text 10"/>
          <p:cNvSpPr txBox="1"/>
          <p:nvPr/>
        </p:nvSpPr>
        <p:spPr>
          <a:xfrm>
            <a:off x="6309360" y="4251960"/>
            <a:ext cx="5212080" cy="594360"/>
          </a:xfrm>
          <a:prstGeom prst="rect">
            <a:avLst/>
          </a:prstGeom>
          <a:noFill/>
        </p:spPr>
        <p:txBody>
          <a:bodyPr wrap="square" lIns="0" tIns="0" rIns="0" bIns="0" rtlCol="0" anchor="ctr"/>
          <a:lstStyle/>
          <a:p>
            <a:pPr marL="0" indent="0" algn="ctr">
              <a:buNone/>
            </a:pPr>
            <a:r>
              <a:rPr lang="en-US" sz="1400" b="1" dirty="0">
                <a:solidFill>
                  <a:srgbClr val="17263B"/>
                </a:solidFill>
                <a:latin typeface="Calibri" panose="020F0502020204030204" pitchFamily="34" charset="0"/>
                <a:ea typeface="Calibri" panose="020F0502020204030204" pitchFamily="34" charset="-122"/>
                <a:cs typeface="Calibri" panose="020F0502020204030204" pitchFamily="34" charset="-120"/>
              </a:rPr>
              <a:t>DATA ONLY → MODEL FINDS SIMILARITY
</a:t>
            </a:r>
            <a:endParaRPr lang="en-US" sz="1400" dirty="0"/>
          </a:p>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No risk labels are given.</a:t>
            </a:r>
            <a:endParaRPr lang="en-US" sz="1400" dirty="0"/>
          </a:p>
        </p:txBody>
      </p:sp>
      <p:sp>
        <p:nvSpPr>
          <p:cNvPr id="15" name="Shape 11"/>
          <p:cNvSpPr/>
          <p:nvPr/>
        </p:nvSpPr>
        <p:spPr>
          <a:xfrm>
            <a:off x="6446520" y="4937760"/>
            <a:ext cx="2286000" cy="777240"/>
          </a:xfrm>
          <a:prstGeom prst="roundRect">
            <a:avLst>
              <a:gd name="adj" fmla="val 11765"/>
            </a:avLst>
          </a:prstGeom>
          <a:solidFill>
            <a:srgbClr val="2A9D8F"/>
          </a:solidFill>
        </p:spPr>
      </p:sp>
      <p:sp>
        <p:nvSpPr>
          <p:cNvPr id="16" name="Text 12"/>
          <p:cNvSpPr txBox="1"/>
          <p:nvPr/>
        </p:nvSpPr>
        <p:spPr>
          <a:xfrm>
            <a:off x="6446520" y="4937760"/>
            <a:ext cx="2286000" cy="77724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GROUP 1
</a:t>
            </a:r>
            <a:endParaRPr lang="en-US" sz="13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Z1, Z2, Z5</a:t>
            </a:r>
            <a:endParaRPr lang="en-US" sz="1300" dirty="0"/>
          </a:p>
        </p:txBody>
      </p:sp>
      <p:sp>
        <p:nvSpPr>
          <p:cNvPr id="17" name="Shape 13"/>
          <p:cNvSpPr/>
          <p:nvPr/>
        </p:nvSpPr>
        <p:spPr>
          <a:xfrm>
            <a:off x="9098280" y="4937760"/>
            <a:ext cx="2286000" cy="777240"/>
          </a:xfrm>
          <a:prstGeom prst="roundRect">
            <a:avLst>
              <a:gd name="adj" fmla="val 11765"/>
            </a:avLst>
          </a:prstGeom>
          <a:solidFill>
            <a:srgbClr val="2A9D8F"/>
          </a:solidFill>
        </p:spPr>
      </p:sp>
      <p:sp>
        <p:nvSpPr>
          <p:cNvPr id="18" name="Text 14"/>
          <p:cNvSpPr txBox="1"/>
          <p:nvPr/>
        </p:nvSpPr>
        <p:spPr>
          <a:xfrm>
            <a:off x="9098280" y="4937760"/>
            <a:ext cx="2286000" cy="77724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GROUP 2
</a:t>
            </a:r>
            <a:endParaRPr lang="en-US" sz="13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Z3, Z4</a:t>
            </a:r>
            <a:endParaRPr lang="en-US" sz="1300" dirty="0"/>
          </a:p>
        </p:txBody>
      </p:sp>
      <p:sp>
        <p:nvSpPr>
          <p:cNvPr id="19" name="Text 15"/>
          <p:cNvSpPr txBox="1"/>
          <p:nvPr/>
        </p:nvSpPr>
        <p:spPr>
          <a:xfrm>
            <a:off x="502920" y="6108192"/>
            <a:ext cx="11183112" cy="320040"/>
          </a:xfrm>
          <a:prstGeom prst="rect">
            <a:avLst/>
          </a:prstGeom>
          <a:noFill/>
        </p:spPr>
        <p:txBody>
          <a:bodyPr wrap="square" lIns="0" tIns="0" rIns="0" bIns="0" rtlCol="0" anchor="ct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SUPERVISED = LEARN FROM KNOWN ANSWERS   |   UNSUPERVISED = DISCOVER HIDDEN GROUPS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9144000" cy="54864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Do We Already Know the Right Answers?</a:t>
            </a:r>
            <a:endParaRPr lang="en-US" sz="2400" dirty="0"/>
          </a:p>
        </p:txBody>
      </p:sp>
      <p:sp>
        <p:nvSpPr>
          <p:cNvPr id="4" name="Shape 2"/>
          <p:cNvSpPr/>
          <p:nvPr/>
        </p:nvSpPr>
        <p:spPr>
          <a:xfrm>
            <a:off x="640080" y="1371600"/>
            <a:ext cx="5212080" cy="1828800"/>
          </a:xfrm>
          <a:prstGeom prst="roundRect">
            <a:avLst>
              <a:gd name="adj" fmla="val 4000"/>
            </a:avLst>
          </a:prstGeom>
          <a:solidFill>
            <a:srgbClr val="FFFFFF"/>
          </a:solidFill>
          <a:ln w="12700">
            <a:solidFill>
              <a:srgbClr val="E3E9F2"/>
            </a:solidFill>
            <a:prstDash val="solid"/>
          </a:ln>
        </p:spPr>
        <p:txBody>
          <a:bodyPr/>
          <a:p/>
        </p:txBody>
      </p:sp>
      <p:sp>
        <p:nvSpPr>
          <p:cNvPr id="5" name="Text 3"/>
          <p:cNvSpPr txBox="1"/>
          <p:nvPr/>
        </p:nvSpPr>
        <p:spPr>
          <a:xfrm>
            <a:off x="640080" y="1371600"/>
            <a:ext cx="1303020" cy="45720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Rainfall</a:t>
            </a:r>
            <a:endParaRPr lang="en-US" sz="1200" dirty="0"/>
          </a:p>
        </p:txBody>
      </p:sp>
      <p:sp>
        <p:nvSpPr>
          <p:cNvPr id="6" name="Text 4"/>
          <p:cNvSpPr txBox="1"/>
          <p:nvPr/>
        </p:nvSpPr>
        <p:spPr>
          <a:xfrm>
            <a:off x="1943100" y="1371600"/>
            <a:ext cx="1303020" cy="45720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River Level</a:t>
            </a:r>
            <a:endParaRPr lang="en-US" sz="1200" dirty="0"/>
          </a:p>
        </p:txBody>
      </p:sp>
      <p:sp>
        <p:nvSpPr>
          <p:cNvPr id="7" name="Text 5"/>
          <p:cNvSpPr txBox="1"/>
          <p:nvPr/>
        </p:nvSpPr>
        <p:spPr>
          <a:xfrm>
            <a:off x="3246120" y="1371600"/>
            <a:ext cx="1303020" cy="45720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Calls</a:t>
            </a:r>
            <a:endParaRPr lang="en-US" sz="1200" dirty="0"/>
          </a:p>
        </p:txBody>
      </p:sp>
      <p:sp>
        <p:nvSpPr>
          <p:cNvPr id="8" name="Text 6"/>
          <p:cNvSpPr txBox="1"/>
          <p:nvPr/>
        </p:nvSpPr>
        <p:spPr>
          <a:xfrm>
            <a:off x="4549140" y="1371600"/>
            <a:ext cx="1303020" cy="45720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Risk</a:t>
            </a:r>
            <a:endParaRPr lang="en-US" sz="1200" dirty="0"/>
          </a:p>
        </p:txBody>
      </p:sp>
      <p:sp>
        <p:nvSpPr>
          <p:cNvPr id="9" name="Text 7"/>
          <p:cNvSpPr txBox="1"/>
          <p:nvPr/>
        </p:nvSpPr>
        <p:spPr>
          <a:xfrm>
            <a:off x="640080" y="18288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20</a:t>
            </a:r>
            <a:endParaRPr lang="en-US" sz="1300" dirty="0"/>
          </a:p>
        </p:txBody>
      </p:sp>
      <p:sp>
        <p:nvSpPr>
          <p:cNvPr id="10" name="Text 8"/>
          <p:cNvSpPr txBox="1"/>
          <p:nvPr/>
        </p:nvSpPr>
        <p:spPr>
          <a:xfrm>
            <a:off x="1943100" y="18288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2.1</a:t>
            </a:r>
            <a:endParaRPr lang="en-US" sz="1300" dirty="0"/>
          </a:p>
        </p:txBody>
      </p:sp>
      <p:sp>
        <p:nvSpPr>
          <p:cNvPr id="11" name="Text 9"/>
          <p:cNvSpPr txBox="1"/>
          <p:nvPr/>
        </p:nvSpPr>
        <p:spPr>
          <a:xfrm>
            <a:off x="3246120" y="18288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12" name="Text 10"/>
          <p:cNvSpPr txBox="1"/>
          <p:nvPr/>
        </p:nvSpPr>
        <p:spPr>
          <a:xfrm>
            <a:off x="4549140" y="1828800"/>
            <a:ext cx="1303020" cy="457200"/>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Low</a:t>
            </a:r>
            <a:endParaRPr lang="en-US" sz="1300" dirty="0"/>
          </a:p>
        </p:txBody>
      </p:sp>
      <p:sp>
        <p:nvSpPr>
          <p:cNvPr id="13" name="Text 11"/>
          <p:cNvSpPr txBox="1"/>
          <p:nvPr/>
        </p:nvSpPr>
        <p:spPr>
          <a:xfrm>
            <a:off x="640080" y="22860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50</a:t>
            </a:r>
            <a:endParaRPr lang="en-US" sz="1300" dirty="0"/>
          </a:p>
        </p:txBody>
      </p:sp>
      <p:sp>
        <p:nvSpPr>
          <p:cNvPr id="14" name="Text 12"/>
          <p:cNvSpPr txBox="1"/>
          <p:nvPr/>
        </p:nvSpPr>
        <p:spPr>
          <a:xfrm>
            <a:off x="1943100" y="22860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3.2</a:t>
            </a:r>
            <a:endParaRPr lang="en-US" sz="1300" dirty="0"/>
          </a:p>
        </p:txBody>
      </p:sp>
      <p:sp>
        <p:nvSpPr>
          <p:cNvPr id="15" name="Text 13"/>
          <p:cNvSpPr txBox="1"/>
          <p:nvPr/>
        </p:nvSpPr>
        <p:spPr>
          <a:xfrm>
            <a:off x="3246120" y="22860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15</a:t>
            </a:r>
            <a:endParaRPr lang="en-US" sz="1300" dirty="0"/>
          </a:p>
        </p:txBody>
      </p:sp>
      <p:sp>
        <p:nvSpPr>
          <p:cNvPr id="16" name="Text 14"/>
          <p:cNvSpPr txBox="1"/>
          <p:nvPr/>
        </p:nvSpPr>
        <p:spPr>
          <a:xfrm>
            <a:off x="4549140" y="2286000"/>
            <a:ext cx="1303020" cy="457200"/>
          </a:xfrm>
          <a:prstGeom prst="rect">
            <a:avLst/>
          </a:prstGeom>
          <a:noFill/>
        </p:spPr>
        <p:txBody>
          <a:bodyPr wrap="square" lIns="0" tIns="0" rIns="0" bIns="0" rtlCol="0" anchor="ctr"/>
          <a:lstStyle/>
          <a:p>
            <a:pPr marL="0" indent="0" algn="ctr">
              <a:buNone/>
            </a:pPr>
            <a:r>
              <a:rPr lang="en-US" sz="1300" b="1" dirty="0">
                <a:solidFill>
                  <a:srgbClr val="F4A300"/>
                </a:solidFill>
                <a:latin typeface="Calibri" panose="020F0502020204030204" pitchFamily="34" charset="0"/>
                <a:ea typeface="Calibri" panose="020F0502020204030204" pitchFamily="34" charset="-122"/>
                <a:cs typeface="Calibri" panose="020F0502020204030204" pitchFamily="34" charset="-120"/>
              </a:rPr>
              <a:t>Moderate</a:t>
            </a:r>
            <a:endParaRPr lang="en-US" sz="1300" dirty="0"/>
          </a:p>
        </p:txBody>
      </p:sp>
      <p:sp>
        <p:nvSpPr>
          <p:cNvPr id="17" name="Text 15"/>
          <p:cNvSpPr txBox="1"/>
          <p:nvPr/>
        </p:nvSpPr>
        <p:spPr>
          <a:xfrm>
            <a:off x="640080" y="27432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300" dirty="0"/>
          </a:p>
        </p:txBody>
      </p:sp>
      <p:sp>
        <p:nvSpPr>
          <p:cNvPr id="18" name="Text 16"/>
          <p:cNvSpPr txBox="1"/>
          <p:nvPr/>
        </p:nvSpPr>
        <p:spPr>
          <a:xfrm>
            <a:off x="1943100" y="27432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300" dirty="0"/>
          </a:p>
        </p:txBody>
      </p:sp>
      <p:sp>
        <p:nvSpPr>
          <p:cNvPr id="19" name="Text 17"/>
          <p:cNvSpPr txBox="1"/>
          <p:nvPr/>
        </p:nvSpPr>
        <p:spPr>
          <a:xfrm>
            <a:off x="3246120" y="27432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38</a:t>
            </a:r>
            <a:endParaRPr lang="en-US" sz="1300" dirty="0"/>
          </a:p>
        </p:txBody>
      </p:sp>
      <p:sp>
        <p:nvSpPr>
          <p:cNvPr id="20" name="Text 18"/>
          <p:cNvSpPr txBox="1"/>
          <p:nvPr/>
        </p:nvSpPr>
        <p:spPr>
          <a:xfrm>
            <a:off x="4549140" y="2743200"/>
            <a:ext cx="1303020" cy="457200"/>
          </a:xfrm>
          <a:prstGeom prst="rect">
            <a:avLst/>
          </a:prstGeom>
          <a:noFill/>
        </p:spPr>
        <p:txBody>
          <a:bodyPr wrap="square" lIns="0" tIns="0" rIns="0" bIns="0" rtlCol="0" anchor="ctr"/>
          <a:lstStyle/>
          <a:p>
            <a:pPr marL="0" indent="0" algn="ctr">
              <a:buNone/>
            </a:pPr>
            <a:r>
              <a:rPr lang="en-US" sz="1300" b="1" dirty="0">
                <a:solidFill>
                  <a:srgbClr val="E63946"/>
                </a:solidFill>
                <a:latin typeface="Calibri" panose="020F0502020204030204" pitchFamily="34" charset="0"/>
                <a:ea typeface="Calibri" panose="020F0502020204030204" pitchFamily="34" charset="-122"/>
                <a:cs typeface="Calibri" panose="020F0502020204030204" pitchFamily="34" charset="-120"/>
              </a:rPr>
              <a:t>Severe</a:t>
            </a:r>
            <a:endParaRPr lang="en-US" sz="1300" dirty="0"/>
          </a:p>
        </p:txBody>
      </p:sp>
      <p:sp>
        <p:nvSpPr>
          <p:cNvPr id="21" name="Shape 19"/>
          <p:cNvSpPr/>
          <p:nvPr/>
        </p:nvSpPr>
        <p:spPr>
          <a:xfrm>
            <a:off x="6126480" y="1371600"/>
            <a:ext cx="5422392" cy="960120"/>
          </a:xfrm>
          <a:prstGeom prst="roundRect">
            <a:avLst>
              <a:gd name="adj" fmla="val 11429"/>
            </a:avLst>
          </a:prstGeom>
          <a:solidFill>
            <a:srgbClr val="0B2A4A"/>
          </a:solidFill>
          <a:effectLst>
            <a:outerShdw blurRad="101600" dist="38100" dir="5400000" algn="bl" rotWithShape="0">
              <a:srgbClr val="000000">
                <a:alpha val="25000"/>
              </a:srgbClr>
            </a:outerShdw>
          </a:effectLst>
        </p:spPr>
        <p:txBody>
          <a:bodyPr/>
          <a:p/>
        </p:txBody>
      </p:sp>
      <p:sp>
        <p:nvSpPr>
          <p:cNvPr id="22" name="Text 20"/>
          <p:cNvSpPr txBox="1"/>
          <p:nvPr/>
        </p:nvSpPr>
        <p:spPr>
          <a:xfrm>
            <a:off x="6400800" y="1371600"/>
            <a:ext cx="4873752" cy="960120"/>
          </a:xfrm>
          <a:prstGeom prst="rect">
            <a:avLst/>
          </a:prstGeom>
          <a:noFill/>
        </p:spPr>
        <p:txBody>
          <a:bodyPr wrap="square" lIns="0" tIns="0" rIns="0" bIns="0" rtlCol="0" anchor="ctr"/>
          <a:lstStyle/>
          <a:p>
            <a:pPr marL="0" indent="0" algn="l">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Do we already know the correct answers in our historical data?</a:t>
            </a:r>
            <a:endParaRPr lang="en-US" sz="1600" dirty="0"/>
          </a:p>
        </p:txBody>
      </p:sp>
      <p:sp>
        <p:nvSpPr>
          <p:cNvPr id="23" name="Text 21"/>
          <p:cNvSpPr txBox="1"/>
          <p:nvPr/>
        </p:nvSpPr>
        <p:spPr>
          <a:xfrm>
            <a:off x="6126480" y="2423160"/>
            <a:ext cx="5422392" cy="457200"/>
          </a:xfrm>
          <a:prstGeom prst="rect">
            <a:avLst/>
          </a:prstGeom>
          <a:noFill/>
        </p:spPr>
        <p:txBody>
          <a:bodyPr wrap="square" lIns="0" tIns="0" rIns="0" bIns="0" rtlCol="0" anchor="ctr"/>
          <a:lstStyle/>
          <a:p>
            <a:pPr marL="0" indent="0" algn="ctr">
              <a:buNone/>
            </a:pPr>
            <a:r>
              <a:rPr lang="en-US" sz="2200" b="1" dirty="0">
                <a:solidFill>
                  <a:srgbClr val="2A9D8F"/>
                </a:solidFill>
                <a:latin typeface="Cambria" panose="02040503050406030204" pitchFamily="34" charset="0"/>
                <a:ea typeface="Cambria" panose="02040503050406030204" pitchFamily="34" charset="-122"/>
                <a:cs typeface="Cambria" panose="02040503050406030204" pitchFamily="34" charset="-120"/>
              </a:rPr>
              <a:t>YES.</a:t>
            </a:r>
            <a:endParaRPr lang="en-US" sz="2200" dirty="0"/>
          </a:p>
        </p:txBody>
      </p:sp>
      <p:sp>
        <p:nvSpPr>
          <p:cNvPr id="24" name="Shape 22"/>
          <p:cNvSpPr/>
          <p:nvPr/>
        </p:nvSpPr>
        <p:spPr>
          <a:xfrm>
            <a:off x="640080" y="3337560"/>
            <a:ext cx="731520" cy="731520"/>
          </a:xfrm>
          <a:prstGeom prst="ellipse">
            <a:avLst/>
          </a:prstGeom>
          <a:solidFill>
            <a:srgbClr val="0F3D5C"/>
          </a:solidFill>
        </p:spPr>
        <p:txBody>
          <a:bodyPr/>
          <a:p/>
        </p:txBody>
      </p:sp>
      <p:sp>
        <p:nvSpPr>
          <p:cNvPr id="25" name="Text 23"/>
          <p:cNvSpPr/>
          <p:nvPr/>
        </p:nvSpPr>
        <p:spPr>
          <a:xfrm>
            <a:off x="640080" y="3337560"/>
            <a:ext cx="731520" cy="731520"/>
          </a:xfrm>
          <a:prstGeom prst="rect">
            <a:avLst/>
          </a:prstGeom>
          <a:noFill/>
        </p:spPr>
        <p:txBody>
          <a:bodyPr wrap="square" lIns="0" tIns="0" rIns="0" bIns="0" rtlCol="0" anchor="ctr"/>
          <a:lstStyle/>
          <a:p>
            <a:pPr marL="0" indent="0" algn="ctr">
              <a:buNone/>
            </a:pPr>
            <a:r>
              <a:rPr lang="en-US" sz="32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3200" dirty="0"/>
          </a:p>
        </p:txBody>
      </p:sp>
      <p:sp>
        <p:nvSpPr>
          <p:cNvPr id="26" name="Text 24"/>
          <p:cNvSpPr txBox="1"/>
          <p:nvPr/>
        </p:nvSpPr>
        <p:spPr>
          <a:xfrm>
            <a:off x="1508760" y="3429000"/>
            <a:ext cx="4572000" cy="548640"/>
          </a:xfrm>
          <a:prstGeom prst="rect">
            <a:avLst/>
          </a:prstGeom>
          <a:noFill/>
        </p:spPr>
        <p:txBody>
          <a:bodyPr wrap="square" lIns="0" tIns="0" rIns="0" bIns="0" rtlCol="0" anchor="ctr"/>
          <a:lstStyle/>
          <a:p>
            <a:pPr marL="0" indent="0">
              <a:buNone/>
            </a:pPr>
            <a:r>
              <a:rPr lang="en-US" sz="2000" b="1" dirty="0">
                <a:solidFill>
                  <a:srgbClr val="17263B"/>
                </a:solidFill>
                <a:latin typeface="Cambria" panose="02040503050406030204" pitchFamily="34" charset="0"/>
                <a:ea typeface="Cambria" panose="02040503050406030204" pitchFamily="34" charset="-122"/>
                <a:cs typeface="Cambria" panose="02040503050406030204" pitchFamily="34" charset="-120"/>
              </a:rPr>
              <a:t>SUPERVISED LEARNING</a:t>
            </a:r>
            <a:endParaRPr lang="en-US" sz="2000" dirty="0"/>
          </a:p>
        </p:txBody>
      </p:sp>
      <p:sp>
        <p:nvSpPr>
          <p:cNvPr id="27" name="Text 25"/>
          <p:cNvSpPr txBox="1"/>
          <p:nvPr/>
        </p:nvSpPr>
        <p:spPr>
          <a:xfrm>
            <a:off x="640080" y="4114800"/>
            <a:ext cx="10908792" cy="68580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We already have past examples and their correct answers.</a:t>
            </a:r>
            <a:endParaRPr lang="en-US" sz="1400" dirty="0"/>
          </a:p>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The model learns the relationship between input and output.</a:t>
            </a:r>
            <a:endParaRPr lang="en-US" sz="1400" dirty="0"/>
          </a:p>
        </p:txBody>
      </p:sp>
      <p:sp>
        <p:nvSpPr>
          <p:cNvPr id="28" name="Shape 26"/>
          <p:cNvSpPr/>
          <p:nvPr/>
        </p:nvSpPr>
        <p:spPr>
          <a:xfrm>
            <a:off x="640080" y="4937760"/>
            <a:ext cx="3474720" cy="640080"/>
          </a:xfrm>
          <a:prstGeom prst="roundRect">
            <a:avLst>
              <a:gd name="adj" fmla="val 11429"/>
            </a:avLst>
          </a:prstGeom>
          <a:solidFill>
            <a:srgbClr val="FFFFFF"/>
          </a:solidFill>
          <a:ln w="12700">
            <a:solidFill>
              <a:srgbClr val="E3E9F2"/>
            </a:solidFill>
            <a:prstDash val="solid"/>
          </a:ln>
        </p:spPr>
        <p:txBody>
          <a:bodyPr/>
          <a:p/>
        </p:txBody>
      </p:sp>
      <p:sp>
        <p:nvSpPr>
          <p:cNvPr id="29" name="Text 27"/>
          <p:cNvSpPr txBox="1"/>
          <p:nvPr/>
        </p:nvSpPr>
        <p:spPr>
          <a:xfrm>
            <a:off x="822960" y="4937760"/>
            <a:ext cx="3108960" cy="640080"/>
          </a:xfrm>
          <a:prstGeom prst="rect">
            <a:avLst/>
          </a:prstGeom>
          <a:noFill/>
        </p:spPr>
        <p:txBody>
          <a:bodyPr wrap="square" lIns="0" tIns="0" rIns="0" bIns="0" rtlCol="0" anchor="ctr"/>
          <a:lstStyle/>
          <a:p>
            <a:pPr marL="0" indent="0">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Unsupervised:  </a:t>
            </a: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No answers — finds groups</a:t>
            </a:r>
            <a:endParaRPr lang="en-US" sz="1200" dirty="0"/>
          </a:p>
        </p:txBody>
      </p:sp>
      <p:sp>
        <p:nvSpPr>
          <p:cNvPr id="30" name="Shape 28"/>
          <p:cNvSpPr/>
          <p:nvPr/>
        </p:nvSpPr>
        <p:spPr>
          <a:xfrm>
            <a:off x="4343400" y="4937760"/>
            <a:ext cx="3474720" cy="640080"/>
          </a:xfrm>
          <a:prstGeom prst="roundRect">
            <a:avLst>
              <a:gd name="adj" fmla="val 11429"/>
            </a:avLst>
          </a:prstGeom>
          <a:solidFill>
            <a:srgbClr val="FFFFFF"/>
          </a:solidFill>
          <a:ln w="12700">
            <a:solidFill>
              <a:srgbClr val="E3E9F2"/>
            </a:solidFill>
            <a:prstDash val="solid"/>
          </a:ln>
        </p:spPr>
        <p:txBody>
          <a:bodyPr/>
          <a:p/>
        </p:txBody>
      </p:sp>
      <p:sp>
        <p:nvSpPr>
          <p:cNvPr id="31" name="Text 29"/>
          <p:cNvSpPr txBox="1"/>
          <p:nvPr/>
        </p:nvSpPr>
        <p:spPr>
          <a:xfrm>
            <a:off x="4526280" y="4937760"/>
            <a:ext cx="3108960" cy="640080"/>
          </a:xfrm>
          <a:prstGeom prst="rect">
            <a:avLst/>
          </a:prstGeom>
          <a:noFill/>
        </p:spPr>
        <p:txBody>
          <a:bodyPr wrap="square" lIns="0" tIns="0" rIns="0" bIns="0" rtlCol="0" anchor="ctr"/>
          <a:lstStyle/>
          <a:p>
            <a:pPr marL="0" indent="0">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Reinforcement:  </a:t>
            </a: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Learns through reward and penalty</a:t>
            </a:r>
            <a:endParaRPr lang="en-US" sz="1200" dirty="0"/>
          </a:p>
        </p:txBody>
      </p:sp>
      <p:sp>
        <p:nvSpPr>
          <p:cNvPr id="32" name="Shape 30"/>
          <p:cNvSpPr/>
          <p:nvPr/>
        </p:nvSpPr>
        <p:spPr>
          <a:xfrm>
            <a:off x="640080" y="5760720"/>
            <a:ext cx="10908792" cy="685800"/>
          </a:xfrm>
          <a:prstGeom prst="roundRect">
            <a:avLst>
              <a:gd name="adj" fmla="val 13333"/>
            </a:avLst>
          </a:prstGeom>
          <a:solidFill>
            <a:srgbClr val="FFB627"/>
          </a:solidFill>
        </p:spPr>
        <p:txBody>
          <a:bodyPr/>
          <a:p/>
        </p:txBody>
      </p:sp>
      <p:sp>
        <p:nvSpPr>
          <p:cNvPr id="33" name="Text 31"/>
          <p:cNvSpPr txBox="1"/>
          <p:nvPr/>
        </p:nvSpPr>
        <p:spPr>
          <a:xfrm>
            <a:off x="640080" y="5760720"/>
            <a:ext cx="10908792" cy="685800"/>
          </a:xfrm>
          <a:prstGeom prst="rect">
            <a:avLst/>
          </a:prstGeom>
          <a:noFill/>
        </p:spPr>
        <p:txBody>
          <a:bodyPr wrap="square" lIns="0" tIns="0" rIns="0" bIns="0" rtlCol="0" anchor="ctr"/>
          <a:lstStyle/>
          <a:p>
            <a:pPr marL="0" indent="0" algn="ctr">
              <a:buNone/>
            </a:pPr>
            <a:r>
              <a:rPr lang="en-US" sz="1600" b="1" dirty="0">
                <a:solidFill>
                  <a:srgbClr val="081527"/>
                </a:solidFill>
                <a:latin typeface="Cambria" panose="02040503050406030204" pitchFamily="34" charset="0"/>
                <a:ea typeface="Cambria" panose="02040503050406030204" pitchFamily="34" charset="-122"/>
                <a:cs typeface="Cambria" panose="02040503050406030204" pitchFamily="34" charset="-120"/>
              </a:rPr>
              <a:t>Our flood project uses Supervised Learning.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908792" cy="54864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Supervised Learning </a:t>
            </a: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sym typeface="+mn-ea"/>
              </a:rPr>
              <a:t>— Algorithms</a:t>
            </a:r>
            <a:endParaRPr lang="en-US" sz="22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Same flood data • Known answers • Different strategies for making a prediction</a:t>
            </a:r>
            <a:endParaRPr lang="en-US" sz="1400" dirty="0"/>
          </a:p>
        </p:txBody>
      </p:sp>
      <p:sp>
        <p:nvSpPr>
          <p:cNvPr id="5" name="Shape 3"/>
          <p:cNvSpPr/>
          <p:nvPr/>
        </p:nvSpPr>
        <p:spPr>
          <a:xfrm>
            <a:off x="502920" y="1627632"/>
            <a:ext cx="11183112" cy="457200"/>
          </a:xfrm>
          <a:prstGeom prst="roundRect">
            <a:avLst>
              <a:gd name="adj" fmla="val 24000"/>
            </a:avLst>
          </a:prstGeom>
          <a:solidFill>
            <a:srgbClr val="0F3D5C"/>
          </a:solidFill>
        </p:spPr>
      </p:sp>
      <p:sp>
        <p:nvSpPr>
          <p:cNvPr id="6" name="Text 4"/>
          <p:cNvSpPr txBox="1"/>
          <p:nvPr/>
        </p:nvSpPr>
        <p:spPr>
          <a:xfrm>
            <a:off x="502920" y="1627632"/>
            <a:ext cx="11183112"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SAME FLOOD DATA:   Rainfall  •  River Level  •  Emergency Calls   →   Predict Risk</a:t>
            </a:r>
            <a:endParaRPr lang="en-US" sz="1300" dirty="0"/>
          </a:p>
        </p:txBody>
      </p:sp>
      <p:sp>
        <p:nvSpPr>
          <p:cNvPr id="7" name="Shape 5"/>
          <p:cNvSpPr/>
          <p:nvPr/>
        </p:nvSpPr>
        <p:spPr>
          <a:xfrm>
            <a:off x="502920" y="2240280"/>
            <a:ext cx="2672334" cy="1769364"/>
          </a:xfrm>
          <a:prstGeom prst="roundRect">
            <a:avLst>
              <a:gd name="adj" fmla="val 3101"/>
            </a:avLst>
          </a:prstGeom>
          <a:solidFill>
            <a:srgbClr val="FFFFFF"/>
          </a:solidFill>
          <a:ln w="9525">
            <a:solidFill>
              <a:srgbClr val="E3E9F2"/>
            </a:solidFill>
            <a:prstDash val="solid"/>
          </a:ln>
        </p:spPr>
      </p:sp>
      <p:sp>
        <p:nvSpPr>
          <p:cNvPr id="8" name="Shape 6"/>
          <p:cNvSpPr/>
          <p:nvPr/>
        </p:nvSpPr>
        <p:spPr>
          <a:xfrm>
            <a:off x="640080" y="2377440"/>
            <a:ext cx="292608" cy="292608"/>
          </a:xfrm>
          <a:prstGeom prst="ellipse">
            <a:avLst/>
          </a:prstGeom>
          <a:solidFill>
            <a:srgbClr val="0F3D5C"/>
          </a:solidFill>
        </p:spPr>
      </p:sp>
      <p:sp>
        <p:nvSpPr>
          <p:cNvPr id="9" name="Text 7"/>
          <p:cNvSpPr txBox="1"/>
          <p:nvPr/>
        </p:nvSpPr>
        <p:spPr>
          <a:xfrm>
            <a:off x="640080" y="2377440"/>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10" name="Text 8"/>
          <p:cNvSpPr txBox="1"/>
          <p:nvPr/>
        </p:nvSpPr>
        <p:spPr>
          <a:xfrm>
            <a:off x="1005840" y="2331720"/>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Linear Regression</a:t>
            </a:r>
            <a:endParaRPr lang="en-US" sz="1300" dirty="0"/>
          </a:p>
        </p:txBody>
      </p:sp>
      <p:sp>
        <p:nvSpPr>
          <p:cNvPr id="11" name="Text 9"/>
          <p:cNvSpPr txBox="1"/>
          <p:nvPr/>
        </p:nvSpPr>
        <p:spPr>
          <a:xfrm>
            <a:off x="640080" y="2743200"/>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PREDICT A NUMBER</a:t>
            </a:r>
            <a:endParaRPr lang="en-US" sz="900" dirty="0"/>
          </a:p>
        </p:txBody>
      </p:sp>
      <p:sp>
        <p:nvSpPr>
          <p:cNvPr id="12" name="Text 10"/>
          <p:cNvSpPr txBox="1"/>
          <p:nvPr/>
        </p:nvSpPr>
        <p:spPr>
          <a:xfrm>
            <a:off x="640080" y="3017520"/>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will tomorrow's river level be?”</a:t>
            </a:r>
            <a:endParaRPr lang="en-US" sz="950" dirty="0"/>
          </a:p>
        </p:txBody>
      </p:sp>
      <p:sp>
        <p:nvSpPr>
          <p:cNvPr id="13" name="Text 11"/>
          <p:cNvSpPr txBox="1"/>
          <p:nvPr/>
        </p:nvSpPr>
        <p:spPr>
          <a:xfrm>
            <a:off x="640080" y="3643884"/>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4.3 m</a:t>
            </a:r>
            <a:endParaRPr lang="en-US" sz="1000" dirty="0"/>
          </a:p>
        </p:txBody>
      </p:sp>
      <p:sp>
        <p:nvSpPr>
          <p:cNvPr id="14" name="Shape 12"/>
          <p:cNvSpPr/>
          <p:nvPr/>
        </p:nvSpPr>
        <p:spPr>
          <a:xfrm>
            <a:off x="3339846" y="2240280"/>
            <a:ext cx="2672334" cy="1769364"/>
          </a:xfrm>
          <a:prstGeom prst="roundRect">
            <a:avLst>
              <a:gd name="adj" fmla="val 3101"/>
            </a:avLst>
          </a:prstGeom>
          <a:solidFill>
            <a:srgbClr val="FFFFFF"/>
          </a:solidFill>
          <a:ln w="9525">
            <a:solidFill>
              <a:srgbClr val="E3E9F2"/>
            </a:solidFill>
            <a:prstDash val="solid"/>
          </a:ln>
        </p:spPr>
      </p:sp>
      <p:sp>
        <p:nvSpPr>
          <p:cNvPr id="15" name="Shape 13"/>
          <p:cNvSpPr/>
          <p:nvPr/>
        </p:nvSpPr>
        <p:spPr>
          <a:xfrm>
            <a:off x="3477006" y="2377440"/>
            <a:ext cx="292608" cy="292608"/>
          </a:xfrm>
          <a:prstGeom prst="ellipse">
            <a:avLst/>
          </a:prstGeom>
          <a:solidFill>
            <a:srgbClr val="0F3D5C"/>
          </a:solidFill>
        </p:spPr>
      </p:sp>
      <p:sp>
        <p:nvSpPr>
          <p:cNvPr id="16" name="Text 14"/>
          <p:cNvSpPr txBox="1"/>
          <p:nvPr/>
        </p:nvSpPr>
        <p:spPr>
          <a:xfrm>
            <a:off x="3477006" y="2377440"/>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7" name="Text 15"/>
          <p:cNvSpPr txBox="1"/>
          <p:nvPr/>
        </p:nvSpPr>
        <p:spPr>
          <a:xfrm>
            <a:off x="3842766" y="2331720"/>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Logistic Regression</a:t>
            </a:r>
            <a:endParaRPr lang="en-US" sz="1300" dirty="0"/>
          </a:p>
        </p:txBody>
      </p:sp>
      <p:sp>
        <p:nvSpPr>
          <p:cNvPr id="18" name="Text 16"/>
          <p:cNvSpPr txBox="1"/>
          <p:nvPr/>
        </p:nvSpPr>
        <p:spPr>
          <a:xfrm>
            <a:off x="3477006" y="2743200"/>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PREDICT A PROBABILITY</a:t>
            </a:r>
            <a:endParaRPr lang="en-US" sz="900" dirty="0"/>
          </a:p>
        </p:txBody>
      </p:sp>
      <p:sp>
        <p:nvSpPr>
          <p:cNvPr id="19" name="Text 17"/>
          <p:cNvSpPr txBox="1"/>
          <p:nvPr/>
        </p:nvSpPr>
        <p:spPr>
          <a:xfrm>
            <a:off x="3477006" y="3017520"/>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“How likely is Severe risk?”</a:t>
            </a:r>
            <a:endParaRPr lang="en-US" sz="950" dirty="0"/>
          </a:p>
        </p:txBody>
      </p:sp>
      <p:sp>
        <p:nvSpPr>
          <p:cNvPr id="20" name="Text 18"/>
          <p:cNvSpPr txBox="1"/>
          <p:nvPr/>
        </p:nvSpPr>
        <p:spPr>
          <a:xfrm>
            <a:off x="3477006" y="3643884"/>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87% Severe</a:t>
            </a:r>
            <a:endParaRPr lang="en-US" sz="1000" dirty="0"/>
          </a:p>
        </p:txBody>
      </p:sp>
      <p:sp>
        <p:nvSpPr>
          <p:cNvPr id="21" name="Shape 19"/>
          <p:cNvSpPr/>
          <p:nvPr/>
        </p:nvSpPr>
        <p:spPr>
          <a:xfrm>
            <a:off x="6176772" y="2240280"/>
            <a:ext cx="2672334" cy="1769364"/>
          </a:xfrm>
          <a:prstGeom prst="roundRect">
            <a:avLst>
              <a:gd name="adj" fmla="val 3101"/>
            </a:avLst>
          </a:prstGeom>
          <a:solidFill>
            <a:srgbClr val="FFFFFF"/>
          </a:solidFill>
          <a:ln w="19050">
            <a:solidFill>
              <a:srgbClr val="FFB627"/>
            </a:solidFill>
            <a:prstDash val="solid"/>
          </a:ln>
        </p:spPr>
      </p:sp>
      <p:sp>
        <p:nvSpPr>
          <p:cNvPr id="22" name="Shape 20"/>
          <p:cNvSpPr/>
          <p:nvPr/>
        </p:nvSpPr>
        <p:spPr>
          <a:xfrm>
            <a:off x="6313932" y="2377440"/>
            <a:ext cx="292608" cy="292608"/>
          </a:xfrm>
          <a:prstGeom prst="ellipse">
            <a:avLst/>
          </a:prstGeom>
          <a:solidFill>
            <a:srgbClr val="0F3D5C"/>
          </a:solidFill>
        </p:spPr>
      </p:sp>
      <p:sp>
        <p:nvSpPr>
          <p:cNvPr id="23" name="Text 21"/>
          <p:cNvSpPr txBox="1"/>
          <p:nvPr/>
        </p:nvSpPr>
        <p:spPr>
          <a:xfrm>
            <a:off x="6313932" y="2377440"/>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24" name="Text 22"/>
          <p:cNvSpPr txBox="1"/>
          <p:nvPr/>
        </p:nvSpPr>
        <p:spPr>
          <a:xfrm>
            <a:off x="6679692" y="2331720"/>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Decision Tree</a:t>
            </a:r>
            <a:endParaRPr lang="en-US" sz="1300" dirty="0"/>
          </a:p>
        </p:txBody>
      </p:sp>
      <p:sp>
        <p:nvSpPr>
          <p:cNvPr id="25" name="Text 23"/>
          <p:cNvSpPr txBox="1"/>
          <p:nvPr/>
        </p:nvSpPr>
        <p:spPr>
          <a:xfrm>
            <a:off x="6313932" y="2743200"/>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ASK YES / NO QUESTIONS</a:t>
            </a:r>
            <a:endParaRPr lang="en-US" sz="900" dirty="0"/>
          </a:p>
        </p:txBody>
      </p:sp>
      <p:sp>
        <p:nvSpPr>
          <p:cNvPr id="26" name="Text 24"/>
          <p:cNvSpPr txBox="1"/>
          <p:nvPr/>
        </p:nvSpPr>
        <p:spPr>
          <a:xfrm>
            <a:off x="6313932" y="3017520"/>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“Rainfall &gt; 80? River &gt; 4?”</a:t>
            </a:r>
            <a:endParaRPr lang="en-US" sz="950" dirty="0"/>
          </a:p>
        </p:txBody>
      </p:sp>
      <p:sp>
        <p:nvSpPr>
          <p:cNvPr id="27" name="Text 25"/>
          <p:cNvSpPr txBox="1"/>
          <p:nvPr/>
        </p:nvSpPr>
        <p:spPr>
          <a:xfrm>
            <a:off x="6313932" y="3643884"/>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SEVERE RISK</a:t>
            </a:r>
            <a:endParaRPr lang="en-US" sz="1000" dirty="0"/>
          </a:p>
        </p:txBody>
      </p:sp>
      <p:sp>
        <p:nvSpPr>
          <p:cNvPr id="28" name="Text 26"/>
          <p:cNvSpPr txBox="1"/>
          <p:nvPr/>
        </p:nvSpPr>
        <p:spPr>
          <a:xfrm>
            <a:off x="6313932" y="3387852"/>
            <a:ext cx="2398014" cy="228600"/>
          </a:xfrm>
          <a:prstGeom prst="rect">
            <a:avLst/>
          </a:prstGeom>
          <a:noFill/>
        </p:spPr>
        <p:txBody>
          <a:bodyPr wrap="square" lIns="0" tIns="0" rIns="0" bIns="0" rtlCol="0" anchor="ctr"/>
          <a:lstStyle/>
          <a:p>
            <a:pPr marL="0" indent="0">
              <a:buNone/>
            </a:pPr>
            <a:r>
              <a:rPr lang="en-US" sz="850" b="1" dirty="0">
                <a:solidFill>
                  <a:srgbClr val="B8860B"/>
                </a:solidFill>
                <a:latin typeface="Calibri" panose="020F0502020204030204" pitchFamily="34" charset="0"/>
                <a:ea typeface="Calibri" panose="020F0502020204030204" pitchFamily="34" charset="-122"/>
                <a:cs typeface="Calibri" panose="020F0502020204030204" pitchFamily="34" charset="-120"/>
              </a:rPr>
              <a:t>USED NEXT →</a:t>
            </a:r>
            <a:endParaRPr lang="en-US" sz="850" dirty="0"/>
          </a:p>
        </p:txBody>
      </p:sp>
      <p:sp>
        <p:nvSpPr>
          <p:cNvPr id="29" name="Shape 27"/>
          <p:cNvSpPr/>
          <p:nvPr/>
        </p:nvSpPr>
        <p:spPr>
          <a:xfrm>
            <a:off x="9013698" y="2240280"/>
            <a:ext cx="2672334" cy="1769364"/>
          </a:xfrm>
          <a:prstGeom prst="roundRect">
            <a:avLst>
              <a:gd name="adj" fmla="val 3101"/>
            </a:avLst>
          </a:prstGeom>
          <a:solidFill>
            <a:srgbClr val="FFFFFF"/>
          </a:solidFill>
          <a:ln w="9525">
            <a:solidFill>
              <a:srgbClr val="E3E9F2"/>
            </a:solidFill>
            <a:prstDash val="solid"/>
          </a:ln>
        </p:spPr>
      </p:sp>
      <p:sp>
        <p:nvSpPr>
          <p:cNvPr id="30" name="Shape 28"/>
          <p:cNvSpPr/>
          <p:nvPr/>
        </p:nvSpPr>
        <p:spPr>
          <a:xfrm>
            <a:off x="9150858" y="2377440"/>
            <a:ext cx="292608" cy="292608"/>
          </a:xfrm>
          <a:prstGeom prst="ellipse">
            <a:avLst/>
          </a:prstGeom>
          <a:solidFill>
            <a:srgbClr val="0F3D5C"/>
          </a:solidFill>
        </p:spPr>
      </p:sp>
      <p:sp>
        <p:nvSpPr>
          <p:cNvPr id="31" name="Text 29"/>
          <p:cNvSpPr txBox="1"/>
          <p:nvPr/>
        </p:nvSpPr>
        <p:spPr>
          <a:xfrm>
            <a:off x="9150858" y="2377440"/>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32" name="Text 30"/>
          <p:cNvSpPr txBox="1"/>
          <p:nvPr/>
        </p:nvSpPr>
        <p:spPr>
          <a:xfrm>
            <a:off x="9516618" y="2331720"/>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Random Forest</a:t>
            </a:r>
            <a:endParaRPr lang="en-US" sz="1300" dirty="0"/>
          </a:p>
        </p:txBody>
      </p:sp>
      <p:sp>
        <p:nvSpPr>
          <p:cNvPr id="33" name="Text 31"/>
          <p:cNvSpPr txBox="1"/>
          <p:nvPr/>
        </p:nvSpPr>
        <p:spPr>
          <a:xfrm>
            <a:off x="9150858" y="2743200"/>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MANY TREES VOTE</a:t>
            </a:r>
            <a:endParaRPr lang="en-US" sz="900" dirty="0"/>
          </a:p>
        </p:txBody>
      </p:sp>
      <p:sp>
        <p:nvSpPr>
          <p:cNvPr id="34" name="Text 32"/>
          <p:cNvSpPr txBox="1"/>
          <p:nvPr/>
        </p:nvSpPr>
        <p:spPr>
          <a:xfrm>
            <a:off x="9150858" y="3017520"/>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do 100 trees decide?”</a:t>
            </a:r>
            <a:endParaRPr lang="en-US" sz="950" dirty="0"/>
          </a:p>
        </p:txBody>
      </p:sp>
      <p:sp>
        <p:nvSpPr>
          <p:cNvPr id="35" name="Text 33"/>
          <p:cNvSpPr txBox="1"/>
          <p:nvPr/>
        </p:nvSpPr>
        <p:spPr>
          <a:xfrm>
            <a:off x="9150858" y="3643884"/>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82/100 → SEVERE</a:t>
            </a:r>
            <a:endParaRPr lang="en-US" sz="1000" dirty="0"/>
          </a:p>
        </p:txBody>
      </p:sp>
      <p:sp>
        <p:nvSpPr>
          <p:cNvPr id="36" name="Shape 34"/>
          <p:cNvSpPr/>
          <p:nvPr/>
        </p:nvSpPr>
        <p:spPr>
          <a:xfrm>
            <a:off x="502920" y="4174236"/>
            <a:ext cx="2672334" cy="1769364"/>
          </a:xfrm>
          <a:prstGeom prst="roundRect">
            <a:avLst>
              <a:gd name="adj" fmla="val 3101"/>
            </a:avLst>
          </a:prstGeom>
          <a:solidFill>
            <a:srgbClr val="FFFFFF"/>
          </a:solidFill>
          <a:ln w="9525">
            <a:solidFill>
              <a:srgbClr val="E3E9F2"/>
            </a:solidFill>
            <a:prstDash val="solid"/>
          </a:ln>
        </p:spPr>
      </p:sp>
      <p:sp>
        <p:nvSpPr>
          <p:cNvPr id="37" name="Shape 35"/>
          <p:cNvSpPr/>
          <p:nvPr/>
        </p:nvSpPr>
        <p:spPr>
          <a:xfrm>
            <a:off x="640080" y="4311396"/>
            <a:ext cx="292608" cy="292608"/>
          </a:xfrm>
          <a:prstGeom prst="ellipse">
            <a:avLst/>
          </a:prstGeom>
          <a:solidFill>
            <a:srgbClr val="0F3D5C"/>
          </a:solidFill>
        </p:spPr>
      </p:sp>
      <p:sp>
        <p:nvSpPr>
          <p:cNvPr id="38" name="Text 36"/>
          <p:cNvSpPr txBox="1"/>
          <p:nvPr/>
        </p:nvSpPr>
        <p:spPr>
          <a:xfrm>
            <a:off x="640080" y="43113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39" name="Text 37"/>
          <p:cNvSpPr txBox="1"/>
          <p:nvPr/>
        </p:nvSpPr>
        <p:spPr>
          <a:xfrm>
            <a:off x="1005840" y="4265676"/>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SVM</a:t>
            </a:r>
            <a:endParaRPr lang="en-US" sz="1300" dirty="0"/>
          </a:p>
        </p:txBody>
      </p:sp>
      <p:sp>
        <p:nvSpPr>
          <p:cNvPr id="40" name="Text 38"/>
          <p:cNvSpPr txBox="1"/>
          <p:nvPr/>
        </p:nvSpPr>
        <p:spPr>
          <a:xfrm>
            <a:off x="640080" y="4677156"/>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FIND A BOUNDARY</a:t>
            </a:r>
            <a:endParaRPr lang="en-US" sz="900" dirty="0"/>
          </a:p>
        </p:txBody>
      </p:sp>
      <p:sp>
        <p:nvSpPr>
          <p:cNvPr id="41" name="Text 39"/>
          <p:cNvSpPr txBox="1"/>
          <p:nvPr/>
        </p:nvSpPr>
        <p:spPr>
          <a:xfrm>
            <a:off x="640080" y="4951476"/>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“Where should Low/Severe be separated?”</a:t>
            </a:r>
            <a:endParaRPr lang="en-US" sz="950" dirty="0"/>
          </a:p>
        </p:txBody>
      </p:sp>
      <p:sp>
        <p:nvSpPr>
          <p:cNvPr id="42" name="Text 40"/>
          <p:cNvSpPr txBox="1"/>
          <p:nvPr/>
        </p:nvSpPr>
        <p:spPr>
          <a:xfrm>
            <a:off x="640080" y="5577840"/>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SEVERE RISK</a:t>
            </a:r>
            <a:endParaRPr lang="en-US" sz="1000" dirty="0"/>
          </a:p>
        </p:txBody>
      </p:sp>
      <p:sp>
        <p:nvSpPr>
          <p:cNvPr id="43" name="Shape 41"/>
          <p:cNvSpPr/>
          <p:nvPr/>
        </p:nvSpPr>
        <p:spPr>
          <a:xfrm>
            <a:off x="3339846" y="4174236"/>
            <a:ext cx="2672334" cy="1769364"/>
          </a:xfrm>
          <a:prstGeom prst="roundRect">
            <a:avLst>
              <a:gd name="adj" fmla="val 3101"/>
            </a:avLst>
          </a:prstGeom>
          <a:solidFill>
            <a:srgbClr val="FFFFFF"/>
          </a:solidFill>
          <a:ln w="9525">
            <a:solidFill>
              <a:srgbClr val="E3E9F2"/>
            </a:solidFill>
            <a:prstDash val="solid"/>
          </a:ln>
        </p:spPr>
      </p:sp>
      <p:sp>
        <p:nvSpPr>
          <p:cNvPr id="44" name="Shape 42"/>
          <p:cNvSpPr/>
          <p:nvPr/>
        </p:nvSpPr>
        <p:spPr>
          <a:xfrm>
            <a:off x="3477006" y="4311396"/>
            <a:ext cx="292608" cy="292608"/>
          </a:xfrm>
          <a:prstGeom prst="ellipse">
            <a:avLst/>
          </a:prstGeom>
          <a:solidFill>
            <a:srgbClr val="0F3D5C"/>
          </a:solidFill>
        </p:spPr>
      </p:sp>
      <p:sp>
        <p:nvSpPr>
          <p:cNvPr id="45" name="Text 43"/>
          <p:cNvSpPr txBox="1"/>
          <p:nvPr/>
        </p:nvSpPr>
        <p:spPr>
          <a:xfrm>
            <a:off x="3477006" y="43113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46" name="Text 44"/>
          <p:cNvSpPr txBox="1"/>
          <p:nvPr/>
        </p:nvSpPr>
        <p:spPr>
          <a:xfrm>
            <a:off x="3842766" y="4265676"/>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KNN</a:t>
            </a:r>
            <a:endParaRPr lang="en-US" sz="1300" dirty="0"/>
          </a:p>
        </p:txBody>
      </p:sp>
      <p:sp>
        <p:nvSpPr>
          <p:cNvPr id="47" name="Text 45"/>
          <p:cNvSpPr txBox="1"/>
          <p:nvPr/>
        </p:nvSpPr>
        <p:spPr>
          <a:xfrm>
            <a:off x="3477006" y="4677156"/>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FIND SIMILAR CASES</a:t>
            </a:r>
            <a:endParaRPr lang="en-US" sz="900" dirty="0"/>
          </a:p>
        </p:txBody>
      </p:sp>
      <p:sp>
        <p:nvSpPr>
          <p:cNvPr id="48" name="Text 46"/>
          <p:cNvSpPr txBox="1"/>
          <p:nvPr/>
        </p:nvSpPr>
        <p:spPr>
          <a:xfrm>
            <a:off x="3477006" y="4951476"/>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did nearby zones experience?”</a:t>
            </a:r>
            <a:endParaRPr lang="en-US" sz="950" dirty="0"/>
          </a:p>
        </p:txBody>
      </p:sp>
      <p:sp>
        <p:nvSpPr>
          <p:cNvPr id="49" name="Text 47"/>
          <p:cNvSpPr txBox="1"/>
          <p:nvPr/>
        </p:nvSpPr>
        <p:spPr>
          <a:xfrm>
            <a:off x="3477006" y="5577840"/>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4/5 → SEVERE</a:t>
            </a:r>
            <a:endParaRPr lang="en-US" sz="1000" dirty="0"/>
          </a:p>
        </p:txBody>
      </p:sp>
      <p:sp>
        <p:nvSpPr>
          <p:cNvPr id="50" name="Shape 48"/>
          <p:cNvSpPr/>
          <p:nvPr/>
        </p:nvSpPr>
        <p:spPr>
          <a:xfrm>
            <a:off x="6176772" y="4174236"/>
            <a:ext cx="2672334" cy="1769364"/>
          </a:xfrm>
          <a:prstGeom prst="roundRect">
            <a:avLst>
              <a:gd name="adj" fmla="val 3101"/>
            </a:avLst>
          </a:prstGeom>
          <a:solidFill>
            <a:srgbClr val="FFFFFF"/>
          </a:solidFill>
          <a:ln w="9525">
            <a:solidFill>
              <a:srgbClr val="E3E9F2"/>
            </a:solidFill>
            <a:prstDash val="solid"/>
          </a:ln>
        </p:spPr>
      </p:sp>
      <p:sp>
        <p:nvSpPr>
          <p:cNvPr id="51" name="Shape 49"/>
          <p:cNvSpPr/>
          <p:nvPr/>
        </p:nvSpPr>
        <p:spPr>
          <a:xfrm>
            <a:off x="6313932" y="4311396"/>
            <a:ext cx="292608" cy="292608"/>
          </a:xfrm>
          <a:prstGeom prst="ellipse">
            <a:avLst/>
          </a:prstGeom>
          <a:solidFill>
            <a:srgbClr val="0F3D5C"/>
          </a:solidFill>
        </p:spPr>
      </p:sp>
      <p:sp>
        <p:nvSpPr>
          <p:cNvPr id="52" name="Text 50"/>
          <p:cNvSpPr txBox="1"/>
          <p:nvPr/>
        </p:nvSpPr>
        <p:spPr>
          <a:xfrm>
            <a:off x="6313932" y="43113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200" dirty="0"/>
          </a:p>
        </p:txBody>
      </p:sp>
      <p:sp>
        <p:nvSpPr>
          <p:cNvPr id="53" name="Text 51"/>
          <p:cNvSpPr txBox="1"/>
          <p:nvPr/>
        </p:nvSpPr>
        <p:spPr>
          <a:xfrm>
            <a:off x="6679692" y="4265676"/>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Naive Bayes</a:t>
            </a:r>
            <a:endParaRPr lang="en-US" sz="1300" dirty="0"/>
          </a:p>
        </p:txBody>
      </p:sp>
      <p:sp>
        <p:nvSpPr>
          <p:cNvPr id="54" name="Text 52"/>
          <p:cNvSpPr txBox="1"/>
          <p:nvPr/>
        </p:nvSpPr>
        <p:spPr>
          <a:xfrm>
            <a:off x="6313932" y="4677156"/>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COMBINE PROBABILITIES</a:t>
            </a:r>
            <a:endParaRPr lang="en-US" sz="900" dirty="0"/>
          </a:p>
        </p:txBody>
      </p:sp>
      <p:sp>
        <p:nvSpPr>
          <p:cNvPr id="55" name="Text 53"/>
          <p:cNvSpPr txBox="1"/>
          <p:nvPr/>
        </p:nvSpPr>
        <p:spPr>
          <a:xfrm>
            <a:off x="6313932" y="4951476"/>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“How do rainfall &amp; calls shift the odds?”</a:t>
            </a:r>
            <a:endParaRPr lang="en-US" sz="950" dirty="0"/>
          </a:p>
        </p:txBody>
      </p:sp>
      <p:sp>
        <p:nvSpPr>
          <p:cNvPr id="56" name="Text 54"/>
          <p:cNvSpPr txBox="1"/>
          <p:nvPr/>
        </p:nvSpPr>
        <p:spPr>
          <a:xfrm>
            <a:off x="6313932" y="5577840"/>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78% Severe</a:t>
            </a:r>
            <a:endParaRPr lang="en-US" sz="1000" dirty="0"/>
          </a:p>
        </p:txBody>
      </p:sp>
      <p:sp>
        <p:nvSpPr>
          <p:cNvPr id="57" name="Shape 55"/>
          <p:cNvSpPr/>
          <p:nvPr/>
        </p:nvSpPr>
        <p:spPr>
          <a:xfrm>
            <a:off x="9013698" y="4174236"/>
            <a:ext cx="2672334" cy="1769364"/>
          </a:xfrm>
          <a:prstGeom prst="roundRect">
            <a:avLst>
              <a:gd name="adj" fmla="val 3101"/>
            </a:avLst>
          </a:prstGeom>
          <a:solidFill>
            <a:srgbClr val="FFFFFF"/>
          </a:solidFill>
          <a:ln w="9525">
            <a:solidFill>
              <a:srgbClr val="E3E9F2"/>
            </a:solidFill>
            <a:prstDash val="solid"/>
          </a:ln>
        </p:spPr>
      </p:sp>
      <p:sp>
        <p:nvSpPr>
          <p:cNvPr id="58" name="Shape 56"/>
          <p:cNvSpPr/>
          <p:nvPr/>
        </p:nvSpPr>
        <p:spPr>
          <a:xfrm>
            <a:off x="9150858" y="4311396"/>
            <a:ext cx="292608" cy="292608"/>
          </a:xfrm>
          <a:prstGeom prst="ellipse">
            <a:avLst/>
          </a:prstGeom>
          <a:solidFill>
            <a:srgbClr val="0F3D5C"/>
          </a:solidFill>
        </p:spPr>
      </p:sp>
      <p:sp>
        <p:nvSpPr>
          <p:cNvPr id="59" name="Text 57"/>
          <p:cNvSpPr txBox="1"/>
          <p:nvPr/>
        </p:nvSpPr>
        <p:spPr>
          <a:xfrm>
            <a:off x="9150858" y="43113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200" dirty="0"/>
          </a:p>
        </p:txBody>
      </p:sp>
      <p:sp>
        <p:nvSpPr>
          <p:cNvPr id="60" name="Text 58"/>
          <p:cNvSpPr txBox="1"/>
          <p:nvPr/>
        </p:nvSpPr>
        <p:spPr>
          <a:xfrm>
            <a:off x="9516618" y="4265676"/>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XGBoost</a:t>
            </a:r>
            <a:endParaRPr lang="en-US" sz="1300" dirty="0"/>
          </a:p>
        </p:txBody>
      </p:sp>
      <p:sp>
        <p:nvSpPr>
          <p:cNvPr id="61" name="Text 59"/>
          <p:cNvSpPr txBox="1"/>
          <p:nvPr/>
        </p:nvSpPr>
        <p:spPr>
          <a:xfrm>
            <a:off x="9150858" y="4677156"/>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LEARN FROM MISTAKES</a:t>
            </a:r>
            <a:endParaRPr lang="en-US" sz="900" dirty="0"/>
          </a:p>
        </p:txBody>
      </p:sp>
      <p:sp>
        <p:nvSpPr>
          <p:cNvPr id="62" name="Text 60"/>
          <p:cNvSpPr txBox="1"/>
          <p:nvPr/>
        </p:nvSpPr>
        <p:spPr>
          <a:xfrm>
            <a:off x="9150858" y="4951476"/>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“How can the next tree improve?”</a:t>
            </a:r>
            <a:endParaRPr lang="en-US" sz="950" dirty="0"/>
          </a:p>
        </p:txBody>
      </p:sp>
      <p:sp>
        <p:nvSpPr>
          <p:cNvPr id="63" name="Text 61"/>
          <p:cNvSpPr txBox="1"/>
          <p:nvPr/>
        </p:nvSpPr>
        <p:spPr>
          <a:xfrm>
            <a:off x="9150858" y="5577840"/>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91% Severe</a:t>
            </a:r>
            <a:endParaRPr lang="en-US" sz="1000" dirty="0"/>
          </a:p>
        </p:txBody>
      </p:sp>
      <p:sp>
        <p:nvSpPr>
          <p:cNvPr id="64" name="Shape 62"/>
          <p:cNvSpPr/>
          <p:nvPr/>
        </p:nvSpPr>
        <p:spPr>
          <a:xfrm>
            <a:off x="502920" y="6053328"/>
            <a:ext cx="11183112" cy="347472"/>
          </a:xfrm>
          <a:prstGeom prst="roundRect">
            <a:avLst>
              <a:gd name="adj" fmla="val 15789"/>
            </a:avLst>
          </a:prstGeom>
          <a:solidFill>
            <a:srgbClr val="0F3D5C"/>
          </a:solidFill>
        </p:spPr>
      </p:sp>
      <p:sp>
        <p:nvSpPr>
          <p:cNvPr id="65" name="Text 63"/>
          <p:cNvSpPr txBox="1"/>
          <p:nvPr/>
        </p:nvSpPr>
        <p:spPr>
          <a:xfrm>
            <a:off x="502920" y="6053328"/>
            <a:ext cx="1118311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REMEMBER:  NUMBER • PROBABILITY • QUESTIONS • VOTE • BOUNDARY • SIMILARITY • PROBABILITY • MISTAKES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908792" cy="54864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Unsupervised Learning </a:t>
            </a: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sym typeface="+mn-ea"/>
              </a:rPr>
              <a:t>— Algorithms</a:t>
            </a:r>
            <a:endParaRPr lang="en-US" sz="22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No labels • No correct answers • The model discovers structure from the data</a:t>
            </a:r>
            <a:endParaRPr lang="en-US" sz="1400" dirty="0"/>
          </a:p>
        </p:txBody>
      </p:sp>
      <p:sp>
        <p:nvSpPr>
          <p:cNvPr id="5" name="Shape 3"/>
          <p:cNvSpPr/>
          <p:nvPr/>
        </p:nvSpPr>
        <p:spPr>
          <a:xfrm>
            <a:off x="502920" y="1627632"/>
            <a:ext cx="11183112" cy="457200"/>
          </a:xfrm>
          <a:prstGeom prst="roundRect">
            <a:avLst>
              <a:gd name="adj" fmla="val 24000"/>
            </a:avLst>
          </a:prstGeom>
          <a:solidFill>
            <a:srgbClr val="2A9D8F"/>
          </a:solidFill>
        </p:spPr>
      </p:sp>
      <p:sp>
        <p:nvSpPr>
          <p:cNvPr id="6" name="Text 4"/>
          <p:cNvSpPr txBox="1"/>
          <p:nvPr/>
        </p:nvSpPr>
        <p:spPr>
          <a:xfrm>
            <a:off x="502920" y="1627632"/>
            <a:ext cx="11183112" cy="4572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  FLOOD DATA:   Rainfall  •  River Level  •  Soil Moisture  •  Sensor Readings   →   NO RISK LABELS GIVEN</a:t>
            </a:r>
            <a:endParaRPr lang="en-US" sz="1250" dirty="0"/>
          </a:p>
        </p:txBody>
      </p:sp>
      <p:sp>
        <p:nvSpPr>
          <p:cNvPr id="7" name="Shape 5"/>
          <p:cNvSpPr/>
          <p:nvPr/>
        </p:nvSpPr>
        <p:spPr>
          <a:xfrm>
            <a:off x="777240" y="2148840"/>
            <a:ext cx="5248656" cy="1170432"/>
          </a:xfrm>
          <a:prstGeom prst="roundRect">
            <a:avLst>
              <a:gd name="adj" fmla="val 4688"/>
            </a:avLst>
          </a:prstGeom>
          <a:solidFill>
            <a:srgbClr val="FFFFFF"/>
          </a:solidFill>
          <a:ln w="9525">
            <a:solidFill>
              <a:srgbClr val="E3E9F2"/>
            </a:solidFill>
            <a:prstDash val="solid"/>
          </a:ln>
        </p:spPr>
      </p:sp>
      <p:sp>
        <p:nvSpPr>
          <p:cNvPr id="8" name="Shape 6"/>
          <p:cNvSpPr/>
          <p:nvPr/>
        </p:nvSpPr>
        <p:spPr>
          <a:xfrm>
            <a:off x="941832" y="2295144"/>
            <a:ext cx="347472" cy="347472"/>
          </a:xfrm>
          <a:prstGeom prst="ellipse">
            <a:avLst/>
          </a:prstGeom>
          <a:solidFill>
            <a:srgbClr val="2A9D8F"/>
          </a:solidFill>
        </p:spPr>
      </p:sp>
      <p:sp>
        <p:nvSpPr>
          <p:cNvPr id="9" name="Text 7"/>
          <p:cNvSpPr txBox="1"/>
          <p:nvPr/>
        </p:nvSpPr>
        <p:spPr>
          <a:xfrm>
            <a:off x="941832" y="2295144"/>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10" name="Text 8"/>
          <p:cNvSpPr txBox="1"/>
          <p:nvPr/>
        </p:nvSpPr>
        <p:spPr>
          <a:xfrm>
            <a:off x="1399032" y="2267712"/>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K-Means Clustering</a:t>
            </a:r>
            <a:endParaRPr lang="en-US" sz="1450" dirty="0"/>
          </a:p>
        </p:txBody>
      </p:sp>
      <p:sp>
        <p:nvSpPr>
          <p:cNvPr id="11" name="Text 9"/>
          <p:cNvSpPr txBox="1"/>
          <p:nvPr/>
        </p:nvSpPr>
        <p:spPr>
          <a:xfrm>
            <a:off x="941832" y="2642616"/>
            <a:ext cx="4919472"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GROUP SIMILAR ZONES</a:t>
            </a:r>
            <a:endParaRPr lang="en-US" sz="950" dirty="0"/>
          </a:p>
        </p:txBody>
      </p:sp>
      <p:sp>
        <p:nvSpPr>
          <p:cNvPr id="12" name="Text 10"/>
          <p:cNvSpPr txBox="1"/>
          <p:nvPr/>
        </p:nvSpPr>
        <p:spPr>
          <a:xfrm>
            <a:off x="941832" y="2862072"/>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zones look most alike?”</a:t>
            </a:r>
            <a:endParaRPr lang="en-US" sz="950" dirty="0"/>
          </a:p>
        </p:txBody>
      </p:sp>
      <p:sp>
        <p:nvSpPr>
          <p:cNvPr id="13" name="Text 11"/>
          <p:cNvSpPr txBox="1"/>
          <p:nvPr/>
        </p:nvSpPr>
        <p:spPr>
          <a:xfrm>
            <a:off x="941832" y="3044952"/>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Cluster 1 • Cluster 2 • Cluster 3</a:t>
            </a:r>
            <a:endParaRPr lang="en-US" sz="1000" dirty="0"/>
          </a:p>
        </p:txBody>
      </p:sp>
      <p:sp>
        <p:nvSpPr>
          <p:cNvPr id="14" name="Shape 12"/>
          <p:cNvSpPr/>
          <p:nvPr/>
        </p:nvSpPr>
        <p:spPr>
          <a:xfrm>
            <a:off x="6163056" y="2148840"/>
            <a:ext cx="5248656" cy="1170432"/>
          </a:xfrm>
          <a:prstGeom prst="roundRect">
            <a:avLst>
              <a:gd name="adj" fmla="val 4688"/>
            </a:avLst>
          </a:prstGeom>
          <a:solidFill>
            <a:srgbClr val="FFFFFF"/>
          </a:solidFill>
          <a:ln w="9525">
            <a:solidFill>
              <a:srgbClr val="E3E9F2"/>
            </a:solidFill>
            <a:prstDash val="solid"/>
          </a:ln>
        </p:spPr>
      </p:sp>
      <p:sp>
        <p:nvSpPr>
          <p:cNvPr id="15" name="Shape 13"/>
          <p:cNvSpPr/>
          <p:nvPr/>
        </p:nvSpPr>
        <p:spPr>
          <a:xfrm>
            <a:off x="6327648" y="2295144"/>
            <a:ext cx="347472" cy="347472"/>
          </a:xfrm>
          <a:prstGeom prst="ellipse">
            <a:avLst/>
          </a:prstGeom>
          <a:solidFill>
            <a:srgbClr val="2A9D8F"/>
          </a:solidFill>
        </p:spPr>
      </p:sp>
      <p:sp>
        <p:nvSpPr>
          <p:cNvPr id="16" name="Text 14"/>
          <p:cNvSpPr txBox="1"/>
          <p:nvPr/>
        </p:nvSpPr>
        <p:spPr>
          <a:xfrm>
            <a:off x="6327648" y="2295144"/>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7" name="Text 15"/>
          <p:cNvSpPr txBox="1"/>
          <p:nvPr/>
        </p:nvSpPr>
        <p:spPr>
          <a:xfrm>
            <a:off x="6784848" y="2267712"/>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Hierarchical Clustering</a:t>
            </a:r>
            <a:endParaRPr lang="en-US" sz="1450" dirty="0"/>
          </a:p>
        </p:txBody>
      </p:sp>
      <p:sp>
        <p:nvSpPr>
          <p:cNvPr id="18" name="Text 16"/>
          <p:cNvSpPr txBox="1"/>
          <p:nvPr/>
        </p:nvSpPr>
        <p:spPr>
          <a:xfrm>
            <a:off x="6327648" y="2642616"/>
            <a:ext cx="4919472"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BUILD A FAMILY TREE</a:t>
            </a:r>
            <a:endParaRPr lang="en-US" sz="950" dirty="0"/>
          </a:p>
        </p:txBody>
      </p:sp>
      <p:sp>
        <p:nvSpPr>
          <p:cNvPr id="19" name="Text 17"/>
          <p:cNvSpPr txBox="1"/>
          <p:nvPr/>
        </p:nvSpPr>
        <p:spPr>
          <a:xfrm>
            <a:off x="6327648" y="2862072"/>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zones/groups are closest?”</a:t>
            </a:r>
            <a:endParaRPr lang="en-US" sz="950" dirty="0"/>
          </a:p>
        </p:txBody>
      </p:sp>
      <p:sp>
        <p:nvSpPr>
          <p:cNvPr id="20" name="Text 18"/>
          <p:cNvSpPr txBox="1"/>
          <p:nvPr/>
        </p:nvSpPr>
        <p:spPr>
          <a:xfrm>
            <a:off x="6327648" y="3044952"/>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Nested groups</a:t>
            </a:r>
            <a:endParaRPr lang="en-US" sz="1000" dirty="0"/>
          </a:p>
        </p:txBody>
      </p:sp>
      <p:sp>
        <p:nvSpPr>
          <p:cNvPr id="21" name="Shape 19"/>
          <p:cNvSpPr/>
          <p:nvPr/>
        </p:nvSpPr>
        <p:spPr>
          <a:xfrm>
            <a:off x="777240" y="3456432"/>
            <a:ext cx="5248656" cy="1170432"/>
          </a:xfrm>
          <a:prstGeom prst="roundRect">
            <a:avLst>
              <a:gd name="adj" fmla="val 4688"/>
            </a:avLst>
          </a:prstGeom>
          <a:solidFill>
            <a:srgbClr val="FFFFFF"/>
          </a:solidFill>
          <a:ln w="9525">
            <a:solidFill>
              <a:srgbClr val="E3E9F2"/>
            </a:solidFill>
            <a:prstDash val="solid"/>
          </a:ln>
        </p:spPr>
      </p:sp>
      <p:sp>
        <p:nvSpPr>
          <p:cNvPr id="22" name="Shape 20"/>
          <p:cNvSpPr/>
          <p:nvPr/>
        </p:nvSpPr>
        <p:spPr>
          <a:xfrm>
            <a:off x="941832" y="3602736"/>
            <a:ext cx="347472" cy="347472"/>
          </a:xfrm>
          <a:prstGeom prst="ellipse">
            <a:avLst/>
          </a:prstGeom>
          <a:solidFill>
            <a:srgbClr val="2A9D8F"/>
          </a:solidFill>
        </p:spPr>
      </p:sp>
      <p:sp>
        <p:nvSpPr>
          <p:cNvPr id="23" name="Text 21"/>
          <p:cNvSpPr txBox="1"/>
          <p:nvPr/>
        </p:nvSpPr>
        <p:spPr>
          <a:xfrm>
            <a:off x="941832" y="3602736"/>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4" name="Text 22"/>
          <p:cNvSpPr txBox="1"/>
          <p:nvPr/>
        </p:nvSpPr>
        <p:spPr>
          <a:xfrm>
            <a:off x="1399032" y="3575304"/>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DBSCAN</a:t>
            </a:r>
            <a:endParaRPr lang="en-US" sz="1450" dirty="0"/>
          </a:p>
        </p:txBody>
      </p:sp>
      <p:sp>
        <p:nvSpPr>
          <p:cNvPr id="25" name="Text 23"/>
          <p:cNvSpPr txBox="1"/>
          <p:nvPr/>
        </p:nvSpPr>
        <p:spPr>
          <a:xfrm>
            <a:off x="941832" y="3950208"/>
            <a:ext cx="4919472"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FIND DENSE GROUPS + OUTLIERS</a:t>
            </a:r>
            <a:endParaRPr lang="en-US" sz="950" dirty="0"/>
          </a:p>
        </p:txBody>
      </p:sp>
      <p:sp>
        <p:nvSpPr>
          <p:cNvPr id="26" name="Text 24"/>
          <p:cNvSpPr txBox="1"/>
          <p:nvPr/>
        </p:nvSpPr>
        <p:spPr>
          <a:xfrm>
            <a:off x="941832" y="4169664"/>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“Where are the crowded flood-risk regions?”</a:t>
            </a:r>
            <a:endParaRPr lang="en-US" sz="950" dirty="0"/>
          </a:p>
        </p:txBody>
      </p:sp>
      <p:sp>
        <p:nvSpPr>
          <p:cNvPr id="27" name="Text 25"/>
          <p:cNvSpPr txBox="1"/>
          <p:nvPr/>
        </p:nvSpPr>
        <p:spPr>
          <a:xfrm>
            <a:off x="941832" y="4352544"/>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Clusters + unusual cases</a:t>
            </a:r>
            <a:endParaRPr lang="en-US" sz="1000" dirty="0"/>
          </a:p>
        </p:txBody>
      </p:sp>
      <p:sp>
        <p:nvSpPr>
          <p:cNvPr id="28" name="Shape 26"/>
          <p:cNvSpPr/>
          <p:nvPr/>
        </p:nvSpPr>
        <p:spPr>
          <a:xfrm>
            <a:off x="6163056" y="3456432"/>
            <a:ext cx="5248656" cy="1170432"/>
          </a:xfrm>
          <a:prstGeom prst="roundRect">
            <a:avLst>
              <a:gd name="adj" fmla="val 4688"/>
            </a:avLst>
          </a:prstGeom>
          <a:solidFill>
            <a:srgbClr val="FFFFFF"/>
          </a:solidFill>
          <a:ln w="9525">
            <a:solidFill>
              <a:srgbClr val="E3E9F2"/>
            </a:solidFill>
            <a:prstDash val="solid"/>
          </a:ln>
        </p:spPr>
      </p:sp>
      <p:sp>
        <p:nvSpPr>
          <p:cNvPr id="29" name="Shape 27"/>
          <p:cNvSpPr/>
          <p:nvPr/>
        </p:nvSpPr>
        <p:spPr>
          <a:xfrm>
            <a:off x="6327648" y="3602736"/>
            <a:ext cx="347472" cy="347472"/>
          </a:xfrm>
          <a:prstGeom prst="ellipse">
            <a:avLst/>
          </a:prstGeom>
          <a:solidFill>
            <a:srgbClr val="2A9D8F"/>
          </a:solidFill>
        </p:spPr>
      </p:sp>
      <p:sp>
        <p:nvSpPr>
          <p:cNvPr id="30" name="Text 28"/>
          <p:cNvSpPr txBox="1"/>
          <p:nvPr/>
        </p:nvSpPr>
        <p:spPr>
          <a:xfrm>
            <a:off x="6327648" y="3602736"/>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31" name="Text 29"/>
          <p:cNvSpPr txBox="1"/>
          <p:nvPr/>
        </p:nvSpPr>
        <p:spPr>
          <a:xfrm>
            <a:off x="6784848" y="3575304"/>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PCA</a:t>
            </a:r>
            <a:endParaRPr lang="en-US" sz="1450" dirty="0"/>
          </a:p>
        </p:txBody>
      </p:sp>
      <p:sp>
        <p:nvSpPr>
          <p:cNvPr id="32" name="Text 30"/>
          <p:cNvSpPr txBox="1"/>
          <p:nvPr/>
        </p:nvSpPr>
        <p:spPr>
          <a:xfrm>
            <a:off x="6327648" y="3950208"/>
            <a:ext cx="4919472"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SIMPLIFY MANY FEATURES</a:t>
            </a:r>
            <a:endParaRPr lang="en-US" sz="950" dirty="0"/>
          </a:p>
        </p:txBody>
      </p:sp>
      <p:sp>
        <p:nvSpPr>
          <p:cNvPr id="33" name="Text 31"/>
          <p:cNvSpPr txBox="1"/>
          <p:nvPr/>
        </p:nvSpPr>
        <p:spPr>
          <a:xfrm>
            <a:off x="6327648" y="4169664"/>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we keep key signals in fewer dimensions?”</a:t>
            </a:r>
            <a:endParaRPr lang="en-US" sz="950" dirty="0"/>
          </a:p>
        </p:txBody>
      </p:sp>
      <p:sp>
        <p:nvSpPr>
          <p:cNvPr id="34" name="Text 32"/>
          <p:cNvSpPr txBox="1"/>
          <p:nvPr/>
        </p:nvSpPr>
        <p:spPr>
          <a:xfrm>
            <a:off x="6327648" y="4352544"/>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2D/3D representation</a:t>
            </a:r>
            <a:endParaRPr lang="en-US" sz="1000" dirty="0"/>
          </a:p>
        </p:txBody>
      </p:sp>
      <p:sp>
        <p:nvSpPr>
          <p:cNvPr id="35" name="Shape 33"/>
          <p:cNvSpPr/>
          <p:nvPr/>
        </p:nvSpPr>
        <p:spPr>
          <a:xfrm>
            <a:off x="3351276" y="4764024"/>
            <a:ext cx="5486400" cy="1170432"/>
          </a:xfrm>
          <a:prstGeom prst="roundRect">
            <a:avLst>
              <a:gd name="adj" fmla="val 4688"/>
            </a:avLst>
          </a:prstGeom>
          <a:solidFill>
            <a:srgbClr val="FFFFFF"/>
          </a:solidFill>
          <a:ln w="9525">
            <a:solidFill>
              <a:srgbClr val="E3E9F2"/>
            </a:solidFill>
            <a:prstDash val="solid"/>
          </a:ln>
        </p:spPr>
      </p:sp>
      <p:sp>
        <p:nvSpPr>
          <p:cNvPr id="36" name="Shape 34"/>
          <p:cNvSpPr/>
          <p:nvPr/>
        </p:nvSpPr>
        <p:spPr>
          <a:xfrm>
            <a:off x="3515868" y="4910328"/>
            <a:ext cx="347472" cy="347472"/>
          </a:xfrm>
          <a:prstGeom prst="ellipse">
            <a:avLst/>
          </a:prstGeom>
          <a:solidFill>
            <a:srgbClr val="2A9D8F"/>
          </a:solidFill>
        </p:spPr>
      </p:sp>
      <p:sp>
        <p:nvSpPr>
          <p:cNvPr id="37" name="Text 35"/>
          <p:cNvSpPr txBox="1"/>
          <p:nvPr/>
        </p:nvSpPr>
        <p:spPr>
          <a:xfrm>
            <a:off x="3515868" y="491032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38" name="Text 36"/>
          <p:cNvSpPr txBox="1"/>
          <p:nvPr/>
        </p:nvSpPr>
        <p:spPr>
          <a:xfrm>
            <a:off x="3973068" y="4882896"/>
            <a:ext cx="4681728"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Apriori / Association Rules</a:t>
            </a:r>
            <a:endParaRPr lang="en-US" sz="1450" dirty="0"/>
          </a:p>
        </p:txBody>
      </p:sp>
      <p:sp>
        <p:nvSpPr>
          <p:cNvPr id="39" name="Text 37"/>
          <p:cNvSpPr txBox="1"/>
          <p:nvPr/>
        </p:nvSpPr>
        <p:spPr>
          <a:xfrm>
            <a:off x="3515868" y="5257800"/>
            <a:ext cx="5157216"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FIND THINGS THAT OCCUR TOGETHER</a:t>
            </a:r>
            <a:endParaRPr lang="en-US" sz="950" dirty="0"/>
          </a:p>
        </p:txBody>
      </p:sp>
      <p:sp>
        <p:nvSpPr>
          <p:cNvPr id="40" name="Text 38"/>
          <p:cNvSpPr txBox="1"/>
          <p:nvPr/>
        </p:nvSpPr>
        <p:spPr>
          <a:xfrm>
            <a:off x="3515868" y="5477256"/>
            <a:ext cx="5157216"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conditions frequently appear together before a flood?”</a:t>
            </a:r>
            <a:endParaRPr lang="en-US" sz="950" dirty="0"/>
          </a:p>
        </p:txBody>
      </p:sp>
      <p:sp>
        <p:nvSpPr>
          <p:cNvPr id="41" name="Text 39"/>
          <p:cNvSpPr txBox="1"/>
          <p:nvPr/>
        </p:nvSpPr>
        <p:spPr>
          <a:xfrm>
            <a:off x="3515868" y="5660136"/>
            <a:ext cx="5157216"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Association patterns</a:t>
            </a:r>
            <a:endParaRPr lang="en-US" sz="1000" dirty="0"/>
          </a:p>
        </p:txBody>
      </p:sp>
      <p:sp>
        <p:nvSpPr>
          <p:cNvPr id="42" name="Shape 40"/>
          <p:cNvSpPr/>
          <p:nvPr/>
        </p:nvSpPr>
        <p:spPr>
          <a:xfrm>
            <a:off x="502920" y="6071616"/>
            <a:ext cx="11183112" cy="347472"/>
          </a:xfrm>
          <a:prstGeom prst="roundRect">
            <a:avLst>
              <a:gd name="adj" fmla="val 15789"/>
            </a:avLst>
          </a:prstGeom>
          <a:solidFill>
            <a:srgbClr val="2A9D8F"/>
          </a:solidFill>
        </p:spPr>
      </p:sp>
      <p:sp>
        <p:nvSpPr>
          <p:cNvPr id="43" name="Text 41"/>
          <p:cNvSpPr txBox="1"/>
          <p:nvPr/>
        </p:nvSpPr>
        <p:spPr>
          <a:xfrm>
            <a:off x="502920" y="6071616"/>
            <a:ext cx="1118311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REMEMBER:  GROUP • NEST • DENSITY • SIMPLIFY • ASSOCIATIONS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908792" cy="54864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Reinforcement Learning — Algorithms</a:t>
            </a:r>
            <a:endParaRPr lang="en-US" sz="24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No fixed answers. The model learns by trial and error, guided by rewards.</a:t>
            </a:r>
            <a:endParaRPr lang="en-US" sz="1400" dirty="0"/>
          </a:p>
        </p:txBody>
      </p:sp>
      <p:sp>
        <p:nvSpPr>
          <p:cNvPr id="5" name="Shape 3"/>
          <p:cNvSpPr/>
          <p:nvPr/>
        </p:nvSpPr>
        <p:spPr>
          <a:xfrm>
            <a:off x="502920" y="1627632"/>
            <a:ext cx="11183112" cy="457200"/>
          </a:xfrm>
          <a:prstGeom prst="roundRect">
            <a:avLst>
              <a:gd name="adj" fmla="val 24000"/>
            </a:avLst>
          </a:prstGeom>
          <a:solidFill>
            <a:srgbClr val="E63946"/>
          </a:solidFill>
        </p:spPr>
      </p:sp>
      <p:sp>
        <p:nvSpPr>
          <p:cNvPr id="6" name="Text 4"/>
          <p:cNvSpPr txBox="1"/>
          <p:nvPr/>
        </p:nvSpPr>
        <p:spPr>
          <a:xfrm>
            <a:off x="502920" y="1627632"/>
            <a:ext cx="11183112" cy="4572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  FLOOD RESCUE:   Drone Position  •  Water Level  •  Battery  →  NO FIXED ANSWERS, ONLY REWARDS</a:t>
            </a:r>
            <a:endParaRPr lang="en-US" sz="1250" dirty="0"/>
          </a:p>
        </p:txBody>
      </p:sp>
      <p:sp>
        <p:nvSpPr>
          <p:cNvPr id="7" name="Shape 5"/>
          <p:cNvSpPr/>
          <p:nvPr/>
        </p:nvSpPr>
        <p:spPr>
          <a:xfrm>
            <a:off x="777240" y="2148840"/>
            <a:ext cx="5248656" cy="1170432"/>
          </a:xfrm>
          <a:prstGeom prst="roundRect">
            <a:avLst>
              <a:gd name="adj" fmla="val 4688"/>
            </a:avLst>
          </a:prstGeom>
          <a:solidFill>
            <a:srgbClr val="FFFFFF"/>
          </a:solidFill>
          <a:ln w="9525">
            <a:solidFill>
              <a:srgbClr val="E3E9F2"/>
            </a:solidFill>
            <a:prstDash val="solid"/>
          </a:ln>
        </p:spPr>
      </p:sp>
      <p:sp>
        <p:nvSpPr>
          <p:cNvPr id="8" name="Shape 6"/>
          <p:cNvSpPr/>
          <p:nvPr/>
        </p:nvSpPr>
        <p:spPr>
          <a:xfrm>
            <a:off x="941832" y="2295144"/>
            <a:ext cx="347472" cy="347472"/>
          </a:xfrm>
          <a:prstGeom prst="ellipse">
            <a:avLst/>
          </a:prstGeom>
          <a:solidFill>
            <a:srgbClr val="E63946"/>
          </a:solidFill>
        </p:spPr>
      </p:sp>
      <p:sp>
        <p:nvSpPr>
          <p:cNvPr id="9" name="Text 7"/>
          <p:cNvSpPr txBox="1"/>
          <p:nvPr/>
        </p:nvSpPr>
        <p:spPr>
          <a:xfrm>
            <a:off x="941832" y="2295144"/>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10" name="Text 8"/>
          <p:cNvSpPr txBox="1"/>
          <p:nvPr/>
        </p:nvSpPr>
        <p:spPr>
          <a:xfrm>
            <a:off x="1399032" y="2267712"/>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Q-Learning</a:t>
            </a:r>
            <a:endParaRPr lang="en-US" sz="1450" dirty="0"/>
          </a:p>
        </p:txBody>
      </p:sp>
      <p:sp>
        <p:nvSpPr>
          <p:cNvPr id="11" name="Text 9"/>
          <p:cNvSpPr txBox="1"/>
          <p:nvPr/>
        </p:nvSpPr>
        <p:spPr>
          <a:xfrm>
            <a:off x="941832" y="2642616"/>
            <a:ext cx="4919472"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LEARNS THE BEST ACTION</a:t>
            </a:r>
            <a:endParaRPr lang="en-US" sz="950" dirty="0"/>
          </a:p>
        </p:txBody>
      </p:sp>
      <p:sp>
        <p:nvSpPr>
          <p:cNvPr id="12" name="Text 10"/>
          <p:cNvSpPr txBox="1"/>
          <p:nvPr/>
        </p:nvSpPr>
        <p:spPr>
          <a:xfrm>
            <a:off x="941832" y="2862072"/>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rescue move should the drone make here?”</a:t>
            </a:r>
            <a:endParaRPr lang="en-US" sz="950" dirty="0"/>
          </a:p>
        </p:txBody>
      </p:sp>
      <p:sp>
        <p:nvSpPr>
          <p:cNvPr id="13" name="Text 11"/>
          <p:cNvSpPr txBox="1"/>
          <p:nvPr/>
        </p:nvSpPr>
        <p:spPr>
          <a:xfrm>
            <a:off x="941832" y="3044952"/>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Reward table for every state</a:t>
            </a:r>
            <a:endParaRPr lang="en-US" sz="1000" dirty="0"/>
          </a:p>
        </p:txBody>
      </p:sp>
      <p:sp>
        <p:nvSpPr>
          <p:cNvPr id="14" name="Shape 12"/>
          <p:cNvSpPr/>
          <p:nvPr/>
        </p:nvSpPr>
        <p:spPr>
          <a:xfrm>
            <a:off x="6163056" y="2148840"/>
            <a:ext cx="5248656" cy="1170432"/>
          </a:xfrm>
          <a:prstGeom prst="roundRect">
            <a:avLst>
              <a:gd name="adj" fmla="val 4688"/>
            </a:avLst>
          </a:prstGeom>
          <a:solidFill>
            <a:srgbClr val="FFFFFF"/>
          </a:solidFill>
          <a:ln w="9525">
            <a:solidFill>
              <a:srgbClr val="E3E9F2"/>
            </a:solidFill>
            <a:prstDash val="solid"/>
          </a:ln>
        </p:spPr>
      </p:sp>
      <p:sp>
        <p:nvSpPr>
          <p:cNvPr id="15" name="Shape 13"/>
          <p:cNvSpPr/>
          <p:nvPr/>
        </p:nvSpPr>
        <p:spPr>
          <a:xfrm>
            <a:off x="6327648" y="2295144"/>
            <a:ext cx="347472" cy="347472"/>
          </a:xfrm>
          <a:prstGeom prst="ellipse">
            <a:avLst/>
          </a:prstGeom>
          <a:solidFill>
            <a:srgbClr val="E63946"/>
          </a:solidFill>
        </p:spPr>
      </p:sp>
      <p:sp>
        <p:nvSpPr>
          <p:cNvPr id="16" name="Text 14"/>
          <p:cNvSpPr txBox="1"/>
          <p:nvPr/>
        </p:nvSpPr>
        <p:spPr>
          <a:xfrm>
            <a:off x="6327648" y="2295144"/>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7" name="Text 15"/>
          <p:cNvSpPr txBox="1"/>
          <p:nvPr/>
        </p:nvSpPr>
        <p:spPr>
          <a:xfrm>
            <a:off x="6784848" y="2267712"/>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Deep Q-Network (DQN)</a:t>
            </a:r>
            <a:endParaRPr lang="en-US" sz="1450" dirty="0"/>
          </a:p>
        </p:txBody>
      </p:sp>
      <p:sp>
        <p:nvSpPr>
          <p:cNvPr id="18" name="Text 16"/>
          <p:cNvSpPr txBox="1"/>
          <p:nvPr/>
        </p:nvSpPr>
        <p:spPr>
          <a:xfrm>
            <a:off x="6327648" y="2642616"/>
            <a:ext cx="4919472"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USES A NEURAL NETWORK</a:t>
            </a:r>
            <a:endParaRPr lang="en-US" sz="950" dirty="0"/>
          </a:p>
        </p:txBody>
      </p:sp>
      <p:sp>
        <p:nvSpPr>
          <p:cNvPr id="19" name="Text 17"/>
          <p:cNvSpPr txBox="1"/>
          <p:nvPr/>
        </p:nvSpPr>
        <p:spPr>
          <a:xfrm>
            <a:off x="6327648" y="2862072"/>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we handle complex, high-dimensional flood scenes?”</a:t>
            </a:r>
            <a:endParaRPr lang="en-US" sz="950" dirty="0"/>
          </a:p>
        </p:txBody>
      </p:sp>
      <p:sp>
        <p:nvSpPr>
          <p:cNvPr id="20" name="Text 18"/>
          <p:cNvSpPr txBox="1"/>
          <p:nvPr/>
        </p:nvSpPr>
        <p:spPr>
          <a:xfrm>
            <a:off x="6327648" y="3044952"/>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Q-values via deep learning</a:t>
            </a:r>
            <a:endParaRPr lang="en-US" sz="1000" dirty="0"/>
          </a:p>
        </p:txBody>
      </p:sp>
      <p:sp>
        <p:nvSpPr>
          <p:cNvPr id="21" name="Shape 19"/>
          <p:cNvSpPr/>
          <p:nvPr/>
        </p:nvSpPr>
        <p:spPr>
          <a:xfrm>
            <a:off x="777240" y="3456432"/>
            <a:ext cx="5248656" cy="1170432"/>
          </a:xfrm>
          <a:prstGeom prst="roundRect">
            <a:avLst>
              <a:gd name="adj" fmla="val 4688"/>
            </a:avLst>
          </a:prstGeom>
          <a:solidFill>
            <a:srgbClr val="FFFFFF"/>
          </a:solidFill>
          <a:ln w="9525">
            <a:solidFill>
              <a:srgbClr val="E3E9F2"/>
            </a:solidFill>
            <a:prstDash val="solid"/>
          </a:ln>
        </p:spPr>
      </p:sp>
      <p:sp>
        <p:nvSpPr>
          <p:cNvPr id="22" name="Shape 20"/>
          <p:cNvSpPr/>
          <p:nvPr/>
        </p:nvSpPr>
        <p:spPr>
          <a:xfrm>
            <a:off x="941832" y="3602736"/>
            <a:ext cx="347472" cy="347472"/>
          </a:xfrm>
          <a:prstGeom prst="ellipse">
            <a:avLst/>
          </a:prstGeom>
          <a:solidFill>
            <a:srgbClr val="E63946"/>
          </a:solidFill>
        </p:spPr>
      </p:sp>
      <p:sp>
        <p:nvSpPr>
          <p:cNvPr id="23" name="Text 21"/>
          <p:cNvSpPr txBox="1"/>
          <p:nvPr/>
        </p:nvSpPr>
        <p:spPr>
          <a:xfrm>
            <a:off x="941832" y="3602736"/>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4" name="Text 22"/>
          <p:cNvSpPr txBox="1"/>
          <p:nvPr/>
        </p:nvSpPr>
        <p:spPr>
          <a:xfrm>
            <a:off x="1399032" y="3575304"/>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SARSA</a:t>
            </a:r>
            <a:endParaRPr lang="en-US" sz="1450" dirty="0"/>
          </a:p>
        </p:txBody>
      </p:sp>
      <p:sp>
        <p:nvSpPr>
          <p:cNvPr id="25" name="Text 23"/>
          <p:cNvSpPr txBox="1"/>
          <p:nvPr/>
        </p:nvSpPr>
        <p:spPr>
          <a:xfrm>
            <a:off x="941832" y="3950208"/>
            <a:ext cx="4919472"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LEARNS FROM ACTION TAKEN</a:t>
            </a:r>
            <a:endParaRPr lang="en-US" sz="950" dirty="0"/>
          </a:p>
        </p:txBody>
      </p:sp>
      <p:sp>
        <p:nvSpPr>
          <p:cNvPr id="26" name="Text 24"/>
          <p:cNvSpPr txBox="1"/>
          <p:nvPr/>
        </p:nvSpPr>
        <p:spPr>
          <a:xfrm>
            <a:off x="941832" y="4169664"/>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happens if we follow the actual policy taken?”</a:t>
            </a:r>
            <a:endParaRPr lang="en-US" sz="950" dirty="0"/>
          </a:p>
        </p:txBody>
      </p:sp>
      <p:sp>
        <p:nvSpPr>
          <p:cNvPr id="27" name="Text 25"/>
          <p:cNvSpPr txBox="1"/>
          <p:nvPr/>
        </p:nvSpPr>
        <p:spPr>
          <a:xfrm>
            <a:off x="941832" y="4352544"/>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On-policy action values</a:t>
            </a:r>
            <a:endParaRPr lang="en-US" sz="1000" dirty="0"/>
          </a:p>
        </p:txBody>
      </p:sp>
      <p:sp>
        <p:nvSpPr>
          <p:cNvPr id="28" name="Shape 26"/>
          <p:cNvSpPr/>
          <p:nvPr/>
        </p:nvSpPr>
        <p:spPr>
          <a:xfrm>
            <a:off x="6163056" y="3456432"/>
            <a:ext cx="5248656" cy="1170432"/>
          </a:xfrm>
          <a:prstGeom prst="roundRect">
            <a:avLst>
              <a:gd name="adj" fmla="val 4688"/>
            </a:avLst>
          </a:prstGeom>
          <a:solidFill>
            <a:srgbClr val="FFFFFF"/>
          </a:solidFill>
          <a:ln w="9525">
            <a:solidFill>
              <a:srgbClr val="E3E9F2"/>
            </a:solidFill>
            <a:prstDash val="solid"/>
          </a:ln>
        </p:spPr>
      </p:sp>
      <p:sp>
        <p:nvSpPr>
          <p:cNvPr id="29" name="Shape 27"/>
          <p:cNvSpPr/>
          <p:nvPr/>
        </p:nvSpPr>
        <p:spPr>
          <a:xfrm>
            <a:off x="6327648" y="3602736"/>
            <a:ext cx="347472" cy="347472"/>
          </a:xfrm>
          <a:prstGeom prst="ellipse">
            <a:avLst/>
          </a:prstGeom>
          <a:solidFill>
            <a:srgbClr val="E63946"/>
          </a:solidFill>
        </p:spPr>
      </p:sp>
      <p:sp>
        <p:nvSpPr>
          <p:cNvPr id="30" name="Text 28"/>
          <p:cNvSpPr txBox="1"/>
          <p:nvPr/>
        </p:nvSpPr>
        <p:spPr>
          <a:xfrm>
            <a:off x="6327648" y="3602736"/>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31" name="Text 29"/>
          <p:cNvSpPr txBox="1"/>
          <p:nvPr/>
        </p:nvSpPr>
        <p:spPr>
          <a:xfrm>
            <a:off x="6784848" y="3575304"/>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Policy Gradient</a:t>
            </a:r>
            <a:endParaRPr lang="en-US" sz="1450" dirty="0"/>
          </a:p>
        </p:txBody>
      </p:sp>
      <p:sp>
        <p:nvSpPr>
          <p:cNvPr id="32" name="Text 30"/>
          <p:cNvSpPr txBox="1"/>
          <p:nvPr/>
        </p:nvSpPr>
        <p:spPr>
          <a:xfrm>
            <a:off x="6327648" y="3950208"/>
            <a:ext cx="4919472"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LEARNS THE STRATEGY DIRECTLY</a:t>
            </a:r>
            <a:endParaRPr lang="en-US" sz="950" dirty="0"/>
          </a:p>
        </p:txBody>
      </p:sp>
      <p:sp>
        <p:nvSpPr>
          <p:cNvPr id="33" name="Text 31"/>
          <p:cNvSpPr txBox="1"/>
          <p:nvPr/>
        </p:nvSpPr>
        <p:spPr>
          <a:xfrm>
            <a:off x="6327648" y="4169664"/>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“What's the best overall rescue policy?”</a:t>
            </a:r>
            <a:endParaRPr lang="en-US" sz="950" dirty="0"/>
          </a:p>
        </p:txBody>
      </p:sp>
      <p:sp>
        <p:nvSpPr>
          <p:cNvPr id="34" name="Text 32"/>
          <p:cNvSpPr txBox="1"/>
          <p:nvPr/>
        </p:nvSpPr>
        <p:spPr>
          <a:xfrm>
            <a:off x="6327648" y="4352544"/>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A direct policy, not a table</a:t>
            </a:r>
            <a:endParaRPr lang="en-US" sz="1000" dirty="0"/>
          </a:p>
        </p:txBody>
      </p:sp>
      <p:sp>
        <p:nvSpPr>
          <p:cNvPr id="35" name="Shape 33"/>
          <p:cNvSpPr/>
          <p:nvPr/>
        </p:nvSpPr>
        <p:spPr>
          <a:xfrm>
            <a:off x="3351276" y="4764024"/>
            <a:ext cx="5486400" cy="1170432"/>
          </a:xfrm>
          <a:prstGeom prst="roundRect">
            <a:avLst>
              <a:gd name="adj" fmla="val 4688"/>
            </a:avLst>
          </a:prstGeom>
          <a:solidFill>
            <a:srgbClr val="FFFFFF"/>
          </a:solidFill>
          <a:ln w="9525">
            <a:solidFill>
              <a:srgbClr val="E3E9F2"/>
            </a:solidFill>
            <a:prstDash val="solid"/>
          </a:ln>
        </p:spPr>
      </p:sp>
      <p:sp>
        <p:nvSpPr>
          <p:cNvPr id="36" name="Shape 34"/>
          <p:cNvSpPr/>
          <p:nvPr/>
        </p:nvSpPr>
        <p:spPr>
          <a:xfrm>
            <a:off x="3515868" y="4910328"/>
            <a:ext cx="347472" cy="347472"/>
          </a:xfrm>
          <a:prstGeom prst="ellipse">
            <a:avLst/>
          </a:prstGeom>
          <a:solidFill>
            <a:srgbClr val="E63946"/>
          </a:solidFill>
        </p:spPr>
      </p:sp>
      <p:sp>
        <p:nvSpPr>
          <p:cNvPr id="37" name="Text 35"/>
          <p:cNvSpPr txBox="1"/>
          <p:nvPr/>
        </p:nvSpPr>
        <p:spPr>
          <a:xfrm>
            <a:off x="3515868" y="491032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38" name="Text 36"/>
          <p:cNvSpPr txBox="1"/>
          <p:nvPr/>
        </p:nvSpPr>
        <p:spPr>
          <a:xfrm>
            <a:off x="3973068" y="4882896"/>
            <a:ext cx="4681728"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Actor-Critic</a:t>
            </a:r>
            <a:endParaRPr lang="en-US" sz="1450" dirty="0"/>
          </a:p>
        </p:txBody>
      </p:sp>
      <p:sp>
        <p:nvSpPr>
          <p:cNvPr id="39" name="Text 37"/>
          <p:cNvSpPr txBox="1"/>
          <p:nvPr/>
        </p:nvSpPr>
        <p:spPr>
          <a:xfrm>
            <a:off x="3515868" y="5257800"/>
            <a:ext cx="5157216"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TWO MODELS COOPERATE</a:t>
            </a:r>
            <a:endParaRPr lang="en-US" sz="950" dirty="0"/>
          </a:p>
        </p:txBody>
      </p:sp>
      <p:sp>
        <p:nvSpPr>
          <p:cNvPr id="40" name="Text 38"/>
          <p:cNvSpPr txBox="1"/>
          <p:nvPr/>
        </p:nvSpPr>
        <p:spPr>
          <a:xfrm>
            <a:off x="3515868" y="5477256"/>
            <a:ext cx="5157216"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one model act while another evaluates the move?”</a:t>
            </a:r>
            <a:endParaRPr lang="en-US" sz="950" dirty="0"/>
          </a:p>
        </p:txBody>
      </p:sp>
      <p:sp>
        <p:nvSpPr>
          <p:cNvPr id="41" name="Text 39"/>
          <p:cNvSpPr txBox="1"/>
          <p:nvPr/>
        </p:nvSpPr>
        <p:spPr>
          <a:xfrm>
            <a:off x="3515868" y="5660136"/>
            <a:ext cx="5157216"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A combined actor + critic</a:t>
            </a:r>
            <a:endParaRPr lang="en-US" sz="1000" dirty="0"/>
          </a:p>
        </p:txBody>
      </p:sp>
      <p:sp>
        <p:nvSpPr>
          <p:cNvPr id="42" name="Shape 40"/>
          <p:cNvSpPr/>
          <p:nvPr/>
        </p:nvSpPr>
        <p:spPr>
          <a:xfrm>
            <a:off x="502920" y="6071616"/>
            <a:ext cx="11183112" cy="347472"/>
          </a:xfrm>
          <a:prstGeom prst="roundRect">
            <a:avLst>
              <a:gd name="adj" fmla="val 15789"/>
            </a:avLst>
          </a:prstGeom>
          <a:solidFill>
            <a:srgbClr val="E63946"/>
          </a:solidFill>
        </p:spPr>
      </p:sp>
      <p:sp>
        <p:nvSpPr>
          <p:cNvPr id="43" name="Text 41"/>
          <p:cNvSpPr txBox="1"/>
          <p:nvPr/>
        </p:nvSpPr>
        <p:spPr>
          <a:xfrm>
            <a:off x="502920" y="6071616"/>
            <a:ext cx="1118311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REMEMBER:  ACTION • NETWORK • ON-POLICY • STRATEGY • COOPERATION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8229600" cy="54864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How Should the Model Decide?</a:t>
            </a:r>
            <a:endParaRPr lang="en-US" sz="2600" dirty="0"/>
          </a:p>
        </p:txBody>
      </p:sp>
      <p:sp>
        <p:nvSpPr>
          <p:cNvPr id="4" name="Shape 2"/>
          <p:cNvSpPr/>
          <p:nvPr/>
        </p:nvSpPr>
        <p:spPr>
          <a:xfrm>
            <a:off x="640080" y="1234440"/>
            <a:ext cx="10908792" cy="777240"/>
          </a:xfrm>
          <a:prstGeom prst="roundRect">
            <a:avLst>
              <a:gd name="adj" fmla="val 14118"/>
            </a:avLst>
          </a:prstGeom>
          <a:solidFill>
            <a:srgbClr val="0B2A4A"/>
          </a:solidFill>
          <a:effectLst>
            <a:outerShdw blurRad="101600" dist="38100" dir="5400000" algn="bl" rotWithShape="0">
              <a:srgbClr val="000000">
                <a:alpha val="25000"/>
              </a:srgbClr>
            </a:outerShdw>
          </a:effectLst>
        </p:spPr>
      </p:sp>
      <p:sp>
        <p:nvSpPr>
          <p:cNvPr id="5" name="Text 3"/>
          <p:cNvSpPr txBox="1"/>
          <p:nvPr/>
        </p:nvSpPr>
        <p:spPr>
          <a:xfrm>
            <a:off x="914400" y="1234440"/>
            <a:ext cx="10360152" cy="777240"/>
          </a:xfrm>
          <a:prstGeom prst="rect">
            <a:avLst/>
          </a:prstGeom>
          <a:noFill/>
        </p:spPr>
        <p:txBody>
          <a:bodyPr wrap="square" lIns="0" tIns="0" rIns="0" bIns="0" rtlCol="0" anchor="ctr"/>
          <a:lstStyle/>
          <a:p>
            <a:pPr marL="0" indent="0" algn="l">
              <a:buNone/>
            </a:pPr>
            <a:r>
              <a:rPr lang="en-US" sz="15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If rainfall is high, should we immediately say Severe? What should we check next?</a:t>
            </a:r>
            <a:endParaRPr lang="en-US" sz="1500" dirty="0"/>
          </a:p>
        </p:txBody>
      </p:sp>
      <p:sp>
        <p:nvSpPr>
          <p:cNvPr id="6" name="Shape 4"/>
          <p:cNvSpPr/>
          <p:nvPr/>
        </p:nvSpPr>
        <p:spPr>
          <a:xfrm>
            <a:off x="914400" y="2286000"/>
            <a:ext cx="3291840" cy="594360"/>
          </a:xfrm>
          <a:prstGeom prst="roundRect">
            <a:avLst>
              <a:gd name="adj" fmla="val 12308"/>
            </a:avLst>
          </a:prstGeom>
          <a:solidFill>
            <a:srgbClr val="0F3D5C"/>
          </a:solidFill>
        </p:spPr>
      </p:sp>
      <p:sp>
        <p:nvSpPr>
          <p:cNvPr id="7" name="Text 5"/>
          <p:cNvSpPr txBox="1"/>
          <p:nvPr/>
        </p:nvSpPr>
        <p:spPr>
          <a:xfrm>
            <a:off x="914400" y="2286000"/>
            <a:ext cx="3291840" cy="594360"/>
          </a:xfrm>
          <a:prstGeom prst="rect">
            <a:avLst/>
          </a:prstGeom>
          <a:noFill/>
        </p:spPr>
        <p:txBody>
          <a:bodyPr wrap="square" lIns="0" tIns="0" rIns="0" bIns="0" rtlCol="0" anchor="ctr"/>
          <a:lstStyle/>
          <a:p>
            <a:pPr marL="0" indent="0" algn="ctr">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Rainfall &gt; 80?</a:t>
            </a:r>
            <a:endParaRPr lang="en-US" sz="1400" dirty="0"/>
          </a:p>
        </p:txBody>
      </p:sp>
      <p:sp>
        <p:nvSpPr>
          <p:cNvPr id="8" name="Text 6"/>
          <p:cNvSpPr txBox="1"/>
          <p:nvPr/>
        </p:nvSpPr>
        <p:spPr>
          <a:xfrm>
            <a:off x="4206240" y="2331720"/>
            <a:ext cx="822960" cy="502920"/>
          </a:xfrm>
          <a:prstGeom prst="rect">
            <a:avLst/>
          </a:prstGeom>
          <a:noFill/>
        </p:spPr>
        <p:txBody>
          <a:bodyPr wrap="square" lIns="0" tIns="0" rIns="0" bIns="0" rtlCol="0" anchor="ctr"/>
          <a:lstStyle/>
          <a:p>
            <a:pPr marL="0" indent="0" algn="ctr">
              <a:buNone/>
            </a:pPr>
            <a:r>
              <a:rPr lang="en-US" sz="1200" b="1" dirty="0">
                <a:solidFill>
                  <a:srgbClr val="5B6B82"/>
                </a:solidFill>
                <a:latin typeface="Calibri" panose="020F0502020204030204" pitchFamily="34" charset="0"/>
                <a:ea typeface="Calibri" panose="020F0502020204030204" pitchFamily="34" charset="-122"/>
                <a:cs typeface="Calibri" panose="020F0502020204030204" pitchFamily="34" charset="-120"/>
              </a:rPr>
              <a:t>↓ YES</a:t>
            </a:r>
            <a:endParaRPr lang="en-US" sz="1200" dirty="0"/>
          </a:p>
        </p:txBody>
      </p:sp>
      <p:sp>
        <p:nvSpPr>
          <p:cNvPr id="9" name="Shape 7"/>
          <p:cNvSpPr/>
          <p:nvPr/>
        </p:nvSpPr>
        <p:spPr>
          <a:xfrm>
            <a:off x="1417320" y="3108960"/>
            <a:ext cx="3291840" cy="594360"/>
          </a:xfrm>
          <a:prstGeom prst="roundRect">
            <a:avLst>
              <a:gd name="adj" fmla="val 12308"/>
            </a:avLst>
          </a:prstGeom>
          <a:solidFill>
            <a:srgbClr val="0F3D5C"/>
          </a:solidFill>
        </p:spPr>
      </p:sp>
      <p:sp>
        <p:nvSpPr>
          <p:cNvPr id="10" name="Text 8"/>
          <p:cNvSpPr txBox="1"/>
          <p:nvPr/>
        </p:nvSpPr>
        <p:spPr>
          <a:xfrm>
            <a:off x="1417320" y="3108960"/>
            <a:ext cx="3291840" cy="594360"/>
          </a:xfrm>
          <a:prstGeom prst="rect">
            <a:avLst/>
          </a:prstGeom>
          <a:noFill/>
        </p:spPr>
        <p:txBody>
          <a:bodyPr wrap="square" lIns="0" tIns="0" rIns="0" bIns="0" rtlCol="0" anchor="ctr"/>
          <a:lstStyle/>
          <a:p>
            <a:pPr marL="0" indent="0" algn="ctr">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River Level &gt; 4?</a:t>
            </a:r>
            <a:endParaRPr lang="en-US" sz="1400" dirty="0"/>
          </a:p>
        </p:txBody>
      </p:sp>
      <p:sp>
        <p:nvSpPr>
          <p:cNvPr id="11" name="Text 9"/>
          <p:cNvSpPr txBox="1"/>
          <p:nvPr/>
        </p:nvSpPr>
        <p:spPr>
          <a:xfrm>
            <a:off x="4709160" y="3154680"/>
            <a:ext cx="822960" cy="502920"/>
          </a:xfrm>
          <a:prstGeom prst="rect">
            <a:avLst/>
          </a:prstGeom>
          <a:noFill/>
        </p:spPr>
        <p:txBody>
          <a:bodyPr wrap="square" lIns="0" tIns="0" rIns="0" bIns="0" rtlCol="0" anchor="ctr"/>
          <a:lstStyle/>
          <a:p>
            <a:pPr marL="0" indent="0" algn="ctr">
              <a:buNone/>
            </a:pPr>
            <a:r>
              <a:rPr lang="en-US" sz="1200" b="1" dirty="0">
                <a:solidFill>
                  <a:srgbClr val="5B6B82"/>
                </a:solidFill>
                <a:latin typeface="Calibri" panose="020F0502020204030204" pitchFamily="34" charset="0"/>
                <a:ea typeface="Calibri" panose="020F0502020204030204" pitchFamily="34" charset="-122"/>
                <a:cs typeface="Calibri" panose="020F0502020204030204" pitchFamily="34" charset="-120"/>
              </a:rPr>
              <a:t>↓ YES</a:t>
            </a:r>
            <a:endParaRPr lang="en-US" sz="1200" dirty="0"/>
          </a:p>
        </p:txBody>
      </p:sp>
      <p:sp>
        <p:nvSpPr>
          <p:cNvPr id="12" name="Shape 10"/>
          <p:cNvSpPr/>
          <p:nvPr/>
        </p:nvSpPr>
        <p:spPr>
          <a:xfrm>
            <a:off x="1920240" y="3931920"/>
            <a:ext cx="3291840" cy="594360"/>
          </a:xfrm>
          <a:prstGeom prst="roundRect">
            <a:avLst>
              <a:gd name="adj" fmla="val 12308"/>
            </a:avLst>
          </a:prstGeom>
          <a:solidFill>
            <a:srgbClr val="0F3D5C"/>
          </a:solidFill>
        </p:spPr>
      </p:sp>
      <p:sp>
        <p:nvSpPr>
          <p:cNvPr id="13" name="Text 11"/>
          <p:cNvSpPr txBox="1"/>
          <p:nvPr/>
        </p:nvSpPr>
        <p:spPr>
          <a:xfrm>
            <a:off x="1920240" y="3931920"/>
            <a:ext cx="3291840" cy="594360"/>
          </a:xfrm>
          <a:prstGeom prst="rect">
            <a:avLst/>
          </a:prstGeom>
          <a:noFill/>
        </p:spPr>
        <p:txBody>
          <a:bodyPr wrap="square" lIns="0" tIns="0" rIns="0" bIns="0" rtlCol="0" anchor="ctr"/>
          <a:lstStyle/>
          <a:p>
            <a:pPr marL="0" indent="0" algn="ctr">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911 Calls &gt; 30?</a:t>
            </a:r>
            <a:endParaRPr lang="en-US" sz="1400" dirty="0"/>
          </a:p>
        </p:txBody>
      </p:sp>
      <p:sp>
        <p:nvSpPr>
          <p:cNvPr id="14" name="Text 12"/>
          <p:cNvSpPr txBox="1"/>
          <p:nvPr/>
        </p:nvSpPr>
        <p:spPr>
          <a:xfrm>
            <a:off x="5212080" y="3977640"/>
            <a:ext cx="822960" cy="502920"/>
          </a:xfrm>
          <a:prstGeom prst="rect">
            <a:avLst/>
          </a:prstGeom>
          <a:noFill/>
        </p:spPr>
        <p:txBody>
          <a:bodyPr wrap="square" lIns="0" tIns="0" rIns="0" bIns="0" rtlCol="0" anchor="ctr"/>
          <a:lstStyle/>
          <a:p>
            <a:pPr marL="0" indent="0" algn="ctr">
              <a:buNone/>
            </a:pPr>
            <a:r>
              <a:rPr lang="en-US" sz="1200" b="1" dirty="0">
                <a:solidFill>
                  <a:srgbClr val="5B6B82"/>
                </a:solidFill>
                <a:latin typeface="Calibri" panose="020F0502020204030204" pitchFamily="34" charset="0"/>
                <a:ea typeface="Calibri" panose="020F0502020204030204" pitchFamily="34" charset="-122"/>
                <a:cs typeface="Calibri" panose="020F0502020204030204" pitchFamily="34" charset="-120"/>
              </a:rPr>
              <a:t>↓ YES</a:t>
            </a:r>
            <a:endParaRPr lang="en-US" sz="1200" dirty="0"/>
          </a:p>
        </p:txBody>
      </p:sp>
      <p:sp>
        <p:nvSpPr>
          <p:cNvPr id="15" name="Shape 13"/>
          <p:cNvSpPr/>
          <p:nvPr/>
        </p:nvSpPr>
        <p:spPr>
          <a:xfrm>
            <a:off x="2423160" y="4754880"/>
            <a:ext cx="3291840" cy="685800"/>
          </a:xfrm>
          <a:prstGeom prst="roundRect">
            <a:avLst>
              <a:gd name="adj" fmla="val 10667"/>
            </a:avLst>
          </a:prstGeom>
          <a:solidFill>
            <a:srgbClr val="E63946"/>
          </a:solidFill>
        </p:spPr>
      </p:sp>
      <p:sp>
        <p:nvSpPr>
          <p:cNvPr id="16" name="Text 14"/>
          <p:cNvSpPr txBox="1"/>
          <p:nvPr/>
        </p:nvSpPr>
        <p:spPr>
          <a:xfrm>
            <a:off x="2423160" y="4754880"/>
            <a:ext cx="3291840" cy="68580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 SEVERE RISK</a:t>
            </a:r>
            <a:endParaRPr lang="en-US" sz="1600" dirty="0"/>
          </a:p>
        </p:txBody>
      </p:sp>
      <p:sp>
        <p:nvSpPr>
          <p:cNvPr id="17" name="Shape 15"/>
          <p:cNvSpPr/>
          <p:nvPr/>
        </p:nvSpPr>
        <p:spPr>
          <a:xfrm>
            <a:off x="6492240" y="2286000"/>
            <a:ext cx="5056632" cy="3154680"/>
          </a:xfrm>
          <a:prstGeom prst="roundRect">
            <a:avLst>
              <a:gd name="adj" fmla="val 3478"/>
            </a:avLst>
          </a:prstGeom>
          <a:solidFill>
            <a:srgbClr val="13233D"/>
          </a:solidFill>
        </p:spPr>
      </p:sp>
      <p:sp>
        <p:nvSpPr>
          <p:cNvPr id="18" name="Text 16"/>
          <p:cNvSpPr txBox="1"/>
          <p:nvPr/>
        </p:nvSpPr>
        <p:spPr>
          <a:xfrm>
            <a:off x="6766560" y="2514600"/>
            <a:ext cx="4572000" cy="548640"/>
          </a:xfrm>
          <a:prstGeom prst="rect">
            <a:avLst/>
          </a:prstGeom>
          <a:noFill/>
        </p:spPr>
        <p:txBody>
          <a:bodyPr wrap="square" lIns="0" tIns="0" rIns="0" bIns="0" rtlCol="0" anchor="ctr"/>
          <a:lstStyle/>
          <a:p>
            <a:pPr marL="0" indent="0">
              <a:buNone/>
            </a:pPr>
            <a:r>
              <a:rPr lang="en-US" sz="1900" b="1" dirty="0">
                <a:solidFill>
                  <a:srgbClr val="FFB627"/>
                </a:solidFill>
                <a:latin typeface="Cambria" panose="02040503050406030204" pitchFamily="34" charset="0"/>
                <a:ea typeface="Cambria" panose="02040503050406030204" pitchFamily="34" charset="-122"/>
                <a:cs typeface="Cambria" panose="02040503050406030204" pitchFamily="34" charset="-120"/>
              </a:rPr>
              <a:t>You just built a Decision Tree.</a:t>
            </a:r>
            <a:endParaRPr lang="en-US" sz="1900" dirty="0"/>
          </a:p>
        </p:txBody>
      </p:sp>
      <p:sp>
        <p:nvSpPr>
          <p:cNvPr id="19" name="Text 17"/>
          <p:cNvSpPr txBox="1"/>
          <p:nvPr/>
        </p:nvSpPr>
        <p:spPr>
          <a:xfrm>
            <a:off x="6766560" y="3154680"/>
            <a:ext cx="4572000" cy="1280160"/>
          </a:xfrm>
          <a:prstGeom prst="rect">
            <a:avLst/>
          </a:prstGeom>
          <a:noFill/>
        </p:spPr>
        <p:txBody>
          <a:bodyPr wrap="square" lIns="0" tIns="0" rIns="0" bIns="0" rtlCol="0" anchor="ctr"/>
          <a:lstStyle/>
          <a:p>
            <a:pPr marL="0" indent="0">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A Decision Tree makes a decision by asking a series of simple questions — one check at a time — until it reaches an answer.</a:t>
            </a:r>
            <a:endParaRPr lang="en-US" sz="1400" dirty="0"/>
          </a:p>
        </p:txBody>
      </p:sp>
      <p:sp>
        <p:nvSpPr>
          <p:cNvPr id="23" name="Rounded Rectangle 22"/>
          <p:cNvSpPr/>
          <p:nvPr/>
        </p:nvSpPr>
        <p:spPr>
          <a:xfrm>
            <a:off x="640080" y="5700000"/>
            <a:ext cx="10908792" cy="640080"/>
          </a:xfrm>
          <a:prstGeom prst="roundRect">
            <a:avLst>
              <a:gd name="adj" fmla="val 15000"/>
            </a:avLst>
          </a:prstGeom>
          <a:solidFill>
            <a:srgbClr val="FFC000"/>
          </a:solidFill>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25" name="TextBox 6"/>
          <p:cNvSpPr txBox="1"/>
          <p:nvPr/>
        </p:nvSpPr>
        <p:spPr>
          <a:xfrm>
            <a:off x="836930" y="5789218"/>
            <a:ext cx="10543032" cy="461645"/>
          </a:xfrm>
          <a:prstGeom prst="rect">
            <a:avLst/>
          </a:prstGeom>
          <a:noFill/>
        </p:spPr>
        <p:txBody>
          <a:bodyPr wrap="square" lIns="0" tIns="0" rIns="0" bIns="0" anchor="ctr">
            <a:spAutoFit/>
          </a:bodyPr>
          <a:lstStyle/>
          <a:p>
            <a:pPr algn="ctr"/>
            <a:r>
              <a:rPr sz="1500" b="1">
                <a:solidFill>
                  <a:srgbClr val="081527"/>
                </a:solidFill>
                <a:latin typeface="Cambria" panose="02040503050406030204"/>
              </a:rPr>
              <a:t>For this project, we use</a:t>
            </a:r>
            <a:r>
              <a:rPr sz="1500" b="1">
                <a:solidFill>
                  <a:srgbClr val="FF0000"/>
                </a:solidFill>
                <a:latin typeface="Cambria" panose="02040503050406030204"/>
              </a:rPr>
              <a:t> D</a:t>
            </a:r>
            <a:r>
              <a:rPr lang="en-US" sz="1500" b="1">
                <a:solidFill>
                  <a:srgbClr val="FF0000"/>
                </a:solidFill>
                <a:latin typeface="Cambria" panose="02040503050406030204"/>
              </a:rPr>
              <a:t>ECISION TREE ( SUPERVISED LEARNING )</a:t>
            </a:r>
            <a:r>
              <a:rPr sz="1500" b="1">
                <a:solidFill>
                  <a:schemeClr val="bg1"/>
                </a:solidFill>
                <a:latin typeface="Cambria" panose="02040503050406030204"/>
              </a:rPr>
              <a:t> </a:t>
            </a:r>
            <a:r>
              <a:rPr sz="1500" b="1">
                <a:solidFill>
                  <a:srgbClr val="081527"/>
                </a:solidFill>
                <a:latin typeface="Cambria" panose="02040503050406030204"/>
              </a:rPr>
              <a:t>— simple, explainable, and easy to trust in an emergency.</a:t>
            </a:r>
            <a:endParaRPr sz="1500" b="1">
              <a:solidFill>
                <a:srgbClr val="081527"/>
              </a:solidFill>
              <a:latin typeface="Cambria" panose="02040503050406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E63946"/>
                </a:solidFill>
                <a:latin typeface="Calibri" panose="020F0502020204030204" pitchFamily="34" charset="0"/>
                <a:ea typeface="Calibri" panose="020F0502020204030204" pitchFamily="34" charset="-122"/>
                <a:cs typeface="Calibri" panose="020F0502020204030204" pitchFamily="34" charset="-120"/>
              </a:rPr>
              <a:t>NEW PROBLEM</a:t>
            </a:r>
            <a:endParaRPr lang="en-US" sz="1200" dirty="0"/>
          </a:p>
        </p:txBody>
      </p:sp>
      <p:sp>
        <p:nvSpPr>
          <p:cNvPr id="3" name="Text 1"/>
          <p:cNvSpPr txBox="1"/>
          <p:nvPr/>
        </p:nvSpPr>
        <p:spPr>
          <a:xfrm>
            <a:off x="640080" y="621792"/>
            <a:ext cx="9144000" cy="548640"/>
          </a:xfrm>
          <a:prstGeom prst="rect">
            <a:avLst/>
          </a:prstGeom>
          <a:noFill/>
        </p:spPr>
        <p:txBody>
          <a:bodyPr wrap="square" lIns="0" tIns="0" rIns="0" bIns="0" rtlCol="0" anchor="ctr"/>
          <a:lstStyle/>
          <a:p>
            <a:pPr marL="0" indent="0">
              <a:buNone/>
            </a:pPr>
            <a:r>
              <a:rPr lang="en-US" sz="2500" b="1" dirty="0">
                <a:solidFill>
                  <a:srgbClr val="17263B"/>
                </a:solidFill>
                <a:latin typeface="Cambria" panose="02040503050406030204" pitchFamily="34" charset="0"/>
                <a:ea typeface="Cambria" panose="02040503050406030204" pitchFamily="34" charset="-122"/>
                <a:cs typeface="Cambria" panose="02040503050406030204" pitchFamily="34" charset="-120"/>
              </a:rPr>
              <a:t>Can We Train a Model on Messy Data?</a:t>
            </a:r>
            <a:endParaRPr lang="en-US" sz="2500" dirty="0"/>
          </a:p>
        </p:txBody>
      </p:sp>
      <p:sp>
        <p:nvSpPr>
          <p:cNvPr id="4" name="Shape 2"/>
          <p:cNvSpPr/>
          <p:nvPr/>
        </p:nvSpPr>
        <p:spPr>
          <a:xfrm>
            <a:off x="640080" y="1417320"/>
            <a:ext cx="7680960" cy="2194560"/>
          </a:xfrm>
          <a:prstGeom prst="roundRect">
            <a:avLst>
              <a:gd name="adj" fmla="val 3333"/>
            </a:avLst>
          </a:prstGeom>
          <a:solidFill>
            <a:srgbClr val="FFFFFF"/>
          </a:solidFill>
          <a:ln w="12700">
            <a:solidFill>
              <a:srgbClr val="E3E9F2"/>
            </a:solidFill>
            <a:prstDash val="solid"/>
          </a:ln>
        </p:spPr>
      </p:sp>
      <p:sp>
        <p:nvSpPr>
          <p:cNvPr id="5" name="Text 3"/>
          <p:cNvSpPr txBox="1"/>
          <p:nvPr/>
        </p:nvSpPr>
        <p:spPr>
          <a:xfrm>
            <a:off x="640080" y="1417320"/>
            <a:ext cx="1344168" cy="54864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Zone</a:t>
            </a:r>
            <a:endParaRPr lang="en-US" sz="1200" dirty="0"/>
          </a:p>
        </p:txBody>
      </p:sp>
      <p:sp>
        <p:nvSpPr>
          <p:cNvPr id="6" name="Text 4"/>
          <p:cNvSpPr txBox="1"/>
          <p:nvPr/>
        </p:nvSpPr>
        <p:spPr>
          <a:xfrm>
            <a:off x="1984248" y="1417320"/>
            <a:ext cx="1344168" cy="54864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Rainfall</a:t>
            </a:r>
            <a:endParaRPr lang="en-US" sz="1200" dirty="0"/>
          </a:p>
        </p:txBody>
      </p:sp>
      <p:sp>
        <p:nvSpPr>
          <p:cNvPr id="7" name="Text 5"/>
          <p:cNvSpPr txBox="1"/>
          <p:nvPr/>
        </p:nvSpPr>
        <p:spPr>
          <a:xfrm>
            <a:off x="3328416" y="1417320"/>
            <a:ext cx="1344168" cy="54864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River</a:t>
            </a:r>
            <a:endParaRPr lang="en-US" sz="1200" dirty="0"/>
          </a:p>
        </p:txBody>
      </p:sp>
      <p:sp>
        <p:nvSpPr>
          <p:cNvPr id="8" name="Text 6"/>
          <p:cNvSpPr txBox="1"/>
          <p:nvPr/>
        </p:nvSpPr>
        <p:spPr>
          <a:xfrm>
            <a:off x="4672584" y="1417320"/>
            <a:ext cx="1344168" cy="54864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Calls</a:t>
            </a:r>
            <a:endParaRPr lang="en-US" sz="1200" dirty="0"/>
          </a:p>
        </p:txBody>
      </p:sp>
      <p:sp>
        <p:nvSpPr>
          <p:cNvPr id="9" name="Text 7"/>
          <p:cNvSpPr txBox="1"/>
          <p:nvPr/>
        </p:nvSpPr>
        <p:spPr>
          <a:xfrm>
            <a:off x="6016752" y="1417320"/>
            <a:ext cx="2304288" cy="548640"/>
          </a:xfrm>
          <a:prstGeom prst="rect">
            <a:avLst/>
          </a:prstGeom>
          <a:solidFill>
            <a:srgbClr val="0F3D5C"/>
          </a:solidFill>
        </p:spPr>
        <p:txBody>
          <a:bodyPr wrap="square" lIns="0" tIns="0" rIns="0" bIns="0" rtlCol="0" anchor="ctr"/>
          <a:lstStyle/>
          <a:p>
            <a:pPr marL="0" indent="0" algn="ctr">
              <a:buNone/>
            </a:pPr>
            <a:endParaRPr lang="en-US" sz="1200" dirty="0"/>
          </a:p>
        </p:txBody>
      </p:sp>
      <p:sp>
        <p:nvSpPr>
          <p:cNvPr id="10" name="Text 8"/>
          <p:cNvSpPr txBox="1"/>
          <p:nvPr/>
        </p:nvSpPr>
        <p:spPr>
          <a:xfrm>
            <a:off x="640080" y="196596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Zone 1</a:t>
            </a:r>
            <a:endParaRPr lang="en-US" sz="1200" dirty="0"/>
          </a:p>
        </p:txBody>
      </p:sp>
      <p:sp>
        <p:nvSpPr>
          <p:cNvPr id="11" name="Text 9"/>
          <p:cNvSpPr txBox="1"/>
          <p:nvPr/>
        </p:nvSpPr>
        <p:spPr>
          <a:xfrm>
            <a:off x="1984248" y="196596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200" dirty="0"/>
          </a:p>
        </p:txBody>
      </p:sp>
      <p:sp>
        <p:nvSpPr>
          <p:cNvPr id="12" name="Text 10"/>
          <p:cNvSpPr txBox="1"/>
          <p:nvPr/>
        </p:nvSpPr>
        <p:spPr>
          <a:xfrm>
            <a:off x="3328416" y="196596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200" dirty="0"/>
          </a:p>
        </p:txBody>
      </p:sp>
      <p:sp>
        <p:nvSpPr>
          <p:cNvPr id="13" name="Text 11"/>
          <p:cNvSpPr txBox="1"/>
          <p:nvPr/>
        </p:nvSpPr>
        <p:spPr>
          <a:xfrm>
            <a:off x="4672584" y="196596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38</a:t>
            </a:r>
            <a:endParaRPr lang="en-US" sz="1200" dirty="0"/>
          </a:p>
        </p:txBody>
      </p:sp>
      <p:sp>
        <p:nvSpPr>
          <p:cNvPr id="14" name="Text 12"/>
          <p:cNvSpPr txBox="1"/>
          <p:nvPr/>
        </p:nvSpPr>
        <p:spPr>
          <a:xfrm>
            <a:off x="6016752" y="1965960"/>
            <a:ext cx="2304288" cy="548640"/>
          </a:xfrm>
          <a:prstGeom prst="rect">
            <a:avLst/>
          </a:prstGeom>
          <a:noFill/>
        </p:spPr>
        <p:txBody>
          <a:bodyPr wrap="square" lIns="0" tIns="0" rIns="0" bIns="0" rtlCol="0" anchor="ctr"/>
          <a:lstStyle/>
          <a:p>
            <a:pPr marL="0" indent="0" algn="ctr">
              <a:buNone/>
            </a:pPr>
            <a:endParaRPr lang="en-US" sz="1200" dirty="0"/>
          </a:p>
        </p:txBody>
      </p:sp>
      <p:sp>
        <p:nvSpPr>
          <p:cNvPr id="15" name="Text 13"/>
          <p:cNvSpPr txBox="1"/>
          <p:nvPr/>
        </p:nvSpPr>
        <p:spPr>
          <a:xfrm>
            <a:off x="640080" y="251460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Zone 1</a:t>
            </a:r>
            <a:endParaRPr lang="en-US" sz="1200" dirty="0"/>
          </a:p>
        </p:txBody>
      </p:sp>
      <p:sp>
        <p:nvSpPr>
          <p:cNvPr id="16" name="Text 14"/>
          <p:cNvSpPr txBox="1"/>
          <p:nvPr/>
        </p:nvSpPr>
        <p:spPr>
          <a:xfrm>
            <a:off x="1984248" y="251460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200" dirty="0"/>
          </a:p>
        </p:txBody>
      </p:sp>
      <p:sp>
        <p:nvSpPr>
          <p:cNvPr id="17" name="Text 15"/>
          <p:cNvSpPr txBox="1"/>
          <p:nvPr/>
        </p:nvSpPr>
        <p:spPr>
          <a:xfrm>
            <a:off x="3328416" y="251460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200" dirty="0"/>
          </a:p>
        </p:txBody>
      </p:sp>
      <p:sp>
        <p:nvSpPr>
          <p:cNvPr id="18" name="Text 16"/>
          <p:cNvSpPr txBox="1"/>
          <p:nvPr/>
        </p:nvSpPr>
        <p:spPr>
          <a:xfrm>
            <a:off x="4672584" y="251460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38</a:t>
            </a:r>
            <a:endParaRPr lang="en-US" sz="1200" dirty="0"/>
          </a:p>
        </p:txBody>
      </p:sp>
      <p:sp>
        <p:nvSpPr>
          <p:cNvPr id="19" name="Text 17"/>
          <p:cNvSpPr txBox="1"/>
          <p:nvPr/>
        </p:nvSpPr>
        <p:spPr>
          <a:xfrm>
            <a:off x="6016752" y="2514600"/>
            <a:ext cx="2304288" cy="548640"/>
          </a:xfrm>
          <a:prstGeom prst="rect">
            <a:avLst/>
          </a:prstGeom>
          <a:noFill/>
        </p:spPr>
        <p:txBody>
          <a:bodyPr wrap="square" lIns="0" tIns="0" rIns="0" bIns="0" rtlCol="0" anchor="ctr"/>
          <a:lstStyle/>
          <a:p>
            <a:pPr marL="0" indent="0" algn="ctr">
              <a:buNone/>
            </a:pPr>
            <a:r>
              <a:rPr lang="en-US" sz="1200" b="1" i="1" dirty="0">
                <a:solidFill>
                  <a:srgbClr val="E63946"/>
                </a:solidFill>
                <a:latin typeface="Calibri" panose="020F0502020204030204" pitchFamily="34" charset="0"/>
                <a:ea typeface="Calibri" panose="020F0502020204030204" pitchFamily="34" charset="-122"/>
                <a:cs typeface="Calibri" panose="020F0502020204030204" pitchFamily="34" charset="-120"/>
              </a:rPr>
              <a:t>← Duplicate</a:t>
            </a:r>
            <a:endParaRPr lang="en-US" sz="1200" dirty="0"/>
          </a:p>
        </p:txBody>
      </p:sp>
      <p:sp>
        <p:nvSpPr>
          <p:cNvPr id="20" name="Text 18"/>
          <p:cNvSpPr txBox="1"/>
          <p:nvPr/>
        </p:nvSpPr>
        <p:spPr>
          <a:xfrm>
            <a:off x="640080" y="306324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Zone 2</a:t>
            </a:r>
            <a:endParaRPr lang="en-US" sz="1200" dirty="0"/>
          </a:p>
        </p:txBody>
      </p:sp>
      <p:sp>
        <p:nvSpPr>
          <p:cNvPr id="21" name="Text 19"/>
          <p:cNvSpPr txBox="1"/>
          <p:nvPr/>
        </p:nvSpPr>
        <p:spPr>
          <a:xfrm>
            <a:off x="1984248" y="3063240"/>
            <a:ext cx="1344168" cy="548640"/>
          </a:xfrm>
          <a:prstGeom prst="rect">
            <a:avLst/>
          </a:prstGeom>
          <a:noFill/>
        </p:spPr>
        <p:txBody>
          <a:bodyPr wrap="square" lIns="0" tIns="0" rIns="0" bIns="0" rtlCol="0" anchor="ctr"/>
          <a:lstStyle/>
          <a:p>
            <a:pPr marL="0" indent="0" algn="ctr">
              <a:buNone/>
            </a:pPr>
            <a:r>
              <a:rPr lang="en-US" sz="1200" b="1" dirty="0">
                <a:solidFill>
                  <a:srgbClr val="E63946"/>
                </a:solidFill>
                <a:latin typeface="Calibri" panose="020F0502020204030204" pitchFamily="34" charset="0"/>
                <a:ea typeface="Calibri" panose="020F0502020204030204" pitchFamily="34" charset="-122"/>
                <a:cs typeface="Calibri" panose="020F0502020204030204" pitchFamily="34" charset="-120"/>
              </a:rPr>
              <a:t>Missing</a:t>
            </a:r>
            <a:endParaRPr lang="en-US" sz="1200" dirty="0"/>
          </a:p>
        </p:txBody>
      </p:sp>
      <p:sp>
        <p:nvSpPr>
          <p:cNvPr id="22" name="Text 20"/>
          <p:cNvSpPr txBox="1"/>
          <p:nvPr/>
        </p:nvSpPr>
        <p:spPr>
          <a:xfrm>
            <a:off x="3328416" y="306324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3.2</a:t>
            </a:r>
            <a:endParaRPr lang="en-US" sz="1200" dirty="0"/>
          </a:p>
        </p:txBody>
      </p:sp>
      <p:sp>
        <p:nvSpPr>
          <p:cNvPr id="23" name="Text 21"/>
          <p:cNvSpPr txBox="1"/>
          <p:nvPr/>
        </p:nvSpPr>
        <p:spPr>
          <a:xfrm>
            <a:off x="4672584" y="306324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15</a:t>
            </a:r>
            <a:endParaRPr lang="en-US" sz="1200" dirty="0"/>
          </a:p>
        </p:txBody>
      </p:sp>
      <p:sp>
        <p:nvSpPr>
          <p:cNvPr id="24" name="Text 22"/>
          <p:cNvSpPr txBox="1"/>
          <p:nvPr/>
        </p:nvSpPr>
        <p:spPr>
          <a:xfrm>
            <a:off x="6016752" y="3063240"/>
            <a:ext cx="2304288" cy="548640"/>
          </a:xfrm>
          <a:prstGeom prst="rect">
            <a:avLst/>
          </a:prstGeom>
          <a:noFill/>
        </p:spPr>
        <p:txBody>
          <a:bodyPr wrap="square" lIns="0" tIns="0" rIns="0" bIns="0" rtlCol="0" anchor="ctr"/>
          <a:lstStyle/>
          <a:p>
            <a:pPr marL="0" indent="0" algn="ctr">
              <a:buNone/>
            </a:pPr>
            <a:endParaRPr lang="en-US" sz="1200" dirty="0"/>
          </a:p>
        </p:txBody>
      </p:sp>
      <p:sp>
        <p:nvSpPr>
          <p:cNvPr id="25" name="Shape 23"/>
          <p:cNvSpPr/>
          <p:nvPr/>
        </p:nvSpPr>
        <p:spPr>
          <a:xfrm>
            <a:off x="8549640" y="1417320"/>
            <a:ext cx="2999232" cy="2194560"/>
          </a:xfrm>
          <a:prstGeom prst="roundRect">
            <a:avLst>
              <a:gd name="adj" fmla="val 5000"/>
            </a:avLst>
          </a:prstGeom>
          <a:solidFill>
            <a:srgbClr val="0B2A4A"/>
          </a:solidFill>
          <a:effectLst>
            <a:outerShdw blurRad="101600" dist="38100" dir="5400000" algn="bl" rotWithShape="0">
              <a:srgbClr val="000000">
                <a:alpha val="25000"/>
              </a:srgbClr>
            </a:outerShdw>
          </a:effectLst>
        </p:spPr>
      </p:sp>
      <p:sp>
        <p:nvSpPr>
          <p:cNvPr id="26" name="Text 24"/>
          <p:cNvSpPr txBox="1"/>
          <p:nvPr/>
        </p:nvSpPr>
        <p:spPr>
          <a:xfrm>
            <a:off x="8823960" y="1417320"/>
            <a:ext cx="2450592" cy="2194560"/>
          </a:xfrm>
          <a:prstGeom prst="rect">
            <a:avLst/>
          </a:prstGeom>
          <a:noFill/>
        </p:spPr>
        <p:txBody>
          <a:bodyPr wrap="square" lIns="0" tIns="0" rIns="0" bIns="0" rtlCol="0" anchor="ctr"/>
          <a:lstStyle/>
          <a:p>
            <a:pPr marL="0" indent="0" algn="l">
              <a:buNone/>
            </a:pPr>
            <a:r>
              <a:rPr lang="en-US" sz="15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Can we directly train an ML model</a:t>
            </a:r>
            <a:endParaRPr lang="en-US" sz="1500" dirty="0"/>
          </a:p>
          <a:p>
            <a:pPr marL="0" indent="0" algn="l">
              <a:buNone/>
            </a:pPr>
            <a:r>
              <a:rPr lang="en-US" sz="15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using messy data?</a:t>
            </a:r>
            <a:endParaRPr lang="en-US" sz="1500" dirty="0"/>
          </a:p>
        </p:txBody>
      </p:sp>
      <p:sp>
        <p:nvSpPr>
          <p:cNvPr id="27" name="Text 25"/>
          <p:cNvSpPr txBox="1"/>
          <p:nvPr/>
        </p:nvSpPr>
        <p:spPr>
          <a:xfrm>
            <a:off x="8549640" y="3749040"/>
            <a:ext cx="2999232" cy="457200"/>
          </a:xfrm>
          <a:prstGeom prst="rect">
            <a:avLst/>
          </a:prstGeom>
          <a:noFill/>
        </p:spPr>
        <p:txBody>
          <a:bodyPr wrap="square" lIns="0" tIns="0" rIns="0" bIns="0" rtlCol="0" anchor="ctr"/>
          <a:lstStyle/>
          <a:p>
            <a:pPr marL="0" indent="0" algn="ctr">
              <a:buNone/>
            </a:pPr>
            <a:r>
              <a:rPr lang="en-US" sz="2400" b="1" dirty="0">
                <a:solidFill>
                  <a:srgbClr val="E63946"/>
                </a:solidFill>
                <a:latin typeface="Cambria" panose="02040503050406030204" pitchFamily="34" charset="0"/>
                <a:ea typeface="Cambria" panose="02040503050406030204" pitchFamily="34" charset="-122"/>
                <a:cs typeface="Cambria" panose="02040503050406030204" pitchFamily="34" charset="-120"/>
              </a:rPr>
              <a:t>NO.</a:t>
            </a:r>
            <a:endParaRPr lang="en-US" sz="2400" dirty="0"/>
          </a:p>
        </p:txBody>
      </p:sp>
      <p:sp>
        <p:nvSpPr>
          <p:cNvPr id="28" name="Shape 26"/>
          <p:cNvSpPr/>
          <p:nvPr/>
        </p:nvSpPr>
        <p:spPr>
          <a:xfrm>
            <a:off x="640080" y="4480560"/>
            <a:ext cx="10908792" cy="914400"/>
          </a:xfrm>
          <a:prstGeom prst="roundRect">
            <a:avLst>
              <a:gd name="adj" fmla="val 10000"/>
            </a:avLst>
          </a:prstGeom>
          <a:solidFill>
            <a:srgbClr val="FFB627"/>
          </a:solidFill>
        </p:spPr>
      </p:sp>
      <p:sp>
        <p:nvSpPr>
          <p:cNvPr id="29" name="Text 27"/>
          <p:cNvSpPr txBox="1"/>
          <p:nvPr/>
        </p:nvSpPr>
        <p:spPr>
          <a:xfrm>
            <a:off x="640080" y="4480560"/>
            <a:ext cx="10908792" cy="914400"/>
          </a:xfrm>
          <a:prstGeom prst="rect">
            <a:avLst/>
          </a:prstGeom>
          <a:noFill/>
        </p:spPr>
        <p:txBody>
          <a:bodyPr wrap="square" lIns="0" tIns="0" rIns="0" bIns="0" rtlCol="0" anchor="ctr"/>
          <a:lstStyle/>
          <a:p>
            <a:pPr marL="0" indent="0" algn="ctr">
              <a:buNone/>
            </a:pPr>
            <a:r>
              <a:rPr lang="en-US" sz="1800" b="1" dirty="0">
                <a:solidFill>
                  <a:srgbClr val="081527"/>
                </a:solidFill>
                <a:latin typeface="Cambria" panose="02040503050406030204" pitchFamily="34" charset="0"/>
                <a:ea typeface="Cambria" panose="02040503050406030204" pitchFamily="34" charset="-122"/>
                <a:cs typeface="Cambria" panose="02040503050406030204" pitchFamily="34" charset="-120"/>
              </a:rPr>
              <a:t>Every ML system needs someone to prepare the data first.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0F3D5C"/>
                </a:solidFill>
                <a:latin typeface="Calibri" panose="020F0502020204030204" pitchFamily="34" charset="0"/>
                <a:ea typeface="Calibri" panose="020F0502020204030204" pitchFamily="34" charset="-122"/>
                <a:cs typeface="Calibri" panose="020F0502020204030204" pitchFamily="34" charset="-120"/>
              </a:rPr>
              <a:t>MEET THE ROLE</a:t>
            </a:r>
            <a:endParaRPr lang="en-US" sz="1200" dirty="0"/>
          </a:p>
        </p:txBody>
      </p:sp>
      <p:sp>
        <p:nvSpPr>
          <p:cNvPr id="3" name="Shape 1"/>
          <p:cNvSpPr/>
          <p:nvPr/>
        </p:nvSpPr>
        <p:spPr>
          <a:xfrm>
            <a:off x="640080" y="777240"/>
            <a:ext cx="914400" cy="914400"/>
          </a:xfrm>
          <a:prstGeom prst="ellipse">
            <a:avLst/>
          </a:prstGeom>
          <a:solidFill>
            <a:srgbClr val="0F3D5C"/>
          </a:solidFill>
        </p:spPr>
      </p:sp>
      <p:sp>
        <p:nvSpPr>
          <p:cNvPr id="4" name="Text 2"/>
          <p:cNvSpPr/>
          <p:nvPr/>
        </p:nvSpPr>
        <p:spPr>
          <a:xfrm>
            <a:off x="640080" y="777240"/>
            <a:ext cx="914400" cy="914400"/>
          </a:xfrm>
          <a:prstGeom prst="rect">
            <a:avLst/>
          </a:prstGeom>
          <a:noFill/>
        </p:spPr>
        <p:txBody>
          <a:bodyPr wrap="square" lIns="0" tIns="0" rIns="0" bIns="0" rtlCol="0" anchor="ctr"/>
          <a:lstStyle/>
          <a:p>
            <a:pPr marL="0" indent="0" algn="ctr">
              <a:buNone/>
            </a:pPr>
            <a:r>
              <a:rPr lang="en-US" sz="40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4000" dirty="0"/>
          </a:p>
        </p:txBody>
      </p:sp>
      <p:sp>
        <p:nvSpPr>
          <p:cNvPr id="5" name="Text 3"/>
          <p:cNvSpPr txBox="1"/>
          <p:nvPr/>
        </p:nvSpPr>
        <p:spPr>
          <a:xfrm>
            <a:off x="1737360" y="777240"/>
            <a:ext cx="7315200" cy="914400"/>
          </a:xfrm>
          <a:prstGeom prst="rect">
            <a:avLst/>
          </a:prstGeom>
          <a:noFill/>
        </p:spPr>
        <p:txBody>
          <a:bodyPr wrap="square" lIns="0" tIns="0" rIns="0" bIns="0" rtlCol="0" anchor="ctr"/>
          <a:lstStyle/>
          <a:p>
            <a:pPr marL="0" indent="0">
              <a:buNone/>
            </a:pPr>
            <a:r>
              <a:rPr lang="en-US" sz="3000" b="1" dirty="0">
                <a:solidFill>
                  <a:srgbClr val="17263B"/>
                </a:solidFill>
                <a:latin typeface="Cambria" panose="02040503050406030204" pitchFamily="34" charset="0"/>
                <a:ea typeface="Cambria" panose="02040503050406030204" pitchFamily="34" charset="-122"/>
                <a:cs typeface="Cambria" panose="02040503050406030204" pitchFamily="34" charset="-120"/>
              </a:rPr>
              <a:t>DATA ENGINEER</a:t>
            </a:r>
            <a:endParaRPr lang="en-US" sz="3000" dirty="0"/>
          </a:p>
        </p:txBody>
      </p:sp>
      <p:sp>
        <p:nvSpPr>
          <p:cNvPr id="6" name="Shape 4"/>
          <p:cNvSpPr/>
          <p:nvPr/>
        </p:nvSpPr>
        <p:spPr>
          <a:xfrm>
            <a:off x="640080" y="1920240"/>
            <a:ext cx="10908792" cy="868680"/>
          </a:xfrm>
          <a:prstGeom prst="roundRect">
            <a:avLst>
              <a:gd name="adj" fmla="val 10526"/>
            </a:avLst>
          </a:prstGeom>
          <a:solidFill>
            <a:srgbClr val="FDEDEC"/>
          </a:solidFill>
          <a:ln w="12700">
            <a:solidFill>
              <a:srgbClr val="E63946"/>
            </a:solidFill>
            <a:prstDash val="solid"/>
          </a:ln>
        </p:spPr>
      </p:sp>
      <p:sp>
        <p:nvSpPr>
          <p:cNvPr id="7" name="Text 5"/>
          <p:cNvSpPr txBox="1"/>
          <p:nvPr/>
        </p:nvSpPr>
        <p:spPr>
          <a:xfrm>
            <a:off x="914400" y="1920240"/>
            <a:ext cx="10360152" cy="868680"/>
          </a:xfrm>
          <a:prstGeom prst="rect">
            <a:avLst/>
          </a:prstGeom>
          <a:noFill/>
        </p:spPr>
        <p:txBody>
          <a:bodyPr wrap="square" lIns="0" tIns="0" rIns="0" bIns="0" rtlCol="0" anchor="ctr"/>
          <a:lstStyle/>
          <a:p>
            <a:pPr marL="0" indent="0">
              <a:buNone/>
            </a:pPr>
            <a:r>
              <a:rPr lang="en-US" sz="1500" b="1" dirty="0">
                <a:solidFill>
                  <a:srgbClr val="E63946"/>
                </a:solidFill>
                <a:latin typeface="Calibri" panose="020F0502020204030204" pitchFamily="34" charset="0"/>
                <a:ea typeface="Calibri" panose="020F0502020204030204" pitchFamily="34" charset="-122"/>
                <a:cs typeface="Calibri" panose="020F0502020204030204" pitchFamily="34" charset="-120"/>
              </a:rPr>
              <a:t>Problem:  </a:t>
            </a:r>
            <a:r>
              <a:rPr lang="en-US" sz="1500" dirty="0">
                <a:solidFill>
                  <a:srgbClr val="17263B"/>
                </a:solidFill>
                <a:latin typeface="Calibri" panose="020F0502020204030204" pitchFamily="34" charset="0"/>
                <a:ea typeface="Calibri" panose="020F0502020204030204" pitchFamily="34" charset="-122"/>
                <a:cs typeface="Calibri" panose="020F0502020204030204" pitchFamily="34" charset="-120"/>
              </a:rPr>
              <a:t>Raw data is messy and comes from different sources.</a:t>
            </a:r>
            <a:endParaRPr lang="en-US" sz="1500" dirty="0"/>
          </a:p>
        </p:txBody>
      </p:sp>
      <p:sp>
        <p:nvSpPr>
          <p:cNvPr id="8" name="Shape 6"/>
          <p:cNvSpPr/>
          <p:nvPr/>
        </p:nvSpPr>
        <p:spPr>
          <a:xfrm>
            <a:off x="2651760" y="2971800"/>
            <a:ext cx="6885432" cy="448056"/>
          </a:xfrm>
          <a:prstGeom prst="roundRect">
            <a:avLst>
              <a:gd name="adj" fmla="val 14286"/>
            </a:avLst>
          </a:prstGeom>
          <a:solidFill>
            <a:srgbClr val="0F2843"/>
          </a:solidFill>
        </p:spPr>
      </p:sp>
      <p:sp>
        <p:nvSpPr>
          <p:cNvPr id="9" name="Text 7"/>
          <p:cNvSpPr txBox="1"/>
          <p:nvPr/>
        </p:nvSpPr>
        <p:spPr>
          <a:xfrm>
            <a:off x="2651760" y="2971800"/>
            <a:ext cx="6885432" cy="448056"/>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Multiple raw files</a:t>
            </a:r>
            <a:endParaRPr lang="en-US" sz="1300" dirty="0"/>
          </a:p>
        </p:txBody>
      </p:sp>
      <p:sp>
        <p:nvSpPr>
          <p:cNvPr id="10" name="Shape 8"/>
          <p:cNvSpPr/>
          <p:nvPr/>
        </p:nvSpPr>
        <p:spPr>
          <a:xfrm>
            <a:off x="2651760" y="3511296"/>
            <a:ext cx="6885432" cy="448056"/>
          </a:xfrm>
          <a:prstGeom prst="roundRect">
            <a:avLst>
              <a:gd name="adj" fmla="val 14286"/>
            </a:avLst>
          </a:prstGeom>
          <a:solidFill>
            <a:srgbClr val="0F2843"/>
          </a:solidFill>
        </p:spPr>
      </p:sp>
      <p:sp>
        <p:nvSpPr>
          <p:cNvPr id="11" name="Text 9"/>
          <p:cNvSpPr txBox="1"/>
          <p:nvPr/>
        </p:nvSpPr>
        <p:spPr>
          <a:xfrm>
            <a:off x="2651760" y="3511296"/>
            <a:ext cx="6885432" cy="448056"/>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Remove duplicates</a:t>
            </a:r>
            <a:endParaRPr lang="en-US" sz="1300" dirty="0"/>
          </a:p>
        </p:txBody>
      </p:sp>
      <p:sp>
        <p:nvSpPr>
          <p:cNvPr id="12" name="Shape 10"/>
          <p:cNvSpPr/>
          <p:nvPr/>
        </p:nvSpPr>
        <p:spPr>
          <a:xfrm>
            <a:off x="2651760" y="4050792"/>
            <a:ext cx="6885432" cy="448056"/>
          </a:xfrm>
          <a:prstGeom prst="roundRect">
            <a:avLst>
              <a:gd name="adj" fmla="val 14286"/>
            </a:avLst>
          </a:prstGeom>
          <a:solidFill>
            <a:srgbClr val="0F2843"/>
          </a:solidFill>
        </p:spPr>
      </p:sp>
      <p:sp>
        <p:nvSpPr>
          <p:cNvPr id="13" name="Text 11"/>
          <p:cNvSpPr txBox="1"/>
          <p:nvPr/>
        </p:nvSpPr>
        <p:spPr>
          <a:xfrm>
            <a:off x="2651760" y="4050792"/>
            <a:ext cx="6885432" cy="448056"/>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Handle missing values</a:t>
            </a:r>
            <a:endParaRPr lang="en-US" sz="1300" dirty="0"/>
          </a:p>
        </p:txBody>
      </p:sp>
      <p:sp>
        <p:nvSpPr>
          <p:cNvPr id="14" name="Shape 12"/>
          <p:cNvSpPr/>
          <p:nvPr/>
        </p:nvSpPr>
        <p:spPr>
          <a:xfrm>
            <a:off x="2651760" y="4590288"/>
            <a:ext cx="6885432" cy="448056"/>
          </a:xfrm>
          <a:prstGeom prst="roundRect">
            <a:avLst>
              <a:gd name="adj" fmla="val 14286"/>
            </a:avLst>
          </a:prstGeom>
          <a:solidFill>
            <a:srgbClr val="0F2843"/>
          </a:solidFill>
        </p:spPr>
      </p:sp>
      <p:sp>
        <p:nvSpPr>
          <p:cNvPr id="15" name="Text 13"/>
          <p:cNvSpPr txBox="1"/>
          <p:nvPr/>
        </p:nvSpPr>
        <p:spPr>
          <a:xfrm>
            <a:off x="2651760" y="4590288"/>
            <a:ext cx="6885432" cy="448056"/>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Combine data</a:t>
            </a:r>
            <a:endParaRPr lang="en-US" sz="1300" dirty="0"/>
          </a:p>
        </p:txBody>
      </p:sp>
      <p:sp>
        <p:nvSpPr>
          <p:cNvPr id="16" name="Shape 14"/>
          <p:cNvSpPr/>
          <p:nvPr/>
        </p:nvSpPr>
        <p:spPr>
          <a:xfrm>
            <a:off x="2651760" y="5129784"/>
            <a:ext cx="6885432" cy="448056"/>
          </a:xfrm>
          <a:prstGeom prst="roundRect">
            <a:avLst>
              <a:gd name="adj" fmla="val 14286"/>
            </a:avLst>
          </a:prstGeom>
          <a:solidFill>
            <a:srgbClr val="FFB627"/>
          </a:solidFill>
        </p:spPr>
      </p:sp>
      <p:sp>
        <p:nvSpPr>
          <p:cNvPr id="17" name="Text 15"/>
          <p:cNvSpPr txBox="1"/>
          <p:nvPr/>
        </p:nvSpPr>
        <p:spPr>
          <a:xfrm>
            <a:off x="2651760" y="5129784"/>
            <a:ext cx="6885432" cy="448056"/>
          </a:xfrm>
          <a:prstGeom prst="rect">
            <a:avLst/>
          </a:prstGeom>
          <a:noFill/>
        </p:spPr>
        <p:txBody>
          <a:bodyPr wrap="square" lIns="0" tIns="0" rIns="0" bIns="0" rtlCol="0" anchor="ctr"/>
          <a:lstStyle/>
          <a:p>
            <a:pPr marL="0" indent="0" algn="ctr">
              <a:buNone/>
            </a:pPr>
            <a:r>
              <a:rPr lang="en-US" sz="1300" b="1" dirty="0">
                <a:solidFill>
                  <a:srgbClr val="081527"/>
                </a:solidFill>
                <a:latin typeface="Cambria" panose="02040503050406030204" pitchFamily="34" charset="0"/>
                <a:ea typeface="Cambria" panose="02040503050406030204" pitchFamily="34" charset="-122"/>
                <a:cs typeface="Cambria" panose="02040503050406030204" pitchFamily="34" charset="-120"/>
              </a:rPr>
              <a:t>ONE CLEAN MASTER DATASET</a:t>
            </a:r>
            <a:endParaRPr lang="en-US" sz="1300" dirty="0"/>
          </a:p>
        </p:txBody>
      </p:sp>
      <p:sp>
        <p:nvSpPr>
          <p:cNvPr id="18" name="Shape 16"/>
          <p:cNvSpPr/>
          <p:nvPr/>
        </p:nvSpPr>
        <p:spPr>
          <a:xfrm>
            <a:off x="640080" y="5760720"/>
            <a:ext cx="10908792" cy="731520"/>
          </a:xfrm>
          <a:prstGeom prst="roundRect">
            <a:avLst>
              <a:gd name="adj" fmla="val 12500"/>
            </a:avLst>
          </a:prstGeom>
          <a:solidFill>
            <a:srgbClr val="0F3D5C"/>
          </a:solidFill>
        </p:spPr>
      </p:sp>
      <p:sp>
        <p:nvSpPr>
          <p:cNvPr id="19" name="Text 17"/>
          <p:cNvSpPr txBox="1"/>
          <p:nvPr/>
        </p:nvSpPr>
        <p:spPr>
          <a:xfrm>
            <a:off x="914400" y="5760720"/>
            <a:ext cx="10360152" cy="731520"/>
          </a:xfrm>
          <a:prstGeom prst="rect">
            <a:avLst/>
          </a:prstGeom>
          <a:noFill/>
        </p:spPr>
        <p:txBody>
          <a:bodyPr wrap="square" lIns="0" tIns="0" rIns="0" bIns="0" rtlCol="0" anchor="ctr"/>
          <a:lstStyle/>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The Data Engineer prepares clean and usable data for the next stage.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E63946"/>
                </a:solidFill>
                <a:latin typeface="Calibri" panose="020F0502020204030204" pitchFamily="34" charset="0"/>
                <a:ea typeface="Calibri" panose="020F0502020204030204" pitchFamily="34" charset="-122"/>
                <a:cs typeface="Calibri" panose="020F0502020204030204" pitchFamily="34" charset="-120"/>
              </a:rPr>
              <a:t>NEW PROBLEM</a:t>
            </a:r>
            <a:endParaRPr lang="en-US" sz="1200" dirty="0"/>
          </a:p>
        </p:txBody>
      </p:sp>
      <p:sp>
        <p:nvSpPr>
          <p:cNvPr id="3" name="Text 1"/>
          <p:cNvSpPr txBox="1"/>
          <p:nvPr/>
        </p:nvSpPr>
        <p:spPr>
          <a:xfrm>
            <a:off x="640080" y="621792"/>
            <a:ext cx="8229600" cy="54864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Does the Data Make Sense?</a:t>
            </a:r>
            <a:endParaRPr lang="en-US" sz="2600" dirty="0"/>
          </a:p>
        </p:txBody>
      </p:sp>
      <p:sp>
        <p:nvSpPr>
          <p:cNvPr id="4" name="Shape 2"/>
          <p:cNvSpPr/>
          <p:nvPr/>
        </p:nvSpPr>
        <p:spPr>
          <a:xfrm>
            <a:off x="640080" y="1417320"/>
            <a:ext cx="5120640" cy="2011680"/>
          </a:xfrm>
          <a:prstGeom prst="roundRect">
            <a:avLst>
              <a:gd name="adj" fmla="val 5455"/>
            </a:avLst>
          </a:prstGeom>
          <a:solidFill>
            <a:srgbClr val="FFFFFF"/>
          </a:solidFill>
          <a:ln w="19050">
            <a:solidFill>
              <a:srgbClr val="E63946"/>
            </a:solidFill>
            <a:prstDash val="solid"/>
          </a:ln>
        </p:spPr>
      </p:sp>
      <p:sp>
        <p:nvSpPr>
          <p:cNvPr id="5" name="Text 3"/>
          <p:cNvSpPr txBox="1"/>
          <p:nvPr/>
        </p:nvSpPr>
        <p:spPr>
          <a:xfrm>
            <a:off x="868680" y="1554480"/>
            <a:ext cx="2377440" cy="365760"/>
          </a:xfrm>
          <a:prstGeom prst="rect">
            <a:avLst/>
          </a:prstGeom>
          <a:noFill/>
        </p:spPr>
        <p:txBody>
          <a:bodyPr wrap="square" lIns="0" tIns="0" rIns="0" bIns="0" rtlCol="0" anchor="ctr"/>
          <a:lstStyle/>
          <a:p>
            <a:pPr marL="0" indent="0">
              <a:buNone/>
            </a:pPr>
            <a:r>
              <a:rPr lang="en-US" sz="1300" dirty="0">
                <a:solidFill>
                  <a:srgbClr val="5B6B82"/>
                </a:solidFill>
                <a:latin typeface="Calibri" panose="020F0502020204030204" pitchFamily="34" charset="0"/>
                <a:ea typeface="Calibri" panose="020F0502020204030204" pitchFamily="34" charset="-122"/>
                <a:cs typeface="Calibri" panose="020F0502020204030204" pitchFamily="34" charset="-120"/>
              </a:rPr>
              <a:t>Rainfall</a:t>
            </a:r>
            <a:endParaRPr lang="en-US" sz="1300" dirty="0"/>
          </a:p>
        </p:txBody>
      </p:sp>
      <p:sp>
        <p:nvSpPr>
          <p:cNvPr id="6" name="Text 4"/>
          <p:cNvSpPr txBox="1"/>
          <p:nvPr/>
        </p:nvSpPr>
        <p:spPr>
          <a:xfrm>
            <a:off x="3200400" y="1554480"/>
            <a:ext cx="2286000" cy="365760"/>
          </a:xfrm>
          <a:prstGeom prst="rect">
            <a:avLst/>
          </a:prstGeom>
          <a:noFill/>
        </p:spPr>
        <p:txBody>
          <a:bodyPr wrap="square" lIns="0" tIns="0" rIns="0" bIns="0" rtlCol="0" anchor="ctr"/>
          <a:lstStyle/>
          <a:p>
            <a:pPr marL="0" indent="0" algn="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10 mm</a:t>
            </a:r>
            <a:endParaRPr lang="en-US" sz="1500" dirty="0"/>
          </a:p>
        </p:txBody>
      </p:sp>
      <p:sp>
        <p:nvSpPr>
          <p:cNvPr id="7" name="Text 5"/>
          <p:cNvSpPr txBox="1"/>
          <p:nvPr/>
        </p:nvSpPr>
        <p:spPr>
          <a:xfrm>
            <a:off x="868680" y="1993392"/>
            <a:ext cx="2377440" cy="365760"/>
          </a:xfrm>
          <a:prstGeom prst="rect">
            <a:avLst/>
          </a:prstGeom>
          <a:noFill/>
        </p:spPr>
        <p:txBody>
          <a:bodyPr wrap="square" lIns="0" tIns="0" rIns="0" bIns="0" rtlCol="0" anchor="ctr"/>
          <a:lstStyle/>
          <a:p>
            <a:pPr marL="0" indent="0">
              <a:buNone/>
            </a:pPr>
            <a:r>
              <a:rPr lang="en-US" sz="1300" dirty="0">
                <a:solidFill>
                  <a:srgbClr val="5B6B82"/>
                </a:solidFill>
                <a:latin typeface="Calibri" panose="020F0502020204030204" pitchFamily="34" charset="0"/>
                <a:ea typeface="Calibri" panose="020F0502020204030204" pitchFamily="34" charset="-122"/>
                <a:cs typeface="Calibri" panose="020F0502020204030204" pitchFamily="34" charset="-120"/>
              </a:rPr>
              <a:t>River Level</a:t>
            </a:r>
            <a:endParaRPr lang="en-US" sz="1300" dirty="0"/>
          </a:p>
        </p:txBody>
      </p:sp>
      <p:sp>
        <p:nvSpPr>
          <p:cNvPr id="8" name="Text 6"/>
          <p:cNvSpPr txBox="1"/>
          <p:nvPr/>
        </p:nvSpPr>
        <p:spPr>
          <a:xfrm>
            <a:off x="3200400" y="1993392"/>
            <a:ext cx="2286000" cy="365760"/>
          </a:xfrm>
          <a:prstGeom prst="rect">
            <a:avLst/>
          </a:prstGeom>
          <a:noFill/>
        </p:spPr>
        <p:txBody>
          <a:bodyPr wrap="square" lIns="0" tIns="0" rIns="0" bIns="0" rtlCol="0" anchor="ctr"/>
          <a:lstStyle/>
          <a:p>
            <a:pPr marL="0" indent="0" algn="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1.5 m</a:t>
            </a:r>
            <a:endParaRPr lang="en-US" sz="1500" dirty="0"/>
          </a:p>
        </p:txBody>
      </p:sp>
      <p:sp>
        <p:nvSpPr>
          <p:cNvPr id="9" name="Text 7"/>
          <p:cNvSpPr txBox="1"/>
          <p:nvPr/>
        </p:nvSpPr>
        <p:spPr>
          <a:xfrm>
            <a:off x="868680" y="2432304"/>
            <a:ext cx="2377440" cy="365760"/>
          </a:xfrm>
          <a:prstGeom prst="rect">
            <a:avLst/>
          </a:prstGeom>
          <a:noFill/>
        </p:spPr>
        <p:txBody>
          <a:bodyPr wrap="square" lIns="0" tIns="0" rIns="0" bIns="0" rtlCol="0" anchor="ctr"/>
          <a:lstStyle/>
          <a:p>
            <a:pPr marL="0" indent="0">
              <a:buNone/>
            </a:pPr>
            <a:r>
              <a:rPr lang="en-US" sz="1300" dirty="0">
                <a:solidFill>
                  <a:srgbClr val="5B6B82"/>
                </a:solidFill>
                <a:latin typeface="Calibri" panose="020F0502020204030204" pitchFamily="34" charset="0"/>
                <a:ea typeface="Calibri" panose="020F0502020204030204" pitchFamily="34" charset="-122"/>
                <a:cs typeface="Calibri" panose="020F0502020204030204" pitchFamily="34" charset="-120"/>
              </a:rPr>
              <a:t>Emergency Calls</a:t>
            </a:r>
            <a:endParaRPr lang="en-US" sz="1300" dirty="0"/>
          </a:p>
        </p:txBody>
      </p:sp>
      <p:sp>
        <p:nvSpPr>
          <p:cNvPr id="10" name="Text 8"/>
          <p:cNvSpPr txBox="1"/>
          <p:nvPr/>
        </p:nvSpPr>
        <p:spPr>
          <a:xfrm>
            <a:off x="3200400" y="2432304"/>
            <a:ext cx="2286000" cy="365760"/>
          </a:xfrm>
          <a:prstGeom prst="rect">
            <a:avLst/>
          </a:prstGeom>
          <a:noFill/>
        </p:spPr>
        <p:txBody>
          <a:bodyPr wrap="square" lIns="0" tIns="0" rIns="0" bIns="0" rtlCol="0" anchor="ctr"/>
          <a:lstStyle/>
          <a:p>
            <a:pPr marL="0" indent="0" algn="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40</a:t>
            </a:r>
            <a:endParaRPr lang="en-US" sz="1500" dirty="0"/>
          </a:p>
        </p:txBody>
      </p:sp>
      <p:sp>
        <p:nvSpPr>
          <p:cNvPr id="11" name="Text 9"/>
          <p:cNvSpPr txBox="1"/>
          <p:nvPr/>
        </p:nvSpPr>
        <p:spPr>
          <a:xfrm>
            <a:off x="868680" y="2871216"/>
            <a:ext cx="2377440" cy="365760"/>
          </a:xfrm>
          <a:prstGeom prst="rect">
            <a:avLst/>
          </a:prstGeom>
          <a:noFill/>
        </p:spPr>
        <p:txBody>
          <a:bodyPr wrap="square" lIns="0" tIns="0" rIns="0" bIns="0" rtlCol="0" anchor="ctr"/>
          <a:lstStyle/>
          <a:p>
            <a:pPr marL="0" indent="0">
              <a:buNone/>
            </a:pPr>
            <a:r>
              <a:rPr lang="en-US" sz="1300" dirty="0">
                <a:solidFill>
                  <a:srgbClr val="5B6B82"/>
                </a:solidFill>
                <a:latin typeface="Calibri" panose="020F0502020204030204" pitchFamily="34" charset="0"/>
                <a:ea typeface="Calibri" panose="020F0502020204030204" pitchFamily="34" charset="-122"/>
                <a:cs typeface="Calibri" panose="020F0502020204030204" pitchFamily="34" charset="-120"/>
              </a:rPr>
              <a:t>Risk</a:t>
            </a:r>
            <a:endParaRPr lang="en-US" sz="1300" dirty="0"/>
          </a:p>
        </p:txBody>
      </p:sp>
      <p:sp>
        <p:nvSpPr>
          <p:cNvPr id="12" name="Text 10"/>
          <p:cNvSpPr txBox="1"/>
          <p:nvPr/>
        </p:nvSpPr>
        <p:spPr>
          <a:xfrm>
            <a:off x="3200400" y="2871216"/>
            <a:ext cx="2286000" cy="365760"/>
          </a:xfrm>
          <a:prstGeom prst="rect">
            <a:avLst/>
          </a:prstGeom>
          <a:noFill/>
        </p:spPr>
        <p:txBody>
          <a:bodyPr wrap="square" lIns="0" tIns="0" rIns="0" bIns="0" rtlCol="0" anchor="ctr"/>
          <a:lstStyle/>
          <a:p>
            <a:pPr marL="0" indent="0" algn="r">
              <a:buNone/>
            </a:pPr>
            <a:r>
              <a:rPr lang="en-US" sz="1500" b="1" dirty="0">
                <a:solidFill>
                  <a:srgbClr val="E63946"/>
                </a:solidFill>
                <a:latin typeface="Cambria" panose="02040503050406030204" pitchFamily="34" charset="0"/>
                <a:ea typeface="Cambria" panose="02040503050406030204" pitchFamily="34" charset="-122"/>
                <a:cs typeface="Cambria" panose="02040503050406030204" pitchFamily="34" charset="-120"/>
              </a:rPr>
              <a:t>Severe</a:t>
            </a:r>
            <a:endParaRPr lang="en-US" sz="1500" dirty="0"/>
          </a:p>
        </p:txBody>
      </p:sp>
      <p:sp>
        <p:nvSpPr>
          <p:cNvPr id="13" name="Shape 11"/>
          <p:cNvSpPr/>
          <p:nvPr/>
        </p:nvSpPr>
        <p:spPr>
          <a:xfrm>
            <a:off x="6035040" y="1417320"/>
            <a:ext cx="5513832" cy="2011680"/>
          </a:xfrm>
          <a:prstGeom prst="roundRect">
            <a:avLst>
              <a:gd name="adj" fmla="val 5455"/>
            </a:avLst>
          </a:prstGeom>
          <a:solidFill>
            <a:srgbClr val="0B2A4A"/>
          </a:solidFill>
          <a:effectLst>
            <a:outerShdw blurRad="101600" dist="38100" dir="5400000" algn="bl" rotWithShape="0">
              <a:srgbClr val="000000">
                <a:alpha val="25000"/>
              </a:srgbClr>
            </a:outerShdw>
          </a:effectLst>
        </p:spPr>
      </p:sp>
      <p:sp>
        <p:nvSpPr>
          <p:cNvPr id="14" name="Text 12"/>
          <p:cNvSpPr txBox="1"/>
          <p:nvPr/>
        </p:nvSpPr>
        <p:spPr>
          <a:xfrm>
            <a:off x="6309360" y="1417320"/>
            <a:ext cx="4965192" cy="2011680"/>
          </a:xfrm>
          <a:prstGeom prst="rect">
            <a:avLst/>
          </a:prstGeom>
          <a:noFill/>
        </p:spPr>
        <p:txBody>
          <a:bodyPr wrap="square" lIns="0" tIns="0" rIns="0" bIns="0" rtlCol="0" anchor="ctr"/>
          <a:lstStyle/>
          <a:p>
            <a:pPr marL="0" indent="0" algn="l">
              <a:buNone/>
            </a:pPr>
            <a:r>
              <a:rPr lang="en-US" sz="15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Does this look normal? Or could this be a false alarm or an incorrect record?</a:t>
            </a:r>
            <a:endParaRPr lang="en-US" sz="1500" dirty="0"/>
          </a:p>
        </p:txBody>
      </p:sp>
      <p:sp>
        <p:nvSpPr>
          <p:cNvPr id="15" name="Shape 13"/>
          <p:cNvSpPr/>
          <p:nvPr/>
        </p:nvSpPr>
        <p:spPr>
          <a:xfrm>
            <a:off x="640080" y="3703320"/>
            <a:ext cx="777240" cy="777240"/>
          </a:xfrm>
          <a:prstGeom prst="ellipse">
            <a:avLst/>
          </a:prstGeom>
          <a:solidFill>
            <a:srgbClr val="0F3D5C"/>
          </a:solidFill>
        </p:spPr>
      </p:sp>
      <p:sp>
        <p:nvSpPr>
          <p:cNvPr id="16" name="Text 14"/>
          <p:cNvSpPr/>
          <p:nvPr/>
        </p:nvSpPr>
        <p:spPr>
          <a:xfrm>
            <a:off x="640080" y="3703320"/>
            <a:ext cx="777240" cy="777240"/>
          </a:xfrm>
          <a:prstGeom prst="rect">
            <a:avLst/>
          </a:prstGeom>
          <a:noFill/>
        </p:spPr>
        <p:txBody>
          <a:bodyPr wrap="square" lIns="0" tIns="0" rIns="0" bIns="0" rtlCol="0" anchor="ctr"/>
          <a:lstStyle/>
          <a:p>
            <a:pPr marL="0" indent="0" algn="ctr">
              <a:buNone/>
            </a:pPr>
            <a:r>
              <a:rPr lang="en-US" sz="34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3400" dirty="0"/>
          </a:p>
        </p:txBody>
      </p:sp>
      <p:sp>
        <p:nvSpPr>
          <p:cNvPr id="17" name="Text 15"/>
          <p:cNvSpPr txBox="1"/>
          <p:nvPr/>
        </p:nvSpPr>
        <p:spPr>
          <a:xfrm>
            <a:off x="1554480" y="3794760"/>
            <a:ext cx="4572000" cy="59436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EDA ENGINEER</a:t>
            </a:r>
            <a:endParaRPr lang="en-US" sz="2400" dirty="0"/>
          </a:p>
        </p:txBody>
      </p:sp>
      <p:sp>
        <p:nvSpPr>
          <p:cNvPr id="18" name="Text 16"/>
          <p:cNvSpPr txBox="1"/>
          <p:nvPr/>
        </p:nvSpPr>
        <p:spPr>
          <a:xfrm>
            <a:off x="640080" y="4526280"/>
            <a:ext cx="10908792" cy="5943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The EDA Engineer explores the data, finds patterns, and checks suspicious or incorrect records.</a:t>
            </a:r>
            <a:endParaRPr lang="en-US" sz="1400" dirty="0"/>
          </a:p>
        </p:txBody>
      </p:sp>
      <p:sp>
        <p:nvSpPr>
          <p:cNvPr id="19" name="Shape 17"/>
          <p:cNvSpPr/>
          <p:nvPr/>
        </p:nvSpPr>
        <p:spPr>
          <a:xfrm>
            <a:off x="640080" y="5349240"/>
            <a:ext cx="2514600" cy="685800"/>
          </a:xfrm>
          <a:prstGeom prst="roundRect">
            <a:avLst>
              <a:gd name="adj" fmla="val 10667"/>
            </a:avLst>
          </a:prstGeom>
          <a:solidFill>
            <a:srgbClr val="0F2843"/>
          </a:solidFill>
        </p:spPr>
      </p:sp>
      <p:sp>
        <p:nvSpPr>
          <p:cNvPr id="20" name="Text 18"/>
          <p:cNvSpPr txBox="1"/>
          <p:nvPr/>
        </p:nvSpPr>
        <p:spPr>
          <a:xfrm>
            <a:off x="640080" y="5349240"/>
            <a:ext cx="2514600" cy="6858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Clean Data</a:t>
            </a:r>
            <a:endParaRPr lang="en-US" sz="1300" dirty="0"/>
          </a:p>
        </p:txBody>
      </p:sp>
      <p:sp>
        <p:nvSpPr>
          <p:cNvPr id="21" name="Text 19"/>
          <p:cNvSpPr txBox="1"/>
          <p:nvPr/>
        </p:nvSpPr>
        <p:spPr>
          <a:xfrm>
            <a:off x="3154680" y="5349240"/>
            <a:ext cx="292608" cy="68580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2" name="Shape 20"/>
          <p:cNvSpPr/>
          <p:nvPr/>
        </p:nvSpPr>
        <p:spPr>
          <a:xfrm>
            <a:off x="3447288" y="5349240"/>
            <a:ext cx="2514600" cy="685800"/>
          </a:xfrm>
          <a:prstGeom prst="roundRect">
            <a:avLst>
              <a:gd name="adj" fmla="val 10667"/>
            </a:avLst>
          </a:prstGeom>
          <a:solidFill>
            <a:srgbClr val="0F2843"/>
          </a:solidFill>
        </p:spPr>
      </p:sp>
      <p:sp>
        <p:nvSpPr>
          <p:cNvPr id="23" name="Text 21"/>
          <p:cNvSpPr txBox="1"/>
          <p:nvPr/>
        </p:nvSpPr>
        <p:spPr>
          <a:xfrm>
            <a:off x="3447288" y="5349240"/>
            <a:ext cx="2514600" cy="6858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Explore Patterns</a:t>
            </a:r>
            <a:endParaRPr lang="en-US" sz="1300" dirty="0"/>
          </a:p>
        </p:txBody>
      </p:sp>
      <p:sp>
        <p:nvSpPr>
          <p:cNvPr id="24" name="Text 22"/>
          <p:cNvSpPr txBox="1"/>
          <p:nvPr/>
        </p:nvSpPr>
        <p:spPr>
          <a:xfrm>
            <a:off x="5961888" y="5349240"/>
            <a:ext cx="292608" cy="68580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5" name="Shape 23"/>
          <p:cNvSpPr/>
          <p:nvPr/>
        </p:nvSpPr>
        <p:spPr>
          <a:xfrm>
            <a:off x="6254496" y="5349240"/>
            <a:ext cx="2514600" cy="685800"/>
          </a:xfrm>
          <a:prstGeom prst="roundRect">
            <a:avLst>
              <a:gd name="adj" fmla="val 10667"/>
            </a:avLst>
          </a:prstGeom>
          <a:solidFill>
            <a:srgbClr val="0F2843"/>
          </a:solidFill>
        </p:spPr>
      </p:sp>
      <p:sp>
        <p:nvSpPr>
          <p:cNvPr id="26" name="Text 24"/>
          <p:cNvSpPr txBox="1"/>
          <p:nvPr/>
        </p:nvSpPr>
        <p:spPr>
          <a:xfrm>
            <a:off x="6254496" y="5349240"/>
            <a:ext cx="2514600" cy="6858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Find Problems</a:t>
            </a:r>
            <a:endParaRPr lang="en-US" sz="1300" dirty="0"/>
          </a:p>
        </p:txBody>
      </p:sp>
      <p:sp>
        <p:nvSpPr>
          <p:cNvPr id="27" name="Text 25"/>
          <p:cNvSpPr txBox="1"/>
          <p:nvPr/>
        </p:nvSpPr>
        <p:spPr>
          <a:xfrm>
            <a:off x="8769096" y="5349240"/>
            <a:ext cx="292608" cy="68580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8" name="Shape 26"/>
          <p:cNvSpPr/>
          <p:nvPr/>
        </p:nvSpPr>
        <p:spPr>
          <a:xfrm>
            <a:off x="9061704" y="5349240"/>
            <a:ext cx="2514600" cy="685800"/>
          </a:xfrm>
          <a:prstGeom prst="roundRect">
            <a:avLst>
              <a:gd name="adj" fmla="val 10667"/>
            </a:avLst>
          </a:prstGeom>
          <a:solidFill>
            <a:srgbClr val="FFB627"/>
          </a:solidFill>
        </p:spPr>
      </p:sp>
      <p:sp>
        <p:nvSpPr>
          <p:cNvPr id="29" name="Text 27"/>
          <p:cNvSpPr txBox="1"/>
          <p:nvPr/>
        </p:nvSpPr>
        <p:spPr>
          <a:xfrm>
            <a:off x="9061704" y="5349240"/>
            <a:ext cx="2514600" cy="685800"/>
          </a:xfrm>
          <a:prstGeom prst="rect">
            <a:avLst/>
          </a:prstGeom>
          <a:noFill/>
        </p:spPr>
        <p:txBody>
          <a:bodyPr wrap="square" lIns="0" tIns="0" rIns="0" bIns="0" rtlCol="0" anchor="ctr"/>
          <a:lstStyle/>
          <a:p>
            <a:pPr marL="0" indent="0" algn="ctr">
              <a:buNone/>
            </a:pPr>
            <a:r>
              <a:rPr lang="en-US" sz="1300" b="1" dirty="0">
                <a:solidFill>
                  <a:srgbClr val="081527"/>
                </a:solidFill>
                <a:latin typeface="Cambria" panose="02040503050406030204" pitchFamily="34" charset="0"/>
                <a:ea typeface="Cambria" panose="02040503050406030204" pitchFamily="34" charset="-122"/>
                <a:cs typeface="Cambria" panose="02040503050406030204" pitchFamily="34" charset="-120"/>
              </a:rPr>
              <a:t>Verified Data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0F3D5C"/>
                </a:solidFill>
                <a:latin typeface="Calibri" panose="020F0502020204030204" pitchFamily="34" charset="0"/>
                <a:ea typeface="Calibri" panose="020F0502020204030204" pitchFamily="34" charset="-122"/>
                <a:cs typeface="Calibri" panose="020F0502020204030204" pitchFamily="34" charset="-120"/>
              </a:rPr>
              <a:t>MEET THE ROLE</a:t>
            </a:r>
            <a:endParaRPr lang="en-US" sz="1200" dirty="0"/>
          </a:p>
        </p:txBody>
      </p:sp>
      <p:sp>
        <p:nvSpPr>
          <p:cNvPr id="3" name="Shape 1"/>
          <p:cNvSpPr/>
          <p:nvPr/>
        </p:nvSpPr>
        <p:spPr>
          <a:xfrm>
            <a:off x="640080" y="640080"/>
            <a:ext cx="10908792" cy="777240"/>
          </a:xfrm>
          <a:prstGeom prst="roundRect">
            <a:avLst>
              <a:gd name="adj" fmla="val 14118"/>
            </a:avLst>
          </a:prstGeom>
          <a:solidFill>
            <a:srgbClr val="0B2A4A"/>
          </a:solidFill>
          <a:effectLst>
            <a:outerShdw blurRad="101600" dist="38100" dir="5400000" algn="bl" rotWithShape="0">
              <a:srgbClr val="000000">
                <a:alpha val="25000"/>
              </a:srgbClr>
            </a:outerShdw>
          </a:effectLst>
        </p:spPr>
      </p:sp>
      <p:sp>
        <p:nvSpPr>
          <p:cNvPr id="4" name="Text 2"/>
          <p:cNvSpPr txBox="1"/>
          <p:nvPr/>
        </p:nvSpPr>
        <p:spPr>
          <a:xfrm>
            <a:off x="914400" y="640080"/>
            <a:ext cx="10360152" cy="777240"/>
          </a:xfrm>
          <a:prstGeom prst="rect">
            <a:avLst/>
          </a:prstGeom>
          <a:noFill/>
        </p:spPr>
        <p:txBody>
          <a:bodyPr wrap="square" lIns="0" tIns="0" rIns="0" bIns="0" rtlCol="0" anchor="ctr"/>
          <a:lstStyle/>
          <a:p>
            <a:pPr marL="0" indent="0" algn="l">
              <a:buNone/>
            </a:pPr>
            <a:r>
              <a:rPr lang="en-US" sz="17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Now our data is clean and verified. What should we do next?</a:t>
            </a:r>
            <a:endParaRPr lang="en-US" sz="1700" dirty="0"/>
          </a:p>
        </p:txBody>
      </p:sp>
      <p:sp>
        <p:nvSpPr>
          <p:cNvPr id="5" name="Shape 3"/>
          <p:cNvSpPr/>
          <p:nvPr/>
        </p:nvSpPr>
        <p:spPr>
          <a:xfrm>
            <a:off x="640080" y="1691640"/>
            <a:ext cx="914400" cy="914400"/>
          </a:xfrm>
          <a:prstGeom prst="ellipse">
            <a:avLst/>
          </a:prstGeom>
          <a:solidFill>
            <a:srgbClr val="0F3D5C"/>
          </a:solidFill>
        </p:spPr>
      </p:sp>
      <p:sp>
        <p:nvSpPr>
          <p:cNvPr id="6" name="Text 4"/>
          <p:cNvSpPr/>
          <p:nvPr/>
        </p:nvSpPr>
        <p:spPr>
          <a:xfrm>
            <a:off x="640080" y="1691640"/>
            <a:ext cx="914400" cy="914400"/>
          </a:xfrm>
          <a:prstGeom prst="rect">
            <a:avLst/>
          </a:prstGeom>
          <a:noFill/>
        </p:spPr>
        <p:txBody>
          <a:bodyPr wrap="square" lIns="0" tIns="0" rIns="0" bIns="0" rtlCol="0" anchor="ctr"/>
          <a:lstStyle/>
          <a:p>
            <a:pPr marL="0" indent="0" algn="ctr">
              <a:buNone/>
            </a:pPr>
            <a:r>
              <a:rPr lang="en-US" sz="40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4000" dirty="0"/>
          </a:p>
        </p:txBody>
      </p:sp>
      <p:sp>
        <p:nvSpPr>
          <p:cNvPr id="7" name="Text 5"/>
          <p:cNvSpPr txBox="1"/>
          <p:nvPr/>
        </p:nvSpPr>
        <p:spPr>
          <a:xfrm>
            <a:off x="1737360" y="1691640"/>
            <a:ext cx="5486400" cy="914400"/>
          </a:xfrm>
          <a:prstGeom prst="rect">
            <a:avLst/>
          </a:prstGeom>
          <a:noFill/>
        </p:spPr>
        <p:txBody>
          <a:bodyPr wrap="square" lIns="0" tIns="0" rIns="0" bIns="0" rtlCol="0" anchor="ctr"/>
          <a:lstStyle/>
          <a:p>
            <a:pPr marL="0" indent="0">
              <a:buNone/>
            </a:pPr>
            <a:r>
              <a:rPr lang="en-US" sz="3000" b="1" dirty="0">
                <a:solidFill>
                  <a:srgbClr val="17263B"/>
                </a:solidFill>
                <a:latin typeface="Cambria" panose="02040503050406030204" pitchFamily="34" charset="0"/>
                <a:ea typeface="Cambria" panose="02040503050406030204" pitchFamily="34" charset="-122"/>
                <a:cs typeface="Cambria" panose="02040503050406030204" pitchFamily="34" charset="-120"/>
              </a:rPr>
              <a:t>ML ENGINEER</a:t>
            </a:r>
            <a:endParaRPr lang="en-US" sz="3000" dirty="0"/>
          </a:p>
        </p:txBody>
      </p:sp>
      <p:sp>
        <p:nvSpPr>
          <p:cNvPr id="8" name="Shape 6"/>
          <p:cNvSpPr/>
          <p:nvPr/>
        </p:nvSpPr>
        <p:spPr>
          <a:xfrm>
            <a:off x="822960" y="2788920"/>
            <a:ext cx="2743200" cy="347472"/>
          </a:xfrm>
          <a:prstGeom prst="roundRect">
            <a:avLst>
              <a:gd name="adj" fmla="val 15789"/>
            </a:avLst>
          </a:prstGeom>
          <a:solidFill>
            <a:srgbClr val="FFFFFF"/>
          </a:solidFill>
          <a:ln w="12700">
            <a:solidFill>
              <a:srgbClr val="E3E9F2"/>
            </a:solidFill>
            <a:prstDash val="solid"/>
          </a:ln>
        </p:spPr>
      </p:sp>
      <p:sp>
        <p:nvSpPr>
          <p:cNvPr id="9" name="Text 7"/>
          <p:cNvSpPr txBox="1"/>
          <p:nvPr/>
        </p:nvSpPr>
        <p:spPr>
          <a:xfrm>
            <a:off x="822960" y="2788920"/>
            <a:ext cx="2743200" cy="347472"/>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Rainfall</a:t>
            </a:r>
            <a:endParaRPr lang="en-US" sz="1200" dirty="0"/>
          </a:p>
        </p:txBody>
      </p:sp>
      <p:sp>
        <p:nvSpPr>
          <p:cNvPr id="10" name="Shape 8"/>
          <p:cNvSpPr/>
          <p:nvPr/>
        </p:nvSpPr>
        <p:spPr>
          <a:xfrm>
            <a:off x="822960" y="3209544"/>
            <a:ext cx="2743200" cy="347472"/>
          </a:xfrm>
          <a:prstGeom prst="roundRect">
            <a:avLst>
              <a:gd name="adj" fmla="val 15789"/>
            </a:avLst>
          </a:prstGeom>
          <a:solidFill>
            <a:srgbClr val="FFFFFF"/>
          </a:solidFill>
          <a:ln w="12700">
            <a:solidFill>
              <a:srgbClr val="E3E9F2"/>
            </a:solidFill>
            <a:prstDash val="solid"/>
          </a:ln>
        </p:spPr>
      </p:sp>
      <p:sp>
        <p:nvSpPr>
          <p:cNvPr id="11" name="Text 9"/>
          <p:cNvSpPr txBox="1"/>
          <p:nvPr/>
        </p:nvSpPr>
        <p:spPr>
          <a:xfrm>
            <a:off x="822960" y="3209544"/>
            <a:ext cx="2743200" cy="347472"/>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River Level</a:t>
            </a:r>
            <a:endParaRPr lang="en-US" sz="1200" dirty="0"/>
          </a:p>
        </p:txBody>
      </p:sp>
      <p:sp>
        <p:nvSpPr>
          <p:cNvPr id="12" name="Shape 10"/>
          <p:cNvSpPr/>
          <p:nvPr/>
        </p:nvSpPr>
        <p:spPr>
          <a:xfrm>
            <a:off x="822960" y="3630168"/>
            <a:ext cx="2743200" cy="347472"/>
          </a:xfrm>
          <a:prstGeom prst="roundRect">
            <a:avLst>
              <a:gd name="adj" fmla="val 15789"/>
            </a:avLst>
          </a:prstGeom>
          <a:solidFill>
            <a:srgbClr val="FFFFFF"/>
          </a:solidFill>
          <a:ln w="12700">
            <a:solidFill>
              <a:srgbClr val="E3E9F2"/>
            </a:solidFill>
            <a:prstDash val="solid"/>
          </a:ln>
        </p:spPr>
      </p:sp>
      <p:sp>
        <p:nvSpPr>
          <p:cNvPr id="13" name="Text 11"/>
          <p:cNvSpPr txBox="1"/>
          <p:nvPr/>
        </p:nvSpPr>
        <p:spPr>
          <a:xfrm>
            <a:off x="822960" y="3630168"/>
            <a:ext cx="2743200" cy="347472"/>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Emergency Calls</a:t>
            </a:r>
            <a:endParaRPr lang="en-US" sz="1200" dirty="0"/>
          </a:p>
        </p:txBody>
      </p:sp>
      <p:sp>
        <p:nvSpPr>
          <p:cNvPr id="14" name="Shape 12"/>
          <p:cNvSpPr/>
          <p:nvPr/>
        </p:nvSpPr>
        <p:spPr>
          <a:xfrm>
            <a:off x="822960" y="4050792"/>
            <a:ext cx="2743200" cy="347472"/>
          </a:xfrm>
          <a:prstGeom prst="roundRect">
            <a:avLst>
              <a:gd name="adj" fmla="val 15789"/>
            </a:avLst>
          </a:prstGeom>
          <a:solidFill>
            <a:srgbClr val="FFFFFF"/>
          </a:solidFill>
          <a:ln w="12700">
            <a:solidFill>
              <a:srgbClr val="E3E9F2"/>
            </a:solidFill>
            <a:prstDash val="solid"/>
          </a:ln>
        </p:spPr>
      </p:sp>
      <p:sp>
        <p:nvSpPr>
          <p:cNvPr id="15" name="Text 13"/>
          <p:cNvSpPr txBox="1"/>
          <p:nvPr/>
        </p:nvSpPr>
        <p:spPr>
          <a:xfrm>
            <a:off x="822960" y="4050792"/>
            <a:ext cx="2743200" cy="347472"/>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Road Closures</a:t>
            </a:r>
            <a:endParaRPr lang="en-US" sz="1200" dirty="0"/>
          </a:p>
        </p:txBody>
      </p:sp>
      <p:sp>
        <p:nvSpPr>
          <p:cNvPr id="16" name="Text 14"/>
          <p:cNvSpPr txBox="1"/>
          <p:nvPr/>
        </p:nvSpPr>
        <p:spPr>
          <a:xfrm>
            <a:off x="3611880" y="3291840"/>
            <a:ext cx="548640" cy="548640"/>
          </a:xfrm>
          <a:prstGeom prst="rect">
            <a:avLst/>
          </a:prstGeom>
          <a:noFill/>
        </p:spPr>
        <p:txBody>
          <a:bodyPr wrap="square" lIns="0" tIns="0" rIns="0" bIns="0" rtlCol="0" anchor="ctr"/>
          <a:lstStyle/>
          <a:p>
            <a:pPr marL="0" indent="0" algn="ctr">
              <a:buNone/>
            </a:pPr>
            <a:r>
              <a:rPr lang="en-US" sz="22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7" name="Shape 15"/>
          <p:cNvSpPr/>
          <p:nvPr/>
        </p:nvSpPr>
        <p:spPr>
          <a:xfrm>
            <a:off x="4206240" y="2971800"/>
            <a:ext cx="2834640" cy="1188720"/>
          </a:xfrm>
          <a:prstGeom prst="roundRect">
            <a:avLst>
              <a:gd name="adj" fmla="val 7692"/>
            </a:avLst>
          </a:prstGeom>
          <a:solidFill>
            <a:srgbClr val="0F3D5C"/>
          </a:solidFill>
        </p:spPr>
      </p:sp>
      <p:sp>
        <p:nvSpPr>
          <p:cNvPr id="18" name="Text 16"/>
          <p:cNvSpPr txBox="1"/>
          <p:nvPr/>
        </p:nvSpPr>
        <p:spPr>
          <a:xfrm>
            <a:off x="4206240" y="2971800"/>
            <a:ext cx="2834640" cy="1188720"/>
          </a:xfrm>
          <a:prstGeom prst="rect">
            <a:avLst/>
          </a:prstGeom>
          <a:noFill/>
        </p:spPr>
        <p:txBody>
          <a:bodyPr wrap="square" lIns="0" tIns="0" rIns="0" bIns="0"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ML MODEL</a:t>
            </a:r>
            <a:endParaRPr lang="en-US" sz="1500" dirty="0"/>
          </a:p>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(Decision Tree)</a:t>
            </a:r>
            <a:endParaRPr lang="en-US" sz="1500" dirty="0"/>
          </a:p>
        </p:txBody>
      </p:sp>
      <p:sp>
        <p:nvSpPr>
          <p:cNvPr id="19" name="Text 17"/>
          <p:cNvSpPr txBox="1"/>
          <p:nvPr/>
        </p:nvSpPr>
        <p:spPr>
          <a:xfrm>
            <a:off x="7086600" y="3291840"/>
            <a:ext cx="548640" cy="548640"/>
          </a:xfrm>
          <a:prstGeom prst="rect">
            <a:avLst/>
          </a:prstGeom>
          <a:noFill/>
        </p:spPr>
        <p:txBody>
          <a:bodyPr wrap="square" lIns="0" tIns="0" rIns="0" bIns="0" rtlCol="0" anchor="ctr"/>
          <a:lstStyle/>
          <a:p>
            <a:pPr marL="0" indent="0" algn="ctr">
              <a:buNone/>
            </a:pPr>
            <a:r>
              <a:rPr lang="en-US" sz="22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20" name="Shape 18"/>
          <p:cNvSpPr/>
          <p:nvPr/>
        </p:nvSpPr>
        <p:spPr>
          <a:xfrm>
            <a:off x="7772400" y="2788920"/>
            <a:ext cx="3108960" cy="347472"/>
          </a:xfrm>
          <a:prstGeom prst="roundRect">
            <a:avLst>
              <a:gd name="adj" fmla="val 50000"/>
            </a:avLst>
          </a:prstGeom>
          <a:solidFill>
            <a:srgbClr val="2A9D8F"/>
          </a:solidFill>
        </p:spPr>
      </p:sp>
      <p:sp>
        <p:nvSpPr>
          <p:cNvPr id="21" name="Text 19"/>
          <p:cNvSpPr txBox="1"/>
          <p:nvPr/>
        </p:nvSpPr>
        <p:spPr>
          <a:xfrm>
            <a:off x="7772400" y="2788920"/>
            <a:ext cx="3108960"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Low</a:t>
            </a:r>
            <a:endParaRPr lang="en-US" sz="1300" dirty="0"/>
          </a:p>
        </p:txBody>
      </p:sp>
      <p:sp>
        <p:nvSpPr>
          <p:cNvPr id="22" name="Shape 20"/>
          <p:cNvSpPr/>
          <p:nvPr/>
        </p:nvSpPr>
        <p:spPr>
          <a:xfrm>
            <a:off x="7772400" y="3209544"/>
            <a:ext cx="3108960" cy="347472"/>
          </a:xfrm>
          <a:prstGeom prst="roundRect">
            <a:avLst>
              <a:gd name="adj" fmla="val 50000"/>
            </a:avLst>
          </a:prstGeom>
          <a:solidFill>
            <a:srgbClr val="F4A300"/>
          </a:solidFill>
        </p:spPr>
      </p:sp>
      <p:sp>
        <p:nvSpPr>
          <p:cNvPr id="23" name="Text 21"/>
          <p:cNvSpPr txBox="1"/>
          <p:nvPr/>
        </p:nvSpPr>
        <p:spPr>
          <a:xfrm>
            <a:off x="7772400" y="3209544"/>
            <a:ext cx="3108960"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Moderate</a:t>
            </a:r>
            <a:endParaRPr lang="en-US" sz="1300" dirty="0"/>
          </a:p>
        </p:txBody>
      </p:sp>
      <p:sp>
        <p:nvSpPr>
          <p:cNvPr id="24" name="Shape 22"/>
          <p:cNvSpPr/>
          <p:nvPr/>
        </p:nvSpPr>
        <p:spPr>
          <a:xfrm>
            <a:off x="7772400" y="3630168"/>
            <a:ext cx="3108960" cy="347472"/>
          </a:xfrm>
          <a:prstGeom prst="roundRect">
            <a:avLst>
              <a:gd name="adj" fmla="val 50000"/>
            </a:avLst>
          </a:prstGeom>
          <a:solidFill>
            <a:srgbClr val="E63946"/>
          </a:solidFill>
        </p:spPr>
      </p:sp>
      <p:sp>
        <p:nvSpPr>
          <p:cNvPr id="25" name="Text 23"/>
          <p:cNvSpPr txBox="1"/>
          <p:nvPr/>
        </p:nvSpPr>
        <p:spPr>
          <a:xfrm>
            <a:off x="7772400" y="3630168"/>
            <a:ext cx="3108960"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Severe</a:t>
            </a:r>
            <a:endParaRPr lang="en-US" sz="1300" dirty="0"/>
          </a:p>
        </p:txBody>
      </p:sp>
      <p:sp>
        <p:nvSpPr>
          <p:cNvPr id="26" name="Shape 24"/>
          <p:cNvSpPr/>
          <p:nvPr/>
        </p:nvSpPr>
        <p:spPr>
          <a:xfrm>
            <a:off x="640080" y="4709160"/>
            <a:ext cx="10908792" cy="822960"/>
          </a:xfrm>
          <a:prstGeom prst="roundRect">
            <a:avLst>
              <a:gd name="adj" fmla="val 11111"/>
            </a:avLst>
          </a:prstGeom>
          <a:solidFill>
            <a:srgbClr val="FFB627"/>
          </a:solidFill>
        </p:spPr>
      </p:sp>
      <p:sp>
        <p:nvSpPr>
          <p:cNvPr id="27" name="Text 25"/>
          <p:cNvSpPr txBox="1"/>
          <p:nvPr/>
        </p:nvSpPr>
        <p:spPr>
          <a:xfrm>
            <a:off x="640080" y="4709160"/>
            <a:ext cx="10908792" cy="822960"/>
          </a:xfrm>
          <a:prstGeom prst="rect">
            <a:avLst/>
          </a:prstGeom>
          <a:noFill/>
        </p:spPr>
        <p:txBody>
          <a:bodyPr wrap="square" lIns="0" tIns="0" rIns="0" bIns="0" rtlCol="0" anchor="ctr"/>
          <a:lstStyle/>
          <a:p>
            <a:pPr marL="0" indent="0" algn="ctr">
              <a:buNone/>
            </a:pPr>
            <a:r>
              <a:rPr lang="en-US" sz="1600" b="1" dirty="0">
                <a:solidFill>
                  <a:srgbClr val="081527"/>
                </a:solidFill>
                <a:latin typeface="Cambria" panose="02040503050406030204" pitchFamily="34" charset="0"/>
                <a:ea typeface="Cambria" panose="02040503050406030204" pitchFamily="34" charset="-122"/>
                <a:cs typeface="Cambria" panose="02040503050406030204" pitchFamily="34" charset="-120"/>
              </a:rPr>
              <a:t>The ML Engineer trains the model using past data so it can predict risk for a new situation.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0F3D5C"/>
                </a:solidFill>
                <a:latin typeface="Calibri" panose="020F0502020204030204" pitchFamily="34" charset="0"/>
                <a:ea typeface="Calibri" panose="020F0502020204030204" pitchFamily="34" charset="-122"/>
                <a:cs typeface="Calibri" panose="020F0502020204030204" pitchFamily="34" charset="-120"/>
              </a:rPr>
              <a:t>CAN WE TRUST IT?</a:t>
            </a:r>
            <a:endParaRPr lang="en-US" sz="1200" dirty="0"/>
          </a:p>
        </p:txBody>
      </p:sp>
      <p:sp>
        <p:nvSpPr>
          <p:cNvPr id="3" name="Shape 1"/>
          <p:cNvSpPr/>
          <p:nvPr/>
        </p:nvSpPr>
        <p:spPr>
          <a:xfrm>
            <a:off x="640080" y="640080"/>
            <a:ext cx="10908792" cy="822960"/>
          </a:xfrm>
          <a:prstGeom prst="roundRect">
            <a:avLst>
              <a:gd name="adj" fmla="val 13333"/>
            </a:avLst>
          </a:prstGeom>
          <a:solidFill>
            <a:srgbClr val="0B2A4A"/>
          </a:solidFill>
          <a:effectLst>
            <a:outerShdw blurRad="101600" dist="38100" dir="5400000" algn="bl" rotWithShape="0">
              <a:srgbClr val="000000">
                <a:alpha val="25000"/>
              </a:srgbClr>
            </a:outerShdw>
          </a:effectLst>
        </p:spPr>
      </p:sp>
      <p:sp>
        <p:nvSpPr>
          <p:cNvPr id="4" name="Text 2"/>
          <p:cNvSpPr txBox="1"/>
          <p:nvPr/>
        </p:nvSpPr>
        <p:spPr>
          <a:xfrm>
            <a:off x="914400" y="640080"/>
            <a:ext cx="10360152" cy="822960"/>
          </a:xfrm>
          <a:prstGeom prst="rect">
            <a:avLst/>
          </a:prstGeom>
          <a:noFill/>
        </p:spPr>
        <p:txBody>
          <a:bodyPr wrap="square" lIns="0" tIns="0" rIns="0" bIns="0" rtlCol="0" anchor="ctr"/>
          <a:lstStyle/>
          <a:p>
            <a:pPr marL="0" indent="0" algn="l">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The model says it is 100% correct during training. Should we trust it immediately?</a:t>
            </a:r>
            <a:endParaRPr lang="en-US" sz="1600" dirty="0"/>
          </a:p>
        </p:txBody>
      </p:sp>
      <p:sp>
        <p:nvSpPr>
          <p:cNvPr id="5" name="Text 3"/>
          <p:cNvSpPr txBox="1"/>
          <p:nvPr/>
        </p:nvSpPr>
        <p:spPr>
          <a:xfrm>
            <a:off x="640080" y="1536192"/>
            <a:ext cx="10908792" cy="365760"/>
          </a:xfrm>
          <a:prstGeom prst="rect">
            <a:avLst/>
          </a:prstGeom>
          <a:noFill/>
        </p:spPr>
        <p:txBody>
          <a:bodyPr wrap="square" lIns="0" tIns="0" rIns="0" bIns="0" rtlCol="0" anchor="ctr"/>
          <a:lstStyle/>
          <a:p>
            <a:pPr marL="0" indent="0" algn="ctr">
              <a:buNone/>
            </a:pPr>
            <a:r>
              <a:rPr lang="en-US" sz="1800" b="1" dirty="0">
                <a:solidFill>
                  <a:srgbClr val="E63946"/>
                </a:solidFill>
                <a:latin typeface="Cambria" panose="02040503050406030204" pitchFamily="34" charset="0"/>
                <a:ea typeface="Cambria" panose="02040503050406030204" pitchFamily="34" charset="-122"/>
                <a:cs typeface="Cambria" panose="02040503050406030204" pitchFamily="34" charset="-120"/>
              </a:rPr>
              <a:t>NO.</a:t>
            </a:r>
            <a:endParaRPr lang="en-US" sz="1800" dirty="0"/>
          </a:p>
        </p:txBody>
      </p:sp>
      <p:sp>
        <p:nvSpPr>
          <p:cNvPr id="6" name="Shape 4"/>
          <p:cNvSpPr/>
          <p:nvPr/>
        </p:nvSpPr>
        <p:spPr>
          <a:xfrm>
            <a:off x="640080" y="2057400"/>
            <a:ext cx="5303520" cy="1005840"/>
          </a:xfrm>
          <a:prstGeom prst="roundRect">
            <a:avLst>
              <a:gd name="adj" fmla="val 9091"/>
            </a:avLst>
          </a:prstGeom>
          <a:solidFill>
            <a:srgbClr val="16697A"/>
          </a:solidFill>
        </p:spPr>
      </p:sp>
      <p:sp>
        <p:nvSpPr>
          <p:cNvPr id="7" name="Text 5"/>
          <p:cNvSpPr txBox="1"/>
          <p:nvPr/>
        </p:nvSpPr>
        <p:spPr>
          <a:xfrm>
            <a:off x="640080" y="2240280"/>
            <a:ext cx="5303520" cy="411480"/>
          </a:xfrm>
          <a:prstGeom prst="rect">
            <a:avLst/>
          </a:prstGeom>
          <a:noFill/>
        </p:spPr>
        <p:txBody>
          <a:bodyPr wrap="square" lIns="0" tIns="0" rIns="0" bIns="0" rtlCol="0" anchor="ctr"/>
          <a:lstStyle/>
          <a:p>
            <a:pPr marL="0" indent="0" algn="ctr">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TRAINING DATA</a:t>
            </a:r>
            <a:endParaRPr lang="en-US" sz="1700" dirty="0"/>
          </a:p>
        </p:txBody>
      </p:sp>
      <p:sp>
        <p:nvSpPr>
          <p:cNvPr id="8" name="Text 6"/>
          <p:cNvSpPr txBox="1"/>
          <p:nvPr/>
        </p:nvSpPr>
        <p:spPr>
          <a:xfrm>
            <a:off x="640080" y="2651760"/>
            <a:ext cx="5303520" cy="320040"/>
          </a:xfrm>
          <a:prstGeom prst="rect">
            <a:avLst/>
          </a:prstGeom>
          <a:noFill/>
        </p:spPr>
        <p:txBody>
          <a:bodyPr wrap="square" lIns="0" tIns="0" rIns="0" bIns="0" rtlCol="0" anchor="ctr"/>
          <a:lstStyle/>
          <a:p>
            <a:pPr marL="0" indent="0" algn="ctr">
              <a:buNone/>
            </a:pPr>
            <a:r>
              <a:rPr lang="en-US" sz="1200" i="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has already seen it</a:t>
            </a:r>
            <a:endParaRPr lang="en-US" sz="1200" dirty="0"/>
          </a:p>
        </p:txBody>
      </p:sp>
      <p:sp>
        <p:nvSpPr>
          <p:cNvPr id="9" name="Shape 7"/>
          <p:cNvSpPr/>
          <p:nvPr/>
        </p:nvSpPr>
        <p:spPr>
          <a:xfrm>
            <a:off x="6217920" y="2057400"/>
            <a:ext cx="5303520" cy="1005840"/>
          </a:xfrm>
          <a:prstGeom prst="roundRect">
            <a:avLst>
              <a:gd name="adj" fmla="val 9091"/>
            </a:avLst>
          </a:prstGeom>
          <a:solidFill>
            <a:srgbClr val="0F3D5C"/>
          </a:solidFill>
        </p:spPr>
      </p:sp>
      <p:sp>
        <p:nvSpPr>
          <p:cNvPr id="10" name="Text 8"/>
          <p:cNvSpPr txBox="1"/>
          <p:nvPr/>
        </p:nvSpPr>
        <p:spPr>
          <a:xfrm>
            <a:off x="6217920" y="2240280"/>
            <a:ext cx="5303520" cy="411480"/>
          </a:xfrm>
          <a:prstGeom prst="rect">
            <a:avLst/>
          </a:prstGeom>
          <a:noFill/>
        </p:spPr>
        <p:txBody>
          <a:bodyPr wrap="square" lIns="0" tIns="0" rIns="0" bIns="0" rtlCol="0" anchor="ctr"/>
          <a:lstStyle/>
          <a:p>
            <a:pPr marL="0" indent="0" algn="ctr">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UNSEEN TEST DATA</a:t>
            </a:r>
            <a:endParaRPr lang="en-US" sz="1700" dirty="0"/>
          </a:p>
        </p:txBody>
      </p:sp>
      <p:sp>
        <p:nvSpPr>
          <p:cNvPr id="11" name="Text 9"/>
          <p:cNvSpPr txBox="1"/>
          <p:nvPr/>
        </p:nvSpPr>
        <p:spPr>
          <a:xfrm>
            <a:off x="6217920" y="2651760"/>
            <a:ext cx="5303520" cy="320040"/>
          </a:xfrm>
          <a:prstGeom prst="rect">
            <a:avLst/>
          </a:prstGeom>
          <a:noFill/>
        </p:spPr>
        <p:txBody>
          <a:bodyPr wrap="square" lIns="0" tIns="0" rIns="0" bIns="0" rtlCol="0" anchor="ctr"/>
          <a:lstStyle/>
          <a:p>
            <a:pPr marL="0" indent="0" algn="ctr">
              <a:buNone/>
            </a:pPr>
            <a:r>
              <a:rPr lang="en-US" sz="1200" i="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has never seen it</a:t>
            </a:r>
            <a:endParaRPr lang="en-US" sz="1200" dirty="0"/>
          </a:p>
        </p:txBody>
      </p:sp>
      <p:sp>
        <p:nvSpPr>
          <p:cNvPr id="12" name="Shape 10"/>
          <p:cNvSpPr/>
          <p:nvPr/>
        </p:nvSpPr>
        <p:spPr>
          <a:xfrm>
            <a:off x="640080" y="3291840"/>
            <a:ext cx="777240" cy="777240"/>
          </a:xfrm>
          <a:prstGeom prst="ellipse">
            <a:avLst/>
          </a:prstGeom>
          <a:solidFill>
            <a:srgbClr val="0F3D5C"/>
          </a:solidFill>
        </p:spPr>
      </p:sp>
      <p:sp>
        <p:nvSpPr>
          <p:cNvPr id="13" name="Text 11"/>
          <p:cNvSpPr/>
          <p:nvPr/>
        </p:nvSpPr>
        <p:spPr>
          <a:xfrm>
            <a:off x="640080" y="3291840"/>
            <a:ext cx="777240" cy="777240"/>
          </a:xfrm>
          <a:prstGeom prst="rect">
            <a:avLst/>
          </a:prstGeom>
          <a:noFill/>
        </p:spPr>
        <p:txBody>
          <a:bodyPr wrap="square" lIns="0" tIns="0" rIns="0" bIns="0" rtlCol="0" anchor="ctr"/>
          <a:lstStyle/>
          <a:p>
            <a:pPr marL="0" indent="0" algn="ctr">
              <a:buNone/>
            </a:pPr>
            <a:r>
              <a:rPr lang="en-US" sz="34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3400" dirty="0"/>
          </a:p>
        </p:txBody>
      </p:sp>
      <p:sp>
        <p:nvSpPr>
          <p:cNvPr id="14" name="Text 12"/>
          <p:cNvSpPr txBox="1"/>
          <p:nvPr/>
        </p:nvSpPr>
        <p:spPr>
          <a:xfrm>
            <a:off x="1554480" y="3383280"/>
            <a:ext cx="5486400" cy="59436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EVALUATION ENGINEER</a:t>
            </a:r>
            <a:endParaRPr lang="en-US" sz="2200" dirty="0"/>
          </a:p>
        </p:txBody>
      </p:sp>
      <p:sp>
        <p:nvSpPr>
          <p:cNvPr id="15" name="Text 13"/>
          <p:cNvSpPr txBox="1"/>
          <p:nvPr/>
        </p:nvSpPr>
        <p:spPr>
          <a:xfrm>
            <a:off x="640080" y="4069080"/>
            <a:ext cx="10908792" cy="5943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Tests the model using unseen data to check whether it really learned the pattern — or only memorized the training data.</a:t>
            </a:r>
            <a:endParaRPr lang="en-US" sz="1400" dirty="0"/>
          </a:p>
        </p:txBody>
      </p:sp>
      <p:sp>
        <p:nvSpPr>
          <p:cNvPr id="16" name="Shape 14"/>
          <p:cNvSpPr/>
          <p:nvPr/>
        </p:nvSpPr>
        <p:spPr>
          <a:xfrm>
            <a:off x="640080" y="4800600"/>
            <a:ext cx="5303520" cy="502920"/>
          </a:xfrm>
          <a:prstGeom prst="roundRect">
            <a:avLst>
              <a:gd name="adj" fmla="val 10909"/>
            </a:avLst>
          </a:prstGeom>
          <a:solidFill>
            <a:srgbClr val="FFFFFF"/>
          </a:solidFill>
          <a:ln w="12700">
            <a:solidFill>
              <a:srgbClr val="E3E9F2"/>
            </a:solidFill>
            <a:prstDash val="solid"/>
          </a:ln>
        </p:spPr>
      </p:sp>
      <p:sp>
        <p:nvSpPr>
          <p:cNvPr id="17" name="Text 15"/>
          <p:cNvSpPr txBox="1"/>
          <p:nvPr/>
        </p:nvSpPr>
        <p:spPr>
          <a:xfrm>
            <a:off x="640080" y="4800600"/>
            <a:ext cx="5303520" cy="502920"/>
          </a:xfrm>
          <a:prstGeom prst="rect">
            <a:avLst/>
          </a:prstGeom>
          <a:noFill/>
        </p:spPr>
        <p:txBody>
          <a:bodyPr wrap="square" lIns="0" tIns="0" rIns="0" bIns="0" rtlCol="0" anchor="ctr"/>
          <a:lstStyle/>
          <a:p>
            <a:pPr marL="0" indent="0" algn="ctr">
              <a:buNone/>
            </a:pPr>
            <a:r>
              <a:rPr lang="en-US" sz="1300" b="1" dirty="0">
                <a:solidFill>
                  <a:srgbClr val="17263B"/>
                </a:solidFill>
                <a:latin typeface="Calibri" panose="020F0502020204030204" pitchFamily="34" charset="0"/>
                <a:ea typeface="Calibri" panose="020F0502020204030204" pitchFamily="34" charset="-122"/>
                <a:cs typeface="Calibri" panose="020F0502020204030204" pitchFamily="34" charset="-120"/>
              </a:rPr>
              <a:t>Actual Risk  vs  Predicted Risk</a:t>
            </a:r>
            <a:endParaRPr lang="en-US" sz="1300" dirty="0"/>
          </a:p>
        </p:txBody>
      </p:sp>
      <p:sp>
        <p:nvSpPr>
          <p:cNvPr id="18" name="Shape 16"/>
          <p:cNvSpPr/>
          <p:nvPr/>
        </p:nvSpPr>
        <p:spPr>
          <a:xfrm>
            <a:off x="6217920" y="4800600"/>
            <a:ext cx="2697480" cy="1234440"/>
          </a:xfrm>
          <a:prstGeom prst="roundRect">
            <a:avLst>
              <a:gd name="adj" fmla="val 5926"/>
            </a:avLst>
          </a:prstGeom>
          <a:solidFill>
            <a:srgbClr val="13233D"/>
          </a:solidFill>
        </p:spPr>
      </p:sp>
      <p:sp>
        <p:nvSpPr>
          <p:cNvPr id="19" name="Text 17"/>
          <p:cNvSpPr txBox="1"/>
          <p:nvPr/>
        </p:nvSpPr>
        <p:spPr>
          <a:xfrm>
            <a:off x="6355080" y="4800600"/>
            <a:ext cx="2423160" cy="1234440"/>
          </a:xfrm>
          <a:prstGeom prst="rect">
            <a:avLst/>
          </a:prstGeom>
          <a:noFill/>
        </p:spPr>
        <p:txBody>
          <a:bodyPr wrap="square" lIns="0" tIns="0" rIns="0" bIns="0" rtlCol="0" anchor="ctr"/>
          <a:lstStyle/>
          <a:p>
            <a:pPr marL="0" indent="0">
              <a:buNone/>
            </a:pPr>
            <a:r>
              <a:rPr lang="en-US" sz="1400" b="1" dirty="0">
                <a:solidFill>
                  <a:srgbClr val="FFB627"/>
                </a:solidFill>
                <a:latin typeface="Calibri" panose="020F0502020204030204" pitchFamily="34" charset="0"/>
                <a:ea typeface="Calibri" panose="020F0502020204030204" pitchFamily="34" charset="-122"/>
                <a:cs typeface="Calibri" panose="020F0502020204030204" pitchFamily="34" charset="-120"/>
              </a:rPr>
              <a:t>Accuracy
</a:t>
            </a: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How many predictions are correct</a:t>
            </a:r>
            <a:endParaRPr lang="en-US" sz="1400" dirty="0"/>
          </a:p>
        </p:txBody>
      </p:sp>
      <p:sp>
        <p:nvSpPr>
          <p:cNvPr id="20" name="Shape 18"/>
          <p:cNvSpPr/>
          <p:nvPr/>
        </p:nvSpPr>
        <p:spPr>
          <a:xfrm>
            <a:off x="9052560" y="4800600"/>
            <a:ext cx="2697480" cy="1234440"/>
          </a:xfrm>
          <a:prstGeom prst="roundRect">
            <a:avLst>
              <a:gd name="adj" fmla="val 5926"/>
            </a:avLst>
          </a:prstGeom>
          <a:solidFill>
            <a:srgbClr val="13233D"/>
          </a:solidFill>
        </p:spPr>
      </p:sp>
      <p:sp>
        <p:nvSpPr>
          <p:cNvPr id="21" name="Text 19"/>
          <p:cNvSpPr txBox="1"/>
          <p:nvPr/>
        </p:nvSpPr>
        <p:spPr>
          <a:xfrm>
            <a:off x="9189720" y="4800600"/>
            <a:ext cx="2423160" cy="1234440"/>
          </a:xfrm>
          <a:prstGeom prst="rect">
            <a:avLst/>
          </a:prstGeom>
          <a:noFill/>
        </p:spPr>
        <p:txBody>
          <a:bodyPr wrap="square" lIns="0" tIns="0" rIns="0" bIns="0" rtlCol="0" anchor="ctr"/>
          <a:lstStyle/>
          <a:p>
            <a:pPr marL="0" indent="0">
              <a:buNone/>
            </a:pPr>
            <a:r>
              <a:rPr lang="en-US" sz="1400" b="1" dirty="0">
                <a:solidFill>
                  <a:srgbClr val="FFB627"/>
                </a:solidFill>
                <a:latin typeface="Calibri" panose="020F0502020204030204" pitchFamily="34" charset="0"/>
                <a:ea typeface="Calibri" panose="020F0502020204030204" pitchFamily="34" charset="-122"/>
                <a:cs typeface="Calibri" panose="020F0502020204030204" pitchFamily="34" charset="-120"/>
              </a:rPr>
              <a:t>Overconfidence
</a:t>
            </a: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Model is very confident but wrong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E63946"/>
                </a:solidFill>
                <a:latin typeface="Calibri" panose="020F0502020204030204" pitchFamily="34" charset="0"/>
                <a:ea typeface="Calibri" panose="020F0502020204030204" pitchFamily="34" charset="-122"/>
                <a:cs typeface="Calibri" panose="020F0502020204030204" pitchFamily="34" charset="-120"/>
              </a:rPr>
              <a:t>FINAL PROBLEM</a:t>
            </a:r>
            <a:endParaRPr lang="en-US" sz="1200" dirty="0"/>
          </a:p>
        </p:txBody>
      </p:sp>
      <p:sp>
        <p:nvSpPr>
          <p:cNvPr id="3" name="Shape 1"/>
          <p:cNvSpPr/>
          <p:nvPr/>
        </p:nvSpPr>
        <p:spPr>
          <a:xfrm>
            <a:off x="640080" y="621792"/>
            <a:ext cx="10908792" cy="822960"/>
          </a:xfrm>
          <a:prstGeom prst="roundRect">
            <a:avLst>
              <a:gd name="adj" fmla="val 13333"/>
            </a:avLst>
          </a:prstGeom>
          <a:solidFill>
            <a:srgbClr val="0B2A4A"/>
          </a:solidFill>
          <a:effectLst>
            <a:outerShdw blurRad="101600" dist="38100" dir="5400000" algn="bl" rotWithShape="0">
              <a:srgbClr val="000000">
                <a:alpha val="25000"/>
              </a:srgbClr>
            </a:outerShdw>
          </a:effectLst>
        </p:spPr>
      </p:sp>
      <p:sp>
        <p:nvSpPr>
          <p:cNvPr id="4" name="Text 2"/>
          <p:cNvSpPr txBox="1"/>
          <p:nvPr/>
        </p:nvSpPr>
        <p:spPr>
          <a:xfrm>
            <a:off x="914400" y="621792"/>
            <a:ext cx="10360152" cy="822960"/>
          </a:xfrm>
          <a:prstGeom prst="rect">
            <a:avLst/>
          </a:prstGeom>
          <a:noFill/>
        </p:spPr>
        <p:txBody>
          <a:bodyPr wrap="square" lIns="0" tIns="0" rIns="0" bIns="0" rtlCol="0" anchor="ctr"/>
          <a:lstStyle/>
          <a:p>
            <a:pPr marL="0" indent="0" algn="l">
              <a:buNone/>
            </a:pPr>
            <a:r>
              <a:rPr lang="en-US" sz="17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Can the officer open VS Code and read Python code during an emergency?</a:t>
            </a:r>
            <a:endParaRPr lang="en-US" sz="1700" dirty="0"/>
          </a:p>
        </p:txBody>
      </p:sp>
      <p:sp>
        <p:nvSpPr>
          <p:cNvPr id="5" name="Text 3"/>
          <p:cNvSpPr txBox="1"/>
          <p:nvPr/>
        </p:nvSpPr>
        <p:spPr>
          <a:xfrm>
            <a:off x="640080" y="1508760"/>
            <a:ext cx="10908792" cy="365760"/>
          </a:xfrm>
          <a:prstGeom prst="rect">
            <a:avLst/>
          </a:prstGeom>
          <a:noFill/>
        </p:spPr>
        <p:txBody>
          <a:bodyPr wrap="square" lIns="0" tIns="0" rIns="0" bIns="0" rtlCol="0" anchor="ctr"/>
          <a:lstStyle/>
          <a:p>
            <a:pPr marL="0" indent="0" algn="ctr">
              <a:buNone/>
            </a:pPr>
            <a:r>
              <a:rPr lang="en-US" sz="1800" b="1" dirty="0">
                <a:solidFill>
                  <a:srgbClr val="E63946"/>
                </a:solidFill>
                <a:latin typeface="Cambria" panose="02040503050406030204" pitchFamily="34" charset="0"/>
                <a:ea typeface="Cambria" panose="02040503050406030204" pitchFamily="34" charset="-122"/>
                <a:cs typeface="Cambria" panose="02040503050406030204" pitchFamily="34" charset="-120"/>
              </a:rPr>
              <a:t>NO.</a:t>
            </a:r>
            <a:endParaRPr lang="en-US" sz="1800" dirty="0"/>
          </a:p>
        </p:txBody>
      </p:sp>
      <p:sp>
        <p:nvSpPr>
          <p:cNvPr id="6" name="Shape 4"/>
          <p:cNvSpPr/>
          <p:nvPr/>
        </p:nvSpPr>
        <p:spPr>
          <a:xfrm>
            <a:off x="640080" y="2103120"/>
            <a:ext cx="777240" cy="777240"/>
          </a:xfrm>
          <a:prstGeom prst="ellipse">
            <a:avLst/>
          </a:prstGeom>
          <a:solidFill>
            <a:srgbClr val="0F3D5C"/>
          </a:solidFill>
        </p:spPr>
      </p:sp>
      <p:sp>
        <p:nvSpPr>
          <p:cNvPr id="7" name="Text 5"/>
          <p:cNvSpPr/>
          <p:nvPr/>
        </p:nvSpPr>
        <p:spPr>
          <a:xfrm>
            <a:off x="640080" y="2103120"/>
            <a:ext cx="777240" cy="777240"/>
          </a:xfrm>
          <a:prstGeom prst="rect">
            <a:avLst/>
          </a:prstGeom>
          <a:noFill/>
        </p:spPr>
        <p:txBody>
          <a:bodyPr wrap="square" lIns="0" tIns="0" rIns="0" bIns="0" rtlCol="0" anchor="ctr"/>
          <a:lstStyle/>
          <a:p>
            <a:pPr marL="0" indent="0" algn="ctr">
              <a:buNone/>
            </a:pPr>
            <a:r>
              <a:rPr lang="en-US" sz="34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3400" dirty="0"/>
          </a:p>
        </p:txBody>
      </p:sp>
      <p:sp>
        <p:nvSpPr>
          <p:cNvPr id="8" name="Text 6"/>
          <p:cNvSpPr txBox="1"/>
          <p:nvPr/>
        </p:nvSpPr>
        <p:spPr>
          <a:xfrm>
            <a:off x="1554480" y="2194560"/>
            <a:ext cx="5486400" cy="59436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INTEGRATION ENGINEER</a:t>
            </a:r>
            <a:endParaRPr lang="en-US" sz="2200" dirty="0"/>
          </a:p>
        </p:txBody>
      </p:sp>
      <p:sp>
        <p:nvSpPr>
          <p:cNvPr id="9" name="Shape 7"/>
          <p:cNvSpPr/>
          <p:nvPr/>
        </p:nvSpPr>
        <p:spPr>
          <a:xfrm>
            <a:off x="640080" y="2971800"/>
            <a:ext cx="4023360" cy="457200"/>
          </a:xfrm>
          <a:prstGeom prst="roundRect">
            <a:avLst>
              <a:gd name="adj" fmla="val 14000"/>
            </a:avLst>
          </a:prstGeom>
          <a:solidFill>
            <a:srgbClr val="0F2843"/>
          </a:solidFill>
        </p:spPr>
      </p:sp>
      <p:sp>
        <p:nvSpPr>
          <p:cNvPr id="10" name="Text 8"/>
          <p:cNvSpPr txBox="1"/>
          <p:nvPr/>
        </p:nvSpPr>
        <p:spPr>
          <a:xfrm>
            <a:off x="640080" y="2971800"/>
            <a:ext cx="402336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New Sensor Data</a:t>
            </a:r>
            <a:endParaRPr lang="en-US" sz="1300" dirty="0"/>
          </a:p>
        </p:txBody>
      </p:sp>
      <p:sp>
        <p:nvSpPr>
          <p:cNvPr id="11" name="Text 9"/>
          <p:cNvSpPr txBox="1"/>
          <p:nvPr/>
        </p:nvSpPr>
        <p:spPr>
          <a:xfrm>
            <a:off x="640080" y="3429000"/>
            <a:ext cx="4023360" cy="109728"/>
          </a:xfrm>
          <a:prstGeom prst="rect">
            <a:avLst/>
          </a:prstGeom>
          <a:noFill/>
        </p:spPr>
        <p:txBody>
          <a:bodyPr wrap="square" lIns="0" tIns="0" rIns="0" bIns="0" rtlCol="0" anchor="ctr"/>
          <a:lstStyle/>
          <a:p>
            <a:pPr marL="0" indent="0" algn="ctr">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2" name="Shape 10"/>
          <p:cNvSpPr/>
          <p:nvPr/>
        </p:nvSpPr>
        <p:spPr>
          <a:xfrm>
            <a:off x="640080" y="3520440"/>
            <a:ext cx="4023360" cy="457200"/>
          </a:xfrm>
          <a:prstGeom prst="roundRect">
            <a:avLst>
              <a:gd name="adj" fmla="val 14000"/>
            </a:avLst>
          </a:prstGeom>
          <a:solidFill>
            <a:srgbClr val="0F2843"/>
          </a:solidFill>
        </p:spPr>
      </p:sp>
      <p:sp>
        <p:nvSpPr>
          <p:cNvPr id="13" name="Text 11"/>
          <p:cNvSpPr txBox="1"/>
          <p:nvPr/>
        </p:nvSpPr>
        <p:spPr>
          <a:xfrm>
            <a:off x="640080" y="3520440"/>
            <a:ext cx="402336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Trained Model</a:t>
            </a:r>
            <a:endParaRPr lang="en-US" sz="1300" dirty="0"/>
          </a:p>
        </p:txBody>
      </p:sp>
      <p:sp>
        <p:nvSpPr>
          <p:cNvPr id="14" name="Text 12"/>
          <p:cNvSpPr txBox="1"/>
          <p:nvPr/>
        </p:nvSpPr>
        <p:spPr>
          <a:xfrm>
            <a:off x="640080" y="3977640"/>
            <a:ext cx="4023360" cy="109728"/>
          </a:xfrm>
          <a:prstGeom prst="rect">
            <a:avLst/>
          </a:prstGeom>
          <a:noFill/>
        </p:spPr>
        <p:txBody>
          <a:bodyPr wrap="square" lIns="0" tIns="0" rIns="0" bIns="0" rtlCol="0" anchor="ctr"/>
          <a:lstStyle/>
          <a:p>
            <a:pPr marL="0" indent="0" algn="ctr">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5" name="Shape 13"/>
          <p:cNvSpPr/>
          <p:nvPr/>
        </p:nvSpPr>
        <p:spPr>
          <a:xfrm>
            <a:off x="640080" y="4069080"/>
            <a:ext cx="4023360" cy="457200"/>
          </a:xfrm>
          <a:prstGeom prst="roundRect">
            <a:avLst>
              <a:gd name="adj" fmla="val 14000"/>
            </a:avLst>
          </a:prstGeom>
          <a:solidFill>
            <a:srgbClr val="0F2843"/>
          </a:solidFill>
        </p:spPr>
      </p:sp>
      <p:sp>
        <p:nvSpPr>
          <p:cNvPr id="16" name="Text 14"/>
          <p:cNvSpPr txBox="1"/>
          <p:nvPr/>
        </p:nvSpPr>
        <p:spPr>
          <a:xfrm>
            <a:off x="640080" y="4069080"/>
            <a:ext cx="402336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Prediction</a:t>
            </a:r>
            <a:endParaRPr lang="en-US" sz="1300" dirty="0"/>
          </a:p>
        </p:txBody>
      </p:sp>
      <p:sp>
        <p:nvSpPr>
          <p:cNvPr id="17" name="Shape 15"/>
          <p:cNvSpPr/>
          <p:nvPr/>
        </p:nvSpPr>
        <p:spPr>
          <a:xfrm>
            <a:off x="640080" y="4709160"/>
            <a:ext cx="4023360" cy="457200"/>
          </a:xfrm>
          <a:prstGeom prst="roundRect">
            <a:avLst>
              <a:gd name="adj" fmla="val 14000"/>
            </a:avLst>
          </a:prstGeom>
          <a:solidFill>
            <a:srgbClr val="FFB627"/>
          </a:solidFill>
        </p:spPr>
      </p:sp>
      <p:sp>
        <p:nvSpPr>
          <p:cNvPr id="18" name="Text 16"/>
          <p:cNvSpPr txBox="1"/>
          <p:nvPr/>
        </p:nvSpPr>
        <p:spPr>
          <a:xfrm>
            <a:off x="640080" y="4709160"/>
            <a:ext cx="4023360" cy="457200"/>
          </a:xfrm>
          <a:prstGeom prst="rect">
            <a:avLst/>
          </a:prstGeom>
          <a:noFill/>
        </p:spPr>
        <p:txBody>
          <a:bodyPr wrap="square" lIns="0" tIns="0" rIns="0" bIns="0" rtlCol="0" anchor="ctr"/>
          <a:lstStyle/>
          <a:p>
            <a:pPr marL="0" indent="0" algn="ctr">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Live Dashboard</a:t>
            </a:r>
            <a:endParaRPr lang="en-US" sz="1300" dirty="0"/>
          </a:p>
        </p:txBody>
      </p:sp>
      <p:sp>
        <p:nvSpPr>
          <p:cNvPr id="19" name="Shape 17"/>
          <p:cNvSpPr/>
          <p:nvPr/>
        </p:nvSpPr>
        <p:spPr>
          <a:xfrm>
            <a:off x="5120640" y="2926080"/>
            <a:ext cx="6428232" cy="2331720"/>
          </a:xfrm>
          <a:prstGeom prst="roundRect">
            <a:avLst>
              <a:gd name="adj" fmla="val 5490"/>
            </a:avLst>
          </a:prstGeom>
          <a:solidFill>
            <a:srgbClr val="081527"/>
          </a:solidFill>
          <a:ln w="19050">
            <a:solidFill>
              <a:srgbClr val="E63946"/>
            </a:solidFill>
            <a:prstDash val="solid"/>
          </a:ln>
        </p:spPr>
      </p:sp>
      <p:sp>
        <p:nvSpPr>
          <p:cNvPr id="20" name="Text 18"/>
          <p:cNvSpPr txBox="1"/>
          <p:nvPr/>
        </p:nvSpPr>
        <p:spPr>
          <a:xfrm>
            <a:off x="5394960" y="3108960"/>
            <a:ext cx="5943600" cy="548640"/>
          </a:xfrm>
          <a:prstGeom prst="rect">
            <a:avLst/>
          </a:prstGeom>
          <a:noFill/>
        </p:spPr>
        <p:txBody>
          <a:bodyPr wrap="square" lIns="0" tIns="0" rIns="0" bIns="0" rtlCol="0" anchor="ctr"/>
          <a:lstStyle/>
          <a:p>
            <a:pPr marL="0" indent="0">
              <a:buNone/>
            </a:pPr>
            <a:r>
              <a:rPr lang="en-US" sz="2200" b="1" dirty="0">
                <a:solidFill>
                  <a:srgbClr val="E63946"/>
                </a:solidFill>
                <a:latin typeface="Cambria" panose="02040503050406030204" pitchFamily="34" charset="0"/>
                <a:ea typeface="Cambria" panose="02040503050406030204" pitchFamily="34" charset="-122"/>
                <a:cs typeface="Cambria" panose="02040503050406030204" pitchFamily="34" charset="-120"/>
              </a:rPr>
              <a:t>🚨 Risk: SEVERE</a:t>
            </a:r>
            <a:endParaRPr lang="en-US" sz="2200" dirty="0"/>
          </a:p>
        </p:txBody>
      </p:sp>
      <p:sp>
        <p:nvSpPr>
          <p:cNvPr id="21" name="Text 19"/>
          <p:cNvSpPr txBox="1"/>
          <p:nvPr/>
        </p:nvSpPr>
        <p:spPr>
          <a:xfrm>
            <a:off x="5394960" y="3657600"/>
            <a:ext cx="5943600" cy="365760"/>
          </a:xfrm>
          <a:prstGeom prst="rect">
            <a:avLst/>
          </a:prstGeom>
          <a:noFill/>
        </p:spPr>
        <p:txBody>
          <a:bodyPr wrap="square" lIns="0" tIns="0" rIns="0" bIns="0" rtlCol="0" anchor="ctr"/>
          <a:lstStyle/>
          <a:p>
            <a:pPr marL="0" indent="0">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Confidence: 95%</a:t>
            </a:r>
            <a:endParaRPr lang="en-US" sz="1400" dirty="0"/>
          </a:p>
        </p:txBody>
      </p:sp>
      <p:sp>
        <p:nvSpPr>
          <p:cNvPr id="22" name="Shape 20"/>
          <p:cNvSpPr/>
          <p:nvPr/>
        </p:nvSpPr>
        <p:spPr>
          <a:xfrm>
            <a:off x="5394960" y="4114800"/>
            <a:ext cx="5852160" cy="0"/>
          </a:xfrm>
          <a:prstGeom prst="line">
            <a:avLst/>
          </a:prstGeom>
          <a:noFill/>
          <a:ln w="12700">
            <a:solidFill>
              <a:srgbClr val="2A3F5C"/>
            </a:solidFill>
            <a:prstDash val="solid"/>
          </a:ln>
        </p:spPr>
      </p:sp>
      <p:sp>
        <p:nvSpPr>
          <p:cNvPr id="23" name="Text 21"/>
          <p:cNvSpPr txBox="1"/>
          <p:nvPr/>
        </p:nvSpPr>
        <p:spPr>
          <a:xfrm>
            <a:off x="5394960" y="4206240"/>
            <a:ext cx="5852160" cy="320040"/>
          </a:xfrm>
          <a:prstGeom prst="rect">
            <a:avLst/>
          </a:prstGeom>
          <a:noFill/>
        </p:spPr>
        <p:txBody>
          <a:bodyPr wrap="square" lIns="0" tIns="0" rIns="0" bIns="0" rtlCol="0" anchor="ctr"/>
          <a:lstStyle/>
          <a:p>
            <a:pPr marL="0" indent="0">
              <a:buNone/>
            </a:pPr>
            <a:r>
              <a:rPr lang="en-US" sz="1200" b="1" dirty="0">
                <a:solidFill>
                  <a:srgbClr val="FFB627"/>
                </a:solidFill>
                <a:latin typeface="Calibri" panose="020F0502020204030204" pitchFamily="34" charset="0"/>
                <a:ea typeface="Calibri" panose="020F0502020204030204" pitchFamily="34" charset="-122"/>
                <a:cs typeface="Calibri" panose="020F0502020204030204" pitchFamily="34" charset="-120"/>
              </a:rPr>
              <a:t>Recommended Action:</a:t>
            </a:r>
            <a:endParaRPr lang="en-US" sz="1200" dirty="0"/>
          </a:p>
        </p:txBody>
      </p:sp>
      <p:sp>
        <p:nvSpPr>
          <p:cNvPr id="24" name="Text 22"/>
          <p:cNvSpPr txBox="1"/>
          <p:nvPr/>
        </p:nvSpPr>
        <p:spPr>
          <a:xfrm>
            <a:off x="5394960" y="4526280"/>
            <a:ext cx="5852160" cy="640080"/>
          </a:xfrm>
          <a:prstGeom prst="rect">
            <a:avLst/>
          </a:prstGeom>
          <a:noFill/>
        </p:spPr>
        <p:txBody>
          <a:bodyPr wrap="square" lIns="0" tIns="0" rIns="0" bIns="0"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 Dispatch emergency response</a:t>
            </a:r>
            <a:endParaRPr lang="en-US" sz="1300" dirty="0"/>
          </a:p>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 Prepare shelter</a:t>
            </a:r>
            <a:endParaRPr lang="en-US" sz="1300" dirty="0"/>
          </a:p>
        </p:txBody>
      </p:sp>
      <p:sp>
        <p:nvSpPr>
          <p:cNvPr id="25" name="Shape 23"/>
          <p:cNvSpPr/>
          <p:nvPr/>
        </p:nvSpPr>
        <p:spPr>
          <a:xfrm>
            <a:off x="640080" y="5349240"/>
            <a:ext cx="10908792" cy="685800"/>
          </a:xfrm>
          <a:prstGeom prst="roundRect">
            <a:avLst>
              <a:gd name="adj" fmla="val 13333"/>
            </a:avLst>
          </a:prstGeom>
          <a:solidFill>
            <a:srgbClr val="0F3D5C"/>
          </a:solidFill>
        </p:spPr>
      </p:sp>
      <p:sp>
        <p:nvSpPr>
          <p:cNvPr id="26" name="Text 24"/>
          <p:cNvSpPr txBox="1"/>
          <p:nvPr/>
        </p:nvSpPr>
        <p:spPr>
          <a:xfrm>
            <a:off x="914400" y="5349240"/>
            <a:ext cx="10360152" cy="685800"/>
          </a:xfrm>
          <a:prstGeom prst="rect">
            <a:avLst/>
          </a:prstGeom>
          <a:noFill/>
        </p:spPr>
        <p:txBody>
          <a:bodyPr wrap="square" lIns="0" tIns="0" rIns="0" bIns="0" rtlCol="0" anchor="ctr"/>
          <a:lstStyle/>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The Integration Engineer connects the trained model to a usable application or dashboard.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54864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THE FULL JOURNEY</a:t>
            </a:r>
            <a:endParaRPr lang="en-US" sz="1200" dirty="0"/>
          </a:p>
        </p:txBody>
      </p:sp>
      <p:sp>
        <p:nvSpPr>
          <p:cNvPr id="3" name="Text 1"/>
          <p:cNvSpPr txBox="1"/>
          <p:nvPr/>
        </p:nvSpPr>
        <p:spPr>
          <a:xfrm>
            <a:off x="640080" y="548640"/>
            <a:ext cx="8229600" cy="50292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From Emergency to AI System</a:t>
            </a:r>
            <a:endParaRPr lang="en-US" sz="2600" dirty="0"/>
          </a:p>
        </p:txBody>
      </p:sp>
      <p:sp>
        <p:nvSpPr>
          <p:cNvPr id="4" name="Shape 2"/>
          <p:cNvSpPr/>
          <p:nvPr/>
        </p:nvSpPr>
        <p:spPr>
          <a:xfrm>
            <a:off x="502920" y="1234440"/>
            <a:ext cx="2606040" cy="658368"/>
          </a:xfrm>
          <a:prstGeom prst="roundRect">
            <a:avLst>
              <a:gd name="adj" fmla="val 11111"/>
            </a:avLst>
          </a:prstGeom>
          <a:solidFill>
            <a:srgbClr val="0F3D5C"/>
          </a:solidFill>
        </p:spPr>
      </p:sp>
      <p:sp>
        <p:nvSpPr>
          <p:cNvPr id="5" name="Text 3"/>
          <p:cNvSpPr txBox="1"/>
          <p:nvPr/>
        </p:nvSpPr>
        <p:spPr>
          <a:xfrm>
            <a:off x="502920" y="123444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EMERGENCY PROBLEM</a:t>
            </a:r>
            <a:endParaRPr lang="en-US" sz="1150" dirty="0"/>
          </a:p>
        </p:txBody>
      </p:sp>
      <p:sp>
        <p:nvSpPr>
          <p:cNvPr id="6" name="Text 4"/>
          <p:cNvSpPr txBox="1"/>
          <p:nvPr/>
        </p:nvSpPr>
        <p:spPr>
          <a:xfrm>
            <a:off x="502920" y="192024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What information do we need?</a:t>
            </a:r>
            <a:endParaRPr lang="en-US" sz="900" dirty="0"/>
          </a:p>
        </p:txBody>
      </p:sp>
      <p:sp>
        <p:nvSpPr>
          <p:cNvPr id="7" name="Text 5"/>
          <p:cNvSpPr txBox="1"/>
          <p:nvPr/>
        </p:nvSpPr>
        <p:spPr>
          <a:xfrm>
            <a:off x="3108960" y="123444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8" name="Shape 6"/>
          <p:cNvSpPr/>
          <p:nvPr/>
        </p:nvSpPr>
        <p:spPr>
          <a:xfrm>
            <a:off x="3218688" y="1234440"/>
            <a:ext cx="2606040" cy="658368"/>
          </a:xfrm>
          <a:prstGeom prst="roundRect">
            <a:avLst>
              <a:gd name="adj" fmla="val 11111"/>
            </a:avLst>
          </a:prstGeom>
          <a:solidFill>
            <a:srgbClr val="0F3D5C"/>
          </a:solidFill>
        </p:spPr>
      </p:sp>
      <p:sp>
        <p:nvSpPr>
          <p:cNvPr id="9" name="Text 7"/>
          <p:cNvSpPr txBox="1"/>
          <p:nvPr/>
        </p:nvSpPr>
        <p:spPr>
          <a:xfrm>
            <a:off x="3218688" y="123444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FEATURES</a:t>
            </a:r>
            <a:endParaRPr lang="en-US" sz="1150" dirty="0"/>
          </a:p>
        </p:txBody>
      </p:sp>
      <p:sp>
        <p:nvSpPr>
          <p:cNvPr id="10" name="Text 8"/>
          <p:cNvSpPr txBox="1"/>
          <p:nvPr/>
        </p:nvSpPr>
        <p:spPr>
          <a:xfrm>
            <a:off x="3218688" y="192024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Learn from past cases</a:t>
            </a:r>
            <a:endParaRPr lang="en-US" sz="900" dirty="0"/>
          </a:p>
        </p:txBody>
      </p:sp>
      <p:sp>
        <p:nvSpPr>
          <p:cNvPr id="11" name="Text 9"/>
          <p:cNvSpPr txBox="1"/>
          <p:nvPr/>
        </p:nvSpPr>
        <p:spPr>
          <a:xfrm>
            <a:off x="5824728" y="123444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2" name="Shape 10"/>
          <p:cNvSpPr/>
          <p:nvPr/>
        </p:nvSpPr>
        <p:spPr>
          <a:xfrm>
            <a:off x="5934456" y="1234440"/>
            <a:ext cx="2606040" cy="658368"/>
          </a:xfrm>
          <a:prstGeom prst="roundRect">
            <a:avLst>
              <a:gd name="adj" fmla="val 11111"/>
            </a:avLst>
          </a:prstGeom>
          <a:solidFill>
            <a:srgbClr val="0F3D5C"/>
          </a:solidFill>
        </p:spPr>
      </p:sp>
      <p:sp>
        <p:nvSpPr>
          <p:cNvPr id="13" name="Text 11"/>
          <p:cNvSpPr txBox="1"/>
          <p:nvPr/>
        </p:nvSpPr>
        <p:spPr>
          <a:xfrm>
            <a:off x="5934456" y="123444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MACHINE LEARNING</a:t>
            </a:r>
            <a:endParaRPr lang="en-US" sz="1150" dirty="0"/>
          </a:p>
        </p:txBody>
      </p:sp>
      <p:sp>
        <p:nvSpPr>
          <p:cNvPr id="14" name="Text 12"/>
          <p:cNvSpPr txBox="1"/>
          <p:nvPr/>
        </p:nvSpPr>
        <p:spPr>
          <a:xfrm>
            <a:off x="5934456" y="192024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But is the raw data clean?</a:t>
            </a:r>
            <a:endParaRPr lang="en-US" sz="900" dirty="0"/>
          </a:p>
        </p:txBody>
      </p:sp>
      <p:sp>
        <p:nvSpPr>
          <p:cNvPr id="15" name="Text 13"/>
          <p:cNvSpPr txBox="1"/>
          <p:nvPr/>
        </p:nvSpPr>
        <p:spPr>
          <a:xfrm>
            <a:off x="8540496" y="123444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6" name="Shape 14"/>
          <p:cNvSpPr/>
          <p:nvPr/>
        </p:nvSpPr>
        <p:spPr>
          <a:xfrm>
            <a:off x="8650224" y="1234440"/>
            <a:ext cx="2606040" cy="658368"/>
          </a:xfrm>
          <a:prstGeom prst="roundRect">
            <a:avLst>
              <a:gd name="adj" fmla="val 11111"/>
            </a:avLst>
          </a:prstGeom>
          <a:solidFill>
            <a:srgbClr val="0F3D5C"/>
          </a:solidFill>
        </p:spPr>
      </p:sp>
      <p:sp>
        <p:nvSpPr>
          <p:cNvPr id="17" name="Text 15"/>
          <p:cNvSpPr txBox="1"/>
          <p:nvPr/>
        </p:nvSpPr>
        <p:spPr>
          <a:xfrm>
            <a:off x="8650224" y="123444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 ENGINEER</a:t>
            </a:r>
            <a:endParaRPr lang="en-US" sz="1150" dirty="0"/>
          </a:p>
        </p:txBody>
      </p:sp>
      <p:sp>
        <p:nvSpPr>
          <p:cNvPr id="18" name="Text 16"/>
          <p:cNvSpPr txBox="1"/>
          <p:nvPr/>
        </p:nvSpPr>
        <p:spPr>
          <a:xfrm>
            <a:off x="8650224" y="192024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Does the data make sense?</a:t>
            </a:r>
            <a:endParaRPr lang="en-US" sz="900" dirty="0"/>
          </a:p>
        </p:txBody>
      </p:sp>
      <p:sp>
        <p:nvSpPr>
          <p:cNvPr id="19" name="Shape 17"/>
          <p:cNvSpPr/>
          <p:nvPr/>
        </p:nvSpPr>
        <p:spPr>
          <a:xfrm>
            <a:off x="502920" y="2651760"/>
            <a:ext cx="2606040" cy="658368"/>
          </a:xfrm>
          <a:prstGeom prst="roundRect">
            <a:avLst>
              <a:gd name="adj" fmla="val 11111"/>
            </a:avLst>
          </a:prstGeom>
          <a:solidFill>
            <a:srgbClr val="0F3D5C"/>
          </a:solidFill>
        </p:spPr>
      </p:sp>
      <p:sp>
        <p:nvSpPr>
          <p:cNvPr id="20" name="Text 18"/>
          <p:cNvSpPr txBox="1"/>
          <p:nvPr/>
        </p:nvSpPr>
        <p:spPr>
          <a:xfrm>
            <a:off x="502920" y="265176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EDA ENGINEER</a:t>
            </a:r>
            <a:endParaRPr lang="en-US" sz="1150" dirty="0"/>
          </a:p>
        </p:txBody>
      </p:sp>
      <p:sp>
        <p:nvSpPr>
          <p:cNvPr id="21" name="Text 19"/>
          <p:cNvSpPr txBox="1"/>
          <p:nvPr/>
        </p:nvSpPr>
        <p:spPr>
          <a:xfrm>
            <a:off x="502920" y="333756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Can we train the model?</a:t>
            </a:r>
            <a:endParaRPr lang="en-US" sz="900" dirty="0"/>
          </a:p>
        </p:txBody>
      </p:sp>
      <p:sp>
        <p:nvSpPr>
          <p:cNvPr id="22" name="Text 20"/>
          <p:cNvSpPr txBox="1"/>
          <p:nvPr/>
        </p:nvSpPr>
        <p:spPr>
          <a:xfrm>
            <a:off x="3108960" y="265176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3" name="Shape 21"/>
          <p:cNvSpPr/>
          <p:nvPr/>
        </p:nvSpPr>
        <p:spPr>
          <a:xfrm>
            <a:off x="3218688" y="2651760"/>
            <a:ext cx="2606040" cy="658368"/>
          </a:xfrm>
          <a:prstGeom prst="roundRect">
            <a:avLst>
              <a:gd name="adj" fmla="val 11111"/>
            </a:avLst>
          </a:prstGeom>
          <a:solidFill>
            <a:srgbClr val="0F3D5C"/>
          </a:solidFill>
        </p:spPr>
      </p:sp>
      <p:sp>
        <p:nvSpPr>
          <p:cNvPr id="24" name="Text 22"/>
          <p:cNvSpPr txBox="1"/>
          <p:nvPr/>
        </p:nvSpPr>
        <p:spPr>
          <a:xfrm>
            <a:off x="3218688" y="265176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ML ENGINEER</a:t>
            </a:r>
            <a:endParaRPr lang="en-US" sz="1150" dirty="0"/>
          </a:p>
        </p:txBody>
      </p:sp>
      <p:sp>
        <p:nvSpPr>
          <p:cNvPr id="25" name="Text 23"/>
          <p:cNvSpPr txBox="1"/>
          <p:nvPr/>
        </p:nvSpPr>
        <p:spPr>
          <a:xfrm>
            <a:off x="3218688" y="333756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Can we trust the model?</a:t>
            </a:r>
            <a:endParaRPr lang="en-US" sz="900" dirty="0"/>
          </a:p>
        </p:txBody>
      </p:sp>
      <p:sp>
        <p:nvSpPr>
          <p:cNvPr id="26" name="Text 24"/>
          <p:cNvSpPr txBox="1"/>
          <p:nvPr/>
        </p:nvSpPr>
        <p:spPr>
          <a:xfrm>
            <a:off x="5824728" y="265176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7" name="Shape 25"/>
          <p:cNvSpPr/>
          <p:nvPr/>
        </p:nvSpPr>
        <p:spPr>
          <a:xfrm>
            <a:off x="5934456" y="2651760"/>
            <a:ext cx="2606040" cy="658368"/>
          </a:xfrm>
          <a:prstGeom prst="roundRect">
            <a:avLst>
              <a:gd name="adj" fmla="val 11111"/>
            </a:avLst>
          </a:prstGeom>
          <a:solidFill>
            <a:srgbClr val="0F3D5C"/>
          </a:solidFill>
        </p:spPr>
      </p:sp>
      <p:sp>
        <p:nvSpPr>
          <p:cNvPr id="28" name="Text 26"/>
          <p:cNvSpPr txBox="1"/>
          <p:nvPr/>
        </p:nvSpPr>
        <p:spPr>
          <a:xfrm>
            <a:off x="5934456" y="265176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EVALUATION ENGINEER</a:t>
            </a:r>
            <a:endParaRPr lang="en-US" sz="1150" dirty="0"/>
          </a:p>
        </p:txBody>
      </p:sp>
      <p:sp>
        <p:nvSpPr>
          <p:cNvPr id="29" name="Text 27"/>
          <p:cNvSpPr txBox="1"/>
          <p:nvPr/>
        </p:nvSpPr>
        <p:spPr>
          <a:xfrm>
            <a:off x="5934456" y="333756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Can emergency responders use it?</a:t>
            </a:r>
            <a:endParaRPr lang="en-US" sz="900" dirty="0"/>
          </a:p>
        </p:txBody>
      </p:sp>
      <p:sp>
        <p:nvSpPr>
          <p:cNvPr id="30" name="Text 28"/>
          <p:cNvSpPr txBox="1"/>
          <p:nvPr/>
        </p:nvSpPr>
        <p:spPr>
          <a:xfrm>
            <a:off x="8540496" y="265176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31" name="Shape 29"/>
          <p:cNvSpPr/>
          <p:nvPr/>
        </p:nvSpPr>
        <p:spPr>
          <a:xfrm>
            <a:off x="8650224" y="2651760"/>
            <a:ext cx="2606040" cy="658368"/>
          </a:xfrm>
          <a:prstGeom prst="roundRect">
            <a:avLst>
              <a:gd name="adj" fmla="val 11111"/>
            </a:avLst>
          </a:prstGeom>
          <a:solidFill>
            <a:srgbClr val="FFB627"/>
          </a:solidFill>
        </p:spPr>
      </p:sp>
      <p:sp>
        <p:nvSpPr>
          <p:cNvPr id="32" name="Text 30"/>
          <p:cNvSpPr txBox="1"/>
          <p:nvPr/>
        </p:nvSpPr>
        <p:spPr>
          <a:xfrm>
            <a:off x="8650224" y="2651760"/>
            <a:ext cx="2606040" cy="658368"/>
          </a:xfrm>
          <a:prstGeom prst="rect">
            <a:avLst/>
          </a:prstGeom>
          <a:noFill/>
        </p:spPr>
        <p:txBody>
          <a:bodyPr wrap="square" lIns="0" tIns="0" rIns="0" bIns="0" rtlCol="0" anchor="ctr"/>
          <a:lstStyle/>
          <a:p>
            <a:pPr marL="0" indent="0" algn="ctr">
              <a:buNone/>
            </a:pPr>
            <a:r>
              <a:rPr lang="en-US" sz="1150" b="1" dirty="0">
                <a:solidFill>
                  <a:srgbClr val="081527"/>
                </a:solidFill>
                <a:latin typeface="Cambria" panose="02040503050406030204" pitchFamily="34" charset="0"/>
                <a:ea typeface="Cambria" panose="02040503050406030204" pitchFamily="34" charset="-122"/>
                <a:cs typeface="Cambria" panose="02040503050406030204" pitchFamily="34" charset="-120"/>
              </a:rPr>
              <a:t>INTEGRATION ENGINEER</a:t>
            </a:r>
            <a:endParaRPr lang="en-US" sz="1150" dirty="0"/>
          </a:p>
        </p:txBody>
      </p:sp>
      <p:sp>
        <p:nvSpPr>
          <p:cNvPr id="33" name="Shape 31"/>
          <p:cNvSpPr/>
          <p:nvPr/>
        </p:nvSpPr>
        <p:spPr>
          <a:xfrm>
            <a:off x="502920" y="4160520"/>
            <a:ext cx="11183112" cy="1051560"/>
          </a:xfrm>
          <a:prstGeom prst="roundRect">
            <a:avLst>
              <a:gd name="adj" fmla="val 12174"/>
            </a:avLst>
          </a:prstGeom>
          <a:solidFill>
            <a:srgbClr val="E63946"/>
          </a:solidFill>
          <a:effectLst>
            <a:outerShdw blurRad="127000" dist="38100" dir="5400000" algn="bl" rotWithShape="0">
              <a:srgbClr val="000000">
                <a:alpha val="30000"/>
              </a:srgbClr>
            </a:outerShdw>
          </a:effectLst>
        </p:spPr>
      </p:sp>
      <p:sp>
        <p:nvSpPr>
          <p:cNvPr id="34" name="Text 32"/>
          <p:cNvSpPr txBox="1"/>
          <p:nvPr/>
        </p:nvSpPr>
        <p:spPr>
          <a:xfrm>
            <a:off x="502920" y="4160520"/>
            <a:ext cx="11183112" cy="1051560"/>
          </a:xfrm>
          <a:prstGeom prst="rect">
            <a:avLst/>
          </a:prstGeom>
          <a:noFill/>
        </p:spPr>
        <p:txBody>
          <a:bodyPr wrap="square" lIns="0" tIns="0" rIns="0" bIns="0" rtlCol="0" anchor="ctr"/>
          <a:lstStyle/>
          <a:p>
            <a:pPr marL="0" indent="0" algn="ctr">
              <a:buNone/>
            </a:pPr>
            <a:r>
              <a:rPr lang="en-US" sz="2400" b="1" dirty="0">
                <a:solidFill>
                  <a:srgbClr val="FFFFFF"/>
                </a:solidFill>
                <a:latin typeface="Cambria" panose="02040503050406030204" pitchFamily="34" charset="0"/>
                <a:ea typeface="Cambria" panose="02040503050406030204" pitchFamily="34" charset="-122"/>
                <a:cs typeface="Cambria" panose="02040503050406030204" pitchFamily="34" charset="-120"/>
              </a:rPr>
              <a:t>🚨 LIVE DISASTER RESPONSE DASHBOARD</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LIVE CASE</a:t>
            </a:r>
            <a:endParaRPr lang="en-US" sz="1200" dirty="0"/>
          </a:p>
        </p:txBody>
      </p:sp>
      <p:sp>
        <p:nvSpPr>
          <p:cNvPr id="3" name="Text 1"/>
          <p:cNvSpPr txBox="1"/>
          <p:nvPr/>
        </p:nvSpPr>
        <p:spPr>
          <a:xfrm>
            <a:off x="640080" y="685800"/>
            <a:ext cx="8229600" cy="54864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You Are the ML Model.</a:t>
            </a:r>
            <a:endParaRPr lang="en-US" sz="3000" dirty="0"/>
          </a:p>
        </p:txBody>
      </p:sp>
      <p:sp>
        <p:nvSpPr>
          <p:cNvPr id="4" name="Shape 2"/>
          <p:cNvSpPr/>
          <p:nvPr/>
        </p:nvSpPr>
        <p:spPr>
          <a:xfrm>
            <a:off x="640080" y="1463040"/>
            <a:ext cx="5120640" cy="2286000"/>
          </a:xfrm>
          <a:prstGeom prst="roundRect">
            <a:avLst>
              <a:gd name="adj" fmla="val 4800"/>
            </a:avLst>
          </a:prstGeom>
          <a:solidFill>
            <a:srgbClr val="0F2843"/>
          </a:solidFill>
          <a:ln w="12700">
            <a:solidFill>
              <a:srgbClr val="16697A"/>
            </a:solidFill>
            <a:prstDash val="solid"/>
          </a:ln>
        </p:spPr>
      </p:sp>
      <p:sp>
        <p:nvSpPr>
          <p:cNvPr id="5" name="Text 3"/>
          <p:cNvSpPr txBox="1"/>
          <p:nvPr/>
        </p:nvSpPr>
        <p:spPr>
          <a:xfrm>
            <a:off x="914400" y="1645920"/>
            <a:ext cx="2743200" cy="411480"/>
          </a:xfrm>
          <a:prstGeom prst="rect">
            <a:avLst/>
          </a:prstGeom>
          <a:noFill/>
        </p:spPr>
        <p:txBody>
          <a:bodyPr wrap="square" lIns="0" tIns="0" rIns="0" bIns="0" rtlCol="0" anchor="ctr"/>
          <a:lstStyle/>
          <a:p>
            <a:pPr marL="0" indent="0">
              <a:buNone/>
            </a:pPr>
            <a:r>
              <a:rPr lang="en-US" sz="1400" dirty="0">
                <a:solidFill>
                  <a:srgbClr val="9FB3CC"/>
                </a:solidFill>
                <a:latin typeface="Calibri" panose="020F0502020204030204" pitchFamily="34" charset="0"/>
                <a:ea typeface="Calibri" panose="020F0502020204030204" pitchFamily="34" charset="-122"/>
                <a:cs typeface="Calibri" panose="020F0502020204030204" pitchFamily="34" charset="-120"/>
              </a:rPr>
              <a:t>Rainfall</a:t>
            </a:r>
            <a:endParaRPr lang="en-US" sz="1400" dirty="0"/>
          </a:p>
        </p:txBody>
      </p:sp>
      <p:sp>
        <p:nvSpPr>
          <p:cNvPr id="6" name="Text 4"/>
          <p:cNvSpPr txBox="1"/>
          <p:nvPr/>
        </p:nvSpPr>
        <p:spPr>
          <a:xfrm>
            <a:off x="3566160" y="1645920"/>
            <a:ext cx="1920240" cy="411480"/>
          </a:xfrm>
          <a:prstGeom prst="rect">
            <a:avLst/>
          </a:prstGeom>
          <a:noFill/>
        </p:spPr>
        <p:txBody>
          <a:bodyPr wrap="square" lIns="0" tIns="0" rIns="0" bIns="0" rtlCol="0" anchor="ctr"/>
          <a:lstStyle/>
          <a:p>
            <a:pPr marL="0" indent="0" algn="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92 mm</a:t>
            </a:r>
            <a:endParaRPr lang="en-US" sz="1800" dirty="0"/>
          </a:p>
        </p:txBody>
      </p:sp>
      <p:sp>
        <p:nvSpPr>
          <p:cNvPr id="7" name="Text 5"/>
          <p:cNvSpPr txBox="1"/>
          <p:nvPr/>
        </p:nvSpPr>
        <p:spPr>
          <a:xfrm>
            <a:off x="914400" y="2148840"/>
            <a:ext cx="2743200" cy="411480"/>
          </a:xfrm>
          <a:prstGeom prst="rect">
            <a:avLst/>
          </a:prstGeom>
          <a:noFill/>
        </p:spPr>
        <p:txBody>
          <a:bodyPr wrap="square" lIns="0" tIns="0" rIns="0" bIns="0" rtlCol="0" anchor="ctr"/>
          <a:lstStyle/>
          <a:p>
            <a:pPr marL="0" indent="0">
              <a:buNone/>
            </a:pPr>
            <a:r>
              <a:rPr lang="en-US" sz="1400" dirty="0">
                <a:solidFill>
                  <a:srgbClr val="9FB3CC"/>
                </a:solidFill>
                <a:latin typeface="Calibri" panose="020F0502020204030204" pitchFamily="34" charset="0"/>
                <a:ea typeface="Calibri" panose="020F0502020204030204" pitchFamily="34" charset="-122"/>
                <a:cs typeface="Calibri" panose="020F0502020204030204" pitchFamily="34" charset="-120"/>
              </a:rPr>
              <a:t>River Level</a:t>
            </a:r>
            <a:endParaRPr lang="en-US" sz="1400" dirty="0"/>
          </a:p>
        </p:txBody>
      </p:sp>
      <p:sp>
        <p:nvSpPr>
          <p:cNvPr id="8" name="Text 6"/>
          <p:cNvSpPr txBox="1"/>
          <p:nvPr/>
        </p:nvSpPr>
        <p:spPr>
          <a:xfrm>
            <a:off x="3566160" y="2148840"/>
            <a:ext cx="1920240" cy="411480"/>
          </a:xfrm>
          <a:prstGeom prst="rect">
            <a:avLst/>
          </a:prstGeom>
          <a:noFill/>
        </p:spPr>
        <p:txBody>
          <a:bodyPr wrap="square" lIns="0" tIns="0" rIns="0" bIns="0" rtlCol="0" anchor="ctr"/>
          <a:lstStyle/>
          <a:p>
            <a:pPr marL="0" indent="0" algn="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4.7 m</a:t>
            </a:r>
            <a:endParaRPr lang="en-US" sz="1800" dirty="0"/>
          </a:p>
        </p:txBody>
      </p:sp>
      <p:sp>
        <p:nvSpPr>
          <p:cNvPr id="9" name="Text 7"/>
          <p:cNvSpPr txBox="1"/>
          <p:nvPr/>
        </p:nvSpPr>
        <p:spPr>
          <a:xfrm>
            <a:off x="914400" y="2651760"/>
            <a:ext cx="2743200" cy="411480"/>
          </a:xfrm>
          <a:prstGeom prst="rect">
            <a:avLst/>
          </a:prstGeom>
          <a:noFill/>
        </p:spPr>
        <p:txBody>
          <a:bodyPr wrap="square" lIns="0" tIns="0" rIns="0" bIns="0" rtlCol="0" anchor="ctr"/>
          <a:lstStyle/>
          <a:p>
            <a:pPr marL="0" indent="0">
              <a:buNone/>
            </a:pPr>
            <a:r>
              <a:rPr lang="en-US" sz="1400" dirty="0">
                <a:solidFill>
                  <a:srgbClr val="9FB3CC"/>
                </a:solidFill>
                <a:latin typeface="Calibri" panose="020F0502020204030204" pitchFamily="34" charset="0"/>
                <a:ea typeface="Calibri" panose="020F0502020204030204" pitchFamily="34" charset="-122"/>
                <a:cs typeface="Calibri" panose="020F0502020204030204" pitchFamily="34" charset="-120"/>
              </a:rPr>
              <a:t>Emergency Calls</a:t>
            </a:r>
            <a:endParaRPr lang="en-US" sz="1400" dirty="0"/>
          </a:p>
        </p:txBody>
      </p:sp>
      <p:sp>
        <p:nvSpPr>
          <p:cNvPr id="10" name="Text 8"/>
          <p:cNvSpPr txBox="1"/>
          <p:nvPr/>
        </p:nvSpPr>
        <p:spPr>
          <a:xfrm>
            <a:off x="3566160" y="2651760"/>
            <a:ext cx="1920240" cy="411480"/>
          </a:xfrm>
          <a:prstGeom prst="rect">
            <a:avLst/>
          </a:prstGeom>
          <a:noFill/>
        </p:spPr>
        <p:txBody>
          <a:bodyPr wrap="square" lIns="0" tIns="0" rIns="0" bIns="0" rtlCol="0" anchor="ctr"/>
          <a:lstStyle/>
          <a:p>
            <a:pPr marL="0" indent="0" algn="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38</a:t>
            </a:r>
            <a:endParaRPr lang="en-US" sz="1800" dirty="0"/>
          </a:p>
        </p:txBody>
      </p:sp>
      <p:sp>
        <p:nvSpPr>
          <p:cNvPr id="11" name="Text 9"/>
          <p:cNvSpPr txBox="1"/>
          <p:nvPr/>
        </p:nvSpPr>
        <p:spPr>
          <a:xfrm>
            <a:off x="914400" y="3154680"/>
            <a:ext cx="2743200" cy="411480"/>
          </a:xfrm>
          <a:prstGeom prst="rect">
            <a:avLst/>
          </a:prstGeom>
          <a:noFill/>
        </p:spPr>
        <p:txBody>
          <a:bodyPr wrap="square" lIns="0" tIns="0" rIns="0" bIns="0" rtlCol="0" anchor="ctr"/>
          <a:lstStyle/>
          <a:p>
            <a:pPr marL="0" indent="0">
              <a:buNone/>
            </a:pPr>
            <a:r>
              <a:rPr lang="en-US" sz="1400" dirty="0">
                <a:solidFill>
                  <a:srgbClr val="9FB3CC"/>
                </a:solidFill>
                <a:latin typeface="Calibri" panose="020F0502020204030204" pitchFamily="34" charset="0"/>
                <a:ea typeface="Calibri" panose="020F0502020204030204" pitchFamily="34" charset="-122"/>
                <a:cs typeface="Calibri" panose="020F0502020204030204" pitchFamily="34" charset="-120"/>
              </a:rPr>
              <a:t>Road Closures</a:t>
            </a:r>
            <a:endParaRPr lang="en-US" sz="1400" dirty="0"/>
          </a:p>
        </p:txBody>
      </p:sp>
      <p:sp>
        <p:nvSpPr>
          <p:cNvPr id="12" name="Text 10"/>
          <p:cNvSpPr txBox="1"/>
          <p:nvPr/>
        </p:nvSpPr>
        <p:spPr>
          <a:xfrm>
            <a:off x="3566160" y="3154680"/>
            <a:ext cx="1920240" cy="411480"/>
          </a:xfrm>
          <a:prstGeom prst="rect">
            <a:avLst/>
          </a:prstGeom>
          <a:noFill/>
        </p:spPr>
        <p:txBody>
          <a:bodyPr wrap="square" lIns="0" tIns="0" rIns="0" bIns="0" rtlCol="0" anchor="ctr"/>
          <a:lstStyle/>
          <a:p>
            <a:pPr marL="0" indent="0" algn="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1800" dirty="0"/>
          </a:p>
        </p:txBody>
      </p:sp>
      <p:sp>
        <p:nvSpPr>
          <p:cNvPr id="13" name="Shape 11"/>
          <p:cNvSpPr/>
          <p:nvPr/>
        </p:nvSpPr>
        <p:spPr>
          <a:xfrm>
            <a:off x="6035040" y="1463040"/>
            <a:ext cx="5513832" cy="2286000"/>
          </a:xfrm>
          <a:prstGeom prst="roundRect">
            <a:avLst>
              <a:gd name="adj" fmla="val 4800"/>
            </a:avLst>
          </a:prstGeom>
          <a:solidFill>
            <a:srgbClr val="0F2843"/>
          </a:solidFill>
          <a:effectLst>
            <a:outerShdw blurRad="101600" dist="38100" dir="5400000" algn="bl" rotWithShape="0">
              <a:srgbClr val="000000">
                <a:alpha val="25000"/>
              </a:srgbClr>
            </a:outerShdw>
          </a:effectLst>
        </p:spPr>
      </p:sp>
      <p:sp>
        <p:nvSpPr>
          <p:cNvPr id="14" name="Text 12"/>
          <p:cNvSpPr txBox="1"/>
          <p:nvPr/>
        </p:nvSpPr>
        <p:spPr>
          <a:xfrm>
            <a:off x="6309360" y="1463040"/>
            <a:ext cx="4965192" cy="2286000"/>
          </a:xfrm>
          <a:prstGeom prst="rect">
            <a:avLst/>
          </a:prstGeom>
          <a:noFill/>
        </p:spPr>
        <p:txBody>
          <a:bodyPr wrap="square" lIns="0" tIns="0" rIns="0" bIns="0" rtlCol="0" anchor="ctr"/>
          <a:lstStyle/>
          <a:p>
            <a:pPr marL="0" indent="0" algn="l">
              <a:buNone/>
            </a:pPr>
            <a:r>
              <a:rPr lang="en-US" sz="24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What is the predicted risk?</a:t>
            </a:r>
            <a:endParaRPr lang="en-US" sz="2400" dirty="0"/>
          </a:p>
        </p:txBody>
      </p:sp>
      <p:sp>
        <p:nvSpPr>
          <p:cNvPr id="15" name="Shape 13"/>
          <p:cNvSpPr/>
          <p:nvPr/>
        </p:nvSpPr>
        <p:spPr>
          <a:xfrm>
            <a:off x="640080" y="4023360"/>
            <a:ext cx="3520440" cy="1005840"/>
          </a:xfrm>
          <a:prstGeom prst="roundRect">
            <a:avLst>
              <a:gd name="adj" fmla="val 50000"/>
            </a:avLst>
          </a:prstGeom>
          <a:solidFill>
            <a:srgbClr val="2A9D8F"/>
          </a:solidFill>
        </p:spPr>
      </p:sp>
      <p:sp>
        <p:nvSpPr>
          <p:cNvPr id="16" name="Text 14"/>
          <p:cNvSpPr txBox="1"/>
          <p:nvPr/>
        </p:nvSpPr>
        <p:spPr>
          <a:xfrm>
            <a:off x="640080" y="4023360"/>
            <a:ext cx="3520440" cy="10058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 LOW</a:t>
            </a:r>
            <a:endParaRPr lang="en-US" sz="2000" dirty="0"/>
          </a:p>
        </p:txBody>
      </p:sp>
      <p:sp>
        <p:nvSpPr>
          <p:cNvPr id="17" name="Shape 15"/>
          <p:cNvSpPr/>
          <p:nvPr/>
        </p:nvSpPr>
        <p:spPr>
          <a:xfrm>
            <a:off x="4434840" y="4023360"/>
            <a:ext cx="3520440" cy="1005840"/>
          </a:xfrm>
          <a:prstGeom prst="roundRect">
            <a:avLst>
              <a:gd name="adj" fmla="val 50000"/>
            </a:avLst>
          </a:prstGeom>
          <a:solidFill>
            <a:srgbClr val="F4A300"/>
          </a:solidFill>
        </p:spPr>
      </p:sp>
      <p:sp>
        <p:nvSpPr>
          <p:cNvPr id="18" name="Text 16"/>
          <p:cNvSpPr txBox="1"/>
          <p:nvPr/>
        </p:nvSpPr>
        <p:spPr>
          <a:xfrm>
            <a:off x="4434840" y="4023360"/>
            <a:ext cx="3520440" cy="10058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 MODERATE</a:t>
            </a:r>
            <a:endParaRPr lang="en-US" sz="2000" dirty="0"/>
          </a:p>
        </p:txBody>
      </p:sp>
      <p:sp>
        <p:nvSpPr>
          <p:cNvPr id="19" name="Shape 17"/>
          <p:cNvSpPr/>
          <p:nvPr/>
        </p:nvSpPr>
        <p:spPr>
          <a:xfrm>
            <a:off x="8229600" y="4023360"/>
            <a:ext cx="3520440" cy="1005840"/>
          </a:xfrm>
          <a:prstGeom prst="roundRect">
            <a:avLst>
              <a:gd name="adj" fmla="val 50000"/>
            </a:avLst>
          </a:prstGeom>
          <a:solidFill>
            <a:srgbClr val="E63946"/>
          </a:solidFill>
        </p:spPr>
      </p:sp>
      <p:sp>
        <p:nvSpPr>
          <p:cNvPr id="20" name="Text 18"/>
          <p:cNvSpPr txBox="1"/>
          <p:nvPr/>
        </p:nvSpPr>
        <p:spPr>
          <a:xfrm>
            <a:off x="8229600" y="4023360"/>
            <a:ext cx="3520440" cy="10058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 SEVERE</a:t>
            </a:r>
            <a:endParaRPr lang="en-US" sz="2000" dirty="0"/>
          </a:p>
        </p:txBody>
      </p:sp>
      <p:sp>
        <p:nvSpPr>
          <p:cNvPr id="22" name="Shape 20"/>
          <p:cNvSpPr/>
          <p:nvPr/>
        </p:nvSpPr>
        <p:spPr>
          <a:xfrm>
            <a:off x="640080" y="5760720"/>
            <a:ext cx="10908792" cy="731520"/>
          </a:xfrm>
          <a:prstGeom prst="roundRect">
            <a:avLst>
              <a:gd name="adj" fmla="val 12500"/>
            </a:avLst>
          </a:prstGeom>
          <a:solidFill>
            <a:srgbClr val="FFB627"/>
          </a:solidFill>
        </p:spPr>
      </p:sp>
      <p:sp>
        <p:nvSpPr>
          <p:cNvPr id="23" name="Text 21"/>
          <p:cNvSpPr txBox="1"/>
          <p:nvPr/>
        </p:nvSpPr>
        <p:spPr>
          <a:xfrm>
            <a:off x="640080" y="5760720"/>
            <a:ext cx="10908792" cy="731520"/>
          </a:xfrm>
          <a:prstGeom prst="rect">
            <a:avLst/>
          </a:prstGeom>
          <a:noFill/>
        </p:spPr>
        <p:txBody>
          <a:bodyPr wrap="square" lIns="0" tIns="0" rIns="0" bIns="0" rtlCol="0" anchor="ctr"/>
          <a:lstStyle/>
          <a:p>
            <a:pPr marL="0" indent="0" algn="ctr">
              <a:buNone/>
            </a:pPr>
            <a:r>
              <a:rPr lang="en-US" sz="1700" b="1" dirty="0">
                <a:solidFill>
                  <a:srgbClr val="081527"/>
                </a:solidFill>
                <a:latin typeface="Cambria" panose="02040503050406030204" pitchFamily="34" charset="0"/>
                <a:ea typeface="Cambria" panose="02040503050406030204" pitchFamily="34" charset="-122"/>
                <a:cs typeface="Cambria" panose="02040503050406030204" pitchFamily="34" charset="-120"/>
              </a:rPr>
              <a:t>Let's see if our trained model agrees with you.</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058400" cy="54864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What You Did Manually → What Python Does</a:t>
            </a:r>
            <a:endParaRPr lang="en-US" sz="2400" dirty="0"/>
          </a:p>
        </p:txBody>
      </p:sp>
      <p:sp>
        <p:nvSpPr>
          <p:cNvPr id="4" name="Shape 2"/>
          <p:cNvSpPr/>
          <p:nvPr/>
        </p:nvSpPr>
        <p:spPr>
          <a:xfrm>
            <a:off x="640080" y="1417320"/>
            <a:ext cx="10908792" cy="3291840"/>
          </a:xfrm>
          <a:prstGeom prst="roundRect">
            <a:avLst>
              <a:gd name="adj" fmla="val 2778"/>
            </a:avLst>
          </a:prstGeom>
          <a:solidFill>
            <a:srgbClr val="FFFFFF"/>
          </a:solidFill>
          <a:ln w="12700">
            <a:solidFill>
              <a:srgbClr val="E3E9F2"/>
            </a:solidFill>
            <a:prstDash val="solid"/>
          </a:ln>
        </p:spPr>
      </p:sp>
      <p:sp>
        <p:nvSpPr>
          <p:cNvPr id="5" name="Shape 3"/>
          <p:cNvSpPr/>
          <p:nvPr/>
        </p:nvSpPr>
        <p:spPr>
          <a:xfrm>
            <a:off x="6089904" y="1417320"/>
            <a:ext cx="0" cy="3291840"/>
          </a:xfrm>
          <a:prstGeom prst="line">
            <a:avLst/>
          </a:prstGeom>
          <a:noFill/>
          <a:ln w="12700">
            <a:solidFill>
              <a:srgbClr val="E3E9F2"/>
            </a:solidFill>
            <a:prstDash val="solid"/>
          </a:ln>
        </p:spPr>
      </p:sp>
      <p:sp>
        <p:nvSpPr>
          <p:cNvPr id="6" name="Text 4"/>
          <p:cNvSpPr txBox="1"/>
          <p:nvPr/>
        </p:nvSpPr>
        <p:spPr>
          <a:xfrm>
            <a:off x="914400" y="1417320"/>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identified duplicates</a:t>
            </a:r>
            <a:endParaRPr lang="en-US" sz="1400" dirty="0"/>
          </a:p>
        </p:txBody>
      </p:sp>
      <p:sp>
        <p:nvSpPr>
          <p:cNvPr id="7" name="Text 5"/>
          <p:cNvSpPr txBox="1"/>
          <p:nvPr/>
        </p:nvSpPr>
        <p:spPr>
          <a:xfrm>
            <a:off x="5815584" y="1417320"/>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8" name="Text 6"/>
          <p:cNvSpPr txBox="1"/>
          <p:nvPr/>
        </p:nvSpPr>
        <p:spPr>
          <a:xfrm>
            <a:off x="6400800" y="1417320"/>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Python cleans duplicates</a:t>
            </a:r>
            <a:endParaRPr lang="en-US" sz="1400" dirty="0"/>
          </a:p>
        </p:txBody>
      </p:sp>
      <p:sp>
        <p:nvSpPr>
          <p:cNvPr id="9" name="Shape 7"/>
          <p:cNvSpPr/>
          <p:nvPr/>
        </p:nvSpPr>
        <p:spPr>
          <a:xfrm>
            <a:off x="640080" y="2075688"/>
            <a:ext cx="10908792" cy="0"/>
          </a:xfrm>
          <a:prstGeom prst="line">
            <a:avLst/>
          </a:prstGeom>
          <a:noFill/>
          <a:ln w="12700">
            <a:solidFill>
              <a:srgbClr val="EEF2F7"/>
            </a:solidFill>
            <a:prstDash val="solid"/>
          </a:ln>
        </p:spPr>
      </p:sp>
      <p:sp>
        <p:nvSpPr>
          <p:cNvPr id="10" name="Text 8"/>
          <p:cNvSpPr txBox="1"/>
          <p:nvPr/>
        </p:nvSpPr>
        <p:spPr>
          <a:xfrm>
            <a:off x="914400" y="2075688"/>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found patterns</a:t>
            </a:r>
            <a:endParaRPr lang="en-US" sz="1400" dirty="0"/>
          </a:p>
        </p:txBody>
      </p:sp>
      <p:sp>
        <p:nvSpPr>
          <p:cNvPr id="11" name="Text 9"/>
          <p:cNvSpPr txBox="1"/>
          <p:nvPr/>
        </p:nvSpPr>
        <p:spPr>
          <a:xfrm>
            <a:off x="5815584" y="2075688"/>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2" name="Text 10"/>
          <p:cNvSpPr txBox="1"/>
          <p:nvPr/>
        </p:nvSpPr>
        <p:spPr>
          <a:xfrm>
            <a:off x="6400800" y="2075688"/>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EDA analyzes patterns</a:t>
            </a:r>
            <a:endParaRPr lang="en-US" sz="1400" dirty="0"/>
          </a:p>
        </p:txBody>
      </p:sp>
      <p:sp>
        <p:nvSpPr>
          <p:cNvPr id="13" name="Shape 11"/>
          <p:cNvSpPr/>
          <p:nvPr/>
        </p:nvSpPr>
        <p:spPr>
          <a:xfrm>
            <a:off x="640080" y="2734056"/>
            <a:ext cx="10908792" cy="0"/>
          </a:xfrm>
          <a:prstGeom prst="line">
            <a:avLst/>
          </a:prstGeom>
          <a:noFill/>
          <a:ln w="12700">
            <a:solidFill>
              <a:srgbClr val="EEF2F7"/>
            </a:solidFill>
            <a:prstDash val="solid"/>
          </a:ln>
        </p:spPr>
      </p:sp>
      <p:sp>
        <p:nvSpPr>
          <p:cNvPr id="14" name="Text 12"/>
          <p:cNvSpPr txBox="1"/>
          <p:nvPr/>
        </p:nvSpPr>
        <p:spPr>
          <a:xfrm>
            <a:off x="914400" y="2734056"/>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predicted risk</a:t>
            </a:r>
            <a:endParaRPr lang="en-US" sz="1400" dirty="0"/>
          </a:p>
        </p:txBody>
      </p:sp>
      <p:sp>
        <p:nvSpPr>
          <p:cNvPr id="15" name="Text 13"/>
          <p:cNvSpPr txBox="1"/>
          <p:nvPr/>
        </p:nvSpPr>
        <p:spPr>
          <a:xfrm>
            <a:off x="5815584" y="2734056"/>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6" name="Text 14"/>
          <p:cNvSpPr txBox="1"/>
          <p:nvPr/>
        </p:nvSpPr>
        <p:spPr>
          <a:xfrm>
            <a:off x="6400800" y="2734056"/>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ML model predicts risk</a:t>
            </a:r>
            <a:endParaRPr lang="en-US" sz="1400" dirty="0"/>
          </a:p>
        </p:txBody>
      </p:sp>
      <p:sp>
        <p:nvSpPr>
          <p:cNvPr id="17" name="Shape 15"/>
          <p:cNvSpPr/>
          <p:nvPr/>
        </p:nvSpPr>
        <p:spPr>
          <a:xfrm>
            <a:off x="640080" y="3392424"/>
            <a:ext cx="10908792" cy="0"/>
          </a:xfrm>
          <a:prstGeom prst="line">
            <a:avLst/>
          </a:prstGeom>
          <a:noFill/>
          <a:ln w="12700">
            <a:solidFill>
              <a:srgbClr val="EEF2F7"/>
            </a:solidFill>
            <a:prstDash val="solid"/>
          </a:ln>
        </p:spPr>
      </p:sp>
      <p:sp>
        <p:nvSpPr>
          <p:cNvPr id="18" name="Text 16"/>
          <p:cNvSpPr txBox="1"/>
          <p:nvPr/>
        </p:nvSpPr>
        <p:spPr>
          <a:xfrm>
            <a:off x="914400" y="3392424"/>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checked the answer</a:t>
            </a:r>
            <a:endParaRPr lang="en-US" sz="1400" dirty="0"/>
          </a:p>
        </p:txBody>
      </p:sp>
      <p:sp>
        <p:nvSpPr>
          <p:cNvPr id="19" name="Text 17"/>
          <p:cNvSpPr txBox="1"/>
          <p:nvPr/>
        </p:nvSpPr>
        <p:spPr>
          <a:xfrm>
            <a:off x="5815584" y="3392424"/>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0" name="Text 18"/>
          <p:cNvSpPr txBox="1"/>
          <p:nvPr/>
        </p:nvSpPr>
        <p:spPr>
          <a:xfrm>
            <a:off x="6400800" y="3392424"/>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Evaluation tests accuracy</a:t>
            </a:r>
            <a:endParaRPr lang="en-US" sz="1400" dirty="0"/>
          </a:p>
        </p:txBody>
      </p:sp>
      <p:sp>
        <p:nvSpPr>
          <p:cNvPr id="21" name="Shape 19"/>
          <p:cNvSpPr/>
          <p:nvPr/>
        </p:nvSpPr>
        <p:spPr>
          <a:xfrm>
            <a:off x="640080" y="4050792"/>
            <a:ext cx="10908792" cy="0"/>
          </a:xfrm>
          <a:prstGeom prst="line">
            <a:avLst/>
          </a:prstGeom>
          <a:noFill/>
          <a:ln w="12700">
            <a:solidFill>
              <a:srgbClr val="EEF2F7"/>
            </a:solidFill>
            <a:prstDash val="solid"/>
          </a:ln>
        </p:spPr>
      </p:sp>
      <p:sp>
        <p:nvSpPr>
          <p:cNvPr id="22" name="Text 20"/>
          <p:cNvSpPr txBox="1"/>
          <p:nvPr/>
        </p:nvSpPr>
        <p:spPr>
          <a:xfrm>
            <a:off x="914400" y="4050792"/>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gave an action</a:t>
            </a:r>
            <a:endParaRPr lang="en-US" sz="1400" dirty="0"/>
          </a:p>
        </p:txBody>
      </p:sp>
      <p:sp>
        <p:nvSpPr>
          <p:cNvPr id="23" name="Text 21"/>
          <p:cNvSpPr txBox="1"/>
          <p:nvPr/>
        </p:nvSpPr>
        <p:spPr>
          <a:xfrm>
            <a:off x="5815584" y="4050792"/>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4" name="Text 22"/>
          <p:cNvSpPr txBox="1"/>
          <p:nvPr/>
        </p:nvSpPr>
        <p:spPr>
          <a:xfrm>
            <a:off x="6400800" y="4050792"/>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Integration sends result to dashboard</a:t>
            </a:r>
            <a:endParaRPr lang="en-US" sz="1400" dirty="0"/>
          </a:p>
        </p:txBody>
      </p:sp>
      <p:sp>
        <p:nvSpPr>
          <p:cNvPr id="25" name="Shape 23"/>
          <p:cNvSpPr/>
          <p:nvPr/>
        </p:nvSpPr>
        <p:spPr>
          <a:xfrm>
            <a:off x="640080" y="4983480"/>
            <a:ext cx="10908792" cy="1051560"/>
          </a:xfrm>
          <a:prstGeom prst="roundRect">
            <a:avLst>
              <a:gd name="adj" fmla="val 10435"/>
            </a:avLst>
          </a:prstGeom>
          <a:solidFill>
            <a:srgbClr val="0B2A4A"/>
          </a:solidFill>
        </p:spPr>
      </p:sp>
      <p:sp>
        <p:nvSpPr>
          <p:cNvPr id="26" name="Text 24"/>
          <p:cNvSpPr txBox="1"/>
          <p:nvPr/>
        </p:nvSpPr>
        <p:spPr>
          <a:xfrm>
            <a:off x="914400" y="4983480"/>
            <a:ext cx="10360152" cy="1051560"/>
          </a:xfrm>
          <a:prstGeom prst="rect">
            <a:avLst/>
          </a:prstGeom>
          <a:noFill/>
        </p:spPr>
        <p:txBody>
          <a:bodyPr wrap="square" lIns="0" tIns="0" rIns="0" bIns="0" rtlCol="0" anchor="ctr"/>
          <a:lstStyle/>
          <a:p>
            <a:pPr marL="0" indent="0">
              <a:buNone/>
            </a:pPr>
            <a:r>
              <a:rPr lang="en-US" sz="17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First, you understood the process manually.</a:t>
            </a:r>
            <a:endParaRPr lang="en-US" sz="1700" dirty="0"/>
          </a:p>
          <a:p>
            <a:pPr marL="0" indent="0">
              <a:buNone/>
            </a:pPr>
            <a:r>
              <a:rPr lang="en-US" sz="17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Now, the computer automates the same process.</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908792" cy="731520"/>
          </a:xfrm>
          <a:prstGeom prst="rect">
            <a:avLst/>
          </a:prstGeom>
          <a:noFill/>
        </p:spPr>
        <p:txBody>
          <a:bodyPr wrap="square" lIns="0" tIns="0" rIns="0" bIns="0" rtlCol="0" anchor="ctr"/>
          <a:lstStyle/>
          <a:p>
            <a:pPr marL="0" indent="0">
              <a:buNone/>
            </a:pPr>
            <a:r>
              <a:rPr lang="en-US" sz="2600" b="1" i="1" dirty="0">
                <a:solidFill>
                  <a:srgbClr val="FFB627"/>
                </a:solidFill>
                <a:latin typeface="Cambria" panose="02040503050406030204" pitchFamily="34" charset="0"/>
                <a:ea typeface="Cambria" panose="02040503050406030204" pitchFamily="34" charset="-122"/>
                <a:cs typeface="Cambria" panose="02040503050406030204" pitchFamily="34" charset="-120"/>
              </a:rPr>
              <a:t>"Today, You Didn't Just Learn Machine Learning."</a:t>
            </a:r>
            <a:endParaRPr lang="en-US" sz="2600" dirty="0"/>
          </a:p>
        </p:txBody>
      </p:sp>
      <p:sp>
        <p:nvSpPr>
          <p:cNvPr id="3" name="Shape 1"/>
          <p:cNvSpPr/>
          <p:nvPr/>
        </p:nvSpPr>
        <p:spPr>
          <a:xfrm>
            <a:off x="640080" y="1417320"/>
            <a:ext cx="365760" cy="365760"/>
          </a:xfrm>
          <a:prstGeom prst="ellipse">
            <a:avLst/>
          </a:prstGeom>
          <a:solidFill>
            <a:srgbClr val="0F3D5C"/>
          </a:solidFill>
        </p:spPr>
      </p:sp>
      <p:sp>
        <p:nvSpPr>
          <p:cNvPr id="4" name="Text 2"/>
          <p:cNvSpPr/>
          <p:nvPr/>
        </p:nvSpPr>
        <p:spPr>
          <a:xfrm>
            <a:off x="640080" y="141732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5" name="Text 3"/>
          <p:cNvSpPr txBox="1"/>
          <p:nvPr/>
        </p:nvSpPr>
        <p:spPr>
          <a:xfrm>
            <a:off x="1143000" y="141732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were the emergency officer</a:t>
            </a:r>
            <a:endParaRPr lang="en-US" sz="1500" dirty="0"/>
          </a:p>
        </p:txBody>
      </p:sp>
      <p:sp>
        <p:nvSpPr>
          <p:cNvPr id="6" name="Shape 4"/>
          <p:cNvSpPr/>
          <p:nvPr/>
        </p:nvSpPr>
        <p:spPr>
          <a:xfrm>
            <a:off x="640080" y="1920240"/>
            <a:ext cx="365760" cy="365760"/>
          </a:xfrm>
          <a:prstGeom prst="ellipse">
            <a:avLst/>
          </a:prstGeom>
          <a:solidFill>
            <a:srgbClr val="0F3D5C"/>
          </a:solidFill>
        </p:spPr>
      </p:sp>
      <p:sp>
        <p:nvSpPr>
          <p:cNvPr id="7" name="Text 5"/>
          <p:cNvSpPr/>
          <p:nvPr/>
        </p:nvSpPr>
        <p:spPr>
          <a:xfrm>
            <a:off x="640080" y="192024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8" name="Text 6"/>
          <p:cNvSpPr txBox="1"/>
          <p:nvPr/>
        </p:nvSpPr>
        <p:spPr>
          <a:xfrm>
            <a:off x="1143000" y="192024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selected important information</a:t>
            </a:r>
            <a:endParaRPr lang="en-US" sz="1500" dirty="0"/>
          </a:p>
        </p:txBody>
      </p:sp>
      <p:sp>
        <p:nvSpPr>
          <p:cNvPr id="9" name="Shape 7"/>
          <p:cNvSpPr/>
          <p:nvPr/>
        </p:nvSpPr>
        <p:spPr>
          <a:xfrm>
            <a:off x="640080" y="2423160"/>
            <a:ext cx="365760" cy="365760"/>
          </a:xfrm>
          <a:prstGeom prst="ellipse">
            <a:avLst/>
          </a:prstGeom>
          <a:solidFill>
            <a:srgbClr val="0F3D5C"/>
          </a:solidFill>
        </p:spPr>
      </p:sp>
      <p:sp>
        <p:nvSpPr>
          <p:cNvPr id="10" name="Text 8"/>
          <p:cNvSpPr/>
          <p:nvPr/>
        </p:nvSpPr>
        <p:spPr>
          <a:xfrm>
            <a:off x="640080" y="242316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1" name="Text 9"/>
          <p:cNvSpPr txBox="1"/>
          <p:nvPr/>
        </p:nvSpPr>
        <p:spPr>
          <a:xfrm>
            <a:off x="1143000" y="242316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learned from past cases</a:t>
            </a:r>
            <a:endParaRPr lang="en-US" sz="1500" dirty="0"/>
          </a:p>
        </p:txBody>
      </p:sp>
      <p:sp>
        <p:nvSpPr>
          <p:cNvPr id="12" name="Shape 10"/>
          <p:cNvSpPr/>
          <p:nvPr/>
        </p:nvSpPr>
        <p:spPr>
          <a:xfrm>
            <a:off x="640080" y="2926080"/>
            <a:ext cx="365760" cy="365760"/>
          </a:xfrm>
          <a:prstGeom prst="ellipse">
            <a:avLst/>
          </a:prstGeom>
          <a:solidFill>
            <a:srgbClr val="0F3D5C"/>
          </a:solidFill>
        </p:spPr>
      </p:sp>
      <p:sp>
        <p:nvSpPr>
          <p:cNvPr id="13" name="Text 11"/>
          <p:cNvSpPr/>
          <p:nvPr/>
        </p:nvSpPr>
        <p:spPr>
          <a:xfrm>
            <a:off x="640080" y="292608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4" name="Text 12"/>
          <p:cNvSpPr txBox="1"/>
          <p:nvPr/>
        </p:nvSpPr>
        <p:spPr>
          <a:xfrm>
            <a:off x="1143000" y="292608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built a Decision Tree</a:t>
            </a:r>
            <a:endParaRPr lang="en-US" sz="1500" dirty="0"/>
          </a:p>
        </p:txBody>
      </p:sp>
      <p:sp>
        <p:nvSpPr>
          <p:cNvPr id="15" name="Shape 13"/>
          <p:cNvSpPr/>
          <p:nvPr/>
        </p:nvSpPr>
        <p:spPr>
          <a:xfrm>
            <a:off x="640080" y="3429000"/>
            <a:ext cx="365760" cy="365760"/>
          </a:xfrm>
          <a:prstGeom prst="ellipse">
            <a:avLst/>
          </a:prstGeom>
          <a:solidFill>
            <a:srgbClr val="0F3D5C"/>
          </a:solidFill>
        </p:spPr>
      </p:sp>
      <p:sp>
        <p:nvSpPr>
          <p:cNvPr id="16" name="Text 14"/>
          <p:cNvSpPr/>
          <p:nvPr/>
        </p:nvSpPr>
        <p:spPr>
          <a:xfrm>
            <a:off x="640080" y="342900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7" name="Text 15"/>
          <p:cNvSpPr txBox="1"/>
          <p:nvPr/>
        </p:nvSpPr>
        <p:spPr>
          <a:xfrm>
            <a:off x="1143000" y="342900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discovered why data must be cleaned</a:t>
            </a:r>
            <a:endParaRPr lang="en-US" sz="1500" dirty="0"/>
          </a:p>
        </p:txBody>
      </p:sp>
      <p:sp>
        <p:nvSpPr>
          <p:cNvPr id="18" name="Shape 16"/>
          <p:cNvSpPr/>
          <p:nvPr/>
        </p:nvSpPr>
        <p:spPr>
          <a:xfrm>
            <a:off x="640080" y="3931920"/>
            <a:ext cx="365760" cy="365760"/>
          </a:xfrm>
          <a:prstGeom prst="ellipse">
            <a:avLst/>
          </a:prstGeom>
          <a:solidFill>
            <a:srgbClr val="0F3D5C"/>
          </a:solidFill>
        </p:spPr>
      </p:sp>
      <p:sp>
        <p:nvSpPr>
          <p:cNvPr id="19" name="Text 17"/>
          <p:cNvSpPr/>
          <p:nvPr/>
        </p:nvSpPr>
        <p:spPr>
          <a:xfrm>
            <a:off x="640080" y="393192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0" name="Text 18"/>
          <p:cNvSpPr txBox="1"/>
          <p:nvPr/>
        </p:nvSpPr>
        <p:spPr>
          <a:xfrm>
            <a:off x="1143000" y="393192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tested whether the model can be trusted</a:t>
            </a:r>
            <a:endParaRPr lang="en-US" sz="1500" dirty="0"/>
          </a:p>
        </p:txBody>
      </p:sp>
      <p:sp>
        <p:nvSpPr>
          <p:cNvPr id="21" name="Shape 19"/>
          <p:cNvSpPr/>
          <p:nvPr/>
        </p:nvSpPr>
        <p:spPr>
          <a:xfrm>
            <a:off x="640080" y="4434840"/>
            <a:ext cx="365760" cy="365760"/>
          </a:xfrm>
          <a:prstGeom prst="ellipse">
            <a:avLst/>
          </a:prstGeom>
          <a:solidFill>
            <a:srgbClr val="0F3D5C"/>
          </a:solidFill>
        </p:spPr>
      </p:sp>
      <p:sp>
        <p:nvSpPr>
          <p:cNvPr id="22" name="Text 20"/>
          <p:cNvSpPr/>
          <p:nvPr/>
        </p:nvSpPr>
        <p:spPr>
          <a:xfrm>
            <a:off x="640080" y="443484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3" name="Text 21"/>
          <p:cNvSpPr txBox="1"/>
          <p:nvPr/>
        </p:nvSpPr>
        <p:spPr>
          <a:xfrm>
            <a:off x="1143000" y="443484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saw how AI becomes a real application</a:t>
            </a:r>
            <a:endParaRPr lang="en-US" sz="1500" dirty="0"/>
          </a:p>
        </p:txBody>
      </p:sp>
      <p:sp>
        <p:nvSpPr>
          <p:cNvPr id="24" name="Shape 22"/>
          <p:cNvSpPr/>
          <p:nvPr/>
        </p:nvSpPr>
        <p:spPr>
          <a:xfrm>
            <a:off x="640080" y="5257800"/>
            <a:ext cx="10908792" cy="1234440"/>
          </a:xfrm>
          <a:prstGeom prst="roundRect">
            <a:avLst>
              <a:gd name="adj" fmla="val 10370"/>
            </a:avLst>
          </a:prstGeom>
          <a:solidFill>
            <a:srgbClr val="0F2843"/>
          </a:solidFill>
          <a:ln w="12700">
            <a:solidFill>
              <a:srgbClr val="FFB627"/>
            </a:solidFill>
            <a:prstDash val="solid"/>
          </a:ln>
        </p:spPr>
      </p:sp>
      <p:sp>
        <p:nvSpPr>
          <p:cNvPr id="25" name="Text 23"/>
          <p:cNvSpPr txBox="1"/>
          <p:nvPr/>
        </p:nvSpPr>
        <p:spPr>
          <a:xfrm>
            <a:off x="914400" y="5257800"/>
            <a:ext cx="10360152" cy="1234440"/>
          </a:xfrm>
          <a:prstGeom prst="rect">
            <a:avLst/>
          </a:prstGeom>
          <a:noFill/>
        </p:spPr>
        <p:txBody>
          <a:bodyPr wrap="square" lIns="0" tIns="0" rIns="0" bIns="0" rtlCol="0" anchor="ctr"/>
          <a:lstStyle/>
          <a:p>
            <a:pPr marL="0" indent="0">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Machine Learning is not just writing model.fit().</a:t>
            </a:r>
            <a:endParaRPr lang="en-US" sz="1600" dirty="0"/>
          </a:p>
          <a:p>
            <a:pPr marL="0" indent="0">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It is a complete journey from a real-world problem to a usable solution.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10289</Words>
  <Application>WPS Presentation</Application>
  <PresentationFormat>On-screen Show (16:9)</PresentationFormat>
  <Paragraphs>995</Paragraphs>
  <Slides>25</Slides>
  <Notes>18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25</vt:i4>
      </vt:variant>
    </vt:vector>
  </HeadingPairs>
  <TitlesOfParts>
    <vt:vector size="39" baseType="lpstr">
      <vt:lpstr>Arial</vt:lpstr>
      <vt:lpstr>SimSun</vt:lpstr>
      <vt:lpstr>Wingdings</vt:lpstr>
      <vt:lpstr>Calibri</vt:lpstr>
      <vt:lpstr>Cambria</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NivathaSelvan</cp:lastModifiedBy>
  <cp:revision>10</cp:revision>
  <dcterms:created xsi:type="dcterms:W3CDTF">2026-08-27T03:58:00Z</dcterms:created>
  <dcterms:modified xsi:type="dcterms:W3CDTF">2026-08-28T06:13:08Z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F0FC24788FAF459A944C91BD58DADE71_12</vt:lpwstr>
  </property>
  <property fmtid="{D5CDD505-2E9C-101B-9397-08002B2CF9AE}" pid="3" name="KSOProductBuildVer">
    <vt:lpwstr>1033-12.1.0.28032</vt:lpwstr>
  </property>
</Properties>
</file>
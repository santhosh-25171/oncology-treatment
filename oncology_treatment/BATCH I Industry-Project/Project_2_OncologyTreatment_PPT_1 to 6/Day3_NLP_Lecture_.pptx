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3" name="Text 1"/>
          <p:cNvSpPr txBox="1"/>
          <p:nvPr/>
        </p:nvSpPr>
        <p:spPr>
          <a:xfrm>
            <a:off x="10881360" y="50292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NATURAL LANGUAGE </a:t>
            </a:r>
            <a:r>
              <a:rPr lang="en-US" sz="4000" b="1" dirty="0">
                <a:solidFill>
                  <a:srgbClr val="E0A2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611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3 · Personalized Precision Medicine for Oncology Treatment Optimization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3520440"/>
            <a:ext cx="1005840" cy="0"/>
          </a:xfrm>
          <a:prstGeom prst="line">
            <a:avLst/>
          </a:prstGeom>
          <a:noFill/>
          <a:ln w="25400">
            <a:solidFill>
              <a:srgbClr val="E0A2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A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TODAY'S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stages — from a buried clinical note to a working AI triage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Emergency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7685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unstructured clinical text hides the toxicity signal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84048" cy="38404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517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NLP?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96265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Teaching a machine to read implied risk in physician language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384048" cy="38404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14" name="Text 12"/>
          <p:cNvSpPr txBox="1"/>
          <p:nvPr/>
        </p:nvSpPr>
        <p:spPr>
          <a:xfrm>
            <a:off x="822960" y="3383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3375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&amp; Techniques of NLP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4845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Classification, NER, embeddings — and what powers each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384048" cy="38404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18" name="Text 16"/>
          <p:cNvSpPr txBox="1"/>
          <p:nvPr/>
        </p:nvSpPr>
        <p:spPr>
          <a:xfrm>
            <a:off x="822960" y="4069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23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5 NLP Roles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33425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→ EDA → NLP → Evaluation → Integration Engineer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384048" cy="38404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22" name="Text 20"/>
          <p:cNvSpPr txBox="1"/>
          <p:nvPr/>
        </p:nvSpPr>
        <p:spPr>
          <a:xfrm>
            <a:off x="822960" y="4754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7091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&amp; Trusting the Pipeline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02005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a classifier + NER pipeline, then testing if it can be trusted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440680"/>
            <a:ext cx="384048" cy="38404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26" name="Text 24"/>
          <p:cNvSpPr txBox="1"/>
          <p:nvPr/>
        </p:nvSpPr>
        <p:spPr>
          <a:xfrm>
            <a:off x="822960" y="5440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394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 &amp; Recap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70585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the trained pipeline decode a note — then recap the full journey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13355F"/>
          </a:solidFill>
        </p:spPr>
      </p:sp>
      <p:sp>
        <p:nvSpPr>
          <p:cNvPr id="3" name="Text 1"/>
          <p:cNvSpPr txBox="1"/>
          <p:nvPr/>
        </p:nvSpPr>
        <p:spPr>
          <a:xfrm>
            <a:off x="10881360" y="50292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“RASH SPREADING. FINGERS TINGLING. PT SAYS ‘NOT A BIG DEAL.’”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880360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nurse intake note. Understated. Urgent. Buried in a stream of hundreds of routine post-chemo check-ins.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93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 through a Real Precision Oncology Case Study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7863840" cy="868680"/>
          </a:xfrm>
          <a:prstGeom prst="rect">
            <a:avLst/>
          </a:prstGeom>
          <a:solidFill>
            <a:srgbClr val="13355F"/>
          </a:solidFill>
        </p:spPr>
      </p:sp>
      <p:sp>
        <p:nvSpPr>
          <p:cNvPr id="8" name="Text 6"/>
          <p:cNvSpPr txBox="1"/>
          <p:nvPr/>
        </p:nvSpPr>
        <p:spPr>
          <a:xfrm>
            <a:off x="1051560" y="4160520"/>
            <a:ext cx="7406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Today, you are not just students.
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are the AI Oncology Intelligence Team.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Emergency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35608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Handwritten Progress Notes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7" name="Text 5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Physician Voice Dictations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457200" cy="45720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10" name="Text 8"/>
          <p:cNvSpPr txBox="1"/>
          <p:nvPr/>
        </p:nvSpPr>
        <p:spPr>
          <a:xfrm>
            <a:off x="548640" y="28437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62072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Symptom Diaries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13" name="Text 11"/>
          <p:cNvSpPr txBox="1"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75304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Trial Protocols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75120" y="1417320"/>
            <a:ext cx="4937760" cy="233172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6" name="Text 14"/>
          <p:cNvSpPr txBox="1"/>
          <p:nvPr/>
        </p:nvSpPr>
        <p:spPr>
          <a:xfrm>
            <a:off x="6995160" y="173736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have only words —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scans, no vitals.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65176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note means “this patient needs a call back tonight”?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Note Would You Prioritize?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“Tolerating cycle 3 well, appetite good, resting fine.”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Toxicity Keywords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5196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Symptom Count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4456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12064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 Language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41324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3611880" cy="50292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14" name="Text 12"/>
          <p:cNvSpPr txBox="1"/>
          <p:nvPr/>
        </p:nvSpPr>
        <p:spPr>
          <a:xfrm>
            <a:off x="4389120" y="141732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196596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214884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“Rash spreading, fingers tingling, low-grade fever, not a big deal.”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3832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Toxicity Keywords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6758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25196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Symptom Count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54456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512064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 Language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41324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611880" cy="50292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24" name="Text 22"/>
          <p:cNvSpPr txBox="1"/>
          <p:nvPr/>
        </p:nvSpPr>
        <p:spPr>
          <a:xfrm>
            <a:off x="8229600" y="141732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C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196596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214884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“Some nausea after dose, took anti-emetic, a little tired today.”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33832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Toxicity Keywords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36758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425196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Symptom Count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454456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512064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 Language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541324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 human read thousands of clinical notes,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trial protocols, and symptom diaries, 24/7?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Thousands of notes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72968" y="233172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233172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3317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channels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07608" y="233172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3317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Constant stream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42248" y="233172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52560" y="233172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23317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instant triage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0881360" cy="13716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6" name="Text 14"/>
          <p:cNvSpPr txBox="1"/>
          <p:nvPr/>
        </p:nvSpPr>
        <p:spPr>
          <a:xfrm>
            <a:off x="914400" y="3703320"/>
            <a:ext cx="101498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need a system that can read clinical language itself
</a:t>
            </a:r>
            <a:r>
              <a:rPr lang="en-US" sz="13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predict what matters. This is where Natural Language Processing enters the story.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NLP?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77724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37160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377440" cy="77724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7" name="Text 5"/>
          <p:cNvSpPr txBox="1"/>
          <p:nvPr/>
        </p:nvSpPr>
        <p:spPr>
          <a:xfrm>
            <a:off x="3246120" y="13716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37160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377440" cy="77724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0" name="Text 8"/>
          <p:cNvSpPr txBox="1"/>
          <p:nvPr/>
        </p:nvSpPr>
        <p:spPr>
          <a:xfrm>
            <a:off x="5943600" y="13716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37160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41080" y="1371600"/>
            <a:ext cx="2377440" cy="77724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3" name="Text 11"/>
          <p:cNvSpPr txBox="1"/>
          <p:nvPr/>
        </p:nvSpPr>
        <p:spPr>
          <a:xfrm>
            <a:off x="8641080" y="13716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7744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 means learning patterns from past clinical notes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make predictions about new ones.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4612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“patient tolerating well, resting comfortably”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3246120"/>
            <a:ext cx="2880360" cy="566928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8" name="Text 16"/>
          <p:cNvSpPr txBox="1"/>
          <p:nvPr/>
        </p:nvSpPr>
        <p:spPr>
          <a:xfrm>
            <a:off x="8549640" y="324612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22776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“mild nausea, watching closely overnight”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49640" y="3922776"/>
            <a:ext cx="2880360" cy="566928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22" name="Text 20"/>
          <p:cNvSpPr txBox="1"/>
          <p:nvPr/>
        </p:nvSpPr>
        <p:spPr>
          <a:xfrm>
            <a:off x="8549640" y="3922776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RISK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99432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599432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“rash spreading, fingers tingling, low fever”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49640" y="4599432"/>
            <a:ext cx="2880360" cy="566928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26" name="Text 24"/>
          <p:cNvSpPr txBox="1"/>
          <p:nvPr/>
        </p:nvSpPr>
        <p:spPr>
          <a:xfrm>
            <a:off x="8549640" y="4599432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RISK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492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new note uses phrasing similar to the Severe examples, what should the model predict?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A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PREDICTION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 Note Incoming...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6035040" cy="2103120"/>
          </a:xfrm>
          <a:prstGeom prst="rect">
            <a:avLst/>
          </a:prstGeom>
          <a:solidFill>
            <a:srgbClr val="13355F"/>
          </a:solidFill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54864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“rash getting worse omg fingers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 dont think its a big deal tho”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17830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past examples,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predict: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78040" y="2468880"/>
            <a:ext cx="4114800" cy="105156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8" name="Text 6"/>
          <p:cNvSpPr txBox="1"/>
          <p:nvPr/>
        </p:nvSpPr>
        <p:spPr>
          <a:xfrm>
            <a:off x="7178040" y="246888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SEVERE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0515600" cy="777240"/>
          </a:xfrm>
          <a:prstGeom prst="rect">
            <a:avLst/>
          </a:prstGeom>
          <a:solidFill>
            <a:srgbClr val="13355F"/>
          </a:solidFill>
        </p:spPr>
      </p:sp>
      <p:sp>
        <p:nvSpPr>
          <p:cNvPr id="10" name="Text 8"/>
          <p:cNvSpPr txBox="1"/>
          <p:nvPr/>
        </p:nvSpPr>
        <p:spPr>
          <a:xfrm>
            <a:off x="1097280" y="416052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just performed the basic idea of NLP classification: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 past examples → Predict a new note's urgency.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NLP Tasks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different jobs a model can do — before we pick the ones for our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50292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Sorts notes into severity categories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EXAMPLE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vs routine toxicity note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3484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 OUR PROJECT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091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 — our approach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3611880" cy="50292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14" name="Text 12"/>
          <p:cNvSpPr txBox="1"/>
          <p:nvPr/>
        </p:nvSpPr>
        <p:spPr>
          <a:xfrm>
            <a:off x="4389120" y="150876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0574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224028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5146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Pulls out named details from text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2461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EXAMPLE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5204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Extracting “Trastuzumab, 6mg/kg” from a note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43484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 OUR PROJECT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7091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 — our approach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0" y="1508760"/>
            <a:ext cx="3611880" cy="50292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23" name="Text 21"/>
          <p:cNvSpPr txBox="1"/>
          <p:nvPr/>
        </p:nvSpPr>
        <p:spPr>
          <a:xfrm>
            <a:off x="8229600" y="150876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SUMMARIZATION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20574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224028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25146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Shrinks long text into key points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32461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EXAMPLE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35204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Condensing a 10-page chart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443484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 OUR PROJECT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47091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(used later, Stage 04)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NLP project uses Classification + NER together — because oncologists need both urgency and detail.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 vs NER — Same Note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difference: a severity label, or specific details pulled from the text?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 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349240" cy="45720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7" name="Text 5"/>
          <p:cNvSpPr txBox="1"/>
          <p:nvPr/>
        </p:nvSpPr>
        <p:spPr>
          <a:xfrm>
            <a:off x="6035040" y="155448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🏷️  NAMED-ENTITY RECOGNITION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4028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“all fine, just checking in”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5176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24028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“started Trastuzumab 6mg/kg today”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65176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→ Trastuzumab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64408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“mild nausea after dose”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7588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35040" y="3172968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3264408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“grade 3 rash on forearms”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67588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ADVERSE EVENT → Grade 3 rash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197096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28853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“rash spreading, fingers tingling”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00016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035040" y="4197096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428853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“EGFR mutation confirmed on panel”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700016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 MUTATION → EGFR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0835640" cy="50292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27" name="Text 25"/>
          <p:cNvSpPr txBox="1"/>
          <p:nvPr/>
        </p:nvSpPr>
        <p:spPr>
          <a:xfrm>
            <a:off x="548640" y="5349240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= ASSIGN A SEVERITY LABEL   |   NER = EXTRACT SPECIFIC CLINICAL DETAILS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Already Know the Right Answers?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we already know the correct urgency labels in our historical data? YES.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6916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6035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“all good, just resting a bit”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2402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6035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889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“mild nausea, not sure if normal”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7889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6035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375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“rash spreading, fingers tingling”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3375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4343400" cy="1371600"/>
          </a:xfrm>
          <a:prstGeom prst="rect">
            <a:avLst/>
          </a:prstGeom>
          <a:solidFill>
            <a:srgbClr val="E1F3F2"/>
          </a:solidFill>
        </p:spPr>
      </p:sp>
      <p:sp>
        <p:nvSpPr>
          <p:cNvPr id="17" name="Text 15"/>
          <p:cNvSpPr txBox="1"/>
          <p:nvPr/>
        </p:nvSpPr>
        <p:spPr>
          <a:xfrm>
            <a:off x="7178040" y="18288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📘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24028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TEXT CLASSIFICATION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10835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already have past clinical notes and their correct urgency labels. The model learns the relationship between phrasing and label. NER instead tags spans of text (no fixed category per note) — but both are trained the same way, from labeled examples.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0835640" cy="64008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21" name="Text 19"/>
          <p:cNvSpPr txBox="1"/>
          <p:nvPr/>
        </p:nvSpPr>
        <p:spPr>
          <a:xfrm>
            <a:off x="548640" y="5120640"/>
            <a:ext cx="10835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NLP project uses supervised text classification, paired with NER span-tagging.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NLP Pipeline — Core Techniques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clinical text moves through these steps before a model can use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0992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3911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Splits notes into words or sub-word pieces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28800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11" name="Text 9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70992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Embeddings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03911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Turns words into meaning-carrying vectors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898648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16" name="Text 14"/>
          <p:cNvSpPr txBox="1"/>
          <p:nvPr/>
        </p:nvSpPr>
        <p:spPr>
          <a:xfrm>
            <a:off x="731520" y="28986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779776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Stopword Removal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0896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out low-value filler words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670048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898648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21" name="Text 19"/>
          <p:cNvSpPr txBox="1"/>
          <p:nvPr/>
        </p:nvSpPr>
        <p:spPr>
          <a:xfrm>
            <a:off x="6309360" y="28986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779776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RNN / LSTM for Text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10896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text in sequence, remembers context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968496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26" name="Text 24"/>
          <p:cNvSpPr txBox="1"/>
          <p:nvPr/>
        </p:nvSpPr>
        <p:spPr>
          <a:xfrm>
            <a:off x="731520" y="396849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849624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Stemming / Lemmatization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17880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words to their root 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739896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968496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31" name="Text 29"/>
          <p:cNvSpPr txBox="1"/>
          <p:nvPr/>
        </p:nvSpPr>
        <p:spPr>
          <a:xfrm>
            <a:off x="6309360" y="396849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849624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 (BioBERT)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17880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the whole note at once, both ways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09744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038344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36" name="Text 34"/>
          <p:cNvSpPr txBox="1"/>
          <p:nvPr/>
        </p:nvSpPr>
        <p:spPr>
          <a:xfrm>
            <a:off x="731520" y="50383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4919472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Bag-of-Words / TF-IDF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24865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term importance across documents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4809744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5038344"/>
            <a:ext cx="502920" cy="50292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41" name="Text 39"/>
          <p:cNvSpPr txBox="1"/>
          <p:nvPr/>
        </p:nvSpPr>
        <p:spPr>
          <a:xfrm>
            <a:off x="6309360" y="50383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4919472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Named-Entity Recognition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524865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Tags spans as Gene / Drug / Dosage / Event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Text Classification — How It Decides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a raw clinical note into a severity score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057400"/>
            <a:ext cx="457200" cy="457200"/>
          </a:xfrm>
          <a:prstGeom prst="ellipse">
            <a:avLst/>
          </a:prstGeom>
          <a:solidFill>
            <a:srgbClr val="0B2545"/>
          </a:solidFill>
        </p:spPr>
      </p:sp>
      <p:sp>
        <p:nvSpPr>
          <p:cNvPr id="6" name="Text 4"/>
          <p:cNvSpPr txBox="1"/>
          <p:nvPr/>
        </p:nvSpPr>
        <p:spPr>
          <a:xfrm>
            <a:off x="134874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Vectorize the Note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4904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words into numbers the model can compare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828800"/>
            <a:ext cx="320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6180" y="2057400"/>
            <a:ext cx="457200" cy="457200"/>
          </a:xfrm>
          <a:prstGeom prst="ellipse">
            <a:avLst/>
          </a:prstGeom>
          <a:solidFill>
            <a:srgbClr val="0B2545"/>
          </a:solidFill>
        </p:spPr>
      </p:sp>
      <p:sp>
        <p:nvSpPr>
          <p:cNvPr id="13" name="Text 11"/>
          <p:cNvSpPr txBox="1"/>
          <p:nvPr/>
        </p:nvSpPr>
        <p:spPr>
          <a:xfrm>
            <a:off x="372618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6517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546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Known Patterns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74904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against thousands of labeled past notes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828800"/>
            <a:ext cx="320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0352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3620" y="2057400"/>
            <a:ext cx="457200" cy="457200"/>
          </a:xfrm>
          <a:prstGeom prst="ellipse">
            <a:avLst/>
          </a:prstGeom>
          <a:solidFill>
            <a:srgbClr val="0B2545"/>
          </a:solidFill>
        </p:spPr>
      </p:sp>
      <p:sp>
        <p:nvSpPr>
          <p:cNvPr id="20" name="Text 18"/>
          <p:cNvSpPr txBox="1"/>
          <p:nvPr/>
        </p:nvSpPr>
        <p:spPr>
          <a:xfrm>
            <a:off x="610362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6517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1546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Each Category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74904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a probability to Severe / Moderate / Routine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1828800"/>
            <a:ext cx="320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8096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2057400"/>
            <a:ext cx="457200" cy="457200"/>
          </a:xfrm>
          <a:prstGeom prst="ellipse">
            <a:avLst/>
          </a:prstGeom>
          <a:solidFill>
            <a:srgbClr val="0B2545"/>
          </a:solidFill>
        </p:spPr>
      </p:sp>
      <p:sp>
        <p:nvSpPr>
          <p:cNvPr id="27" name="Text 25"/>
          <p:cNvSpPr txBox="1"/>
          <p:nvPr/>
        </p:nvSpPr>
        <p:spPr>
          <a:xfrm>
            <a:off x="848106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6517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31546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the Highest Score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374904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category with the highest confidence wins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1828800"/>
            <a:ext cx="320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8400" y="1828800"/>
            <a:ext cx="2057400" cy="3108960"/>
          </a:xfrm>
          <a:prstGeom prst="rect">
            <a:avLst/>
          </a:prstGeom>
          <a:solidFill>
            <a:srgbClr val="FBE3E7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58500" y="2057400"/>
            <a:ext cx="457200" cy="457200"/>
          </a:xfrm>
          <a:prstGeom prst="ellipse">
            <a:avLst/>
          </a:prstGeom>
          <a:solidFill>
            <a:srgbClr val="0B2545"/>
          </a:solidFill>
        </p:spPr>
      </p:sp>
      <p:sp>
        <p:nvSpPr>
          <p:cNvPr id="34" name="Text 32"/>
          <p:cNvSpPr txBox="1"/>
          <p:nvPr/>
        </p:nvSpPr>
        <p:spPr>
          <a:xfrm>
            <a:off x="108585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0" y="26517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10195560" y="31546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Low-Confidence Cases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0195560" y="374904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uncertain notes to a human reviewer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NER — Core Building Blocks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model finds and labels clinical details hidden inside a note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057400"/>
            <a:ext cx="548640" cy="548640"/>
          </a:xfrm>
          <a:prstGeom prst="ellipse">
            <a:avLst/>
          </a:prstGeom>
          <a:solidFill>
            <a:srgbClr val="FBE3E7"/>
          </a:solidFill>
        </p:spPr>
      </p:sp>
      <p:sp>
        <p:nvSpPr>
          <p:cNvPr id="6" name="Text 4"/>
          <p:cNvSpPr txBox="1"/>
          <p:nvPr/>
        </p:nvSpPr>
        <p:spPr>
          <a:xfrm>
            <a:off x="130302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Span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290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exact stretch of text that names something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1860" y="2057400"/>
            <a:ext cx="548640" cy="548640"/>
          </a:xfrm>
          <a:prstGeom prst="ellipse">
            <a:avLst/>
          </a:prstGeom>
          <a:solidFill>
            <a:srgbClr val="FBE3E7"/>
          </a:solidFill>
        </p:spPr>
      </p:sp>
      <p:sp>
        <p:nvSpPr>
          <p:cNvPr id="11" name="Text 9"/>
          <p:cNvSpPr txBox="1"/>
          <p:nvPr/>
        </p:nvSpPr>
        <p:spPr>
          <a:xfrm>
            <a:off x="345186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78892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Tag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4290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 Mutation / Drug / Dosage / Adverse Event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00700" y="2057400"/>
            <a:ext cx="548640" cy="548640"/>
          </a:xfrm>
          <a:prstGeom prst="ellipse">
            <a:avLst/>
          </a:prstGeom>
          <a:solidFill>
            <a:srgbClr val="FBE3E7"/>
          </a:solidFill>
        </p:spPr>
      </p:sp>
      <p:sp>
        <p:nvSpPr>
          <p:cNvPr id="16" name="Text 14"/>
          <p:cNvSpPr txBox="1"/>
          <p:nvPr/>
        </p:nvSpPr>
        <p:spPr>
          <a:xfrm>
            <a:off x="560070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78892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Window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4290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Words around the entity that hint at its meaning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9516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49540" y="2057400"/>
            <a:ext cx="548640" cy="548640"/>
          </a:xfrm>
          <a:prstGeom prst="ellipse">
            <a:avLst/>
          </a:prstGeom>
          <a:solidFill>
            <a:srgbClr val="FBE3E7"/>
          </a:solidFill>
        </p:spPr>
      </p:sp>
      <p:sp>
        <p:nvSpPr>
          <p:cNvPr id="21" name="Text 19"/>
          <p:cNvSpPr txBox="1"/>
          <p:nvPr/>
        </p:nvSpPr>
        <p:spPr>
          <a:xfrm>
            <a:off x="774954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78892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Tagging (BIO)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4290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Marks Begin / Inside / Outside for each entity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0" y="182880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8380" y="2057400"/>
            <a:ext cx="548640" cy="548640"/>
          </a:xfrm>
          <a:prstGeom prst="ellipse">
            <a:avLst/>
          </a:prstGeom>
          <a:solidFill>
            <a:srgbClr val="FBE3E7"/>
          </a:solidFill>
        </p:spPr>
      </p:sp>
      <p:sp>
        <p:nvSpPr>
          <p:cNvPr id="26" name="Text 24"/>
          <p:cNvSpPr txBox="1"/>
          <p:nvPr/>
        </p:nvSpPr>
        <p:spPr>
          <a:xfrm>
            <a:off x="989838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78892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4290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sure the model is about each extracted entity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Technique Are We Using Right Now?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this project, right now: A TEXT CLASSIFIER + NER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65960" cy="155448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NOTE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“rash spreading,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fingers tingling”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920240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70632" y="1920240"/>
            <a:ext cx="1965960" cy="155448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9" name="Text 7"/>
          <p:cNvSpPr txBox="1"/>
          <p:nvPr/>
        </p:nvSpPr>
        <p:spPr>
          <a:xfrm>
            <a:off x="2770632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242316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Splits into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words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1920240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92624" y="1920240"/>
            <a:ext cx="1965960" cy="155448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3" name="Text 11"/>
          <p:cNvSpPr txBox="1"/>
          <p:nvPr/>
        </p:nvSpPr>
        <p:spPr>
          <a:xfrm>
            <a:off x="4992624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42316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Turns words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into vectors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1920240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14616" y="1920240"/>
            <a:ext cx="1965960" cy="155448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17" name="Text 15"/>
          <p:cNvSpPr txBox="1"/>
          <p:nvPr/>
        </p:nvSpPr>
        <p:spPr>
          <a:xfrm>
            <a:off x="7214616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+ EXTRACT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06056" y="242316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 score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 tags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1920240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36608" y="1920240"/>
            <a:ext cx="1965960" cy="155448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21" name="Text 19"/>
          <p:cNvSpPr txBox="1"/>
          <p:nvPr/>
        </p:nvSpPr>
        <p:spPr>
          <a:xfrm>
            <a:off x="9436608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528048" y="242316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fingers/rash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10835640" cy="64008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24" name="Text 22"/>
          <p:cNvSpPr txBox="1"/>
          <p:nvPr/>
        </p:nvSpPr>
        <p:spPr>
          <a:xfrm>
            <a:off x="548640" y="3840480"/>
            <a:ext cx="10835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exactly how our mini demo decides — reading words in sequence, not scanning pixels or lab values.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Train a Model on Messy Clinical Text?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“pt reports rash, rash spreading”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(duplicate)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50592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“pt reports rash, rash spreading”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45059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Duplicate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72384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“n/v x2, ↓po intake, f/u prn”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07238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(abbreviations/shorthand)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94176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 ” — no text, blank entry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69417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Missing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78240" y="1188720"/>
            <a:ext cx="2606040" cy="59436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17" name="Text 15"/>
          <p:cNvSpPr txBox="1"/>
          <p:nvPr/>
        </p:nvSpPr>
        <p:spPr>
          <a:xfrm>
            <a:off x="8778240" y="118872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0835640" cy="59436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19" name="Text 17"/>
          <p:cNvSpPr txBox="1"/>
          <p:nvPr/>
        </p:nvSpPr>
        <p:spPr>
          <a:xfrm>
            <a:off x="548640" y="4572000"/>
            <a:ext cx="10835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NLP system needs someone to clean and annotate the text first.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94360" cy="59436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 </a:t>
            </a:r>
            <a:r>
              <a:rPr lang="en-US" sz="13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text is messy and comes from many channels — progress notes, symptom diaries, trial protocols.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57175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2316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raw text sources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03270" y="2423160"/>
            <a:ext cx="257175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4710" y="242316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duplicates &amp; noise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57900" y="2423160"/>
            <a:ext cx="257175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9340" y="242316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Annotate urgency labels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12530" y="2423160"/>
            <a:ext cx="257175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03970" y="242316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0835640" cy="59436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6" name="Text 14"/>
          <p:cNvSpPr txBox="1"/>
          <p:nvPr/>
        </p:nvSpPr>
        <p:spPr>
          <a:xfrm>
            <a:off x="548640" y="3291840"/>
            <a:ext cx="10835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CLEAN, ANNOTATED CLINICAL TEXT DATASET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Engineer prepares clean, labeled text for the next stage.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the Vocabulary Make Sense?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FCF0DC"/>
          </a:solidFill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ENGINEER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835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10378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“everything is totally fine, no problem at all!!! rash is spreading fast”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this look normal? Or could this be sarcasm, patient minimization, or a mislabeled record?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 Engineer explores vocabulary, finds patterns, and checks suspicious or ambiguous phrasing.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257175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03270" y="4434840"/>
            <a:ext cx="257175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94710" y="443484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Vocabulary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7900" y="4434840"/>
            <a:ext cx="257175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9340" y="443484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Ambiguity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12530" y="4434840"/>
            <a:ext cx="2571750" cy="594360"/>
          </a:xfrm>
          <a:prstGeom prst="rect">
            <a:avLst/>
          </a:prstGeom>
          <a:solidFill>
            <a:srgbClr val="E0A233"/>
          </a:solidFill>
          <a:ln w="12700">
            <a:solidFill>
              <a:srgbClr val="E0A2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03970" y="4434840"/>
            <a:ext cx="2388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Signal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students argue both sides — “patient minimizing” vs “real emergency” — before naming the role.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8B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Now our data is clean and verified. What's next?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ENGINEER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5146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Note Text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Vocabulary Signals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14600"/>
            <a:ext cx="411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69080" y="2514600"/>
            <a:ext cx="3291840" cy="100584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1" name="Text 9"/>
          <p:cNvSpPr txBox="1"/>
          <p:nvPr/>
        </p:nvSpPr>
        <p:spPr>
          <a:xfrm>
            <a:off x="4206240" y="25146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(Classifier + NER)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514600"/>
            <a:ext cx="411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63840" y="2514600"/>
            <a:ext cx="3520440" cy="100584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4" name="Text 12"/>
          <p:cNvSpPr txBox="1"/>
          <p:nvPr/>
        </p:nvSpPr>
        <p:spPr>
          <a:xfrm>
            <a:off x="8001000" y="251460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Urgency: Low/Mod/Severe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Entities: Gene, Drug, Dosage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0835640" cy="59436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6" name="Text 14"/>
          <p:cNvSpPr txBox="1"/>
          <p:nvPr/>
        </p:nvSpPr>
        <p:spPr>
          <a:xfrm>
            <a:off x="548640" y="3977640"/>
            <a:ext cx="10835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NLP Engineer trains the pipeline using past data so it can read a new note.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slide where “training” finally gets a face — the NLP Engineer, not magic.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 IT?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pipeline is 100% correct on training logs.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Should we trust it immediately?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91840" cy="59436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already seen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77640" y="1965960"/>
            <a:ext cx="3566160" cy="59436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7" name="Text 5"/>
          <p:cNvSpPr txBox="1"/>
          <p:nvPr/>
        </p:nvSpPr>
        <p:spPr>
          <a:xfrm>
            <a:off x="3977640" y="196596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UNSEEN TEST LOGS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never seen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80960" y="1965960"/>
            <a:ext cx="1463040" cy="59436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9" name="Text 7"/>
          <p:cNvSpPr txBox="1"/>
          <p:nvPr/>
        </p:nvSpPr>
        <p:spPr>
          <a:xfrm>
            <a:off x="7680960" y="196596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281160" y="1965960"/>
            <a:ext cx="548640" cy="548640"/>
          </a:xfrm>
          <a:prstGeom prst="ellipse">
            <a:avLst/>
          </a:prstGeom>
          <a:solidFill>
            <a:srgbClr val="E1F3F2"/>
          </a:solidFill>
        </p:spPr>
      </p:sp>
      <p:sp>
        <p:nvSpPr>
          <p:cNvPr id="11" name="Text 9"/>
          <p:cNvSpPr txBox="1"/>
          <p:nvPr/>
        </p:nvSpPr>
        <p:spPr>
          <a:xfrm>
            <a:off x="928116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26060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ENGINEER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80360"/>
            <a:ext cx="10835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the pipeline on unseen clinical logs to check whether it really learned the pattern — or only memorized the training 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94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/ Recall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1605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severe notes were caught correctly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365760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3794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Overconfidence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1605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is very confident but wrong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the analogy: memorizing exam answers vs actually understanding the subject.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2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the oncologist read raw model output during rounds?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63040" cy="54864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1691640"/>
            <a:ext cx="548640" cy="548640"/>
          </a:xfrm>
          <a:prstGeom prst="ellipse">
            <a:avLst/>
          </a:prstGeom>
          <a:solidFill>
            <a:srgbClr val="FCF0DC"/>
          </a:solidFill>
        </p:spPr>
      </p:sp>
      <p:sp>
        <p:nvSpPr>
          <p:cNvPr id="7" name="Text 5"/>
          <p:cNvSpPr txBox="1"/>
          <p:nvPr/>
        </p:nvSpPr>
        <p:spPr>
          <a:xfrm>
            <a:off x="2194560" y="1691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691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ENGINEER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Note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Pipeline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2468880"/>
            <a:ext cx="5212080" cy="18288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2" name="Text 10"/>
          <p:cNvSpPr txBox="1"/>
          <p:nvPr/>
        </p:nvSpPr>
        <p:spPr>
          <a:xfrm>
            <a:off x="6217920" y="260604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Urgency: SEVERE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Confidence: 92%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Entities: EGFR mutation · Trastuzumab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Action: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Escalate to on-call oncologist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Flag chart for tumor board review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0835640" cy="59436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10835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Integration Engineer wires the trained pipeline into a live intake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A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Buried Clinical Note to AI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54864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NOTE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600200"/>
            <a:ext cx="2606040" cy="54864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7" name="Text 5"/>
          <p:cNvSpPr txBox="1"/>
          <p:nvPr/>
        </p:nvSpPr>
        <p:spPr>
          <a:xfrm>
            <a:off x="3200400" y="160020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TEXT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2606040" cy="54864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9" name="Text 7"/>
          <p:cNvSpPr txBox="1"/>
          <p:nvPr/>
        </p:nvSpPr>
        <p:spPr>
          <a:xfrm>
            <a:off x="5852160" y="160020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1600200"/>
            <a:ext cx="2606040" cy="54864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11" name="Text 9"/>
          <p:cNvSpPr txBox="1"/>
          <p:nvPr/>
        </p:nvSpPr>
        <p:spPr>
          <a:xfrm>
            <a:off x="8503920" y="160020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information hides in the text?  →  Learn from past notes  →  But is the raw text clean?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606040" cy="54864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14" name="Text 12"/>
          <p:cNvSpPr txBox="1"/>
          <p:nvPr/>
        </p:nvSpPr>
        <p:spPr>
          <a:xfrm>
            <a:off x="548640" y="283464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ENGINEER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834640"/>
            <a:ext cx="2606040" cy="54864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6" name="Text 14"/>
          <p:cNvSpPr txBox="1"/>
          <p:nvPr/>
        </p:nvSpPr>
        <p:spPr>
          <a:xfrm>
            <a:off x="3200400" y="283464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ENGINEER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834640"/>
            <a:ext cx="2606040" cy="54864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8" name="Text 16"/>
          <p:cNvSpPr txBox="1"/>
          <p:nvPr/>
        </p:nvSpPr>
        <p:spPr>
          <a:xfrm>
            <a:off x="5852160" y="283464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ENGINEER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2834640"/>
            <a:ext cx="2606040" cy="54864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20" name="Text 18"/>
          <p:cNvSpPr txBox="1"/>
          <p:nvPr/>
        </p:nvSpPr>
        <p:spPr>
          <a:xfrm>
            <a:off x="8503920" y="283464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ENGINEER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20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the vocabulary make sense?  →  Can we trust the pipeline?  →  Can oncologists use it?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0698480" cy="155448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23" name="Text 21"/>
          <p:cNvSpPr txBox="1"/>
          <p:nvPr/>
        </p:nvSpPr>
        <p:spPr>
          <a:xfrm>
            <a:off x="548640" y="420624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LIVE ONCOLOGY INTAKE DASHBOARD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A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Are the NLP Model.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6035040" cy="1737360"/>
          </a:xfrm>
          <a:prstGeom prst="rect">
            <a:avLst/>
          </a:prstGeom>
          <a:solidFill>
            <a:srgbClr val="13355F"/>
          </a:solidFill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“rash getting worse omg fingers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 dont think its a big deal tho”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17830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predicted urgency?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 extracted: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Rash, fingers, tingling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30632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C93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see if our trained pipeline agrees with you.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3383280" cy="777240"/>
          </a:xfrm>
          <a:prstGeom prst="rect">
            <a:avLst/>
          </a:prstGeom>
          <a:solidFill>
            <a:srgbClr val="0F8B8D"/>
          </a:solidFill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ROUTINE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3931920"/>
            <a:ext cx="3383280" cy="777240"/>
          </a:xfrm>
          <a:prstGeom prst="rect">
            <a:avLst/>
          </a:prstGeom>
          <a:solidFill>
            <a:srgbClr val="E0A233"/>
          </a:solidFill>
        </p:spPr>
      </p:sp>
      <p:sp>
        <p:nvSpPr>
          <p:cNvPr id="12" name="Text 10"/>
          <p:cNvSpPr txBox="1"/>
          <p:nvPr/>
        </p:nvSpPr>
        <p:spPr>
          <a:xfrm>
            <a:off x="4389120" y="393192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MODERATE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3931920"/>
            <a:ext cx="3383280" cy="777240"/>
          </a:xfrm>
          <a:prstGeom prst="rect">
            <a:avLst/>
          </a:prstGeom>
          <a:solidFill>
            <a:srgbClr val="D2223A"/>
          </a:solidFill>
        </p:spPr>
      </p:sp>
      <p:sp>
        <p:nvSpPr>
          <p:cNvPr id="14" name="Text 12"/>
          <p:cNvSpPr txBox="1"/>
          <p:nvPr/>
        </p:nvSpPr>
        <p:spPr>
          <a:xfrm>
            <a:off x="7955280" y="393192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SEVERE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Did Manually → What Python Does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846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spotted distress words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40680" y="141732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417320"/>
            <a:ext cx="5349240" cy="6858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7" name="Text 5"/>
          <p:cNvSpPr txBox="1"/>
          <p:nvPr/>
        </p:nvSpPr>
        <p:spPr>
          <a:xfrm>
            <a:off x="6263640" y="141732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tokenizes &amp; vectorizes 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4846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19456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judged urgency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19456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5349240" cy="6858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2" name="Text 10"/>
          <p:cNvSpPr txBox="1"/>
          <p:nvPr/>
        </p:nvSpPr>
        <p:spPr>
          <a:xfrm>
            <a:off x="6263640" y="219456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Classifier scores urgency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846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found the mutation &amp; drug name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97180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2971800"/>
            <a:ext cx="5349240" cy="6858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17" name="Text 15"/>
          <p:cNvSpPr txBox="1"/>
          <p:nvPr/>
        </p:nvSpPr>
        <p:spPr>
          <a:xfrm>
            <a:off x="6263640" y="297180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 extracts entities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4846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4904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checked the answer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74904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3749040"/>
            <a:ext cx="5349240" cy="6858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22" name="Text 20"/>
          <p:cNvSpPr txBox="1"/>
          <p:nvPr/>
        </p:nvSpPr>
        <p:spPr>
          <a:xfrm>
            <a:off x="6263640" y="374904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tests precision/recall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4846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52628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gave a recommended action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452628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35040" y="4526280"/>
            <a:ext cx="5349240" cy="685800"/>
          </a:xfrm>
          <a:prstGeom prst="rect">
            <a:avLst/>
          </a:prstGeom>
          <a:solidFill>
            <a:srgbClr val="0B2545"/>
          </a:solidFill>
        </p:spPr>
      </p:sp>
      <p:sp>
        <p:nvSpPr>
          <p:cNvPr id="27" name="Text 25"/>
          <p:cNvSpPr txBox="1"/>
          <p:nvPr/>
        </p:nvSpPr>
        <p:spPr>
          <a:xfrm>
            <a:off x="6263640" y="452628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sends result to dashboard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First, you understood the process manually. Now, the computer automates the same process.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E0A2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“Today, You Didn't Just Learn NLP.”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C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were the on-call clinical triage reader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E0A233"/>
          </a:solidFill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190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judged urgency from raw clinical words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E0A233"/>
          </a:solidFill>
        </p:spPr>
      </p:sp>
      <p:sp>
        <p:nvSpPr>
          <p:cNvPr id="8" name="Text 6"/>
          <p:cNvSpPr txBox="1"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762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learned from past labeled notes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320040" cy="320040"/>
          </a:xfrm>
          <a:prstGeom prst="ellipse">
            <a:avLst/>
          </a:prstGeom>
          <a:solidFill>
            <a:srgbClr val="E0A233"/>
          </a:solidFill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334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saw how classification differs from NER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108960"/>
            <a:ext cx="320040" cy="320040"/>
          </a:xfrm>
          <a:prstGeom prst="ellipse">
            <a:avLst/>
          </a:prstGeom>
          <a:solidFill>
            <a:srgbClr val="E0A233"/>
          </a:solidFill>
        </p:spPr>
      </p:sp>
      <p:sp>
        <p:nvSpPr>
          <p:cNvPr id="14" name="Text 12"/>
          <p:cNvSpPr txBox="1"/>
          <p:nvPr/>
        </p:nvSpPr>
        <p:spPr>
          <a:xfrm>
            <a:off x="82296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0906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discovered why text must be cleaned &amp; annotated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E0A233"/>
          </a:solidFill>
        </p:spPr>
      </p:sp>
      <p:sp>
        <p:nvSpPr>
          <p:cNvPr id="17" name="Text 15"/>
          <p:cNvSpPr txBox="1"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478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tested whether the pipeline can be trusted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4023360"/>
            <a:ext cx="320040" cy="320040"/>
          </a:xfrm>
          <a:prstGeom prst="ellipse">
            <a:avLst/>
          </a:prstGeom>
          <a:solidFill>
            <a:srgbClr val="E0A233"/>
          </a:solidFill>
        </p:spPr>
      </p:sp>
      <p:sp>
        <p:nvSpPr>
          <p:cNvPr id="20" name="Text 18"/>
          <p:cNvSpPr txBox="1"/>
          <p:nvPr/>
        </p:nvSpPr>
        <p:spPr>
          <a:xfrm>
            <a:off x="822960" y="40233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0050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saw how NLP becomes a real intake dashboard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4617720"/>
            <a:ext cx="10424160" cy="1005840"/>
          </a:xfrm>
          <a:prstGeom prst="rect">
            <a:avLst/>
          </a:prstGeom>
          <a:solidFill>
            <a:srgbClr val="13355F"/>
          </a:solidFill>
        </p:spPr>
      </p:sp>
      <p:sp>
        <p:nvSpPr>
          <p:cNvPr id="23" name="Text 21"/>
          <p:cNvSpPr txBox="1"/>
          <p:nvPr/>
        </p:nvSpPr>
        <p:spPr>
          <a:xfrm>
            <a:off x="1051560" y="47548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is not just calling model.predict() on text.</a:t>
            </a: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teaching a machine to understand clinical language and turn words into life-saving action.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10101</Words>
  <Application>WPS Presentation</Application>
  <PresentationFormat>On-screen Show (16:9)</PresentationFormat>
  <Paragraphs>752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Nivatha selvan</cp:lastModifiedBy>
  <cp:revision>3</cp:revision>
  <dcterms:created xsi:type="dcterms:W3CDTF">2026-08-28T09:52:00Z</dcterms:created>
  <dcterms:modified xsi:type="dcterms:W3CDTF">2026-08-28T10:23:21Z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CCE551A8CDC14F0FA60F21B50BA4AD15_12</vt:lpwstr>
  </property>
  <property fmtid="{D5CDD505-2E9C-101B-9397-08002B2CF9AE}" pid="3" name="KSOProductBuildVer">
    <vt:lpwstr>1033-12.1.0.28032</vt:lpwstr>
  </property>
</Properties>
</file>
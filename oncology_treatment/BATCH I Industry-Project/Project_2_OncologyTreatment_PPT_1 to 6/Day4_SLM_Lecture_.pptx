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640080"/>
            <a:ext cx="1554480" cy="1554480"/>
          </a:xfrm>
          <a:prstGeom prst="ellipse">
            <a:avLst/>
          </a:prstGeom>
          <a:solidFill>
            <a:srgbClr val="13233D"/>
          </a:solidFill>
          <a:ln w="19050">
            <a:solidFill>
              <a:srgbClr val="FFB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64008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Calibri"/>
              </a:rPr>
              <a:t>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63065"/>
            <a:ext cx="9500000" cy="7385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SMALL </a:t>
            </a:r>
            <a:r>
              <a:rPr sz="4800" b="1" i="0">
                <a:solidFill>
                  <a:srgbClr val="FFB627"/>
                </a:solidFill>
                <a:latin typeface="Cambria"/>
              </a:rPr>
              <a:t>LANGUAGE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839210"/>
            <a:ext cx="8686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3921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FC5E8"/>
                </a:solidFill>
                <a:latin typeface="Calibri"/>
              </a:rPr>
              <a:t>Day 4 · Personalized Precision Medicine for Oncology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3D5C"/>
                </a:solidFill>
                <a:latin typeface="Calibri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000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7263B"/>
                </a:solidFill>
                <a:latin typeface="Cambria"/>
              </a:rPr>
              <a:t>What We'll Cover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000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82"/>
                </a:solidFill>
                <a:latin typeface="Calibri"/>
              </a:rPr>
              <a:t>Six stages — from a tumor board emergency to an offline AI briefing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50000"/>
            <a:ext cx="10908792" cy="7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0000" y="2000000"/>
            <a:ext cx="420000" cy="42000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000000"/>
            <a:ext cx="42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000" y="1910000"/>
            <a:ext cx="42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63B"/>
                </a:solidFill>
                <a:latin typeface="Cambria"/>
              </a:rPr>
              <a:t>The Emergency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0" y="1910000"/>
            <a:ext cx="575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2"/>
                </a:solidFill>
                <a:latin typeface="Calibri"/>
              </a:rPr>
              <a:t>Why an oncologist can't read every chart in real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0000"/>
            <a:ext cx="10908792" cy="7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0000" y="2750000"/>
            <a:ext cx="420000" cy="42000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000" y="2750000"/>
            <a:ext cx="42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000" y="2660000"/>
            <a:ext cx="42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63B"/>
                </a:solidFill>
                <a:latin typeface="Cambria"/>
              </a:rPr>
              <a:t>What Is a Small Language Model?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0" y="2660000"/>
            <a:ext cx="575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2"/>
                </a:solidFill>
                <a:latin typeface="Calibri"/>
              </a:rPr>
              <a:t>Compressing dense patient charts into instant, actionable briefings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50000"/>
            <a:ext cx="10908792" cy="7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0000" y="3500000"/>
            <a:ext cx="420000" cy="42000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500000"/>
            <a:ext cx="42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000" y="3410000"/>
            <a:ext cx="42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63B"/>
                </a:solidFill>
                <a:latin typeface="Cambria"/>
              </a:rPr>
              <a:t>Types &amp; Techniques of SLM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0000" y="3410000"/>
            <a:ext cx="575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2"/>
                </a:solidFill>
                <a:latin typeface="Calibri"/>
              </a:rPr>
              <a:t>Fine-Tuning, Retrieval, Preference Learning — and what powers 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00000"/>
            <a:ext cx="10908792" cy="7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0000" y="4250000"/>
            <a:ext cx="420000" cy="42000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000" y="4250000"/>
            <a:ext cx="42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000" y="4160000"/>
            <a:ext cx="42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63B"/>
                </a:solidFill>
                <a:latin typeface="Cambria"/>
              </a:rPr>
              <a:t>Meet the 5 SLM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0000" y="4160000"/>
            <a:ext cx="575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2"/>
                </a:solidFill>
                <a:latin typeface="Calibri"/>
              </a:rPr>
              <a:t>Data Engineer → EDA → SLM → Evaluation → Integration Engineer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50000"/>
            <a:ext cx="10908792" cy="7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0000" y="5000000"/>
            <a:ext cx="420000" cy="42000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0000" y="5000000"/>
            <a:ext cx="42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000" y="4910000"/>
            <a:ext cx="42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63B"/>
                </a:solidFill>
                <a:latin typeface="Cambria"/>
              </a:rPr>
              <a:t>Building &amp; Trusting the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0000" y="4910000"/>
            <a:ext cx="575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2"/>
                </a:solidFill>
                <a:latin typeface="Calibri"/>
              </a:rPr>
              <a:t>Fine-tuning a compact model together, then testing if its briefings can be trusted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600000"/>
            <a:ext cx="10908792" cy="7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0000" y="5750000"/>
            <a:ext cx="420000" cy="42000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000" y="5750000"/>
            <a:ext cx="42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000" y="5660000"/>
            <a:ext cx="42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63B"/>
                </a:solidFill>
                <a:latin typeface="Cambria"/>
              </a:rPr>
              <a:t>Live Case &amp; Recap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0000" y="5660000"/>
            <a:ext cx="575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2"/>
                </a:solidFill>
                <a:latin typeface="Calibri"/>
              </a:rPr>
              <a:t>Watch the fine-tuned model generate a briefing — then recap the full journey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523619" y="0"/>
            <a:ext cx="0" cy="6858000"/>
          </a:xfrm>
          <a:prstGeom prst="line">
            <a:avLst/>
          </a:prstGeom>
          <a:ln w="9525">
            <a:solidFill>
              <a:srgbClr val="13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47238" y="0"/>
            <a:ext cx="0" cy="6858000"/>
          </a:xfrm>
          <a:prstGeom prst="line">
            <a:avLst/>
          </a:prstGeom>
          <a:ln w="9525">
            <a:solidFill>
              <a:srgbClr val="13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0857" y="0"/>
            <a:ext cx="0" cy="6858000"/>
          </a:xfrm>
          <a:prstGeom prst="line">
            <a:avLst/>
          </a:prstGeom>
          <a:ln w="9525">
            <a:solidFill>
              <a:srgbClr val="13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4476" y="0"/>
            <a:ext cx="0" cy="6858000"/>
          </a:xfrm>
          <a:prstGeom prst="line">
            <a:avLst/>
          </a:prstGeom>
          <a:ln w="9525">
            <a:solidFill>
              <a:srgbClr val="13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18095" y="0"/>
            <a:ext cx="0" cy="6858000"/>
          </a:xfrm>
          <a:prstGeom prst="line">
            <a:avLst/>
          </a:prstGeom>
          <a:ln w="9525">
            <a:solidFill>
              <a:srgbClr val="13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1714" y="0"/>
            <a:ext cx="0" cy="6858000"/>
          </a:xfrm>
          <a:prstGeom prst="line">
            <a:avLst/>
          </a:prstGeom>
          <a:ln w="9525">
            <a:solidFill>
              <a:srgbClr val="13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5333" y="0"/>
            <a:ext cx="0" cy="6858000"/>
          </a:xfrm>
          <a:prstGeom prst="line">
            <a:avLst/>
          </a:prstGeom>
          <a:ln w="9525">
            <a:solidFill>
              <a:srgbClr val="13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966960" y="457200"/>
            <a:ext cx="1554480" cy="155448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0" y="4572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Calibri"/>
              </a:rPr>
              <a:t>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9692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CAN AI BRIEF AN ONCOLOGIST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IN 5 SECONDS DURING TUMOR BOARD?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343400"/>
            <a:ext cx="2011680" cy="4000"/>
          </a:xfrm>
          <a:prstGeom prst="rect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Small Language Models through a Real Precision Oncology Case Study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94960"/>
            <a:ext cx="9052560" cy="96012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8503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ADCFC"/>
                </a:solidFill>
                <a:latin typeface="Cambria"/>
              </a:rPr>
              <a:t>Today, you are not just students.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B627"/>
                </a:solidFill>
                <a:latin typeface="Cambria"/>
              </a:rPr>
              <a:t>You are the AI Oncology Care Team.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The Emergency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37360"/>
            <a:ext cx="5212080" cy="841248"/>
          </a:xfrm>
          <a:prstGeom prst="rect">
            <a:avLst/>
          </a:prstGeom>
          <a:solidFill>
            <a:srgbClr val="0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883664"/>
            <a:ext cx="548640" cy="54864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88366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737360"/>
            <a:ext cx="4023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Privacy-Locked, No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24912"/>
            <a:ext cx="5212080" cy="841248"/>
          </a:xfrm>
          <a:prstGeom prst="rect">
            <a:avLst/>
          </a:prstGeom>
          <a:solidFill>
            <a:srgbClr val="0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871216"/>
            <a:ext cx="548640" cy="54864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87121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24912"/>
            <a:ext cx="4023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Dense, 10-Page Patient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12464"/>
            <a:ext cx="5212080" cy="841248"/>
          </a:xfrm>
          <a:prstGeom prst="rect">
            <a:avLst/>
          </a:prstGeom>
          <a:solidFill>
            <a:srgbClr val="0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3858768"/>
            <a:ext cx="548640" cy="54864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8587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12464"/>
            <a:ext cx="4023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Seconds Before Tumor 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00016"/>
            <a:ext cx="5212080" cy="841248"/>
          </a:xfrm>
          <a:prstGeom prst="rect">
            <a:avLst/>
          </a:prstGeom>
          <a:solidFill>
            <a:srgbClr val="0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4846320"/>
            <a:ext cx="548640" cy="54864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846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700016"/>
            <a:ext cx="4023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One Voice Briefing to the Oncologist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737360"/>
            <a:ext cx="5148072" cy="3429000"/>
          </a:xfrm>
          <a:prstGeom prst="rect">
            <a:avLst/>
          </a:prstGeom>
          <a:solidFill>
            <a:srgbClr val="13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737360"/>
            <a:ext cx="4599432" cy="3429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mbria"/>
              </a:rPr>
              <a:t>You have only TEN SECONDS at the bedside.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mbria"/>
              </a:rPr>
              <a:t>Which patient chart should the oncologist hear first?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63B"/>
                </a:solidFill>
                <a:latin typeface="Cambria"/>
              </a:rPr>
              <a:t>Which Patient Chart Would You Prioritize?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20440" cy="640080"/>
          </a:xfrm>
          <a:prstGeom prst="roundRect">
            <a:avLst>
              <a:gd name="adj" fmla="val 5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520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CHART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82"/>
                </a:solidFill>
                <a:latin typeface="Calibri"/>
              </a:rPr>
              <a:t>Word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63B"/>
                </a:solidFill>
                <a:latin typeface="Cambria"/>
              </a:rPr>
              <a:t>240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82"/>
                </a:solidFill>
                <a:latin typeface="Calibri"/>
              </a:rPr>
              <a:t>Toxicity/Urgency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63946"/>
                </a:solidFill>
                <a:latin typeface="Cambria"/>
              </a:rPr>
              <a:t>1 flagged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82"/>
                </a:solidFill>
                <a:latin typeface="Calibri"/>
              </a:rPr>
              <a:t>Biomarkers Named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63B"/>
                </a:solidFill>
                <a:latin typeface="Cambria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5448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1554480"/>
            <a:ext cx="3520440" cy="640080"/>
          </a:xfrm>
          <a:prstGeom prst="roundRect">
            <a:avLst>
              <a:gd name="adj" fmla="val 5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520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CHART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688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82"/>
                </a:solidFill>
                <a:latin typeface="Calibri"/>
              </a:rPr>
              <a:t>Word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63B"/>
                </a:solidFill>
                <a:latin typeface="Cambria"/>
              </a:rPr>
              <a:t>410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4612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82"/>
                </a:solidFill>
                <a:latin typeface="Calibri"/>
              </a:rPr>
              <a:t>Toxicity/Urgency Terms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204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63946"/>
                </a:solidFill>
                <a:latin typeface="Cambria"/>
              </a:rPr>
              <a:t>9 flagged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2336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82"/>
                </a:solidFill>
                <a:latin typeface="Calibri"/>
              </a:rPr>
              <a:t>Biomarkers Named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2976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63B"/>
                </a:solidFill>
                <a:latin typeface="Cambria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55448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1554480"/>
            <a:ext cx="3520440" cy="640080"/>
          </a:xfrm>
          <a:prstGeom prst="roundRect">
            <a:avLst>
              <a:gd name="adj" fmla="val 5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554480"/>
            <a:ext cx="3520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CHART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4688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82"/>
                </a:solidFill>
                <a:latin typeface="Calibri"/>
              </a:rPr>
              <a:t>Word 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63B"/>
                </a:solidFill>
                <a:latin typeface="Cambria"/>
              </a:rPr>
              <a:t>180 words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24612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82"/>
                </a:solidFill>
                <a:latin typeface="Calibri"/>
              </a:rPr>
              <a:t>Toxicity/Urgency Terms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5204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63946"/>
                </a:solidFill>
                <a:latin typeface="Cambria"/>
              </a:rPr>
              <a:t>4 flagged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02336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82"/>
                </a:solidFill>
                <a:latin typeface="Calibri"/>
              </a:rPr>
              <a:t>Biomarkers Named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2976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63B"/>
                </a:solidFill>
                <a:latin typeface="Cambria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3D5C"/>
                </a:solidFill>
                <a:latin typeface="Calibri"/>
              </a:rPr>
              <a:t>THE REAL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10908792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015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Can an oncologist read thousands of words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across dozens of patient charts, in real time?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5146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63B"/>
                </a:solidFill>
                <a:latin typeface="Cambria"/>
              </a:rPr>
              <a:t>Thousands of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148840"/>
            <a:ext cx="25603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3D5C"/>
                </a:solidFill>
                <a:latin typeface="Cambria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214884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2148840"/>
            <a:ext cx="25146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63B"/>
                </a:solidFill>
                <a:latin typeface="Cambria"/>
              </a:rPr>
              <a:t>Multiple patient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2148840"/>
            <a:ext cx="25603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3D5C"/>
                </a:solidFill>
                <a:latin typeface="Cambria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14884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1344" y="2148840"/>
            <a:ext cx="25146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63B"/>
                </a:solidFill>
                <a:latin typeface="Cambria"/>
              </a:rPr>
              <a:t>No stable hospital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5944" y="2148840"/>
            <a:ext cx="25603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3D5C"/>
                </a:solidFill>
                <a:latin typeface="Cambria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1976" y="214884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1976" y="2148840"/>
            <a:ext cx="25146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63B"/>
                </a:solidFill>
                <a:latin typeface="Cambria"/>
              </a:rPr>
              <a:t>Need for instant briefings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77640"/>
            <a:ext cx="10908792" cy="137160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40"/>
            <a:ext cx="1017727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We need a system that can compress dense patient charts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into instant, spoken-ready briefings.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This is where the Small Language Model enters the 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63B"/>
                </a:solidFill>
                <a:latin typeface="Cambria"/>
              </a:rPr>
              <a:t>What Is a Small Language Model?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FULL CHART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627"/>
                </a:solidFill>
                <a:latin typeface="Cambria"/>
              </a:rPr>
              <a:t>(200+ words)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25880"/>
            <a:ext cx="320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2588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32588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EXTRACT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627"/>
                </a:solidFill>
                <a:latin typeface="Cambria"/>
              </a:rPr>
              <a:t>KEY 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325880"/>
            <a:ext cx="320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2588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32588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COMPACT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627"/>
                </a:solidFill>
                <a:latin typeface="Cambria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325880"/>
            <a:ext cx="320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32588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32588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GENERATE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627"/>
                </a:solidFill>
                <a:latin typeface="Cambria"/>
              </a:rPr>
              <a:t>BRIEFING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68880"/>
            <a:ext cx="10908792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68880"/>
            <a:ext cx="1036015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A Small Language Model means compressing a large model's clinical knowledge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into a compact model fine-tuned for one job: fast, offline bedside summaries.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7589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29000"/>
            <a:ext cx="6035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63B"/>
                </a:solidFill>
                <a:latin typeface="Calibri"/>
              </a:rPr>
              <a:t>Short chart note (30 words)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3429000"/>
            <a:ext cx="3182112" cy="457200"/>
          </a:xfrm>
          <a:prstGeom prst="roundRect">
            <a:avLst>
              <a:gd name="adj" fmla="val 10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429000"/>
            <a:ext cx="3182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627"/>
                </a:solidFill>
                <a:latin typeface="Cambria"/>
              </a:rPr>
              <a:t>1-LINE BRIEF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95928"/>
            <a:ext cx="7589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95928"/>
            <a:ext cx="6035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63B"/>
                </a:solidFill>
                <a:latin typeface="Calibri"/>
              </a:rPr>
              <a:t>Medium chart (120 words)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995928"/>
            <a:ext cx="3182112" cy="457200"/>
          </a:xfrm>
          <a:prstGeom prst="roundRect">
            <a:avLst>
              <a:gd name="adj" fmla="val 10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995928"/>
            <a:ext cx="3182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627"/>
                </a:solidFill>
                <a:latin typeface="Cambria"/>
              </a:rPr>
              <a:t>1-SENTENCE BRIEF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62856"/>
            <a:ext cx="7589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62856"/>
            <a:ext cx="6035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63B"/>
                </a:solidFill>
                <a:latin typeface="Calibri"/>
              </a:rPr>
              <a:t>Long chart (300+ words)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4562856"/>
            <a:ext cx="3182112" cy="457200"/>
          </a:xfrm>
          <a:prstGeom prst="roundRect">
            <a:avLst>
              <a:gd name="adj" fmla="val 10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562856"/>
            <a:ext cx="3182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627"/>
                </a:solidFill>
                <a:latin typeface="Cambria"/>
              </a:rPr>
              <a:t>2-SENTENCE BRIEF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440680"/>
            <a:ext cx="10908792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440680"/>
            <a:ext cx="103601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If a new patient chart is 300 words long, what should the model generate?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627"/>
                </a:solidFill>
                <a:latin typeface="Calibri"/>
              </a:rPr>
              <a:t>YOUR FIRST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New Chart Incoming...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852160" cy="2926080"/>
          </a:xfrm>
          <a:prstGeom prst="rect">
            <a:avLst/>
          </a:prstGeom>
          <a:solidFill>
            <a:srgbClr val="0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Chart 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78308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340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Toxicity/Urgency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231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7 flagged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Biomarkers Named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06324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3749040"/>
            <a:ext cx="5257800" cy="0"/>
          </a:xfrm>
          <a:prstGeom prst="line">
            <a:avLst/>
          </a:prstGeom>
          <a:ln w="15240">
            <a:solidFill>
              <a:srgbClr val="2A3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379476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B627"/>
                </a:solidFill>
                <a:latin typeface="Cambria"/>
              </a:rPr>
              <a:t>BRIEFING = ???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554480"/>
            <a:ext cx="4782312" cy="29260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78308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Based on past chart-summary pairs,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we generate: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514600"/>
            <a:ext cx="42976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B627"/>
                </a:solidFill>
                <a:latin typeface="Cambria"/>
              </a:rPr>
              <a:t>🎙️ 2-SENTENCE BRIEF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54880"/>
            <a:ext cx="10908792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36015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You just performed the basic idea of a Small Language Model: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B627"/>
                </a:solidFill>
                <a:latin typeface="Cambria"/>
              </a:rPr>
              <a:t>Learn from past chart-summary pairs → Generate a new briefing.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63B"/>
                </a:solidFill>
                <a:latin typeface="Cambria"/>
              </a:rPr>
              <a:t>Types of Small Language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Three different ways a model can be adapted — before we pick one for our briefing project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90879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936264"/>
                <a:gridCol w="2936264"/>
                <a:gridCol w="2936264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20000" marR="120000" marT="80000" marB="80000" anchor="ctr">
                    <a:solidFill>
                      <a:srgbClr val="0F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PEFT / LoRA</a:t>
                      </a:r>
                    </a:p>
                  </a:txBody>
                  <a:tcPr marL="120000" marR="120000" marT="80000" marB="80000" anchor="ctr">
                    <a:solidFill>
                      <a:srgbClr val="0F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RETRIEVAL (RAG)</a:t>
                      </a:r>
                    </a:p>
                  </a:txBody>
                  <a:tcPr marL="120000" marR="120000" marT="80000" marB="80000" anchor="ctr">
                    <a:solidFill>
                      <a:srgbClr val="0F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RLHF / DPO</a:t>
                      </a:r>
                    </a:p>
                  </a:txBody>
                  <a:tcPr marL="120000" marR="120000" marT="80000" marB="80000" anchor="ctr">
                    <a:solidFill>
                      <a:srgbClr val="0F3D5C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3B"/>
                          </a:solidFill>
                          <a:latin typeface="Calibri"/>
                        </a:rPr>
                        <a:t>Data given</a:t>
                      </a:r>
                    </a:p>
                  </a:txBody>
                  <a:tcPr marL="120000" marR="120000" marT="80000" marB="800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Has correct answers</a:t>
                      </a:r>
                    </a:p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(chart-summary pairs)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No fine-tuning —</a:t>
                      </a:r>
                    </a:p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looks up raw text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No single answer —</a:t>
                      </a:r>
                    </a:p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learns from preferences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3B"/>
                          </a:solidFill>
                          <a:latin typeface="Calibri"/>
                        </a:rPr>
                        <a:t>How it learns</a:t>
                      </a:r>
                    </a:p>
                  </a:txBody>
                  <a:tcPr marL="120000" marR="120000" marT="80000" marB="800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Learns lightweight adapters</a:t>
                      </a:r>
                    </a:p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on top of a frozen base model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Retrieves similar passages</a:t>
                      </a:r>
                    </a:p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at query time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Ranks outputs, guided by</a:t>
                      </a:r>
                    </a:p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human preference scores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3B"/>
                          </a:solidFill>
                          <a:latin typeface="Calibri"/>
                        </a:rPr>
                        <a:t>Real briefing example</a:t>
                      </a:r>
                    </a:p>
                  </a:txBody>
                  <a:tcPr marL="120000" marR="120000" marT="80000" marB="800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Full chart →</a:t>
                      </a:r>
                    </a:p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2-sentence briefing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Searching past charts for</a:t>
                      </a:r>
                    </a:p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similar biomarker wording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A briefing style ranked by</a:t>
                      </a:r>
                    </a:p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oncologists as clearer, better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3B"/>
                          </a:solidFill>
                          <a:latin typeface="Calibri"/>
                        </a:rPr>
                        <a:t>Used in our project</a:t>
                      </a:r>
                    </a:p>
                  </a:txBody>
                  <a:tcPr marL="120000" marR="120000" marT="80000" marB="800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✅ Yes — our approach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726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20000" marR="120000" marT="80000" marB="8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5349240"/>
            <a:ext cx="10908792" cy="73152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105430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Our briefing project uses PEFT/LoRA Fine-Tuning — because we already have chart-to-summary pairs.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263B"/>
                </a:solidFill>
                <a:latin typeface="Cambria"/>
              </a:rPr>
              <a:t>Full Fine-Tuning vs PEFT/LoRA — Same Chart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The key difference: how many parameters does training actually touch?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9D8F"/>
                </a:solidFill>
                <a:latin typeface="Cambria"/>
              </a:rPr>
              <a:t>🟢 PEFT / LoRA FINE-TUNING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9164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3D5C"/>
                </a:solidFill>
                <a:latin typeface="Cambria"/>
              </a:rPr>
              <a:t>🔵  FULL FINE-TUNING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52120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B6B82"/>
                          </a:solidFill>
                          <a:latin typeface="Calibri"/>
                        </a:rPr>
                        <a:t>Params touched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B6B82"/>
                          </a:solidFill>
                          <a:latin typeface="Calibri"/>
                        </a:rPr>
                        <a:t>Trained in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9D8F"/>
                          </a:solidFill>
                          <a:latin typeface="Calibri"/>
                        </a:rPr>
                        <a:t>&lt; 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9D8F"/>
                          </a:solidFill>
                          <a:latin typeface="Calibri"/>
                        </a:rPr>
                        <a:t>~20 minutes, 1 GPU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2377440"/>
          <a:ext cx="4114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B6B82"/>
                          </a:solidFill>
                          <a:latin typeface="Calibri"/>
                        </a:rPr>
                        <a:t>Params touched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B6B82"/>
                          </a:solidFill>
                          <a:latin typeface="Calibri"/>
                        </a:rPr>
                        <a:t>Trained in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3D5C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3D5C"/>
                          </a:solidFill>
                          <a:latin typeface="Calibri"/>
                        </a:rPr>
                        <a:t>~6+ hours, GPU cluster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251960"/>
            <a:ext cx="5212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FROZEN BASE + TINY ADAPTER → MODEL LEARNS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82"/>
                </a:solidFill>
                <a:latin typeface="Calibri"/>
              </a:rPr>
              <a:t>Learns to compress charts by training less than 1% of 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29200"/>
            <a:ext cx="4480560" cy="77724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B"/>
                </a:solidFill>
                <a:latin typeface="Calibri"/>
              </a:rPr>
              <a:t>NEW CHART:  320 words  |  Adapter 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9D8F"/>
                </a:solidFill>
                <a:latin typeface="Calibri"/>
              </a:rPr>
              <a:t>→ Model generates:  2-sentence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251960"/>
            <a:ext cx="5212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ALL WEIGHTS RETRAINED → MODEL LEARNS SLOWLY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82"/>
                </a:solidFill>
                <a:latin typeface="Calibri"/>
              </a:rPr>
              <a:t>Every parameter is touched and updated.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93776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937760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B"/>
                </a:solidFill>
                <a:latin typeface="Calibri"/>
              </a:rPr>
              <a:t>COST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82"/>
                </a:solidFill>
                <a:latin typeface="Calibri"/>
              </a:rPr>
              <a:t>Full GPU cluster, hours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493776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4937760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B"/>
                </a:solidFill>
                <a:latin typeface="Calibri"/>
              </a:rPr>
              <a:t>RESULT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82"/>
                </a:solidFill>
                <a:latin typeface="Calibri"/>
              </a:rPr>
              <a:t>Same accuracy, far slower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08192"/>
            <a:ext cx="11183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6B82"/>
                </a:solidFill>
                <a:latin typeface="Calibri"/>
              </a:rPr>
              <a:t>PEFT/LoRA = ADAPT FAST WITH FEW PARAMS   |   FULL FINE-TUNE = RETRAIN EVERYTHING, SLOWLY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263B"/>
                </a:solidFill>
                <a:latin typeface="Cambria"/>
              </a:rPr>
              <a:t>Do We Already Have Chart-Summary Pairs?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3100" y="137160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37160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Urgency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9140" y="137160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3100" y="182880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90w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82880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140" y="182880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"Minor toxicity, Grade 1."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3100" y="237744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220w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7744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Moderate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9140" y="237744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"Grade 2 neutropenia, monitor."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3100" y="292608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410w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92608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Severe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9140" y="2926080"/>
            <a:ext cx="13030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"Grade 4 hepatotoxicity, hold now."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71600"/>
            <a:ext cx="5422392" cy="960120"/>
          </a:xfrm>
          <a:prstGeom prst="rect">
            <a:avLst/>
          </a:prstGeom>
          <a:solidFill>
            <a:srgbClr val="13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371600"/>
            <a:ext cx="487375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Do we already have human-written summaries for past charts?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423160"/>
            <a:ext cx="5422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B627"/>
                </a:solidFill>
                <a:latin typeface="Cambria"/>
              </a:rPr>
              <a:t>YES.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337560"/>
            <a:ext cx="731520" cy="73152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3756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Calibri"/>
              </a:rPr>
              <a:t>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42900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263B"/>
                </a:solidFill>
                <a:latin typeface="Cambria"/>
              </a:rPr>
              <a:t>PEFT / LoRA FINE-TUNING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82"/>
                </a:solidFill>
                <a:latin typeface="Calibri"/>
              </a:rPr>
              <a:t>We already have past charts and their human-written summaries.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82"/>
                </a:solidFill>
                <a:latin typeface="Calibri"/>
              </a:rPr>
              <a:t>The model learns the mapping from a full chart to a compact briefing.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937760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93776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82"/>
                </a:solidFill>
                <a:latin typeface="Calibri"/>
              </a:rPr>
              <a:t>RAG:  retrieves similar text, no training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937760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93776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82"/>
                </a:solidFill>
                <a:latin typeface="Calibri"/>
              </a:rPr>
              <a:t>RLHF:  learns from ranked preference feedback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760720"/>
            <a:ext cx="10908792" cy="68580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60720"/>
            <a:ext cx="109087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Our briefing project uses PEFT/LoRA Fine-Tuning.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63B"/>
                </a:solidFill>
                <a:latin typeface="Cambria"/>
              </a:rPr>
              <a:t>SLM Fine-Tuning —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2"/>
                </a:solidFill>
                <a:latin typeface="Calibri"/>
              </a:rPr>
              <a:t>Same chart-summary pairs • Different strategies for compact, fast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27632"/>
            <a:ext cx="11183112" cy="457200"/>
          </a:xfrm>
          <a:prstGeom prst="roundRect">
            <a:avLst>
              <a:gd name="adj" fmla="val 15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27632"/>
            <a:ext cx="11183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📄  SAME CHART DATA:   Full Text  •  Toxicity Tags  •  Biomarkers   →   Generate Briefing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2672334" cy="1769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377440"/>
            <a:ext cx="292608" cy="2926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139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LoRA (Low-Rank Adaptation)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ADD TINY ADAPTER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3980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82"/>
                </a:solidFill>
                <a:latin typeface="Calibri"/>
              </a:rPr>
              <a:t>"Can we fine-tune without touching all weights?"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43884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OUTPUT →  0.3% params trained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9732" y="2240280"/>
            <a:ext cx="2672334" cy="1769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6892" y="2377440"/>
            <a:ext cx="292608" cy="2926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6892" y="23774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2652" y="2331720"/>
            <a:ext cx="2139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QLoRA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6892" y="2743200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QUANTIZE THEN ADAPT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6892" y="3017520"/>
            <a:ext cx="23980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82"/>
                </a:solidFill>
                <a:latin typeface="Calibri"/>
              </a:rPr>
              <a:t>"Can we fit a fine-tune on hospital edge hardware?"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6892" y="3643884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OUTPUT →  4-bit + adapter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544" y="2240280"/>
            <a:ext cx="2672334" cy="1769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3704" y="2377440"/>
            <a:ext cx="292608" cy="2926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3704" y="23774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9464" y="2331720"/>
            <a:ext cx="2139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Instruction Fine-Tuning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3704" y="2743200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TEACH FORMAT &amp; 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3704" y="3017520"/>
            <a:ext cx="23980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82"/>
                </a:solidFill>
                <a:latin typeface="Calibri"/>
              </a:rPr>
              <a:t>"Should output always be a 2-sentence brief?"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3704" y="3643884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OUTPUT →  Consistent briefing format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3356" y="2240280"/>
            <a:ext cx="2672334" cy="1769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50516" y="2377440"/>
            <a:ext cx="292608" cy="2926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0516" y="23774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6276" y="2331720"/>
            <a:ext cx="2139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Knowledge Distillation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0516" y="2743200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TEACHER TEACHES STUDENT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0516" y="3017520"/>
            <a:ext cx="23980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82"/>
                </a:solidFill>
                <a:latin typeface="Calibri"/>
              </a:rPr>
              <a:t>"Can a tiny model learn from a giant model’s outputs?"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0516" y="3643884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OUTPUT →  Compact student 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174122"/>
            <a:ext cx="2672334" cy="1769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" y="4311282"/>
            <a:ext cx="292608" cy="2926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31128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265562"/>
            <a:ext cx="2139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Quantization (INT8/INT4)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677042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SHRINK THE NUMBERS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951362"/>
            <a:ext cx="23980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82"/>
                </a:solidFill>
                <a:latin typeface="Calibri"/>
              </a:rPr>
              <a:t>"Can we compress weights to fit on-device?"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77726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OUTPUT →  4x smaller model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9732" y="4174122"/>
            <a:ext cx="2672334" cy="1769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76892" y="4311282"/>
            <a:ext cx="292608" cy="2926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6892" y="431128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2652" y="4265562"/>
            <a:ext cx="2139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Pruning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6892" y="4677042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REMOVE THE USELESS PARTS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6892" y="4951362"/>
            <a:ext cx="23980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82"/>
                </a:solidFill>
                <a:latin typeface="Calibri"/>
              </a:rPr>
              <a:t>"Which neurons rarely fire?"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6892" y="5577726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OUTPUT →  Sparse, smaller network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6544" y="4174122"/>
            <a:ext cx="2672334" cy="1769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13704" y="4311282"/>
            <a:ext cx="292608" cy="2926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13704" y="431128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9464" y="4265562"/>
            <a:ext cx="2139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Prompt Tuning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3704" y="4677042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LEARN A SOFT PROMPT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3704" y="4951362"/>
            <a:ext cx="23980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82"/>
                </a:solidFill>
                <a:latin typeface="Calibri"/>
              </a:rPr>
              <a:t>"Can we steer clinical tone without changing weights?"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3704" y="5577726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OUTPUT →  Learned embeddings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13356" y="4174122"/>
            <a:ext cx="2672334" cy="1769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150516" y="4311282"/>
            <a:ext cx="292608" cy="2926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50516" y="431128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16276" y="4265562"/>
            <a:ext cx="21394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GGUF / ONNX Export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50516" y="4677042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PACKAGE FOR OFFLINE USE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50516" y="4951362"/>
            <a:ext cx="23980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82"/>
                </a:solidFill>
                <a:latin typeface="Calibri"/>
              </a:rPr>
              <a:t>"Can this run without internet on hospital hardware?"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50516" y="5577726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OUTPUT →  Deployable edge binary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2920" y="6053328"/>
            <a:ext cx="11183112" cy="347472"/>
          </a:xfrm>
          <a:prstGeom prst="roundRect">
            <a:avLst>
              <a:gd name="adj" fmla="val 1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6053328"/>
            <a:ext cx="111831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REMEMBER:  ADAPTER • QUANTIZE • FORMAT • DISTILL • SHRINK • PRUNE • PROMPT • EXPORT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13932" y="3387852"/>
            <a:ext cx="239801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627"/>
                </a:solidFill>
                <a:latin typeface="Calibri"/>
              </a:rPr>
              <a:t>USED NEXT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63B"/>
                </a:solidFill>
                <a:latin typeface="Cambria"/>
              </a:rPr>
              <a:t>Retrieval-Based Approaches —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2"/>
                </a:solidFill>
                <a:latin typeface="Calibri"/>
              </a:rPr>
              <a:t>No fine-tuning • No training pairs needed • The model looks up relevant text at query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27632"/>
            <a:ext cx="11183112" cy="457200"/>
          </a:xfrm>
          <a:prstGeom prst="roundRect">
            <a:avLst>
              <a:gd name="adj" fmla="val 15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27632"/>
            <a:ext cx="11183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📚  CHART ARCHIVE:   Past Charts  •  NCCN SOPs  •  Nurse Notes   →   NO FINE-TUNING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524865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2295144"/>
            <a:ext cx="347472" cy="347472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951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248" y="2240280"/>
            <a:ext cx="4526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3B"/>
                </a:solidFill>
                <a:latin typeface="Cambria"/>
              </a:rPr>
              <a:t>Retrieval-Augmented Generation (RAG)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42616"/>
            <a:ext cx="4974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FETCH RELEVANT PASSAGES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62072"/>
            <a:ext cx="4974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82"/>
                </a:solidFill>
                <a:latin typeface="Calibri"/>
              </a:rPr>
              <a:t>"Which past chart matches this one?"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44952"/>
            <a:ext cx="4974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RETRIEVES → Matching NCCN excerpt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148840"/>
            <a:ext cx="524865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27648" y="2295144"/>
            <a:ext cx="347472" cy="347472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2951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5064" y="2240280"/>
            <a:ext cx="4526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3B"/>
                </a:solidFill>
                <a:latin typeface="Cambria"/>
              </a:rPr>
              <a:t>Semantic Search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642616"/>
            <a:ext cx="4974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RANK BY MEANING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862072"/>
            <a:ext cx="4974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82"/>
                </a:solidFill>
                <a:latin typeface="Calibri"/>
              </a:rPr>
              <a:t>"Which sentence is closest in meaning?"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044952"/>
            <a:ext cx="4974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RETRIEVES → Top-k similar sentences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456432"/>
            <a:ext cx="524865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3602736"/>
            <a:ext cx="347472" cy="347472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60273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248" y="3547872"/>
            <a:ext cx="4526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3B"/>
                </a:solidFill>
                <a:latin typeface="Cambria"/>
              </a:rPr>
              <a:t>Vector Database Lookup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3950208"/>
            <a:ext cx="4974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STORE &amp; SEARCH EMBEDDINGS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169664"/>
            <a:ext cx="4974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82"/>
                </a:solidFill>
                <a:latin typeface="Calibri"/>
              </a:rPr>
              <a:t>"Where is this phrase stored in memory?"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352544"/>
            <a:ext cx="4974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RETRIEVES → Nearest embedding match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3456432"/>
            <a:ext cx="524865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27648" y="3602736"/>
            <a:ext cx="347472" cy="347472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60273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5064" y="3547872"/>
            <a:ext cx="4526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3B"/>
                </a:solidFill>
                <a:latin typeface="Cambria"/>
              </a:rPr>
              <a:t>Few-Shot Prompting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950208"/>
            <a:ext cx="4974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SHOW A FEW EXAMPLES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169664"/>
            <a:ext cx="4974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82"/>
                </a:solidFill>
                <a:latin typeface="Calibri"/>
              </a:rPr>
              <a:t>"Can 2-3 examples teach the format?"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4352544"/>
            <a:ext cx="4974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RETRIEVES → Style from examples in the prompt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1276" y="4764024"/>
            <a:ext cx="54864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15868" y="4910328"/>
            <a:ext cx="347472" cy="347472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15868" y="49103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3284" y="4855464"/>
            <a:ext cx="47643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3B"/>
                </a:solidFill>
                <a:latin typeface="Cambria"/>
              </a:rPr>
              <a:t>Prompt Engineering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5868" y="5257800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HAND-CRAFT THE INSTRUCTIONS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5868" y="5477256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82"/>
                </a:solidFill>
                <a:latin typeface="Calibri"/>
              </a:rPr>
              <a:t>"Can careful wording alone shrink the output?"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15868" y="5660136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PRODUCES → No new model, prompt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6071616"/>
            <a:ext cx="11183112" cy="347472"/>
          </a:xfrm>
          <a:prstGeom prst="roundRect">
            <a:avLst>
              <a:gd name="adj" fmla="val 1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071616"/>
            <a:ext cx="111831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🧠 REMEMBER:  RETRIEVE • RANK • STORE • EXAMPLES • INSTRUCT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63B"/>
                </a:solidFill>
                <a:latin typeface="Cambria"/>
              </a:rPr>
              <a:t>Preference Learning (RLHF) —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2"/>
                </a:solidFill>
                <a:latin typeface="Calibri"/>
              </a:rPr>
              <a:t>No single correct summary. The model learns from ranked human preferences.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27632"/>
            <a:ext cx="11183112" cy="457200"/>
          </a:xfrm>
          <a:prstGeom prst="roundRect">
            <a:avLst>
              <a:gd name="adj" fmla="val 15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27632"/>
            <a:ext cx="11183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🎙️  BRIEFING QUALITY:   Clarity  •  Accuracy  •  Length  →  NO FIXED ANSWER, ONLY RANKINGS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524865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2295144"/>
            <a:ext cx="347472" cy="347472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951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248" y="2240280"/>
            <a:ext cx="4526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3B"/>
                </a:solidFill>
                <a:latin typeface="Cambria"/>
              </a:rPr>
              <a:t>RLHF (Reward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42616"/>
            <a:ext cx="4974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LEARNS THE BEST PHRASING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62072"/>
            <a:ext cx="4974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82"/>
                </a:solidFill>
                <a:latin typeface="Calibri"/>
              </a:rPr>
              <a:t>"Which of two briefings do oncologists prefer?"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44952"/>
            <a:ext cx="4974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LEARNS → A reward score per briefing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148840"/>
            <a:ext cx="524865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27648" y="2295144"/>
            <a:ext cx="347472" cy="347472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2951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5064" y="2240280"/>
            <a:ext cx="4526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3B"/>
                </a:solidFill>
                <a:latin typeface="Cambria"/>
              </a:rPr>
              <a:t>PPO (Proximal Policy Optimization)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642616"/>
            <a:ext cx="4974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USES THE REWARD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862072"/>
            <a:ext cx="4974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82"/>
                </a:solidFill>
                <a:latin typeface="Calibri"/>
              </a:rPr>
              <a:t>"Can we safely nudge the model toward better output?"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044952"/>
            <a:ext cx="4974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LEARNS → A policy update, step by step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456432"/>
            <a:ext cx="524865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3602736"/>
            <a:ext cx="347472" cy="347472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60273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248" y="3547872"/>
            <a:ext cx="4526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3B"/>
                </a:solidFill>
                <a:latin typeface="Cambria"/>
              </a:rPr>
              <a:t>DPO (Direct Preference Optimization)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3950208"/>
            <a:ext cx="4974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LEARNS DIRECTLY FROM PAIRS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169664"/>
            <a:ext cx="4974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82"/>
                </a:solidFill>
                <a:latin typeface="Calibri"/>
              </a:rPr>
              <a:t>"Can we skip the reward model entirely?"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352544"/>
            <a:ext cx="4974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LEARNS → Preferred vs rejected pairs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3456432"/>
            <a:ext cx="524865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27648" y="3602736"/>
            <a:ext cx="347472" cy="347472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60273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5064" y="3547872"/>
            <a:ext cx="45266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3B"/>
                </a:solidFill>
                <a:latin typeface="Cambria"/>
              </a:rPr>
              <a:t>Reward Modeling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950208"/>
            <a:ext cx="4974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SCORES OUTPUT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169664"/>
            <a:ext cx="4974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82"/>
                </a:solidFill>
                <a:latin typeface="Calibri"/>
              </a:rPr>
              <a:t>"What makes one briefing better than another?"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4352544"/>
            <a:ext cx="4974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LEARNS → A quality score function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1276" y="4764024"/>
            <a:ext cx="54864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15868" y="4910328"/>
            <a:ext cx="347472" cy="347472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15868" y="49103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3284" y="4855464"/>
            <a:ext cx="47643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3B"/>
                </a:solidFill>
                <a:latin typeface="Cambria"/>
              </a:rPr>
              <a:t>Actor-Critic Fine-Tuning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5868" y="5257800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3D5C"/>
                </a:solidFill>
                <a:latin typeface="Calibri"/>
              </a:rPr>
              <a:t>TWO MODELS COOPERATE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5868" y="5477256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82"/>
                </a:solidFill>
                <a:latin typeface="Calibri"/>
              </a:rPr>
              <a:t>"Can one model write while another critiques it?"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15868" y="5660136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LEARNS → A combined writer + critic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6071616"/>
            <a:ext cx="11183112" cy="347472"/>
          </a:xfrm>
          <a:prstGeom prst="roundRect">
            <a:avLst>
              <a:gd name="adj" fmla="val 1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071616"/>
            <a:ext cx="111831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🎯 REMEMBER:  REWARD • POLICY • PREFERENCE • SCORE • COOPERATION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900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263B"/>
                </a:solidFill>
                <a:latin typeface="Cambria"/>
              </a:rPr>
              <a:t>How Should the Model Condense the Chart?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08792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If a chart is long, should we just chop it in half? What should we extract first?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9184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Biomarker mentioned?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33172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↓ YES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3108960"/>
            <a:ext cx="329184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10896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Drug / therapy needed named?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15468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↓ 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931920"/>
            <a:ext cx="329184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393192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Toxicity grade / urgency stated?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97764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↓ 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4754880"/>
            <a:ext cx="3291840" cy="685800"/>
          </a:xfrm>
          <a:prstGeom prst="roundRect">
            <a:avLst>
              <a:gd name="adj" fmla="val 10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4754880"/>
            <a:ext cx="3291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627"/>
                </a:solidFill>
                <a:latin typeface="Cambria"/>
              </a:rPr>
              <a:t>🎙️ 2-SENTENCE BRIEFING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286000"/>
            <a:ext cx="5056632" cy="3154680"/>
          </a:xfrm>
          <a:prstGeom prst="rect">
            <a:avLst/>
          </a:prstGeom>
          <a:solidFill>
            <a:srgbClr val="13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5146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You just built an extraction-to-briefing pipeline.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15468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The model checks a series of key facts — biomarker, drug, urgency — one at a time, before generating a briefing.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700000"/>
            <a:ext cx="10908792" cy="640080"/>
          </a:xfrm>
          <a:prstGeom prst="roundRect">
            <a:avLst>
              <a:gd name="adj" fmla="val 10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930" y="5789218"/>
            <a:ext cx="10543032" cy="4616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For this project, we use INSTRUCTION-TUNED PEFT/LoRA ( SUPERVISED-STYLE ) — fast, offline-capable, and easy to deploy on hospital hardware.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627"/>
                </a:solidFill>
                <a:latin typeface="Calibri"/>
              </a:rPr>
              <a:t>NEW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Can We Fine-Tune on Messy Chart-Summary Pairs?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7680960" cy="2194560"/>
          </a:xfrm>
          <a:prstGeom prst="rect">
            <a:avLst/>
          </a:prstGeom>
          <a:solidFill>
            <a:srgbClr val="0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mbria"/>
              </a:rPr>
              <a:t>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141732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mbria"/>
              </a:rPr>
              <a:t>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8416" y="141732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mbria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2584" y="141732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mbria"/>
              </a:rPr>
              <a:t>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Pair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196596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Full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6" y="196596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"Grade 4 hepatotox..."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196596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410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Pair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251460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Full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251460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Grade 4 hepatotox...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51460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410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2514600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3946"/>
                </a:solidFill>
                <a:latin typeface="Calibri"/>
              </a:rPr>
              <a:t>← Duplicate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6324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Pair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4248" y="306324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Full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306324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Missing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3063240"/>
            <a:ext cx="1344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417320"/>
            <a:ext cx="2999232" cy="219456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1417320"/>
            <a:ext cx="2450592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Can we directly fine-tune an SLM using messy pairs?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7490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B627"/>
                </a:solidFill>
                <a:latin typeface="Cambria"/>
              </a:rPr>
              <a:t>NO.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480560"/>
            <a:ext cx="10908792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80560"/>
            <a:ext cx="109087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Every SLM system needs someone to prepare the training pairs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3D5C"/>
                </a:solidFill>
                <a:latin typeface="Calibri"/>
              </a:rPr>
              <a:t>MEET THE ROLE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777240"/>
            <a:ext cx="914400" cy="91440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Calibri"/>
              </a:rPr>
              <a:t>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777240"/>
            <a:ext cx="7315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263B"/>
                </a:solidFill>
                <a:latin typeface="Cambria"/>
              </a:rPr>
              <a:t>DATA ENGINEER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08792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601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Problem:  Raw chart-summary pairs are messy and come from different hospital 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971800"/>
            <a:ext cx="6885432" cy="4480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2971800"/>
            <a:ext cx="688543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63B"/>
                </a:solidFill>
                <a:latin typeface="Calibri"/>
              </a:rPr>
              <a:t>Multiple raw pair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511296"/>
            <a:ext cx="6885432" cy="4480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3511296"/>
            <a:ext cx="688543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63B"/>
                </a:solidFill>
                <a:latin typeface="Calibri"/>
              </a:rPr>
              <a:t>Remove duplicate pairs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4050792"/>
            <a:ext cx="6885432" cy="4480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4050792"/>
            <a:ext cx="688543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63B"/>
                </a:solidFill>
                <a:latin typeface="Calibri"/>
              </a:rPr>
              <a:t>Handle missing summaries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4590288"/>
            <a:ext cx="6885432" cy="4480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4590288"/>
            <a:ext cx="688543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63B"/>
                </a:solidFill>
                <a:latin typeface="Calibri"/>
              </a:rPr>
              <a:t>Combine into one 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5129784"/>
            <a:ext cx="6885432" cy="448056"/>
          </a:xfrm>
          <a:prstGeom prst="roundRect">
            <a:avLst>
              <a:gd name="adj" fmla="val 15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5129784"/>
            <a:ext cx="688543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627"/>
                </a:solidFill>
                <a:latin typeface="Cambria"/>
              </a:rPr>
              <a:t>ONE CLEAN FINE-TUNING 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36015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The Data Engineer prepares clean, usable chart-summary pairs for the next stage.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3D5C"/>
                </a:solidFill>
                <a:latin typeface="Calibri"/>
              </a:rPr>
              <a:t>NEW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263B"/>
                </a:solidFill>
                <a:latin typeface="Cambria"/>
              </a:rPr>
              <a:t>Does the Summary Make Sense?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63B"/>
                </a:solidFill>
                <a:latin typeface="Cambria"/>
              </a:rPr>
              <a:t>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63B"/>
                </a:solidFill>
                <a:latin typeface="Calibri"/>
              </a:rPr>
              <a:t>"Grade 1 rash, Zone 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63B"/>
                </a:solidFill>
                <a:latin typeface="Cambria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933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63B"/>
                </a:solidFill>
                <a:latin typeface="Calibri"/>
              </a:rPr>
              <a:t>"Grade 4 sepsis, ICU now!"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3230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63B"/>
                </a:solidFill>
                <a:latin typeface="Cambria"/>
              </a:rPr>
              <a:t>Match?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3230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63B"/>
                </a:solidFill>
                <a:latin typeface="Calibri"/>
              </a:rPr>
              <a:t>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712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63B"/>
                </a:solidFill>
                <a:latin typeface="Cambria"/>
              </a:rPr>
              <a:t>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7121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63946"/>
                </a:solidFill>
                <a:latin typeface="Calibri"/>
              </a:rPr>
              <a:t>Hallucination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417320"/>
            <a:ext cx="5513832" cy="2011680"/>
          </a:xfrm>
          <a:prstGeom prst="rect">
            <a:avLst/>
          </a:prstGeom>
          <a:solidFill>
            <a:srgbClr val="13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4965192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Does this summary match the chart? Or did the model invent details?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03320"/>
            <a:ext cx="777240" cy="77724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9476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263B"/>
                </a:solidFill>
                <a:latin typeface="Cambria"/>
              </a:rPr>
              <a:t>EDA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109087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The EDA Engineer explores the pairs, checks token patterns, and flags summaries that drift from the chart.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49240"/>
            <a:ext cx="25146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63B"/>
                </a:solidFill>
                <a:latin typeface="Cambria"/>
              </a:rPr>
              <a:t>Clean Pairs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5349240"/>
            <a:ext cx="29260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47288" y="5349240"/>
            <a:ext cx="25146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47288" y="534924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63B"/>
                </a:solidFill>
                <a:latin typeface="Cambria"/>
              </a:rPr>
              <a:t>Explore Token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5349240"/>
            <a:ext cx="29260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5349240"/>
            <a:ext cx="25146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534924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63B"/>
                </a:solidFill>
                <a:latin typeface="Cambria"/>
              </a:rPr>
              <a:t>Find Hallucinations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5349240"/>
            <a:ext cx="29260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704" y="5349240"/>
            <a:ext cx="25146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4" y="534924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63B"/>
                </a:solidFill>
                <a:latin typeface="Cambria"/>
              </a:rPr>
              <a:t>Verified Pairs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3D5C"/>
                </a:solidFill>
                <a:latin typeface="Calibri"/>
              </a:rPr>
              <a:t>MEET THE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908792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015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Now our pairs are clean and verified. What should we do next?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91640"/>
            <a:ext cx="914400" cy="91440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91640"/>
            <a:ext cx="5486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63B"/>
                </a:solidFill>
                <a:latin typeface="Cambria"/>
              </a:rPr>
              <a:t>SLM ENGINEER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274320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B"/>
                </a:solidFill>
                <a:latin typeface="Calibri"/>
              </a:rPr>
              <a:t>Full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9544"/>
            <a:ext cx="274320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09544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B"/>
                </a:solidFill>
                <a:latin typeface="Calibri"/>
              </a:rPr>
              <a:t>Bedside Shorthand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30168"/>
            <a:ext cx="274320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B"/>
                </a:solidFill>
                <a:latin typeface="Calibri"/>
              </a:rPr>
              <a:t>Toxicity Tags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50792"/>
            <a:ext cx="274320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50792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B"/>
                </a:solidFill>
                <a:latin typeface="Calibri"/>
              </a:rPr>
              <a:t>Biomarkers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2918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97180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971800"/>
            <a:ext cx="28346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SLM MODEL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(PEFT / LoRA Fine-Tuned)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2918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788920"/>
            <a:ext cx="310896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788920"/>
            <a:ext cx="3108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B"/>
                </a:solidFill>
                <a:latin typeface="Calibri"/>
              </a:rPr>
              <a:t>Short brief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209544"/>
            <a:ext cx="310896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209544"/>
            <a:ext cx="3108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B"/>
                </a:solidFill>
                <a:latin typeface="Calibri"/>
              </a:rPr>
              <a:t>Tactical brief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630168"/>
            <a:ext cx="310896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630168"/>
            <a:ext cx="3108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63B"/>
                </a:solidFill>
                <a:latin typeface="Calibri"/>
              </a:rPr>
              <a:t>2-sentence brief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09160"/>
            <a:ext cx="10908792" cy="82296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09160"/>
            <a:ext cx="1090879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The SLM Engineer fine-tunes the model using past pairs so it can generate a briefing for a new chart.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3D5C"/>
                </a:solidFill>
                <a:latin typeface="Calibri"/>
              </a:rPr>
              <a:t>CAN WE TRUST 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908792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01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The model sounds fluent and confident on training charts. Should we trust it immediately?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3946"/>
                </a:solidFill>
                <a:latin typeface="Cambria"/>
              </a:rPr>
              <a:t>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303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63B"/>
                </a:solidFill>
                <a:latin typeface="Cambria"/>
              </a:rPr>
              <a:t>TRAINING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82"/>
                </a:solidFill>
                <a:latin typeface="Calibri"/>
              </a:rPr>
              <a:t>Model has already seen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40280"/>
            <a:ext cx="5303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63B"/>
                </a:solidFill>
                <a:latin typeface="Cambria"/>
              </a:rPr>
              <a:t>UNSEEN TEST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517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82"/>
                </a:solidFill>
                <a:latin typeface="Calibri"/>
              </a:rPr>
              <a:t>Model has never seen it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91840"/>
            <a:ext cx="777240" cy="77724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8328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263B"/>
                </a:solidFill>
                <a:latin typeface="Cambria"/>
              </a:rPr>
              <a:t>EVALUATION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09087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Tests the model on unseen charts to check whether summaries stay accurate — or only sound fluent.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00600"/>
            <a:ext cx="5303520" cy="50292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libri"/>
              </a:rPr>
              <a:t>Actual Facts  vs  Generated 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80060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800600"/>
            <a:ext cx="24231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Accuracy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How many key facts are kept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480060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4800600"/>
            <a:ext cx="24231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63B"/>
                </a:solidFill>
                <a:latin typeface="Cambria"/>
              </a:rPr>
              <a:t>Overconfidence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Model sounds fluent but drops or invents facts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627"/>
                </a:solidFill>
                <a:latin typeface="Calibri"/>
              </a:rPr>
              <a:t>FINAL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21792"/>
            <a:ext cx="10908792" cy="82296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21792"/>
            <a:ext cx="103601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Can the oncologist open a laptop and read raw model output during tumor board?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3946"/>
                </a:solidFill>
                <a:latin typeface="Cambria"/>
              </a:rPr>
              <a:t>NO.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777240" cy="777240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9456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INTEGRATION ENGINEER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4023360" cy="457200"/>
          </a:xfrm>
          <a:prstGeom prst="rect">
            <a:avLst/>
          </a:prstGeom>
          <a:solidFill>
            <a:srgbClr val="0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New Patient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402336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FC5E8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38728"/>
            <a:ext cx="4023360" cy="457200"/>
          </a:xfrm>
          <a:prstGeom prst="rect">
            <a:avLst/>
          </a:prstGeom>
          <a:solidFill>
            <a:srgbClr val="0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38728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Fine-Tuned SLM (Offline)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95928"/>
            <a:ext cx="402336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FC5E8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05656"/>
            <a:ext cx="4023360" cy="457200"/>
          </a:xfrm>
          <a:prstGeom prst="rect">
            <a:avLst/>
          </a:prstGeom>
          <a:solidFill>
            <a:srgbClr val="0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05656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Briefing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09160"/>
            <a:ext cx="4023360" cy="45720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627"/>
                </a:solidFill>
                <a:latin typeface="Cambria"/>
              </a:rPr>
              <a:t>Offline Bedside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926080"/>
            <a:ext cx="6428232" cy="2331720"/>
          </a:xfrm>
          <a:prstGeom prst="rect">
            <a:avLst/>
          </a:prstGeom>
          <a:solidFill>
            <a:srgbClr val="13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310896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🎙️ "Grade 4 hepatotoxicity — hold therapy, notify attending."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6576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FC5E8"/>
                </a:solidFill>
                <a:latin typeface="Calibri"/>
              </a:rPr>
              <a:t>Generated in 1.2s, offline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0" y="4114800"/>
            <a:ext cx="5852160" cy="0"/>
          </a:xfrm>
          <a:prstGeom prst="line">
            <a:avLst/>
          </a:prstGeom>
          <a:ln w="12700">
            <a:solidFill>
              <a:srgbClr val="2A3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94960" y="420624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Recommended Action: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52628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• Relay briefing to attending oncologist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• Log summary to EHR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49240"/>
            <a:ext cx="10908792" cy="6858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103601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The Integration Engineer packages the fine-tuned model into an offline bedside briefing app.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627"/>
                </a:solidFill>
                <a:latin typeface="Calibri"/>
              </a:rPr>
              <a:t>THE FULL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From Dense Chart to Voice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2606040" cy="658368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EMERGENCY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02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FC5E8"/>
                </a:solidFill>
                <a:latin typeface="Calibri"/>
              </a:rPr>
              <a:t>What chart needs a briefing?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34440"/>
            <a:ext cx="12801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627"/>
                </a:solidFill>
                <a:latin typeface="Cambria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6976" y="1234440"/>
            <a:ext cx="2606040" cy="658368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234440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CHART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6976" y="192002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FC5E8"/>
                </a:solidFill>
                <a:latin typeface="Calibri"/>
              </a:rPr>
              <a:t>Learn from chart-summary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3016" y="1234440"/>
            <a:ext cx="12801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627"/>
                </a:solidFill>
                <a:latin typeface="Cambr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71032" y="1234440"/>
            <a:ext cx="2606040" cy="658368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1032" y="1234440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SMALL LANGUAGE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192002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FC5E8"/>
                </a:solidFill>
                <a:latin typeface="Calibri"/>
              </a:rPr>
              <a:t>But are the raw pairs clean?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1234440"/>
            <a:ext cx="12801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627"/>
                </a:solidFill>
                <a:latin typeface="Cambria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05088" y="1234440"/>
            <a:ext cx="2606040" cy="658368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05088" y="1234440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DATA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192002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FC5E8"/>
                </a:solidFill>
                <a:latin typeface="Calibri"/>
              </a:rPr>
              <a:t>Does the summary make sense?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10456"/>
            <a:ext cx="2606040" cy="658368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10456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EDA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9604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FC5E8"/>
                </a:solidFill>
                <a:latin typeface="Calibri"/>
              </a:rPr>
              <a:t>Can we fine-tune the model?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910456"/>
            <a:ext cx="12801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627"/>
                </a:solidFill>
                <a:latin typeface="Cambria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36976" y="2910456"/>
            <a:ext cx="2606040" cy="658368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36976" y="2910456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SLM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359604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FC5E8"/>
                </a:solidFill>
                <a:latin typeface="Calibri"/>
              </a:rPr>
              <a:t>Can we trust the model?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3016" y="2910456"/>
            <a:ext cx="12801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627"/>
                </a:solidFill>
                <a:latin typeface="Cambria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71032" y="2910456"/>
            <a:ext cx="2606040" cy="658368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71032" y="2910456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EVALUATION ENGINEER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1032" y="359604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FC5E8"/>
                </a:solidFill>
                <a:latin typeface="Calibri"/>
              </a:rPr>
              <a:t>Can the oncologist use it, offline?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2910456"/>
            <a:ext cx="12801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627"/>
                </a:solidFill>
                <a:latin typeface="Cambria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05088" y="2910456"/>
            <a:ext cx="2606040" cy="658368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05088" y="2910456"/>
            <a:ext cx="2606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INTEGRATION ENGINEER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160520"/>
            <a:ext cx="11183112" cy="1051560"/>
          </a:xfrm>
          <a:prstGeom prst="rect">
            <a:avLst/>
          </a:prstGeom>
          <a:solidFill>
            <a:srgbClr val="13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1118311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B627"/>
                </a:solidFill>
                <a:latin typeface="Cambria"/>
              </a:rPr>
              <a:t>🎙️ OFFLINE BEDSIDE BRIEFING APP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627"/>
                </a:solidFill>
                <a:latin typeface="Calibri"/>
              </a:rPr>
              <a:t>LIVE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You Are the SLM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120640" cy="2286000"/>
          </a:xfrm>
          <a:prstGeom prst="rect">
            <a:avLst/>
          </a:prstGeom>
          <a:solidFill>
            <a:srgbClr val="0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Chart 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645920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380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Toxicity/Urgency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48840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8 flagged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Biomarkers Named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Therapies Named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154680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463040"/>
            <a:ext cx="5513832" cy="2286000"/>
          </a:xfrm>
          <a:prstGeom prst="rect">
            <a:avLst/>
          </a:prstGeom>
          <a:solidFill>
            <a:srgbClr val="13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4965192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What is the generated briefing?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3520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63B"/>
                </a:solidFill>
                <a:latin typeface="Cambria"/>
              </a:rPr>
              <a:t>🟢 Short &amp; Accurate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02336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023360"/>
            <a:ext cx="3520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63B"/>
                </a:solidFill>
                <a:latin typeface="Cambria"/>
              </a:rPr>
              <a:t>🟡 Too Long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023360"/>
            <a:ext cx="3520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63B"/>
                </a:solidFill>
                <a:latin typeface="Cambria"/>
              </a:rPr>
              <a:t>🔴 Missing Key Facts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Let's see if our fine-tuned model agrees with you.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63B"/>
                </a:solidFill>
                <a:latin typeface="Cambria"/>
              </a:rPr>
              <a:t>What You Did Manually → What Python Does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08792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089904" y="1417320"/>
            <a:ext cx="0" cy="3291840"/>
          </a:xfrm>
          <a:prstGeom prst="line">
            <a:avLst/>
          </a:prstGeom>
          <a:ln w="12700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417320"/>
            <a:ext cx="4937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63B"/>
                </a:solidFill>
                <a:latin typeface="Calibri"/>
              </a:rPr>
              <a:t>You identified duplicate pairs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5584" y="1417320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3D5C"/>
                </a:solidFill>
                <a:latin typeface="Calibri"/>
              </a:rPr>
              <a:t>Python cleans duplicate pairs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075688"/>
            <a:ext cx="10908792" cy="0"/>
          </a:xfrm>
          <a:prstGeom prst="line">
            <a:avLst/>
          </a:prstGeom>
          <a:ln w="12700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075688"/>
            <a:ext cx="4937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63B"/>
                </a:solidFill>
                <a:latin typeface="Calibri"/>
              </a:rPr>
              <a:t>You found token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5584" y="2075688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75688"/>
            <a:ext cx="4846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3D5C"/>
                </a:solidFill>
                <a:latin typeface="Calibri"/>
              </a:rPr>
              <a:t>EDA analyzes patterns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734056"/>
            <a:ext cx="10908792" cy="0"/>
          </a:xfrm>
          <a:prstGeom prst="line">
            <a:avLst/>
          </a:prstGeom>
          <a:ln w="12700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2734056"/>
            <a:ext cx="4937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63B"/>
                </a:solidFill>
                <a:latin typeface="Calibri"/>
              </a:rPr>
              <a:t>You predicted the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5584" y="2734056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34056"/>
            <a:ext cx="4846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3D5C"/>
                </a:solidFill>
                <a:latin typeface="Calibri"/>
              </a:rPr>
              <a:t>SLM model generates the briefing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392424"/>
            <a:ext cx="10908792" cy="0"/>
          </a:xfrm>
          <a:prstGeom prst="line">
            <a:avLst/>
          </a:prstGeom>
          <a:ln w="12700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392424"/>
            <a:ext cx="4937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63B"/>
                </a:solidFill>
                <a:latin typeface="Calibri"/>
              </a:rPr>
              <a:t>You checked the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5584" y="3392424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92424"/>
            <a:ext cx="4846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3D5C"/>
                </a:solidFill>
                <a:latin typeface="Calibri"/>
              </a:rPr>
              <a:t>Evaluation tests fidelity &amp; latency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4050792"/>
            <a:ext cx="10908792" cy="0"/>
          </a:xfrm>
          <a:prstGeom prst="line">
            <a:avLst/>
          </a:prstGeom>
          <a:ln w="12700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4050792"/>
            <a:ext cx="4937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63B"/>
                </a:solidFill>
                <a:latin typeface="Calibri"/>
              </a:rPr>
              <a:t>You gave an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4" y="4050792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3D5C"/>
                </a:solidFill>
                <a:latin typeface="Cambria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50792"/>
            <a:ext cx="4846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3D5C"/>
                </a:solidFill>
                <a:latin typeface="Calibri"/>
              </a:rPr>
              <a:t>Integration sends briefing to the offline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83480"/>
            <a:ext cx="10908792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1036015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First, you understood the process manually.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627"/>
                </a:solidFill>
                <a:latin typeface="Cambria"/>
              </a:rPr>
              <a:t>Now, the computer automates the same process.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"Today, You Didn’t Just Learn Small Language Models."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You were the oncology care team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You selected the most urgent patient chart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2316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2316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You learned to compress charts into briefings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2608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You fine-tuned a compact model with PEFT/LoRA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2900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You discovered why training pairs must be cleaned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3192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You tested whether the summary could be trusted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43484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You saw how AI runs offline in the field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257800"/>
            <a:ext cx="10908792" cy="123444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1036015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Small Language Models are not just about being smaller.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B627"/>
                </a:solidFill>
                <a:latin typeface="Cambria"/>
              </a:rPr>
              <a:t>They are about being fast, private, and reliable when the cloud isn't there.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
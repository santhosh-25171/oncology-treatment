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tone: this is a mission, not a lecture. Speak slowly, like a control-room briefing. Do not mention 'Deep Learning' by name yet — let the story carry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question out loud and pause. Let the room sit in the uncertainty for a few seconds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a real show-of-hands vote for A / B / C. Do not reveal which is truly ambiguous — the reveal comes naturally two slides later, on the ambiguous night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say 'no, numbers alone can't tell us' in their own words before you reveal the navy statement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three example rows left to right before asking the closing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a quick vote (Clear / Partially Blocked / Flooded) before revealing the red FLOODED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'ANN alone' and 'RNN alone' to one line each in discussion — they are context, not the lesson. The point is: our data has both images and sequences, so we need both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dwell equally on all eight — the point is 'a CNN is a stack of simple jobs.' Spend most of the time on cards 1, 2 and 4 (Convolution, Pooling, Fully Connected), since that's exactly the pipeline the class walks through two slides from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this pipeline live with the class — ask 'what happens next?' after each layer, the way you'd build a decision tree.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duplicate row and the missing/corrupted cells — let students name the problems before you label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back to Slide 16's messy table — this role fixes exactly what students just flagged.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argue both sides — 'false alarm' vs 'real flooding' — before naming the role.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where 'training' finally gets a face — the DL Engineer, not magic.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analogy: memorizing exam answers vs actually understanding the subject.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 mock is the payoff moment — this is what all five roles were building toward.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full chain slowly, left to right, top row then bottom row — this is the 'aha' recap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the vote, then transition straight into the live code / mini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bridge slide before opening the notebook for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 students to say, in one sentence, which of the 5 DL roles they'd want to be on a real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5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548640"/>
            <a:ext cx="685800" cy="685800"/>
          </a:xfrm>
          <a:prstGeom prst="ellipse">
            <a:avLst/>
          </a:prstGeom>
          <a:solidFill>
            <a:srgbClr val="0F3D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469880" y="530352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🎥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61320" y="502920"/>
            <a:ext cx="777240" cy="777240"/>
          </a:xfrm>
          <a:prstGeom prst="ellipse">
            <a:avLst/>
          </a:prstGeom>
          <a:ln w="15875">
            <a:solidFill>
              <a:srgbClr val="FFB627">
                <a:alpha val="60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7889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</a:t>
            </a:r>
            <a:pPr indent="0" marL="0">
              <a:buNone/>
            </a:pPr>
            <a:r>
              <a:rPr lang="en-US" sz="48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3703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Disaster Response Coordination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5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Today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stages — from blurry drone footage to a working vision system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0241280" cy="585216"/>
          </a:xfrm>
          <a:prstGeom prst="roundRect">
            <a:avLst>
              <a:gd name="adj" fmla="val 10938"/>
            </a:avLst>
          </a:prstGeom>
          <a:solidFill>
            <a:srgbClr val="132A45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783080"/>
            <a:ext cx="402336" cy="402336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7373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Emergency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173736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numbers alone can't tell you what a camera is seeing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404872"/>
            <a:ext cx="10241280" cy="585216"/>
          </a:xfrm>
          <a:prstGeom prst="roundRect">
            <a:avLst>
              <a:gd name="adj" fmla="val 10938"/>
            </a:avLst>
          </a:prstGeom>
          <a:solidFill>
            <a:srgbClr val="132A45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2496312"/>
            <a:ext cx="402336" cy="402336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496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4505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Deep Learning?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45059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visual patterns directly from raw pixels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118104"/>
            <a:ext cx="10241280" cy="585216"/>
          </a:xfrm>
          <a:prstGeom prst="roundRect">
            <a:avLst>
              <a:gd name="adj" fmla="val 10938"/>
            </a:avLst>
          </a:prstGeom>
          <a:solidFill>
            <a:srgbClr val="132A45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209544"/>
            <a:ext cx="402336" cy="402336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32095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16382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&amp; Architectures of DL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316382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ANN, CNN, RNN/LSTM — and what each is built for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831336"/>
            <a:ext cx="10241280" cy="585216"/>
          </a:xfrm>
          <a:prstGeom prst="roundRect">
            <a:avLst>
              <a:gd name="adj" fmla="val 10938"/>
            </a:avLst>
          </a:prstGeom>
          <a:solidFill>
            <a:srgbClr val="132A45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3922776"/>
            <a:ext cx="402336" cy="402336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39227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387705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5 DL Roles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387705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 → EDA → DL → Evaluation → Integration Engineer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544568"/>
            <a:ext cx="10241280" cy="585216"/>
          </a:xfrm>
          <a:prstGeom prst="roundRect">
            <a:avLst>
              <a:gd name="adj" fmla="val 10938"/>
            </a:avLst>
          </a:prstGeom>
          <a:solidFill>
            <a:srgbClr val="132A45"/>
          </a:solidFill>
          <a:ln/>
        </p:spPr>
      </p:sp>
      <p:sp>
        <p:nvSpPr>
          <p:cNvPr id="26" name="Shape 24"/>
          <p:cNvSpPr/>
          <p:nvPr/>
        </p:nvSpPr>
        <p:spPr>
          <a:xfrm>
            <a:off x="731520" y="4636008"/>
            <a:ext cx="402336" cy="402336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31520" y="4636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459028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&amp; Trusting the CNN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309360" y="459028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the CNN pipeline together, then testing if it can be trusted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5257800"/>
            <a:ext cx="10241280" cy="585216"/>
          </a:xfrm>
          <a:prstGeom prst="roundRect">
            <a:avLst>
              <a:gd name="adj" fmla="val 10938"/>
            </a:avLst>
          </a:prstGeom>
          <a:solidFill>
            <a:srgbClr val="132A45"/>
          </a:solidFill>
          <a:ln/>
        </p:spPr>
      </p:sp>
      <p:sp>
        <p:nvSpPr>
          <p:cNvPr id="31" name="Shape 29"/>
          <p:cNvSpPr/>
          <p:nvPr/>
        </p:nvSpPr>
        <p:spPr>
          <a:xfrm>
            <a:off x="731520" y="5349240"/>
            <a:ext cx="402336" cy="402336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31520" y="5349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325880" y="5303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Case &amp; Recap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309360" y="530352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trained model classify a flood frame — then recap the journey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5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502920"/>
            <a:ext cx="640080" cy="640080"/>
          </a:xfrm>
          <a:prstGeom prst="ellipse">
            <a:avLst/>
          </a:prstGeom>
          <a:solidFill>
            <a:srgbClr val="0F3D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469880" y="48463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33172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AN AI SEE THROUGH FLOODWATER</a:t>
            </a:r>
            <a:endParaRPr lang="en-US" sz="3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A RESCUER ARRIVES?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3703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F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through a Real Disaster Response Case Study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4343400"/>
            <a:ext cx="6583680" cy="777240"/>
          </a:xfrm>
          <a:prstGeom prst="roundRect">
            <a:avLst>
              <a:gd name="adj" fmla="val 9412"/>
            </a:avLst>
          </a:prstGeom>
          <a:solidFill>
            <a:srgbClr val="0F3D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4343400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you are not just students.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the AI Vision Team.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5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Emergency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132A4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591056"/>
            <a:ext cx="502920" cy="502920"/>
          </a:xfrm>
          <a:prstGeom prst="ellipse">
            <a:avLst/>
          </a:prstGeom>
          <a:solidFill>
            <a:srgbClr val="0F3D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72768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🎥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53619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Camera Streaming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4708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footage over the flooding street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132A45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2551176"/>
            <a:ext cx="502920" cy="502920"/>
          </a:xfrm>
          <a:prstGeom prst="ellipse">
            <a:avLst/>
          </a:prstGeom>
          <a:solidFill>
            <a:srgbClr val="0F3D5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2532888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🌃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24963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Night, Rain, Glare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280720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visibility, headlights reflecting off standing water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338328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132A45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3511296"/>
            <a:ext cx="502920" cy="502920"/>
          </a:xfrm>
          <a:prstGeom prst="ellipse">
            <a:avLst/>
          </a:prstGeom>
          <a:solidFill>
            <a:srgbClr val="0F3D5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3493008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🛰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34564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Imagery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76732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Wide-area coverage, but slow to update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434340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132A45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4471416"/>
            <a:ext cx="502920" cy="502920"/>
          </a:xfrm>
          <a:prstGeom prst="ellipse">
            <a:avLst/>
          </a:prstGeom>
          <a:solidFill>
            <a:srgbClr val="0F3D5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" y="4453128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🚑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441655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Rescue Teams Waiting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472744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 fast, reliable read on what's actually flooded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92240" y="1554480"/>
            <a:ext cx="5074920" cy="1280160"/>
          </a:xfrm>
          <a:prstGeom prst="roundRect">
            <a:avLst>
              <a:gd name="adj" fmla="val 5714"/>
            </a:avLst>
          </a:prstGeom>
          <a:solidFill>
            <a:srgbClr val="0F3D5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720840" y="1554480"/>
            <a:ext cx="4617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thousands of video frames arriving every second.</a:t>
            </a:r>
            <a:endParaRPr lang="en-US" sz="1500" dirty="0"/>
          </a:p>
          <a:p>
            <a:pPr algn="l" indent="0" marL="0">
              <a:lnSpc>
                <a:spcPct val="115000"/>
              </a:lnSpc>
              <a:buNone/>
            </a:pPr>
            <a:endParaRPr lang="en-US" sz="15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ones actually show a flooded road?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Frame Would You Flag as Flooded?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246120" cy="502920"/>
          </a:xfrm>
          <a:prstGeom prst="roundRect">
            <a:avLst>
              <a:gd name="adj" fmla="val 10909"/>
            </a:avLst>
          </a:prstGeom>
          <a:solidFill>
            <a:srgbClr val="2A9D8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24612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1488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OF DAY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40487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Daytime, clear sky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77063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026664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Sharp, no glare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39242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ON ROAD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64845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visible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06240" y="1371600"/>
            <a:ext cx="3246120" cy="502920"/>
          </a:xfrm>
          <a:prstGeom prst="roundRect">
            <a:avLst>
              <a:gd name="adj" fmla="val 10909"/>
            </a:avLst>
          </a:prstGeom>
          <a:solidFill>
            <a:srgbClr val="E6394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206240" y="13716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B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206240" y="1965960"/>
            <a:ext cx="324612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34840" y="21488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OF DAY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434840" y="240487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Daytime, clear sky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434840" y="277063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434840" y="3026664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Sharp, no glare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434840" y="339242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ON ROAD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4434840" y="364845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submerged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1371600"/>
            <a:ext cx="3246120" cy="502920"/>
          </a:xfrm>
          <a:prstGeom prst="roundRect">
            <a:avLst>
              <a:gd name="adj" fmla="val 10909"/>
            </a:avLst>
          </a:prstGeom>
          <a:solidFill>
            <a:srgbClr val="B8860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0" y="13716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C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772400" y="1965960"/>
            <a:ext cx="324612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01000" y="21488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OF DAY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001000" y="240487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Night, light rain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001000" y="277063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001000" y="3026664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Glare &amp; motion blur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001000" y="339242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ON ROAD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8001000" y="364845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" y="434340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132A4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6868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pairs, vote A, B, or C — which frame is actually flooded?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3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rainfall numbers and river levels alone tell us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3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live camera is actually seeing?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4688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03120"/>
            <a:ext cx="24688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pixels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017520" y="2103120"/>
            <a:ext cx="228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46120" y="2103120"/>
            <a:ext cx="24688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46120" y="2103120"/>
            <a:ext cx="24688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frame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715000" y="2103120"/>
            <a:ext cx="228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0" y="2103120"/>
            <a:ext cx="24688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0" y="2103120"/>
            <a:ext cx="24688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light &amp; angles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2103120"/>
            <a:ext cx="228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641080" y="2103120"/>
            <a:ext cx="24688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41080" y="2103120"/>
            <a:ext cx="24688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instant identification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2004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32A4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2004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a system that can learn directly from raw images —</a:t>
            </a:r>
            <a:endParaRPr lang="en-US" sz="16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Deep Learning enters the story.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3434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Yesterday's model only understood numbers. It never saw a single pixel.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Deep Learning?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2331720" cy="822960"/>
          </a:xfrm>
          <a:prstGeom prst="roundRect">
            <a:avLst>
              <a:gd name="adj" fmla="val 7778"/>
            </a:avLst>
          </a:prstGeom>
          <a:solidFill>
            <a:srgbClr val="132A4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971800" y="118872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429000" y="1188720"/>
            <a:ext cx="2331720" cy="822960"/>
          </a:xfrm>
          <a:prstGeom prst="roundRect">
            <a:avLst>
              <a:gd name="adj" fmla="val 7778"/>
            </a:avLst>
          </a:prstGeom>
          <a:solidFill>
            <a:srgbClr val="132A4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29000" y="11887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VISUAL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760720" y="118872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217920" y="1188720"/>
            <a:ext cx="2331720" cy="822960"/>
          </a:xfrm>
          <a:prstGeom prst="roundRect">
            <a:avLst>
              <a:gd name="adj" fmla="val 7778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0" y="11887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549640" y="118872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006840" y="1188720"/>
            <a:ext cx="2331720" cy="822960"/>
          </a:xfrm>
          <a:prstGeom prst="roundRect">
            <a:avLst>
              <a:gd name="adj" fmla="val 7778"/>
            </a:avLst>
          </a:prstGeom>
          <a:solidFill>
            <a:srgbClr val="FFB62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06840" y="11887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2402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means teaching a network of artificial neurons to find its own patterns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in images, video, or sequences — no hand-crafted rules needed.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063240"/>
            <a:ext cx="10607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30632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dry road — no glare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321040" y="3136392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21040" y="31363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FLOODED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685032"/>
            <a:ext cx="10607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36850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standing water, partial submersion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321040" y="3758184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321040" y="37581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BLOCKED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306824"/>
            <a:ext cx="10607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8680" y="430682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submerged road, only rooftops visible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321040" y="4379976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321040" y="43799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5074920"/>
            <a:ext cx="10607040" cy="594360"/>
          </a:xfrm>
          <a:prstGeom prst="roundRect">
            <a:avLst>
              <a:gd name="adj" fmla="val 12308"/>
            </a:avLst>
          </a:prstGeom>
          <a:solidFill>
            <a:srgbClr val="132A45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68680" y="5074920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new frame looks similar to the Flooded examples, what should the model predict?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5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PREDICTION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Frame Incoming...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120640" cy="640080"/>
          </a:xfrm>
          <a:prstGeom prst="roundRect">
            <a:avLst>
              <a:gd name="adj" fmla="val 7143"/>
            </a:avLst>
          </a:prstGeom>
          <a:solidFill>
            <a:srgbClr val="132A4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463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14630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Night, light rain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5120640" cy="640080"/>
          </a:xfrm>
          <a:prstGeom prst="roundRect">
            <a:avLst>
              <a:gd name="adj" fmla="val 7143"/>
            </a:avLst>
          </a:prstGeom>
          <a:solidFill>
            <a:srgbClr val="132A4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2402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108960" y="22402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glare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5120640" cy="640080"/>
          </a:xfrm>
          <a:prstGeom prst="roundRect">
            <a:avLst>
              <a:gd name="adj" fmla="val 7143"/>
            </a:avLst>
          </a:prstGeom>
          <a:solidFill>
            <a:srgbClr val="132A4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017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River Gauge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108960" y="30175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m (Severe)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977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= ???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14630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F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past examples,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AF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predict: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2148840"/>
            <a:ext cx="5394960" cy="1508760"/>
          </a:xfrm>
          <a:prstGeom prst="roundRect">
            <a:avLst>
              <a:gd name="adj" fmla="val 4848"/>
            </a:avLst>
          </a:prstGeom>
          <a:solidFill>
            <a:srgbClr val="E6394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26480" y="2148840"/>
            <a:ext cx="5394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🚨 FLOODED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640080" y="47091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0F3D5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47091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just performed the basic idea of Deep Learning:</a:t>
            </a:r>
            <a:endParaRPr lang="en-US" sz="13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thousands of past frames → Predict a new frame.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Deep Learning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different architectures — before we pick the ones for our flood project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0744200" cy="502920"/>
          </a:xfrm>
          <a:prstGeom prst="rect">
            <a:avLst/>
          </a:prstGeom>
          <a:solidFill>
            <a:srgbClr val="132A4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880360" y="137160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3716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89720" y="13716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/ LSTM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107442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18745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given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971800" y="187452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tabular signals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(rainfall, river level, calls)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187452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images &amp; video frames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9281160" y="1874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 over time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514600"/>
            <a:ext cx="10744200" cy="640080"/>
          </a:xfrm>
          <a:prstGeom prst="rect">
            <a:avLst/>
          </a:prstGeom>
          <a:solidFill>
            <a:srgbClr val="E3E9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25146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learns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2971800" y="251460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layered network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neurons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5146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images in small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patches for visual patterns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281160" y="25146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order, learns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sequences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154680"/>
            <a:ext cx="107442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" y="31546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flood example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2971800" y="315468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+ river level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basic risk score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31546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Drone/CCTV frame →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Flooded or Clear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281160" y="3154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level, last 72 hrs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 3 hours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794760"/>
            <a:ext cx="10744200" cy="640080"/>
          </a:xfrm>
          <a:prstGeom prst="rect">
            <a:avLst/>
          </a:prstGeom>
          <a:solidFill>
            <a:srgbClr val="E3E9F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5800" y="37947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our project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2971800" y="37947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379476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 — our approach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9281160" y="3794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 — our approach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617720"/>
            <a:ext cx="10744200" cy="594360"/>
          </a:xfrm>
          <a:prstGeom prst="roundRect">
            <a:avLst>
              <a:gd name="adj" fmla="val 12308"/>
            </a:avLst>
          </a:prstGeom>
          <a:solidFill>
            <a:srgbClr val="FFB62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77240" y="4617720"/>
            <a:ext cx="10287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flood project uses CNN for images and LSTM for time-series — because we have both camera frames and gauge sequences.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vs RNN/LSTM — Same Flood Project, Different Data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difference: is the input a single image, or a sequence over time?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029200" cy="365760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CNN — SINGLE IMAGE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554480" cy="320040"/>
          </a:xfrm>
          <a:prstGeom prst="rect">
            <a:avLst/>
          </a:prstGeom>
          <a:solidFill>
            <a:srgbClr val="132A4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828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03120" y="1828800"/>
            <a:ext cx="1920240" cy="320040"/>
          </a:xfrm>
          <a:prstGeom prst="rect">
            <a:avLst/>
          </a:prstGeom>
          <a:solidFill>
            <a:srgbClr val="132A4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03120" y="1828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Visible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023360" y="1828800"/>
            <a:ext cx="1554480" cy="320040"/>
          </a:xfrm>
          <a:prstGeom prst="rect">
            <a:avLst/>
          </a:prstGeom>
          <a:solidFill>
            <a:srgbClr val="132A4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023360" y="1828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148840"/>
            <a:ext cx="15544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Frame_01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103120" y="2148840"/>
            <a:ext cx="19202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103120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023360" y="2148840"/>
            <a:ext cx="15544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023360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Flooded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8640" y="2468880"/>
            <a:ext cx="15544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468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Frame_02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03120" y="2468880"/>
            <a:ext cx="19202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103120" y="2468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023360" y="2468880"/>
            <a:ext cx="15544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023360" y="2468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Blocked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48640" y="2788920"/>
            <a:ext cx="15544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2788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Frame_03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103120" y="2788920"/>
            <a:ext cx="19202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103120" y="2788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submerged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023360" y="2788920"/>
            <a:ext cx="15544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023360" y="2788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Flooded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3246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IMAGE → CNN SCANS SPATIAL PATTERNS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8640" y="3566160"/>
            <a:ext cx="5029200" cy="594360"/>
          </a:xfrm>
          <a:prstGeom prst="roundRect">
            <a:avLst>
              <a:gd name="adj" fmla="val 12308"/>
            </a:avLst>
          </a:prstGeom>
          <a:solidFill>
            <a:srgbClr val="2A9D8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77240" y="35661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FRAME (night, glare)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Model predicts: FLOODED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09360" y="1325880"/>
            <a:ext cx="5029200" cy="365760"/>
          </a:xfrm>
          <a:prstGeom prst="roundRect">
            <a:avLst>
              <a:gd name="adj" fmla="val 50000"/>
            </a:avLst>
          </a:prstGeom>
          <a:solidFill>
            <a:srgbClr val="0F3D5C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309360" y="1325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RNN/LSTM — SEQUENCE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09360" y="1828800"/>
            <a:ext cx="1737360" cy="320040"/>
          </a:xfrm>
          <a:prstGeom prst="rect">
            <a:avLst/>
          </a:prstGeom>
          <a:solidFill>
            <a:srgbClr val="132A4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309360" y="1828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046720" y="1828800"/>
            <a:ext cx="3291840" cy="320040"/>
          </a:xfrm>
          <a:prstGeom prst="rect">
            <a:avLst/>
          </a:prstGeom>
          <a:solidFill>
            <a:srgbClr val="132A4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0467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 Level (m)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309360" y="2148840"/>
            <a:ext cx="17373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309360" y="21488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H-4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8046720" y="2148840"/>
            <a:ext cx="32918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046720" y="21488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 m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309360" y="2404872"/>
            <a:ext cx="17373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309360" y="24048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H-3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8046720" y="2404872"/>
            <a:ext cx="32918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046720" y="24048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m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309360" y="2660904"/>
            <a:ext cx="17373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309360" y="26609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H-2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8046720" y="2660904"/>
            <a:ext cx="32918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046720" y="266090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 m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309360" y="2916936"/>
            <a:ext cx="17373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309360" y="29169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H-1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8046720" y="2916936"/>
            <a:ext cx="32918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046720" y="291693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m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309360" y="3172968"/>
            <a:ext cx="17373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309360" y="31729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8046720" y="3172968"/>
            <a:ext cx="32918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046720" y="31729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 m</a:t>
            </a:r>
            <a:endParaRPr lang="en-US" sz="850" dirty="0"/>
          </a:p>
        </p:txBody>
      </p:sp>
      <p:sp>
        <p:nvSpPr>
          <p:cNvPr id="59" name="Text 57"/>
          <p:cNvSpPr txBox="1"/>
          <p:nvPr/>
        </p:nvSpPr>
        <p:spPr>
          <a:xfrm>
            <a:off x="6309360" y="3566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OVER TIME → LSTM LEARNS THE TREND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309360" y="3886200"/>
            <a:ext cx="5029200" cy="594360"/>
          </a:xfrm>
          <a:prstGeom prst="roundRect">
            <a:avLst>
              <a:gd name="adj" fmla="val 12308"/>
            </a:avLst>
          </a:prstGeom>
          <a:solidFill>
            <a:srgbClr val="0F3D5C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6537960" y="38862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3 HOURS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Model predicts: 5.4 m, rising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548640" y="5989320"/>
            <a:ext cx="10835640" cy="457200"/>
          </a:xfrm>
          <a:prstGeom prst="roundRect">
            <a:avLst>
              <a:gd name="adj" fmla="val 16000"/>
            </a:avLst>
          </a:prstGeom>
          <a:solidFill>
            <a:srgbClr val="132A45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777240" y="5989320"/>
            <a:ext cx="10378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= LEARN SPATIAL PATTERNS IN ONE IMAGE   |   RNN/LSTM = LEARN PATTERNS ACROSS TIME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We Have Both Images AND Time-Series Data?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we already have both kinds of data in our project?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0350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/ CCTV frames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480560" y="16002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6035040" cy="502920"/>
          </a:xfrm>
          <a:prstGeom prst="rect">
            <a:avLst/>
          </a:prstGeom>
          <a:solidFill>
            <a:srgbClr val="E3E9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1031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imagery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2103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60350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606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 sensor readings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606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2918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YES.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6949440" y="1051560"/>
            <a:ext cx="4572000" cy="3108960"/>
          </a:xfrm>
          <a:prstGeom prst="roundRect">
            <a:avLst>
              <a:gd name="adj" fmla="val 2353"/>
            </a:avLst>
          </a:prstGeom>
          <a:solidFill>
            <a:srgbClr val="132A45"/>
          </a:solidFill>
          <a:ln/>
        </p:spPr>
      </p:sp>
      <p:sp>
        <p:nvSpPr>
          <p:cNvPr id="15" name="Shape 13"/>
          <p:cNvSpPr/>
          <p:nvPr/>
        </p:nvSpPr>
        <p:spPr>
          <a:xfrm>
            <a:off x="7178040" y="1280160"/>
            <a:ext cx="502920" cy="502920"/>
          </a:xfrm>
          <a:prstGeom prst="ellipse">
            <a:avLst/>
          </a:prstGeom>
          <a:solidFill>
            <a:srgbClr val="0F3D5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040880" y="1261872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📘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818120" y="1325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+ LSTM TOGETHER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1874520"/>
            <a:ext cx="40233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F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both camera frames and time-ordered gauge readings.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F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need CNN.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F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needs LSTM.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F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Alone, neither model can do the other's job.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526280"/>
            <a:ext cx="10972800" cy="640080"/>
          </a:xfrm>
          <a:prstGeom prst="roundRect">
            <a:avLst>
              <a:gd name="adj" fmla="val 11429"/>
            </a:avLst>
          </a:prstGeom>
          <a:solidFill>
            <a:srgbClr val="FFB62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4526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flood project uses CNN + LSTM together — vision confirms right now, the sequence model predicts the next 3 hours.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— Layers &amp; Architectures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flood images • Layer by layer • Different jobs in the pipeline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0744200" cy="365760"/>
          </a:xfrm>
          <a:prstGeom prst="roundRect">
            <a:avLst>
              <a:gd name="adj" fmla="val 50000"/>
            </a:avLst>
          </a:prstGeom>
          <a:solidFill>
            <a:srgbClr val="132A4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88720"/>
            <a:ext cx="1074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SAME DRONE FRAME:  Street Photo  →  Predict FLOODED or CLEAR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257860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9050">
            <a:solidFill>
              <a:srgbClr val="FFB6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874520"/>
            <a:ext cx="320040" cy="320040"/>
          </a:xfrm>
          <a:prstGeom prst="ellipse">
            <a:avLst/>
          </a:prstGeom>
          <a:solidFill>
            <a:srgbClr val="132A4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874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624328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🔲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267712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 Layer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578608"/>
            <a:ext cx="2304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small filters across the image to detect edges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36976" y="1737360"/>
            <a:ext cx="257860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9050">
            <a:solidFill>
              <a:srgbClr val="FFB6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74136" y="1874520"/>
            <a:ext cx="320040" cy="320040"/>
          </a:xfrm>
          <a:prstGeom prst="ellipse">
            <a:avLst/>
          </a:prstGeom>
          <a:solidFill>
            <a:srgbClr val="132A4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374136" y="1874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312664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🔽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374136" y="2267712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 Layer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374136" y="2578608"/>
            <a:ext cx="2304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Shrinks the image, keeping only the strongest signals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25312" y="1737360"/>
            <a:ext cx="257860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62472" y="1874520"/>
            <a:ext cx="320040" cy="320040"/>
          </a:xfrm>
          <a:prstGeom prst="ellipse">
            <a:avLst/>
          </a:prstGeom>
          <a:solidFill>
            <a:srgbClr val="132A4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062472" y="1874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00100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062472" y="2267712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Activation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062472" y="2578608"/>
            <a:ext cx="2304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only meaningful, non-negative signals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613648" y="1737360"/>
            <a:ext cx="257860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9050">
            <a:solidFill>
              <a:srgbClr val="FFB62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50808" y="1874520"/>
            <a:ext cx="320040" cy="320040"/>
          </a:xfrm>
          <a:prstGeom prst="ellipse">
            <a:avLst/>
          </a:prstGeom>
          <a:solidFill>
            <a:srgbClr val="132A4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750808" y="1874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689336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8750808" y="2267712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Connected Layer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8750808" y="2578608"/>
            <a:ext cx="2304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all features into a final decision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3291840"/>
            <a:ext cx="257860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" y="3429000"/>
            <a:ext cx="320040" cy="320040"/>
          </a:xfrm>
          <a:prstGeom prst="ellipse">
            <a:avLst/>
          </a:prstGeom>
          <a:solidFill>
            <a:srgbClr val="132A45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85800" y="3429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2624328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🏛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3822192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LeNet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85800" y="4133088"/>
            <a:ext cx="2304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earliest CNNs — built for digit recognition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36976" y="3291840"/>
            <a:ext cx="257860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74136" y="3429000"/>
            <a:ext cx="320040" cy="320040"/>
          </a:xfrm>
          <a:prstGeom prst="ellipse">
            <a:avLst/>
          </a:prstGeom>
          <a:solidFill>
            <a:srgbClr val="132A45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3374136" y="3429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5312664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🏗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3374136" y="3822192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3374136" y="4133088"/>
            <a:ext cx="2304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deep network using “skip connections”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925312" y="3291840"/>
            <a:ext cx="257860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062472" y="3429000"/>
            <a:ext cx="320040" cy="320040"/>
          </a:xfrm>
          <a:prstGeom prst="ellipse">
            <a:avLst/>
          </a:prstGeom>
          <a:solidFill>
            <a:srgbClr val="132A45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062472" y="3429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800100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📚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6062472" y="3822192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VGGNet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6062472" y="4133088"/>
            <a:ext cx="2304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Deep, simple stacked-layer design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613648" y="3291840"/>
            <a:ext cx="257860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750808" y="3429000"/>
            <a:ext cx="320040" cy="320040"/>
          </a:xfrm>
          <a:prstGeom prst="ellipse">
            <a:avLst/>
          </a:prstGeom>
          <a:solidFill>
            <a:srgbClr val="132A45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8750808" y="3429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10689336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⚙</a:t>
            </a:r>
            <a:endParaRPr lang="en-US" sz="1600" dirty="0"/>
          </a:p>
        </p:txBody>
      </p:sp>
      <p:sp>
        <p:nvSpPr>
          <p:cNvPr id="52" name="Text 50"/>
          <p:cNvSpPr txBox="1"/>
          <p:nvPr/>
        </p:nvSpPr>
        <p:spPr>
          <a:xfrm>
            <a:off x="8750808" y="3822192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</a:t>
            </a:r>
            <a:endParaRPr lang="en-US" sz="1150" dirty="0"/>
          </a:p>
        </p:txBody>
      </p:sp>
      <p:sp>
        <p:nvSpPr>
          <p:cNvPr id="53" name="Text 51"/>
          <p:cNvSpPr txBox="1"/>
          <p:nvPr/>
        </p:nvSpPr>
        <p:spPr>
          <a:xfrm>
            <a:off x="8750808" y="4133088"/>
            <a:ext cx="2304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accuracy vs speed for edge devices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48640" y="4892040"/>
            <a:ext cx="10744200" cy="457200"/>
          </a:xfrm>
          <a:prstGeom prst="roundRect">
            <a:avLst>
              <a:gd name="adj" fmla="val 16000"/>
            </a:avLst>
          </a:prstGeom>
          <a:solidFill>
            <a:srgbClr val="132A45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777240" y="4892040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 EDGES • SHRINK • ACTIVATE • COMBINE • DIGITS • DEPTH • STACK • BALANCE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RNN / LSTM — Architectures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order • Learns from sequences • The model discovers trends over time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0744200" cy="365760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88720"/>
            <a:ext cx="1074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FLOOD DATA:  Hourly River Level • Rainfall • Soil Moisture  →  PROJECT NEXT 3 HOURS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2048256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874520"/>
            <a:ext cx="320040" cy="3200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874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24028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67512" y="2633472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RNN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67512" y="3108960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memory forward, one step at a time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06624" y="1737360"/>
            <a:ext cx="2048256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FFB6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43784" y="1874520"/>
            <a:ext cx="320040" cy="3200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843784" y="1874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706624" y="224028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🧵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2825496" y="2633472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(Long Short-Term Memory)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2825496" y="3108960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important signals over long sequences, forgets noise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864608" y="1737360"/>
            <a:ext cx="2048256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01768" y="1874520"/>
            <a:ext cx="320040" cy="3200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001768" y="1874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864608" y="224028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983480" y="2633472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(Gated Recurrent Unit)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983480" y="3108960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lighter, faster version of LSTM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022592" y="1737360"/>
            <a:ext cx="2048256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59752" y="1874520"/>
            <a:ext cx="320040" cy="3200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59752" y="1874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224028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↔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7141464" y="2633472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RNN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7141464" y="3108960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sequence forwards AND backwards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180576" y="1737360"/>
            <a:ext cx="2048256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317736" y="1874520"/>
            <a:ext cx="320040" cy="3200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317736" y="1874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180576" y="224028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9299448" y="2633472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(Attention)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9299448" y="3108960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at all time-steps at once, not just step-by-step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48640" y="3794760"/>
            <a:ext cx="10744200" cy="457200"/>
          </a:xfrm>
          <a:prstGeom prst="roundRect">
            <a:avLst>
              <a:gd name="adj" fmla="val 16000"/>
            </a:avLst>
          </a:prstGeom>
          <a:solidFill>
            <a:srgbClr val="132A45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77240" y="3794760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REMEMBER:  MEMORY • LONG-TERM • LIGHT • BOTH DIRECTIONS • ATTENTION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 — Core Building Blocks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images, no sequences yet — the foundation every other DL architecture builds 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0744200" cy="365760"/>
          </a:xfrm>
          <a:prstGeom prst="roundRect">
            <a:avLst>
              <a:gd name="adj" fmla="val 50000"/>
            </a:avLst>
          </a:prstGeom>
          <a:solidFill>
            <a:srgbClr val="0F3D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88720"/>
            <a:ext cx="1074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STRUCTURED SIGNALS:  Rainfall • River Level • Calls  →  BASIC RISK SCORE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2048256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874520"/>
            <a:ext cx="320040" cy="320040"/>
          </a:xfrm>
          <a:prstGeom prst="ellipse">
            <a:avLst/>
          </a:prstGeom>
          <a:solidFill>
            <a:srgbClr val="0F3D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874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24028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🔵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67512" y="2633472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Perceptron / Neuron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67512" y="3072384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unit — weighs inputs and fires a signal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06624" y="1737360"/>
            <a:ext cx="2048256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43784" y="1874520"/>
            <a:ext cx="320040" cy="320040"/>
          </a:xfrm>
          <a:prstGeom prst="ellipse">
            <a:avLst/>
          </a:prstGeom>
          <a:solidFill>
            <a:srgbClr val="0F3D5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843784" y="1874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706624" y="224028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⚖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2825496" y="2633472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&amp; Bias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2825496" y="3072384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the network adjusts as it learns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864608" y="1737360"/>
            <a:ext cx="2048256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01768" y="1874520"/>
            <a:ext cx="320040" cy="320040"/>
          </a:xfrm>
          <a:prstGeom prst="ellipse">
            <a:avLst/>
          </a:prstGeom>
          <a:solidFill>
            <a:srgbClr val="0F3D5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001768" y="1874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864608" y="224028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🔥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983480" y="2633472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983480" y="3072384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whether a neuron “fires” or stays silent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022592" y="1737360"/>
            <a:ext cx="2048256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59752" y="1874520"/>
            <a:ext cx="320040" cy="320040"/>
          </a:xfrm>
          <a:prstGeom prst="ellipse">
            <a:avLst/>
          </a:prstGeom>
          <a:solidFill>
            <a:srgbClr val="0F3D5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59752" y="1874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224028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🔁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7141464" y="2633472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7141464" y="3072384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the error backward to correct every weight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180576" y="1737360"/>
            <a:ext cx="2048256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317736" y="1874520"/>
            <a:ext cx="320040" cy="320040"/>
          </a:xfrm>
          <a:prstGeom prst="ellipse">
            <a:avLst/>
          </a:prstGeom>
          <a:solidFill>
            <a:srgbClr val="0F3D5C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317736" y="1874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180576" y="224028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📉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9299448" y="2633472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9299448" y="3072384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Nudges weights step-by-step toward fewer errors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48640" y="3794760"/>
            <a:ext cx="10744200" cy="457200"/>
          </a:xfrm>
          <a:prstGeom prst="roundRect">
            <a:avLst>
              <a:gd name="adj" fmla="val 16000"/>
            </a:avLst>
          </a:prstGeom>
          <a:solidFill>
            <a:srgbClr val="132A45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77240" y="3794760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REMEMBER:  FIRE • ADJUST • DECIDE • CORRECT • IMPROVE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the CNN Decide?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drone frame comes in. What should the network check first?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86400" cy="502920"/>
          </a:xfrm>
          <a:prstGeom prst="roundRect">
            <a:avLst>
              <a:gd name="adj" fmla="val 9091"/>
            </a:avLst>
          </a:prstGeom>
          <a:solidFill>
            <a:srgbClr val="132A4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087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Image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processing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486400" cy="502920"/>
          </a:xfrm>
          <a:prstGeom prst="roundRect">
            <a:avLst>
              <a:gd name="adj" fmla="val 9091"/>
            </a:avLst>
          </a:prstGeom>
          <a:solidFill>
            <a:srgbClr val="132A4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2860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788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processing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5486400" cy="502920"/>
          </a:xfrm>
          <a:prstGeom prst="roundRect">
            <a:avLst>
              <a:gd name="adj" fmla="val 9091"/>
            </a:avLst>
          </a:prstGeom>
          <a:solidFill>
            <a:srgbClr val="132A4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0632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566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processing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5486400" cy="502920"/>
          </a:xfrm>
          <a:prstGeom prst="roundRect">
            <a:avLst>
              <a:gd name="adj" fmla="val 9091"/>
            </a:avLst>
          </a:prstGeom>
          <a:solidFill>
            <a:srgbClr val="132A4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8404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Connected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3434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processing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5486400" cy="548640"/>
          </a:xfrm>
          <a:prstGeom prst="roundRect">
            <a:avLst>
              <a:gd name="adj" fmla="val 8333"/>
            </a:avLst>
          </a:prstGeom>
          <a:solidFill>
            <a:srgbClr val="E6394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617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FLOODED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0" y="1508760"/>
            <a:ext cx="5166360" cy="2011680"/>
          </a:xfrm>
          <a:prstGeom prst="roundRect">
            <a:avLst>
              <a:gd name="adj" fmla="val 3636"/>
            </a:avLst>
          </a:prstGeom>
          <a:solidFill>
            <a:srgbClr val="132A4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29400" y="1508760"/>
            <a:ext cx="4709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just walked through a CNN.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CNN makes a decision by scanning the image in layers — edges, then textures, then shapes — until it reaches an answer.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5074920"/>
            <a:ext cx="11018520" cy="594360"/>
          </a:xfrm>
          <a:prstGeom prst="roundRect">
            <a:avLst>
              <a:gd name="adj" fmla="val 12308"/>
            </a:avLst>
          </a:prstGeom>
          <a:solidFill>
            <a:srgbClr val="FFB62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5074920"/>
            <a:ext cx="10561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this project, we use a CNN (for images) + an LSTM (for sequences) — because they see what numbers alone can't.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We Train a Model on Raw, Unlabeled Footage?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463040" cy="365760"/>
          </a:xfrm>
          <a:prstGeom prst="rect">
            <a:avLst/>
          </a:prstGeom>
          <a:solidFill>
            <a:srgbClr val="132A4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11680" y="1600200"/>
            <a:ext cx="1097280" cy="365760"/>
          </a:xfrm>
          <a:prstGeom prst="rect">
            <a:avLst/>
          </a:prstGeom>
          <a:solidFill>
            <a:srgbClr val="132A4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11680" y="1600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08960" y="1600200"/>
            <a:ext cx="1005840" cy="365760"/>
          </a:xfrm>
          <a:prstGeom prst="rect">
            <a:avLst/>
          </a:prstGeom>
          <a:solidFill>
            <a:srgbClr val="132A4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08960" y="16002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0" y="1600200"/>
            <a:ext cx="1737360" cy="365760"/>
          </a:xfrm>
          <a:prstGeom prst="rect">
            <a:avLst/>
          </a:prstGeom>
          <a:solidFill>
            <a:srgbClr val="132A4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14800" y="1600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1965960"/>
            <a:ext cx="14630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Frame_014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011680" y="1965960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011680" y="19659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108960" y="1965960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108960" y="19659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0" y="1965960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14800" y="1965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2331720"/>
            <a:ext cx="14630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2331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Frame_014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011680" y="2331720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011680" y="23317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108960" y="2331720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108960" y="23317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0" y="2331720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11480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Duplicate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2697480"/>
            <a:ext cx="14630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2697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Frame_027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011680" y="2697480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011680" y="2697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108960" y="2697480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108960" y="26974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114800" y="2697480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114800" y="2697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corrupted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309360" y="160020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132A45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537960" y="160020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directly train a Deep Learning model using raw, unlabeled footage?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309360" y="2971800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NO.</a:t>
            </a:r>
            <a:endParaRPr lang="en-US" sz="2400" dirty="0"/>
          </a:p>
        </p:txBody>
      </p:sp>
      <p:sp>
        <p:nvSpPr>
          <p:cNvPr id="39" name="Shape 37"/>
          <p:cNvSpPr/>
          <p:nvPr/>
        </p:nvSpPr>
        <p:spPr>
          <a:xfrm>
            <a:off x="548640" y="3840480"/>
            <a:ext cx="10972800" cy="594360"/>
          </a:xfrm>
          <a:prstGeom prst="roundRect">
            <a:avLst>
              <a:gd name="adj" fmla="val 12308"/>
            </a:avLst>
          </a:prstGeom>
          <a:solidFill>
            <a:srgbClr val="FFB627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77240" y="3840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DL system needs someone to label and clean the footage first.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ROLE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594360" cy="594360"/>
          </a:xfrm>
          <a:prstGeom prst="ellipse">
            <a:avLst/>
          </a:prstGeom>
          <a:solidFill>
            <a:srgbClr val="132A4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" y="850392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9144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ENGINEER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852160" cy="594360"/>
          </a:xfrm>
          <a:prstGeom prst="roundRect">
            <a:avLst>
              <a:gd name="adj" fmla="val 7692"/>
            </a:avLst>
          </a:prstGeom>
          <a:solidFill>
            <a:srgbClr val="FDEDE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69164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 Raw footage is unlabeled and comes from multiple feeds.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5852160" cy="457200"/>
          </a:xfrm>
          <a:prstGeom prst="roundRect">
            <a:avLst>
              <a:gd name="adj" fmla="val 10000"/>
            </a:avLst>
          </a:prstGeom>
          <a:solidFill>
            <a:srgbClr val="132A4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5146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raw feeds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081528"/>
            <a:ext cx="5852160" cy="457200"/>
          </a:xfrm>
          <a:prstGeom prst="roundRect">
            <a:avLst>
              <a:gd name="adj" fmla="val 10000"/>
            </a:avLst>
          </a:prstGeom>
          <a:solidFill>
            <a:srgbClr val="132A4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081528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flooded / clear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648456"/>
            <a:ext cx="5852160" cy="457200"/>
          </a:xfrm>
          <a:prstGeom prst="roundRect">
            <a:avLst>
              <a:gd name="adj" fmla="val 10000"/>
            </a:avLst>
          </a:prstGeom>
          <a:solidFill>
            <a:srgbClr val="132A4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648456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 for night &amp; rain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215384"/>
            <a:ext cx="5852160" cy="457200"/>
          </a:xfrm>
          <a:prstGeom prst="roundRect">
            <a:avLst>
              <a:gd name="adj" fmla="val 10000"/>
            </a:avLst>
          </a:prstGeom>
          <a:solidFill>
            <a:srgbClr val="132A4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215384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sources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782312"/>
            <a:ext cx="5852160" cy="502920"/>
          </a:xfrm>
          <a:prstGeom prst="roundRect">
            <a:avLst>
              <a:gd name="adj" fmla="val 9091"/>
            </a:avLst>
          </a:prstGeom>
          <a:solidFill>
            <a:srgbClr val="FFB62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78231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CLEAN LABELED DATASET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675120" y="1691640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132A4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03720" y="1691640"/>
            <a:ext cx="44805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Engineer prepares labeled, usable footage for the next stage.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downstream role — EDA, DL training, evaluation — depends on this dataset being clean.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Model Looking at the Right Thing?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12064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SAYS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2938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FLOODED (91%)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5856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ACTUALLY THERE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49631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dark shadow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82549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VISIBLE?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0632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3832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look normal? Or could this be a false alarm on a shadow?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1554480"/>
            <a:ext cx="548640" cy="548640"/>
          </a:xfrm>
          <a:prstGeom prst="ellipse">
            <a:avLst/>
          </a:prstGeom>
          <a:solidFill>
            <a:srgbClr val="132A4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89320" y="153619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812280" y="1600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ENGINEER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2194560"/>
            <a:ext cx="5532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EDA Engineer inspects saliency maps to check if the model focuses on real water — not shadows or glare.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0" y="3200400"/>
            <a:ext cx="1298448" cy="685800"/>
          </a:xfrm>
          <a:prstGeom prst="roundRect">
            <a:avLst>
              <a:gd name="adj" fmla="val 6667"/>
            </a:avLst>
          </a:prstGeom>
          <a:solidFill>
            <a:srgbClr val="132A4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26480" y="320040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</a:t>
            </a:r>
            <a:endParaRPr lang="en-US" sz="8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498080" y="3200400"/>
            <a:ext cx="1298448" cy="685800"/>
          </a:xfrm>
          <a:prstGeom prst="roundRect">
            <a:avLst>
              <a:gd name="adj" fmla="val 6667"/>
            </a:avLst>
          </a:prstGeom>
          <a:solidFill>
            <a:srgbClr val="132A4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498080" y="320040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</a:t>
            </a:r>
            <a:endParaRPr lang="en-US" sz="8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Saliency Maps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869680" y="3200400"/>
            <a:ext cx="1298448" cy="685800"/>
          </a:xfrm>
          <a:prstGeom prst="roundRect">
            <a:avLst>
              <a:gd name="adj" fmla="val 6667"/>
            </a:avLst>
          </a:prstGeom>
          <a:solidFill>
            <a:srgbClr val="132A4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869680" y="320040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</a:t>
            </a:r>
            <a:endParaRPr lang="en-US" sz="8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Spots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0241280" y="3200400"/>
            <a:ext cx="1298448" cy="685800"/>
          </a:xfrm>
          <a:prstGeom prst="roundRect">
            <a:avLst>
              <a:gd name="adj" fmla="val 6667"/>
            </a:avLst>
          </a:prstGeom>
          <a:solidFill>
            <a:srgbClr val="FFB62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241280" y="320040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8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Signal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0" cy="548640"/>
          </a:xfrm>
          <a:prstGeom prst="roundRect">
            <a:avLst>
              <a:gd name="adj" fmla="val 13333"/>
            </a:avLst>
          </a:prstGeom>
          <a:solidFill>
            <a:srgbClr val="132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our footage is labeled and verified. What should we do next?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94360" cy="594360"/>
          </a:xfrm>
          <a:prstGeom prst="ellipse">
            <a:avLst/>
          </a:prstGeom>
          <a:solidFill>
            <a:srgbClr val="132A4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11480" y="1261872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3258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DL ENGINEER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246888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9260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Frame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 Sequence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06324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794760" y="2103120"/>
            <a:ext cx="3017520" cy="2377440"/>
          </a:xfrm>
          <a:prstGeom prst="roundRect">
            <a:avLst>
              <a:gd name="adj" fmla="val 2308"/>
            </a:avLst>
          </a:prstGeom>
          <a:solidFill>
            <a:srgbClr val="132A4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794760" y="2651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+ LSTM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794760" y="34290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F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on labeled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F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&amp; sequences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7863840" y="2103120"/>
            <a:ext cx="3703320" cy="502920"/>
          </a:xfrm>
          <a:prstGeom prst="roundRect">
            <a:avLst>
              <a:gd name="adj" fmla="val 50909"/>
            </a:avLst>
          </a:prstGeom>
          <a:solidFill>
            <a:srgbClr val="2A9D8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863840" y="210312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Flooded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863840" y="2697480"/>
            <a:ext cx="3703320" cy="502920"/>
          </a:xfrm>
          <a:prstGeom prst="roundRect">
            <a:avLst>
              <a:gd name="adj" fmla="val 50909"/>
            </a:avLst>
          </a:prstGeom>
          <a:solidFill>
            <a:srgbClr val="B8860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863840" y="269748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Blocked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863840" y="3291840"/>
            <a:ext cx="3703320" cy="502920"/>
          </a:xfrm>
          <a:prstGeom prst="roundRect">
            <a:avLst>
              <a:gd name="adj" fmla="val 50909"/>
            </a:avLst>
          </a:prstGeom>
          <a:solidFill>
            <a:srgbClr val="E6394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863840" y="329184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863840" y="3886200"/>
            <a:ext cx="3703320" cy="502920"/>
          </a:xfrm>
          <a:prstGeom prst="roundRect">
            <a:avLst>
              <a:gd name="adj" fmla="val 50909"/>
            </a:avLst>
          </a:prstGeom>
          <a:solidFill>
            <a:srgbClr val="0F3D5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863840" y="388620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level trend, +3 hrs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709160"/>
            <a:ext cx="11018520" cy="685800"/>
          </a:xfrm>
          <a:prstGeom prst="roundRect">
            <a:avLst>
              <a:gd name="adj" fmla="val 10667"/>
            </a:avLst>
          </a:prstGeom>
          <a:solidFill>
            <a:srgbClr val="FFB62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4709160"/>
            <a:ext cx="10561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DL Engineer trains the CNN + LSTM on labeled footage and gauge sequences so it can classify new frames and forecast water levels.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TRUST IT?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3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says it is 100% correct on the training footage.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3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Should we trust it immediately?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212080" cy="914400"/>
          </a:xfrm>
          <a:prstGeom prst="roundRect">
            <a:avLst>
              <a:gd name="adj" fmla="val 6000"/>
            </a:avLst>
          </a:prstGeom>
          <a:solidFill>
            <a:srgbClr val="2A9D8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2860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FRAMES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060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has already seen it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89320" y="2194560"/>
            <a:ext cx="5212080" cy="914400"/>
          </a:xfrm>
          <a:prstGeom prst="roundRect">
            <a:avLst>
              <a:gd name="adj" fmla="val 6000"/>
            </a:avLst>
          </a:prstGeom>
          <a:solidFill>
            <a:srgbClr val="132A4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89320" y="22860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UNSEEN TEST FRAMES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989320" y="26060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F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has never seen it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502920" cy="502920"/>
          </a:xfrm>
          <a:prstGeom prst="ellipse">
            <a:avLst/>
          </a:prstGeom>
          <a:solidFill>
            <a:srgbClr val="132A4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11480" y="3319272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3832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ENGINEER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840480"/>
            <a:ext cx="10652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the model on unseen footage to check whether it really learned the flood pattern — or only memorized the training images.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4805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Label  vs  Predicted Label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52120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5029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349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predictions are correct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89320" y="4892040"/>
            <a:ext cx="5212080" cy="914400"/>
          </a:xfrm>
          <a:prstGeom prst="roundRect">
            <a:avLst>
              <a:gd name="adj" fmla="val 6000"/>
            </a:avLst>
          </a:prstGeom>
          <a:solidFill>
            <a:srgbClr val="FDEDE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17920" y="5029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(Overconfidence)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5349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Mistaking wet asphalt for a deep flood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3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a field officer open a Jupyter notebook and read raw CNN output during an emergency?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48640" cy="548640"/>
          </a:xfrm>
          <a:prstGeom prst="ellipse">
            <a:avLst/>
          </a:prstGeom>
          <a:solidFill>
            <a:srgbClr val="132A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11480" y="203911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103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ENGINEER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5394960" cy="502920"/>
          </a:xfrm>
          <a:prstGeom prst="roundRect">
            <a:avLst>
              <a:gd name="adj" fmla="val 9091"/>
            </a:avLst>
          </a:prstGeom>
          <a:solidFill>
            <a:srgbClr val="132A4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7432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Drone Frame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7432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Flooded, 92% confidence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227832"/>
            <a:ext cx="5394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5394960" cy="502920"/>
          </a:xfrm>
          <a:prstGeom prst="roundRect">
            <a:avLst>
              <a:gd name="adj" fmla="val 9091"/>
            </a:avLst>
          </a:prstGeom>
          <a:solidFill>
            <a:srgbClr val="132A4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3375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CNN + LSTM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3375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92%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822192"/>
            <a:ext cx="5394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5394960" cy="502920"/>
          </a:xfrm>
          <a:prstGeom prst="roundRect">
            <a:avLst>
              <a:gd name="adj" fmla="val 9091"/>
            </a:avLst>
          </a:prstGeom>
          <a:solidFill>
            <a:srgbClr val="132A4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39319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2743200"/>
            <a:ext cx="5394960" cy="2011680"/>
          </a:xfrm>
          <a:prstGeom prst="roundRect">
            <a:avLst>
              <a:gd name="adj" fmla="val 2727"/>
            </a:avLst>
          </a:prstGeom>
          <a:solidFill>
            <a:srgbClr val="132A4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92240" y="2926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Action: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329184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Reroute the rescue team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Flag road as closed on the dashboard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983480"/>
            <a:ext cx="11064240" cy="548640"/>
          </a:xfrm>
          <a:prstGeom prst="roundRect">
            <a:avLst>
              <a:gd name="adj" fmla="val 50000"/>
            </a:avLst>
          </a:prstGeom>
          <a:solidFill>
            <a:srgbClr val="FFB62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983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Integration Engineer connects the trained model to a usable application or dashboard.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815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JOURNEY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Blurry Footage to AI System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383280" cy="685800"/>
          </a:xfrm>
          <a:prstGeom prst="roundRect">
            <a:avLst>
              <a:gd name="adj" fmla="val 8000"/>
            </a:avLst>
          </a:prstGeom>
          <a:solidFill>
            <a:srgbClr val="0F3D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1463040"/>
            <a:ext cx="274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F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06240" y="1463040"/>
            <a:ext cx="3383280" cy="685800"/>
          </a:xfrm>
          <a:prstGeom prst="roundRect">
            <a:avLst>
              <a:gd name="adj" fmla="val 8000"/>
            </a:avLst>
          </a:prstGeom>
          <a:solidFill>
            <a:srgbClr val="0F3D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206240" y="14630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 &amp;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1463040"/>
            <a:ext cx="274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F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863840" y="1463040"/>
            <a:ext cx="3383280" cy="685800"/>
          </a:xfrm>
          <a:prstGeom prst="roundRect">
            <a:avLst>
              <a:gd name="adj" fmla="val 8000"/>
            </a:avLst>
          </a:prstGeom>
          <a:solidFill>
            <a:srgbClr val="0F3D5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863840" y="14630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14600"/>
            <a:ext cx="2048256" cy="777240"/>
          </a:xfrm>
          <a:prstGeom prst="roundRect">
            <a:avLst>
              <a:gd name="adj" fmla="val 7059"/>
            </a:avLst>
          </a:prstGeom>
          <a:solidFill>
            <a:srgbClr val="132A4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2514600"/>
            <a:ext cx="2048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06624" y="2514600"/>
            <a:ext cx="2048256" cy="777240"/>
          </a:xfrm>
          <a:prstGeom prst="roundRect">
            <a:avLst>
              <a:gd name="adj" fmla="val 7059"/>
            </a:avLst>
          </a:prstGeom>
          <a:solidFill>
            <a:srgbClr val="132A4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706624" y="2514600"/>
            <a:ext cx="2048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64608" y="2514600"/>
            <a:ext cx="2048256" cy="777240"/>
          </a:xfrm>
          <a:prstGeom prst="roundRect">
            <a:avLst>
              <a:gd name="adj" fmla="val 7059"/>
            </a:avLst>
          </a:prstGeom>
          <a:solidFill>
            <a:srgbClr val="132A4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64608" y="2514600"/>
            <a:ext cx="2048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022592" y="2514600"/>
            <a:ext cx="2048256" cy="777240"/>
          </a:xfrm>
          <a:prstGeom prst="roundRect">
            <a:avLst>
              <a:gd name="adj" fmla="val 7059"/>
            </a:avLst>
          </a:prstGeom>
          <a:solidFill>
            <a:srgbClr val="132A4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022592" y="2514600"/>
            <a:ext cx="2048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180576" y="2514600"/>
            <a:ext cx="2048256" cy="777240"/>
          </a:xfrm>
          <a:prstGeom prst="roundRect">
            <a:avLst>
              <a:gd name="adj" fmla="val 7059"/>
            </a:avLst>
          </a:prstGeom>
          <a:solidFill>
            <a:srgbClr val="FFB62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80576" y="2514600"/>
            <a:ext cx="2048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383280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AF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information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AF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we need?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2706624" y="3383280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AF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is the raw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AF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footage labeled?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864608" y="3383280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AF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model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AF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water?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7022592" y="3383280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AF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trust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AF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model?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9180576" y="3383280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AF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responders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AF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it?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470916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E6394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48640" y="47091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🚨 LIVE DISASTER RESPONSE DASHBOARD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815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Are the CNN.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F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predicted label?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577840" cy="548640"/>
          </a:xfrm>
          <a:prstGeom prst="roundRect">
            <a:avLst>
              <a:gd name="adj" fmla="val 8333"/>
            </a:avLst>
          </a:prstGeom>
          <a:solidFill>
            <a:srgbClr val="132A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1920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Night, heavy rain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578608"/>
            <a:ext cx="5577840" cy="548640"/>
          </a:xfrm>
          <a:prstGeom prst="roundRect">
            <a:avLst>
              <a:gd name="adj" fmla="val 8333"/>
            </a:avLst>
          </a:prstGeom>
          <a:solidFill>
            <a:srgbClr val="132A4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5786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257860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glare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236976"/>
            <a:ext cx="5577840" cy="548640"/>
          </a:xfrm>
          <a:prstGeom prst="roundRect">
            <a:avLst>
              <a:gd name="adj" fmla="val 8333"/>
            </a:avLst>
          </a:prstGeom>
          <a:solidFill>
            <a:srgbClr val="132A4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23697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River Gauge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323697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 m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92240" y="1920240"/>
            <a:ext cx="1600200" cy="2286000"/>
          </a:xfrm>
          <a:prstGeom prst="roundRect">
            <a:avLst>
              <a:gd name="adj" fmla="val 3429"/>
            </a:avLst>
          </a:prstGeom>
          <a:solidFill>
            <a:srgbClr val="2A9D8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37960" y="1920240"/>
            <a:ext cx="1508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CLEAR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75320" y="1920240"/>
            <a:ext cx="1600200" cy="2286000"/>
          </a:xfrm>
          <a:prstGeom prst="roundRect">
            <a:avLst>
              <a:gd name="adj" fmla="val 3429"/>
            </a:avLst>
          </a:prstGeom>
          <a:solidFill>
            <a:srgbClr val="B8860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21040" y="1920240"/>
            <a:ext cx="1508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PARTIALLY BLOCKED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0058400" y="1920240"/>
            <a:ext cx="1600200" cy="2286000"/>
          </a:xfrm>
          <a:prstGeom prst="roundRect">
            <a:avLst>
              <a:gd name="adj" fmla="val 3429"/>
            </a:avLst>
          </a:prstGeom>
          <a:solidFill>
            <a:srgbClr val="E6394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104120" y="1920240"/>
            <a:ext cx="1508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FLOODED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0F3D5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61772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see if our trained model agrees with you.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Did Manually → What Python Does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106424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28016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spotted flooding by eye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577840" y="128016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263640" y="1280160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scans pixels for flooding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847088"/>
            <a:ext cx="11064240" cy="566928"/>
          </a:xfrm>
          <a:prstGeom prst="rect">
            <a:avLst/>
          </a:prstGeom>
          <a:solidFill>
            <a:srgbClr val="E3E9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184708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noticed the trend rising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577840" y="1847088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847088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projects the next 3 hours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414016"/>
            <a:ext cx="1106424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2414016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labeled clear vs flooded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2414016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414016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Engineer's labels train the network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2980944"/>
            <a:ext cx="11064240" cy="566928"/>
          </a:xfrm>
          <a:prstGeom prst="rect">
            <a:avLst/>
          </a:prstGeom>
          <a:solidFill>
            <a:srgbClr val="E3E9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298094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checked your confidence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577840" y="2980944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2980944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tests the confusion matrix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547872"/>
            <a:ext cx="1106424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354787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decided the action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577840" y="3547872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3547872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sends the result to the dashboard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34340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32A45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77240" y="43434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First, you understood the process manually.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Now, the computer automates the same process.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815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10515600" cy="5394960"/>
          </a:xfrm>
          <a:prstGeom prst="roundRect">
            <a:avLst>
              <a:gd name="adj" fmla="val 1356"/>
            </a:avLst>
          </a:prstGeom>
          <a:solidFill>
            <a:srgbClr val="132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88720" y="91440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“Today, You Didn't Just Learn Deep Learning.”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188720" y="1691640"/>
            <a:ext cx="274320" cy="27432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8872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64592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were the drone / vision officer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88720" y="2130552"/>
            <a:ext cx="274320" cy="27432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88720" y="2130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08483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spotted the difference between wet asphalt and real flooding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188720" y="2569464"/>
            <a:ext cx="274320" cy="27432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88720" y="2569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2523744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learned from thousands of past frames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188720" y="3008376"/>
            <a:ext cx="274320" cy="27432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88720" y="3008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2962656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walked through a CNN's layers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188720" y="3447288"/>
            <a:ext cx="274320" cy="27432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188720" y="3447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340156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discovered why footage must be labeled first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188720" y="3886200"/>
            <a:ext cx="274320" cy="27432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188720" y="3886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3840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tested whether the model can be trusted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188720" y="4325112"/>
            <a:ext cx="274320" cy="27432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188720" y="4325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600200" y="427939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saw how vision becomes a real dashboard alert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188720" y="4946904"/>
            <a:ext cx="9784080" cy="868680"/>
          </a:xfrm>
          <a:prstGeom prst="roundRect">
            <a:avLst>
              <a:gd name="adj" fmla="val 8421"/>
            </a:avLst>
          </a:prstGeom>
          <a:solidFill>
            <a:srgbClr val="0F3D5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417320" y="4946904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is not just writing model.fit() on images.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teaching a network to see — layer by layer — what numbers alone could never capture.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2026-08-27T09:33:38Z</dcterms:created>
  <dcterms:modified xsi:type="dcterms:W3CDTF">2026-08-27T09:33:38Z</dcterms:modified>
</cp:coreProperties>
</file>
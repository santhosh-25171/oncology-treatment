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 out loud and pause. Let the room sit with the scarcity of real disaster data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real show-of-hands vote for A / B / C. Let students argue for volume vs. diversity before revealing that diversity of conditions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say 'a handful of real cases isn't enough' in their own words before you reveal the deep-blue statement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example rows left to right before asking the closing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quick vote (Mild / Moderate / Severe) before revealing the red SEVERE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already said we're using LLM-based generation — now zoom out and reinforce why sparse historical coverage forces generation in the first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equally on all eight — the point is 'many strategies exist.' Spend most time on card 2 (Prompt-Engineered) and card 4 (RAG), since those anchor the project's chosen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scenario spec live with the class — ask 'what should we check next?' after each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duplicate row and the missing cell — let students name the problems before you label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Slide 16's messy table — this role fixes exactly what students just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 both sides — 'hallucination' vs 'real edge case' — before naming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'generation' finally gets a face — the GenAI Engineer,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a fake photo that looks stunning vs. one that actually matches the physics of the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mock is the payoff moment — this is what all five roles were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full chain slowly, left to right, top row then bottom row — this is the 'aha' recap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vote, then transition straight into the live generation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before opening the notebook / dashboard for the live generation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say, in one sentence, which role they'd want to be on a real GenAI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02920"/>
            <a:ext cx="1005840" cy="1005840"/>
          </a:xfrm>
          <a:prstGeom prst="ellipse">
            <a:avLst/>
          </a:prstGeom>
          <a:solidFill>
            <a:srgbClr val="132A45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61320" y="5029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GENERATIVE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056380" y="27889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5 · Disaster Response Coordination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TODAY'S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stages — from sparse disaster data to a working synthetic stress-test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92224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7" name="Text 5"/>
          <p:cNvSpPr txBox="1"/>
          <p:nvPr/>
        </p:nvSpPr>
        <p:spPr>
          <a:xfrm>
            <a:off x="777240" y="17922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4650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Emergency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20824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 handful of real disasters can't cover every failure mode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05456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2" name="Text 10"/>
          <p:cNvSpPr txBox="1"/>
          <p:nvPr/>
        </p:nvSpPr>
        <p:spPr>
          <a:xfrm>
            <a:off x="777240" y="25054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59736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Generative AI?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734056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patterns from past disasters to imagine new 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218688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7" name="Text 15"/>
          <p:cNvSpPr txBox="1"/>
          <p:nvPr/>
        </p:nvSpPr>
        <p:spPr>
          <a:xfrm>
            <a:off x="777240" y="32186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729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&amp; Approaches of GenAI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44728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models, sequence/LLM models, simulation — and what powers 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31920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777240" y="39319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862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5 GenAI Roles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1605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→ EDA/Prompt Eng → GenAI → Evaluation → Integration Engineer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44568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645152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7" name="Text 25"/>
          <p:cNvSpPr txBox="1"/>
          <p:nvPr/>
        </p:nvSpPr>
        <p:spPr>
          <a:xfrm>
            <a:off x="777240" y="46451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59943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&amp; Trusting the Generator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87375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 scenario generator together, then testing if it's realistic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358384"/>
            <a:ext cx="402336" cy="402336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2" name="Text 30"/>
          <p:cNvSpPr txBox="1"/>
          <p:nvPr/>
        </p:nvSpPr>
        <p:spPr>
          <a:xfrm>
            <a:off x="777240" y="535838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31266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 &amp; Recap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5586984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generator imagine a new disaster — then recap the full journey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02920"/>
            <a:ext cx="914400" cy="914400"/>
          </a:xfrm>
          <a:prstGeom prst="ellipse">
            <a:avLst/>
          </a:prstGeom>
          <a:solidFill>
            <a:srgbClr val="132A45"/>
          </a:solidFill>
          <a:ln w="19050">
            <a:solidFill>
              <a:srgbClr val="FFB6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61320" y="5029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AN AI IMAGINE A DISASTER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IT HAPPENS?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through a Real Disaster Response Case Study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9136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Today, you are not just students.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2062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are the AI Disaster Response Team.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Emergency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685800"/>
          </a:xfrm>
          <a:prstGeom prst="roundRect">
            <a:avLst>
              <a:gd name="adj" fmla="val 9333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99616"/>
            <a:ext cx="420624" cy="420624"/>
          </a:xfrm>
          <a:prstGeom prst="ellipse">
            <a:avLst/>
          </a:prstGeom>
          <a:solidFill>
            <a:srgbClr val="17263B"/>
          </a:solidFill>
        </p:spPr>
      </p:sp>
      <p:sp>
        <p:nvSpPr>
          <p:cNvPr id="5" name="Text 3"/>
          <p:cNvSpPr txBox="1"/>
          <p:nvPr/>
        </p:nvSpPr>
        <p:spPr>
          <a:xfrm>
            <a:off x="731520" y="149961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 Handful of Real Disasters on Record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760720" cy="685800"/>
          </a:xfrm>
          <a:prstGeom prst="roundRect">
            <a:avLst>
              <a:gd name="adj" fmla="val 9333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68296"/>
            <a:ext cx="420624" cy="420624"/>
          </a:xfrm>
          <a:prstGeom prst="ellipse">
            <a:avLst/>
          </a:prstGeom>
          <a:solidFill>
            <a:srgbClr val="17263B"/>
          </a:solidFill>
        </p:spPr>
      </p:sp>
      <p:sp>
        <p:nvSpPr>
          <p:cNvPr id="9" name="Text 7"/>
          <p:cNvSpPr txBox="1"/>
          <p:nvPr/>
        </p:nvSpPr>
        <p:spPr>
          <a:xfrm>
            <a:off x="731520" y="2368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🧩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4028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Events That Have Never Occurred Yet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760720" cy="685800"/>
          </a:xfrm>
          <a:prstGeom prst="roundRect">
            <a:avLst>
              <a:gd name="adj" fmla="val 9333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36976"/>
            <a:ext cx="420624" cy="420624"/>
          </a:xfrm>
          <a:prstGeom prst="ellipse">
            <a:avLst/>
          </a:prstGeom>
          <a:solidFill>
            <a:srgbClr val="17263B"/>
          </a:solidFill>
        </p:spPr>
      </p:sp>
      <p:sp>
        <p:nvSpPr>
          <p:cNvPr id="13" name="Text 11"/>
          <p:cNvSpPr txBox="1"/>
          <p:nvPr/>
        </p:nvSpPr>
        <p:spPr>
          <a:xfrm>
            <a:off x="731520" y="32369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🕳️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0896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Untested Blind Spots in the Response Pipeline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760720" cy="685800"/>
          </a:xfrm>
          <a:prstGeom prst="roundRect">
            <a:avLst>
              <a:gd name="adj" fmla="val 9333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05656"/>
            <a:ext cx="420624" cy="420624"/>
          </a:xfrm>
          <a:prstGeom prst="ellipse">
            <a:avLst/>
          </a:prstGeom>
          <a:solidFill>
            <a:srgbClr val="17263B"/>
          </a:solidFill>
        </p:spPr>
      </p:sp>
      <p:sp>
        <p:nvSpPr>
          <p:cNvPr id="17" name="Text 15"/>
          <p:cNvSpPr txBox="1"/>
          <p:nvPr/>
        </p:nvSpPr>
        <p:spPr>
          <a:xfrm>
            <a:off x="731520" y="41056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7764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Time to Wait for the Next Real Flood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73736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have only 3 real severe floods on record.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51460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test your system against a disaster that hasn't happened yet?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Training Set Would You Trust?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Scenarios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134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53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Events Covered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954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496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of Conditions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056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0" y="123444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12344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0" y="1965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057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Scenarios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3134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0" y="2862072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2953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Events Covered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20954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114800" y="3758184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8496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of Conditions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1056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80960" y="123444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0" y="123444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80960" y="1965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2057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Scenarios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3134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80960" y="2862072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2953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Events Covered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20954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80960" y="3758184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0" y="38496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of Conditions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41056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3 real floods possibly cover every failure mode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disaster response system might face?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32888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Rare compound events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54096" y="2103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18688" y="1965960"/>
            <a:ext cx="2532888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1965960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real history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724144" y="2103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88736" y="1965960"/>
            <a:ext cx="2532888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88736" y="1965960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stress-testing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103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58784" y="1965960"/>
            <a:ext cx="2532888" cy="594360"/>
          </a:xfrm>
          <a:prstGeom prst="roundRect">
            <a:avLst>
              <a:gd name="adj" fmla="val 923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58784" y="1965960"/>
            <a:ext cx="253288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margin for blind spots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03580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a system that can imagine new, plausible disaster situations before they occur.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40156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where Generative AI enters the story.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Generative AI?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DISASTER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944368" y="1170432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54680" y="96012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960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50408" y="1170432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96012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960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SEED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56448" y="1170432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66760" y="96012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9601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9659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means learning the pattern behind past examples to create a brand-new, realistic example.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743200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rainfall + stable power grid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274320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274320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MILD, ISOLATED SCENARIO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19856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419856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rainfall + partial outage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01000" y="3419856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3419856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MODERATE, MULTI-ZONE SCENARIO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096512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096512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rainfall + total power outage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01000" y="4096512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01000" y="4096512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COMPOUND SCENARIO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89204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we combine two rare conditions that never occurred together, what should the generator imagine?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GENERATION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 Seed Incoming...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Pattern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37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Flood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 Status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3317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Outage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Zones Affected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926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(compound)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661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past patterns, we generate: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46304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173736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514600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COMPOUND SCENARIO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10896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E3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3-zone flood + total power outage, generated end-to-end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2803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performed the basic idea of Generative AI: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0235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past patterns → Generate a new, realistic example.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Generative Approaches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different ways a model can create — before we pick one for our disaster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MODELS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32588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0" y="13258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/ LANGUAGE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32588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3258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SIMULATION-BASED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5623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given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69464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learns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82696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flood example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95928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 our project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856232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185623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a compressed distribution of real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569464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Compresses &amp; resamples from a learned latent space (GAN/VAE/Diffusion)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82696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Sampling a new sensor pattern that 'looks like' real floods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95928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E3E9F2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95928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1856232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185623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token-by-token patterns in reports &amp; logs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2569464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2569464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the next likely detail in a sequence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3282696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3282696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a new dispatcher log + matching sensor readings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3995928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E3E9F2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0" y="3995928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 — our approach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1856232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0" y="185623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the rules &amp; behaviors of actors and systems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2569464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2569464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interacting agents/rules forward in time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80960" y="3282696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3282696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Simulating how residents &amp; responders react to rising water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3995928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E3E9F2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0" y="3995928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75488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4754880"/>
            <a:ext cx="10561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disaster project uses LLM-based Sequence Generation — because we need paired sensor data AND realistic narrative text.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vs LLM-Based Generation — Same Flood Data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difference: does the output include realistic language, not just numbers?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257800" cy="4572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STATISTICAL GENERATION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01240" y="1783080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01240" y="1783080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Rainfall(mm)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53840" y="1783080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53840" y="1783080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River(m)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112264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01240" y="2112264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01240" y="2112264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53840" y="2112264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53840" y="2112264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23160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01240" y="2423160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01240" y="2423160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53840" y="2423160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53840" y="2423160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734056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734056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01240" y="2734056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01240" y="2734056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53840" y="2734056"/>
            <a:ext cx="172516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3840" y="2734056"/>
            <a:ext cx="17251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24612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DISTRIBUTION → MODEL SAMPLES NUMBERS ONLY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56616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the numeric spread of rainfall/river patterns and samples new values that fit.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1234440"/>
            <a:ext cx="5285232" cy="457200"/>
          </a:xfrm>
          <a:prstGeom prst="roundRect">
            <a:avLst>
              <a:gd name="adj" fmla="val 1000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1234440"/>
            <a:ext cx="52852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LLM-BASED GENERATION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1783080"/>
            <a:ext cx="528523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1874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 3 — Rainfall 93mm, River 4.8m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2212848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"Dispatcher log: Water breaching embankment near Zone 3. Multiple residents reporting rising water in ground-floor units. Requesting immediate evacuation support."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3246120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+ LANGUAGE → MODEL GENERATES NUMBERS + NARRATIVE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3566160"/>
            <a:ext cx="52852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matching sensor values AND a realistic dispatcher-style report together.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1605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1605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SEED: Rainfall 75mm | Power Outage: Yes  →  Generates: Severe multi-zone compound scenario + dispatcher log narrative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493776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9377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= SAMPLE FROM LEARNED DISTRIBUTION   |   LLM-BASED = GENERATE STRUCTURED DATA + NATURAL LANGUAGE TOGETHER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Have Every Combination?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346960" y="1143000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46960" y="1143000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Status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45280" y="1143000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45280" y="1143000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472184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72184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20mm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6960" y="1472184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6960" y="1472184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45280" y="1472184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45280" y="1472184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783080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58mm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46960" y="1783080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46960" y="1783080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 Outage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45280" y="1783080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45280" y="1783080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093976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093976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93mm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46960" y="2093976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46960" y="2093976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Outage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45280" y="2093976"/>
            <a:ext cx="177088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45280" y="2093976"/>
            <a:ext cx="17708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1430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2801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already have an example of THIS exact combination in our historical data?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2148840"/>
            <a:ext cx="5349240" cy="411480"/>
          </a:xfrm>
          <a:prstGeom prst="roundRect">
            <a:avLst>
              <a:gd name="adj" fmla="val 1111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2148840"/>
            <a:ext cx="5349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30358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📘  GENERATIVE AI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33832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don't have every combination — the model imagines plausible new ones consistent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36576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what it has learned from real disaster patterns.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0233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(GAN/VAE):  Samples from a learned distribution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4023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Simulation-based:  Runs rules &amp; agents forward in time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5720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5720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disaster project uses LLM-based Generative AI.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Sequence / Language Approaches — Algorithms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disaster data • Known patterns • Different strategies for generating a scenario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 SAME DISASTER DATA:  Rainfall • River Level • Dispatcher Logs • SOPs   →   GENERATE SCENARIO + NARRATIVE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8" name="Text 6"/>
          <p:cNvSpPr txBox="1"/>
          <p:nvPr/>
        </p:nvSpPr>
        <p:spPr>
          <a:xfrm>
            <a:off x="658368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1051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Autoregressive LLM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7627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THE NEXT TOKEN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42316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logically follows in this disaster log?"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3464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Narrative + structured pair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68980" y="173736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8708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3378708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26180" y="181051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Prompt-Engineered Gen.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378708" y="217627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SHAPE OUTPUT WITH INSTRUCTIONS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378708" y="242316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if we specify zone, severity, hazard?"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378708" y="283464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Scenario matching the spec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989320" y="173736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6099048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181051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Generation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99048" y="217627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A HANDFUL OF EXAMPLES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099048" y="242316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pattern do these 3 examples share?"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099048" y="283464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New scenario, same style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709660" y="173736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19388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9" name="Text 27"/>
          <p:cNvSpPr txBox="1"/>
          <p:nvPr/>
        </p:nvSpPr>
        <p:spPr>
          <a:xfrm>
            <a:off x="8819388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66860" y="181051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(RAG)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819388" y="217627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IN REAL RECORDS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819388" y="242316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did similar past disasters look like?"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819388" y="283464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Scenario grounded in history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48640" y="329184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338328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6" name="Text 34"/>
          <p:cNvSpPr txBox="1"/>
          <p:nvPr/>
        </p:nvSpPr>
        <p:spPr>
          <a:xfrm>
            <a:off x="658368" y="33832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336499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Domain LLM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73075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SPECIALIZE ON DISASTER DATA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97764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language does dispatcher radio use?"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43891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Domain-accurate scenario text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268980" y="329184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78708" y="338328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43" name="Text 41"/>
          <p:cNvSpPr txBox="1"/>
          <p:nvPr/>
        </p:nvSpPr>
        <p:spPr>
          <a:xfrm>
            <a:off x="3378708" y="33832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726180" y="336499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Chain-of-Thought Prompt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378708" y="373075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STEP-BY-STEP FIRST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378708" y="397764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conditions create a compound event?"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3378708" y="43891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Logically consistent scenario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989320" y="329184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9048" y="338328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0" name="Text 48"/>
          <p:cNvSpPr txBox="1"/>
          <p:nvPr/>
        </p:nvSpPr>
        <p:spPr>
          <a:xfrm>
            <a:off x="6099048" y="33832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336499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Constrained Decoding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099048" y="373075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OUTPUT VALID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099048" y="397764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force the JSON schema to stay correct?"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099048" y="43891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Structured, parseable data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8709660" y="3291840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19388" y="338328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57" name="Text 55"/>
          <p:cNvSpPr txBox="1"/>
          <p:nvPr/>
        </p:nvSpPr>
        <p:spPr>
          <a:xfrm>
            <a:off x="8819388" y="33832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166860" y="3364992"/>
            <a:ext cx="21259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Sampling / Temperature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819388" y="3730752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 HOW WILD IT GETS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8819388" y="3977640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"Do we want a safe variant or a wild edge case?"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8819388" y="4389120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Controlled scenario diversity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548640" y="4892040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48640" y="489204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REMEMBER:  TOKEN • INSTRUCTIONS • EXAMPLES • GROUNDING • SPECIALIZATION • REASONING • VALIDITY • DIVERSITY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/ Latent Models — Algorithms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language output • No fixed script • The model samples new numbers from learned structure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🌊  FLOOD DATA:  Rainfall • River Level • Soil Moisture • Sensor Readings   →   NO REAL EXAMPLE OF THIS EXACT COMBO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8" name="Text 6"/>
          <p:cNvSpPr txBox="1"/>
          <p:nvPr/>
        </p:nvSpPr>
        <p:spPr>
          <a:xfrm>
            <a:off x="658368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NETWORKS COMPETE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a discriminator tell real from fake?"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Increasingly realistic fakes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724912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2834640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82112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 THEN SAMPLE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"What's the essence of a flood event?"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New scenario from latent space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901184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10912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5010912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58384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Diffusion Model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10912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DENOISE STEP BY STEP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010912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sculpt a scenario out of noise?"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010912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High-fidelity synthetic sequence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077456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9" name="Text 27"/>
          <p:cNvSpPr txBox="1"/>
          <p:nvPr/>
        </p:nvSpPr>
        <p:spPr>
          <a:xfrm>
            <a:off x="7187184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 Perturb.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187184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TWEAK A REAL CASE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187184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if last year's flood was 20% higher?"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187184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Modified historical scenario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9253728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63456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6" name="Text 34"/>
          <p:cNvSpPr txBox="1"/>
          <p:nvPr/>
        </p:nvSpPr>
        <p:spPr>
          <a:xfrm>
            <a:off x="9363456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710928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Gaussian Mixture Sampling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363456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FROM KNOWN CLUSTERS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363456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does a 'typical severe' zone look like?"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363456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DISCOVERS → New numeric sensor profile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48640" y="3337560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333756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REMEMBER:  COMPETE • COMPRESS • DENOISE • TWEAK • SAMPLE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Simulation-Based Generation — Algorithms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fixed answers. The model generates scenarios by running rules and agents forward.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881360" cy="411480"/>
          </a:xfrm>
          <a:prstGeom prst="roundRect">
            <a:avLst>
              <a:gd name="adj" fmla="val 1111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🚁  FLOOD RESCUE:  Zones • Residents • Responders • Infrastructure   →   NO SCRIPT, ONLY RULES &amp; INTERACTIONS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8" name="Text 6"/>
          <p:cNvSpPr txBox="1"/>
          <p:nvPr/>
        </p:nvSpPr>
        <p:spPr>
          <a:xfrm>
            <a:off x="658368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Agent-Based Simulation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 ACTORS INTERACTING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would residents &amp; responders behave?"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Emergent compound scenario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724912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15" name="Text 13"/>
          <p:cNvSpPr txBox="1"/>
          <p:nvPr/>
        </p:nvSpPr>
        <p:spPr>
          <a:xfrm>
            <a:off x="2834640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82112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Monte Carlo Simulation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SAME EVENT 1,000 TIMES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"What's the range of possible outcomes?"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Distribution of variants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901184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10912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2" name="Text 20"/>
          <p:cNvSpPr txBox="1"/>
          <p:nvPr/>
        </p:nvSpPr>
        <p:spPr>
          <a:xfrm>
            <a:off x="5010912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58384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Event Injection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10912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FORCE A KNOWN FAILURE MODE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010912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if the bridge closes mid-rescue?"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010912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Scenario with disruption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077456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29" name="Text 27"/>
          <p:cNvSpPr txBox="1"/>
          <p:nvPr/>
        </p:nvSpPr>
        <p:spPr>
          <a:xfrm>
            <a:off x="7187184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Markov Chain Simulation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187184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 OF PROBABLE STATES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187184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state follows this one?"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187184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Plausible event sequence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9253728" y="1737360"/>
            <a:ext cx="20391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63456" y="1828800"/>
            <a:ext cx="292608" cy="292608"/>
          </a:xfrm>
          <a:prstGeom prst="ellipse">
            <a:avLst/>
          </a:prstGeom>
          <a:solidFill>
            <a:srgbClr val="FFB627"/>
          </a:solidFill>
        </p:spPr>
      </p:sp>
      <p:sp>
        <p:nvSpPr>
          <p:cNvPr id="36" name="Text 34"/>
          <p:cNvSpPr txBox="1"/>
          <p:nvPr/>
        </p:nvSpPr>
        <p:spPr>
          <a:xfrm>
            <a:off x="9363456" y="1828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710928" y="1810512"/>
            <a:ext cx="15819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 Replay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363456" y="2176272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MIRROR THE REAL CITY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9363456" y="2423160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would our actual city layout respond?"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363456" y="2834640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→ Geographically grounded scenario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48640" y="3337560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333756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REMEMBER:  INTERACT • REPEAT • INJECT • CHAIN • MIRROR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Should the Generator Decide What to Create?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population is high, should we immediately generate Severe? What should we check next?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 Population &gt; 5,000?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938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 Rising &gt; 0.5 m/hr?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9806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Grid = Unstable?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6674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GENERATE: SEVERE COMPOUND SCENARIO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4892040" cy="2377440"/>
          </a:xfrm>
          <a:prstGeom prst="roundRect">
            <a:avLst>
              <a:gd name="adj" fmla="val 3077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6459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just built a Scenario Spec.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148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generator creates a scenario by combining conditions — one seed parameter at a time — until it reaches a coherent situation.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57200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this project, we use LLM-BASED GENERATION guided by prompts — flexible, realistic, and fast to iterate 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Generate From Messy Seed Data?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37160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137160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37160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37160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37160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00784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700784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700784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1700784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1700784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1700784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1700784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1700784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01168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01168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201168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201168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201168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0" y="201168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011680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2011680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Outage  ← Duplicate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322576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322576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322576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03120" y="2322576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0" y="2322576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0" y="2322576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322576"/>
            <a:ext cx="1527048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12080" y="2322576"/>
            <a:ext cx="1527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40880" y="1371600"/>
            <a:ext cx="4572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0" y="150876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directly generate scenarios using this messy seed data?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40880" y="283464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0880" y="283464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37490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74904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GenAI system needs someone to prepare the seed data first.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685800" cy="685800"/>
          </a:xfrm>
          <a:prstGeom prst="ellipse">
            <a:avLst/>
          </a:prstGeom>
          <a:solidFill>
            <a:srgbClr val="13233D"/>
          </a:solidFill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🧹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686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DEDEE"/>
          </a:solidFill>
          <a:ln w="12700">
            <a:solidFill>
              <a:srgbClr val="FDED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Raw historical distributions and prompts come from different sources.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48031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248031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Raw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8990" y="2468880"/>
            <a:ext cx="248031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8990" y="2468880"/>
            <a:ext cx="248031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9340" y="2468880"/>
            <a:ext cx="2480310" cy="6858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49340" y="2468880"/>
            <a:ext cx="248031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49690" y="2468880"/>
            <a:ext cx="2480310" cy="685800"/>
          </a:xfrm>
          <a:prstGeom prst="roundRect">
            <a:avLst>
              <a:gd name="adj" fmla="val 8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49690" y="2468880"/>
            <a:ext cx="248031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747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CLEAN SEED DATASET → The Data Engineer prepares clean baseline data for the generator to learn from.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the Generated Scenario Make Sense?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544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mm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 Level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9385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 m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2257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32257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70662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Severity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70662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0" y="1417320"/>
            <a:ext cx="5760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6002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this generated scenario look realistic?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0116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is it a hallucination — light rain and a calm grid, but labeled Severe?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rgbClr val="13233D"/>
          </a:solidFill>
        </p:spPr>
      </p:sp>
      <p:sp>
        <p:nvSpPr>
          <p:cNvPr id="17" name="Text 15"/>
          <p:cNvSpPr txBox="1"/>
          <p:nvPr/>
        </p:nvSpPr>
        <p:spPr>
          <a:xfrm>
            <a:off x="548640" y="33375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4290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/ PROMPT ENGINEER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69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EDA/Prompt Engineer explores blind spots, crafts prompts, and checks generated scenarios for unrealistic outputs.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2537460" cy="594360"/>
          </a:xfrm>
          <a:prstGeom prst="roundRect">
            <a:avLst>
              <a:gd name="adj" fmla="val 9231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0916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Seed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3260" y="4709160"/>
            <a:ext cx="2537460" cy="594360"/>
          </a:xfrm>
          <a:prstGeom prst="roundRect">
            <a:avLst>
              <a:gd name="adj" fmla="val 9231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23260" y="470916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Craft Prompts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4709160"/>
            <a:ext cx="2537460" cy="594360"/>
          </a:xfrm>
          <a:prstGeom prst="roundRect">
            <a:avLst>
              <a:gd name="adj" fmla="val 9231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470916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Hallucinations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4709160"/>
            <a:ext cx="2537460" cy="594360"/>
          </a:xfrm>
          <a:prstGeom prst="roundRect">
            <a:avLst>
              <a:gd name="adj" fmla="val 923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72500" y="470916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Prompt Set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our seed data and prompts are ready. What should we do next?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13233D"/>
          </a:solidFill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34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GENAI ENGINEER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1576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 Level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826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 Status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496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Zone Population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6517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434840" y="2514600"/>
            <a:ext cx="2926080" cy="914400"/>
          </a:xfrm>
          <a:prstGeom prst="roundRect">
            <a:avLst>
              <a:gd name="adj" fmla="val 7000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25146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SCENARIO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1272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(LLM-based)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6517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183880" y="214884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1488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2715768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271576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3282696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28269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3849624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17263B"/>
          </a:solidFill>
          <a:ln w="12700">
            <a:solidFill>
              <a:srgbClr val="1726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384962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Wildcard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70916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GenAI Engineer builds the generation pipeline that turns seed conditions into full scenarios.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TRUST IT?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generator says every scenario looks realistic. Should we trust it immediately?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26880" y="36576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3657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SCENARIO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74520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Optimized to look convincing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4173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508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CONSISTENCY CHECK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8745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F5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checked against physical plausibility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13233D"/>
          </a:solidFill>
        </p:spPr>
      </p:sp>
      <p:sp>
        <p:nvSpPr>
          <p:cNvPr id="13" name="Text 11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7004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generated scenarios against real-world plausibility &amp; SOP rules to check whether they're truly useful stress-tests — or just noise.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4591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023360"/>
            <a:ext cx="3184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Realism Score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43400"/>
            <a:ext cx="31848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physically plausible each scenario 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44975" y="3886200"/>
            <a:ext cx="34591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82135" y="4023360"/>
            <a:ext cx="3184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 Coverage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282135" y="4343400"/>
            <a:ext cx="31848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distinct failure modes are represented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41310" y="3886200"/>
            <a:ext cx="345917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78470" y="4023360"/>
            <a:ext cx="3184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Overconfidence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878470" y="4343400"/>
            <a:ext cx="31848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dramatic but is physically impossible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the response team read raw generator logs during a live stress test?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rgbClr val="132A45"/>
          </a:solidFill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🔌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ENGINEER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26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Seed Params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461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🎬 Scenario: SEVERE COMPOUND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862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 Pipeline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/ Realism: 91%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9320" y="2788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926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Injected into Test Dashboard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429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E3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Test Coverage: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7490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Run response pipeline against scenario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Log system's decision &amp; timing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2920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Integration Engineer feeds generated scenarios into the live testing / stress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Emergency to Synthetic Stress-Test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PROBLEM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67812" y="13533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23260" y="128016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23260" y="128016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 CONDITIONS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742432" y="13533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128016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128016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7052" y="13533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72500" y="128016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72500" y="128016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87452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conditions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we need?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223260" y="187452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patterns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187452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is the raw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seed data clean?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572500" y="187452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scenario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sense?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60604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/ PROMPT ENGINEER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067812" y="267919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23260" y="260604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23260" y="260604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 ENGINEER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267919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97880" y="260604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97880" y="260604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ENGINEER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7052" y="267919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72500" y="2606040"/>
            <a:ext cx="2537460" cy="502920"/>
          </a:xfrm>
          <a:prstGeom prst="roundRect">
            <a:avLst>
              <a:gd name="adj" fmla="val 909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72500" y="2606040"/>
            <a:ext cx="25374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ENGINEER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20040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generate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scenario?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223260" y="320040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scenario?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320040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the 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use it?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572500" y="3200400"/>
            <a:ext cx="25374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0690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LIVE SCENARIO STRESS-TEST DASHBOARD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the Generator.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Rainfall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 mm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River Level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 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Status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Unstable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375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Event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3375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46304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132A45"/>
          </a:solidFill>
          <a:ln w="12700">
            <a:solidFill>
              <a:srgbClr val="132A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1488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scenario severity should be generated?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3459175" cy="59436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34840"/>
            <a:ext cx="345917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MILD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44975" y="4434840"/>
            <a:ext cx="3459175" cy="594360"/>
          </a:xfrm>
          <a:prstGeom prst="roundRect">
            <a:avLst>
              <a:gd name="adj" fmla="val 923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44975" y="4434840"/>
            <a:ext cx="345917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MODERATE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41310" y="4434840"/>
            <a:ext cx="3459175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41310" y="4434840"/>
            <a:ext cx="345917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SEVERE COMPOUND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57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see if our generator agrees with you.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Did Manually → What Python Does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identified duplicates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1097280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972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0972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cleans duplicate seeds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830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spotted unrealistic scenarios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783080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7830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/ Prompt Eng. audits hallucinations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4688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imagined a new scenario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468880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4688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 model generates the scenario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1546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checked if it was plausible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154680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1546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tests realism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404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handed off the scenario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840480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84048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84048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sends result to test 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78231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First, you understood the process manually.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05663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Now, the computer automates the same process.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"Today, You Didn't Just Learn Generative AI."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801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were the emergency officer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373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identified how rare real disasters truly are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0" name="Text 8"/>
          <p:cNvSpPr txBox="1"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945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learned patterns from past scenarios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3" name="Text 11"/>
          <p:cNvSpPr txBox="1"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517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built a scenario spec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6" name="Text 14"/>
          <p:cNvSpPr txBox="1"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1089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discovered why seed data must be cleaned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19" name="Text 17"/>
          <p:cNvSpPr txBox="1"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661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tested whether a generated scenario can be trusted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2A9D8F"/>
          </a:solidFill>
        </p:spPr>
      </p:sp>
      <p:sp>
        <p:nvSpPr>
          <p:cNvPr id="22" name="Text 20"/>
          <p:cNvSpPr txBox="1"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0233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saw how AI imagines the disasters we haven't faced yet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7548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is not just calling generate().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4748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complete journey from sparse real data to a trustworthy synthetic stress-test.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12401</Words>
  <Application>WPS Presentation</Application>
  <PresentationFormat>On-screen Show (16:9)</PresentationFormat>
  <Paragraphs>927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Nivatha selvan</cp:lastModifiedBy>
  <cp:revision>3</cp:revision>
  <dcterms:created xsi:type="dcterms:W3CDTF">2026-08-28T05:45:00Z</dcterms:created>
  <dcterms:modified xsi:type="dcterms:W3CDTF">2026-08-28T06:20:05Z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319C26D949B64F24822464EF889F3F0E_12</vt:lpwstr>
  </property>
  <property fmtid="{D5CDD505-2E9C-101B-9397-08002B2CF9AE}" pid="3" name="KSOProductBuildVer">
    <vt:lpwstr>1033-12.1.0.28032</vt:lpwstr>
  </property>
</Properties>
</file>
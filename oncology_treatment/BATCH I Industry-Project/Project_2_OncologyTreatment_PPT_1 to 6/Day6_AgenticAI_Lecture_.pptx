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tone: this is a mission, not a lecture. Speak slowly, like a command-center briefing. Do not mention 'Agentic AI' by name yet — let the story carry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question out loud and pause. Let the room sit in the uncertainty for a few seconds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real show-of-hands vote for Zone 7 / Zone 12. Do not reveal which is correct — the reveal comes naturally two slides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say 'too much for one person to fuse in real time' in their own words before you reveal the navy statement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autonomy rows left to right before asking the closing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quick vote (Zone 7 / Zone 12 / Split) before revealing the red DISPATCH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already hinted we're using deliberative reasoning — now zoom out and show all three types side by side before narrowing back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reactive/multi-agent to one line each — they are context, not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dwell equally on all eight — the point is 'many strategies exist.' Spend most of the time on card 1, ReAct, since it's circled in gold and is exactly what the class builds together two slides from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this loop live with the class — ask 'what should we check next?' after each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duplicate row and the missing SOP — let students name the problems before you label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Slide 16's messy tool list — this role fixes exactly what students just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argue both sides — 'this is fine' vs 'this is a wasted step' — before naming the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'reasoning' finally gets a face — the Agent Engineer, not magic.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analogy: rehearsing a script vs actually understanding the judgement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mock is the payoff moment — this is what all five roles were building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full chain slowly, left to right, top row then bottom row — this is the 'aha' recap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vote, then transition straight into the live agent / dashboard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slide before opening the live agent demo / command center.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students to say, in one sentence, which role they'd want to be on a real agentic AI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a:xfrm>
          <a:off x="0" y="0"/>
          <a:ext cx="0" cy="0"/>
          <a:chOff x="0" y="0"/>
          <a:chExt cx="0" cy="0"/>
        </a:xfrm>
      </p:grpSpPr>
      <p:sp>
        <p:nvSpPr>
          <p:cNvPr id="2" name="Shape 0"/>
          <p:cNvSpPr/>
          <p:nvPr/>
        </p:nvSpPr>
        <p:spPr>
          <a:xfrm>
            <a:off x="9966960" y="640080"/>
            <a:ext cx="1554480" cy="1554480"/>
          </a:xfrm>
          <a:prstGeom prst="ellipse">
            <a:avLst/>
          </a:prstGeom>
          <a:solidFill>
            <a:srgbClr val="17263B"/>
          </a:solidFill>
          <a:ln w="19050">
            <a:solidFill>
              <a:srgbClr val="FFB627"/>
            </a:solidFill>
            <a:prstDash val="solid"/>
          </a:ln>
        </p:spPr>
        <p:txBody>
          <a:bodyPr/>
          <a:p/>
        </p:txBody>
      </p:sp>
      <p:sp>
        <p:nvSpPr>
          <p:cNvPr id="3" name="Text 1"/>
          <p:cNvSpPr txBox="1"/>
          <p:nvPr/>
        </p:nvSpPr>
        <p:spPr>
          <a:xfrm>
            <a:off x="9966960" y="640080"/>
            <a:ext cx="1554480" cy="1554480"/>
          </a:xfrm>
          <a:prstGeom prst="rect">
            <a:avLst/>
          </a:prstGeom>
          <a:noFill/>
        </p:spPr>
        <p:txBody>
          <a:bodyPr wrap="square" lIns="0" tIns="0" rIns="0" bIns="0" rtlCol="0" anchor="ctr"/>
          <a:lstStyle/>
          <a:p>
            <a:pPr marL="0" indent="0" algn="ctr">
              <a:buNone/>
            </a:pPr>
            <a:r>
              <a:rPr lang="en-US" sz="4000" dirty="0">
                <a:solidFill>
                  <a:srgbClr val="000000"/>
                </a:solidFill>
              </a:rPr>
              <a:t>🤖</a:t>
            </a:r>
            <a:endParaRPr lang="en-US" sz="4000" dirty="0"/>
          </a:p>
        </p:txBody>
      </p:sp>
      <p:sp>
        <p:nvSpPr>
          <p:cNvPr id="4" name="Text 2"/>
          <p:cNvSpPr txBox="1"/>
          <p:nvPr/>
        </p:nvSpPr>
        <p:spPr>
          <a:xfrm>
            <a:off x="640080" y="2834640"/>
            <a:ext cx="9144000" cy="822960"/>
          </a:xfrm>
          <a:prstGeom prst="rect">
            <a:avLst/>
          </a:prstGeom>
          <a:noFill/>
        </p:spPr>
        <p:txBody>
          <a:bodyPr wrap="square" lIns="0" tIns="0" rIns="0" bIns="0" rtlCol="0" anchor="ctr"/>
          <a:lstStyle/>
          <a:p>
            <a:pPr marL="0" indent="0">
              <a:buNone/>
            </a:pPr>
            <a:r>
              <a:rPr lang="en-US" sz="4800" b="1" dirty="0">
                <a:solidFill>
                  <a:srgbClr val="FFFFFF"/>
                </a:solidFill>
                <a:latin typeface="Cambria" panose="02040503050406030204" pitchFamily="34" charset="0"/>
                <a:ea typeface="Cambria" panose="02040503050406030204" pitchFamily="34" charset="-122"/>
                <a:cs typeface="Cambria" panose="02040503050406030204" pitchFamily="34" charset="-120"/>
              </a:rPr>
              <a:t>AGENTIC </a:t>
            </a:r>
            <a:r>
              <a:rPr lang="en-US" sz="4800" b="1" dirty="0">
                <a:solidFill>
                  <a:srgbClr val="FFB627"/>
                </a:solidFill>
                <a:latin typeface="Cambria" panose="02040503050406030204" pitchFamily="34" charset="0"/>
                <a:ea typeface="Cambria" panose="02040503050406030204" pitchFamily="34" charset="-122"/>
                <a:cs typeface="Cambria" panose="02040503050406030204" pitchFamily="34" charset="-120"/>
              </a:rPr>
              <a:t>AI</a:t>
            </a:r>
            <a:endParaRPr lang="en-US" sz="4800" dirty="0"/>
          </a:p>
        </p:txBody>
      </p:sp>
      <p:sp>
        <p:nvSpPr>
          <p:cNvPr id="5" name="Text 3"/>
          <p:cNvSpPr txBox="1"/>
          <p:nvPr/>
        </p:nvSpPr>
        <p:spPr>
          <a:xfrm>
            <a:off x="640080" y="3703320"/>
            <a:ext cx="7315200" cy="457200"/>
          </a:xfrm>
          <a:prstGeom prst="rect">
            <a:avLst/>
          </a:prstGeom>
          <a:noFill/>
        </p:spPr>
        <p:txBody>
          <a:bodyPr wrap="square" lIns="0" tIns="0" rIns="0" bIns="0" rtlCol="0" anchor="ctr"/>
          <a:lstStyle/>
          <a:p>
            <a:pPr marL="0" indent="0">
              <a:buNone/>
            </a:pPr>
            <a:r>
              <a:rPr lang="en-US" sz="1600" dirty="0">
                <a:solidFill>
                  <a:srgbClr val="9FB3CC"/>
                </a:solidFill>
                <a:latin typeface="Calibri" panose="020F0502020204030204" pitchFamily="34" charset="0"/>
                <a:ea typeface="Calibri" panose="020F0502020204030204" pitchFamily="34" charset="-122"/>
                <a:cs typeface="Calibri" panose="020F0502020204030204" pitchFamily="34" charset="-120"/>
              </a:rPr>
              <a:t>Day 6 · Precision Oncology Treatment Optimization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p:spPr>
        <p:txBody>
          <a:bodyPr wrap="square" lIns="0" tIns="0" rIns="0" bIns="0" rtlCol="0" anchor="ctr"/>
          <a:lstStyle/>
          <a:p>
            <a:pPr marL="0" indent="0">
              <a:buNone/>
            </a:pPr>
            <a:r>
              <a:rPr lang="en-US" sz="1200" b="1" kern="0" spc="200" dirty="0">
                <a:solidFill>
                  <a:srgbClr val="FFB627"/>
                </a:solidFill>
                <a:latin typeface="Calibri" panose="020F0502020204030204" pitchFamily="34" charset="0"/>
                <a:ea typeface="Calibri" panose="020F0502020204030204" pitchFamily="34" charset="-122"/>
                <a:cs typeface="Calibri" panose="020F0502020204030204" pitchFamily="34" charset="-120"/>
              </a:rPr>
              <a:t>TODAY'S AGENDA</a:t>
            </a:r>
            <a:endParaRPr lang="en-US" sz="1200" dirty="0"/>
          </a:p>
        </p:txBody>
      </p:sp>
      <p:sp>
        <p:nvSpPr>
          <p:cNvPr id="3" name="Text 1"/>
          <p:cNvSpPr txBox="1"/>
          <p:nvPr/>
        </p:nvSpPr>
        <p:spPr>
          <a:xfrm>
            <a:off x="640080" y="731520"/>
            <a:ext cx="9144000" cy="54864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What We'll Cover Today</a:t>
            </a:r>
            <a:endParaRPr lang="en-US" sz="3000" dirty="0"/>
          </a:p>
        </p:txBody>
      </p:sp>
      <p:sp>
        <p:nvSpPr>
          <p:cNvPr id="4" name="Text 2"/>
          <p:cNvSpPr txBox="1"/>
          <p:nvPr/>
        </p:nvSpPr>
        <p:spPr>
          <a:xfrm>
            <a:off x="640080" y="1207008"/>
            <a:ext cx="9144000" cy="365760"/>
          </a:xfrm>
          <a:prstGeom prst="rect">
            <a:avLst/>
          </a:prstGeom>
          <a:noFill/>
        </p:spPr>
        <p:txBody>
          <a:bodyPr wrap="square" lIns="0" tIns="0" rIns="0" bIns="0" rtlCol="0" anchor="ctr"/>
          <a:lstStyle/>
          <a:p>
            <a:pPr marL="0" indent="0">
              <a:buNone/>
            </a:pPr>
            <a:r>
              <a:rPr lang="en-US" sz="1300" dirty="0">
                <a:solidFill>
                  <a:srgbClr val="9FB3CC"/>
                </a:solidFill>
                <a:latin typeface="Calibri" panose="020F0502020204030204" pitchFamily="34" charset="0"/>
                <a:ea typeface="Calibri" panose="020F0502020204030204" pitchFamily="34" charset="-122"/>
                <a:cs typeface="Calibri" panose="020F0502020204030204" pitchFamily="34" charset="-120"/>
              </a:rPr>
              <a:t>Six stages — from a two-patient dilemma to an autonomous treatment agent</a:t>
            </a:r>
            <a:endParaRPr lang="en-US" sz="1300" dirty="0"/>
          </a:p>
        </p:txBody>
      </p:sp>
      <p:sp>
        <p:nvSpPr>
          <p:cNvPr id="5" name="Shape 3"/>
          <p:cNvSpPr/>
          <p:nvPr/>
        </p:nvSpPr>
        <p:spPr>
          <a:xfrm>
            <a:off x="640080" y="1783080"/>
            <a:ext cx="9692640" cy="621792"/>
          </a:xfrm>
          <a:prstGeom prst="roundRect">
            <a:avLst>
              <a:gd name="adj" fmla="val 8824"/>
            </a:avLst>
          </a:prstGeom>
          <a:solidFill>
            <a:srgbClr val="17263B"/>
          </a:solidFill>
        </p:spPr>
        <p:txBody>
          <a:bodyPr/>
          <a:p/>
        </p:txBody>
      </p:sp>
      <p:sp>
        <p:nvSpPr>
          <p:cNvPr id="6" name="Shape 4"/>
          <p:cNvSpPr/>
          <p:nvPr/>
        </p:nvSpPr>
        <p:spPr>
          <a:xfrm>
            <a:off x="868680" y="1920240"/>
            <a:ext cx="347472" cy="347472"/>
          </a:xfrm>
          <a:prstGeom prst="ellipse">
            <a:avLst/>
          </a:prstGeom>
          <a:solidFill>
            <a:srgbClr val="FFB627"/>
          </a:solidFill>
        </p:spPr>
        <p:txBody>
          <a:bodyPr/>
          <a:p/>
        </p:txBody>
      </p:sp>
      <p:sp>
        <p:nvSpPr>
          <p:cNvPr id="7" name="Text 5"/>
          <p:cNvSpPr txBox="1"/>
          <p:nvPr/>
        </p:nvSpPr>
        <p:spPr>
          <a:xfrm>
            <a:off x="868680" y="1920240"/>
            <a:ext cx="347472" cy="347472"/>
          </a:xfrm>
          <a:prstGeom prst="rect">
            <a:avLst/>
          </a:prstGeom>
          <a:noFill/>
        </p:spPr>
        <p:txBody>
          <a:bodyPr wrap="square" lIns="0" tIns="0" rIns="0" bIns="0" rtlCol="0" anchor="ctr"/>
          <a:lstStyle/>
          <a:p>
            <a:pPr marL="0" indent="0" algn="ctr">
              <a:buNone/>
            </a:pPr>
            <a:r>
              <a:rPr lang="en-US" sz="1400" b="1" dirty="0">
                <a:solidFill>
                  <a:srgbClr val="081527"/>
                </a:solidFill>
                <a:latin typeface="Calibri" panose="020F0502020204030204" pitchFamily="34" charset="0"/>
                <a:ea typeface="Calibri" panose="020F0502020204030204" pitchFamily="34" charset="-122"/>
                <a:cs typeface="Calibri" panose="020F0502020204030204" pitchFamily="34" charset="-120"/>
              </a:rPr>
              <a:t>1</a:t>
            </a:r>
            <a:endParaRPr lang="en-US" sz="1400" dirty="0"/>
          </a:p>
        </p:txBody>
      </p:sp>
      <p:sp>
        <p:nvSpPr>
          <p:cNvPr id="8" name="Text 6"/>
          <p:cNvSpPr txBox="1"/>
          <p:nvPr/>
        </p:nvSpPr>
        <p:spPr>
          <a:xfrm>
            <a:off x="1417320" y="1837944"/>
            <a:ext cx="8595360" cy="320040"/>
          </a:xfrm>
          <a:prstGeom prst="rect">
            <a:avLst/>
          </a:prstGeom>
          <a:noFill/>
        </p:spPr>
        <p:txBody>
          <a:bodyPr wrap="square" lIns="0" tIns="0" rIns="0" bIns="0"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The Treatment Decision</a:t>
            </a:r>
            <a:endParaRPr lang="en-US" sz="1400" dirty="0"/>
          </a:p>
        </p:txBody>
      </p:sp>
      <p:sp>
        <p:nvSpPr>
          <p:cNvPr id="9" name="Text 7"/>
          <p:cNvSpPr txBox="1"/>
          <p:nvPr/>
        </p:nvSpPr>
        <p:spPr>
          <a:xfrm>
            <a:off x="1417320" y="2130552"/>
            <a:ext cx="8595360" cy="292608"/>
          </a:xfrm>
          <a:prstGeom prst="rect">
            <a:avLst/>
          </a:prstGeom>
          <a:noFill/>
        </p:spPr>
        <p:txBody>
          <a:bodyPr wrap="square" lIns="0" tIns="0" rIns="0" bIns="0" rtlCol="0" anchor="ctr"/>
          <a:lstStyle/>
          <a:p>
            <a:pPr marL="0" indent="0">
              <a:buNone/>
            </a:pPr>
            <a:r>
              <a:rPr lang="en-US" sz="1100" dirty="0">
                <a:solidFill>
                  <a:srgbClr val="9FB3CC"/>
                </a:solidFill>
                <a:latin typeface="Calibri" panose="020F0502020204030204" pitchFamily="34" charset="0"/>
                <a:ea typeface="Calibri" panose="020F0502020204030204" pitchFamily="34" charset="-122"/>
                <a:cs typeface="Calibri" panose="020F0502020204030204" pitchFamily="34" charset="-120"/>
              </a:rPr>
              <a:t>Why a human alone can't weigh every treatment trade-off in real time</a:t>
            </a:r>
            <a:endParaRPr lang="en-US" sz="1100" dirty="0"/>
          </a:p>
        </p:txBody>
      </p:sp>
      <p:sp>
        <p:nvSpPr>
          <p:cNvPr id="10" name="Shape 8"/>
          <p:cNvSpPr/>
          <p:nvPr/>
        </p:nvSpPr>
        <p:spPr>
          <a:xfrm>
            <a:off x="640080" y="2532888"/>
            <a:ext cx="9692640" cy="621792"/>
          </a:xfrm>
          <a:prstGeom prst="roundRect">
            <a:avLst>
              <a:gd name="adj" fmla="val 8824"/>
            </a:avLst>
          </a:prstGeom>
          <a:solidFill>
            <a:srgbClr val="17263B"/>
          </a:solidFill>
        </p:spPr>
        <p:txBody>
          <a:bodyPr/>
          <a:p/>
        </p:txBody>
      </p:sp>
      <p:sp>
        <p:nvSpPr>
          <p:cNvPr id="11" name="Shape 9"/>
          <p:cNvSpPr/>
          <p:nvPr/>
        </p:nvSpPr>
        <p:spPr>
          <a:xfrm>
            <a:off x="868680" y="2670048"/>
            <a:ext cx="347472" cy="347472"/>
          </a:xfrm>
          <a:prstGeom prst="ellipse">
            <a:avLst/>
          </a:prstGeom>
          <a:solidFill>
            <a:srgbClr val="FFB627"/>
          </a:solidFill>
        </p:spPr>
        <p:txBody>
          <a:bodyPr/>
          <a:p/>
        </p:txBody>
      </p:sp>
      <p:sp>
        <p:nvSpPr>
          <p:cNvPr id="12" name="Text 10"/>
          <p:cNvSpPr txBox="1"/>
          <p:nvPr/>
        </p:nvSpPr>
        <p:spPr>
          <a:xfrm>
            <a:off x="868680" y="2670048"/>
            <a:ext cx="347472" cy="347472"/>
          </a:xfrm>
          <a:prstGeom prst="rect">
            <a:avLst/>
          </a:prstGeom>
          <a:noFill/>
        </p:spPr>
        <p:txBody>
          <a:bodyPr wrap="square" lIns="0" tIns="0" rIns="0" bIns="0" rtlCol="0" anchor="ctr"/>
          <a:lstStyle/>
          <a:p>
            <a:pPr marL="0" indent="0" algn="ctr">
              <a:buNone/>
            </a:pPr>
            <a:r>
              <a:rPr lang="en-US" sz="1400" b="1" dirty="0">
                <a:solidFill>
                  <a:srgbClr val="081527"/>
                </a:solidFill>
                <a:latin typeface="Calibri" panose="020F0502020204030204" pitchFamily="34" charset="0"/>
                <a:ea typeface="Calibri" panose="020F0502020204030204" pitchFamily="34" charset="-122"/>
                <a:cs typeface="Calibri" panose="020F0502020204030204" pitchFamily="34" charset="-120"/>
              </a:rPr>
              <a:t>2</a:t>
            </a:r>
            <a:endParaRPr lang="en-US" sz="1400" dirty="0"/>
          </a:p>
        </p:txBody>
      </p:sp>
      <p:sp>
        <p:nvSpPr>
          <p:cNvPr id="13" name="Text 11"/>
          <p:cNvSpPr txBox="1"/>
          <p:nvPr/>
        </p:nvSpPr>
        <p:spPr>
          <a:xfrm>
            <a:off x="1417320" y="2587752"/>
            <a:ext cx="8595360" cy="320040"/>
          </a:xfrm>
          <a:prstGeom prst="rect">
            <a:avLst/>
          </a:prstGeom>
          <a:noFill/>
        </p:spPr>
        <p:txBody>
          <a:bodyPr wrap="square" lIns="0" tIns="0" rIns="0" bIns="0"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What Is Agentic AI?</a:t>
            </a:r>
            <a:endParaRPr lang="en-US" sz="1400" dirty="0"/>
          </a:p>
        </p:txBody>
      </p:sp>
      <p:sp>
        <p:nvSpPr>
          <p:cNvPr id="14" name="Text 12"/>
          <p:cNvSpPr txBox="1"/>
          <p:nvPr/>
        </p:nvSpPr>
        <p:spPr>
          <a:xfrm>
            <a:off x="1417320" y="2880360"/>
            <a:ext cx="8595360" cy="292608"/>
          </a:xfrm>
          <a:prstGeom prst="rect">
            <a:avLst/>
          </a:prstGeom>
          <a:noFill/>
        </p:spPr>
        <p:txBody>
          <a:bodyPr wrap="square" lIns="0" tIns="0" rIns="0" bIns="0" rtlCol="0" anchor="ctr"/>
          <a:lstStyle/>
          <a:p>
            <a:pPr marL="0" indent="0">
              <a:buNone/>
            </a:pPr>
            <a:r>
              <a:rPr lang="en-US" sz="1100" dirty="0">
                <a:solidFill>
                  <a:srgbClr val="9FB3CC"/>
                </a:solidFill>
                <a:latin typeface="Calibri" panose="020F0502020204030204" pitchFamily="34" charset="0"/>
                <a:ea typeface="Calibri" panose="020F0502020204030204" pitchFamily="34" charset="-122"/>
                <a:cs typeface="Calibri" panose="020F0502020204030204" pitchFamily="34" charset="-120"/>
              </a:rPr>
              <a:t>Moving from prediction to autonomous reasoning and action</a:t>
            </a:r>
            <a:endParaRPr lang="en-US" sz="1100" dirty="0"/>
          </a:p>
        </p:txBody>
      </p:sp>
      <p:sp>
        <p:nvSpPr>
          <p:cNvPr id="15" name="Shape 13"/>
          <p:cNvSpPr/>
          <p:nvPr/>
        </p:nvSpPr>
        <p:spPr>
          <a:xfrm>
            <a:off x="640080" y="3282696"/>
            <a:ext cx="9692640" cy="621792"/>
          </a:xfrm>
          <a:prstGeom prst="roundRect">
            <a:avLst>
              <a:gd name="adj" fmla="val 8824"/>
            </a:avLst>
          </a:prstGeom>
          <a:solidFill>
            <a:srgbClr val="17263B"/>
          </a:solidFill>
        </p:spPr>
        <p:txBody>
          <a:bodyPr/>
          <a:p/>
        </p:txBody>
      </p:sp>
      <p:sp>
        <p:nvSpPr>
          <p:cNvPr id="16" name="Shape 14"/>
          <p:cNvSpPr/>
          <p:nvPr/>
        </p:nvSpPr>
        <p:spPr>
          <a:xfrm>
            <a:off x="868680" y="3419856"/>
            <a:ext cx="347472" cy="347472"/>
          </a:xfrm>
          <a:prstGeom prst="ellipse">
            <a:avLst/>
          </a:prstGeom>
          <a:solidFill>
            <a:srgbClr val="FFB627"/>
          </a:solidFill>
        </p:spPr>
        <p:txBody>
          <a:bodyPr/>
          <a:p/>
        </p:txBody>
      </p:sp>
      <p:sp>
        <p:nvSpPr>
          <p:cNvPr id="17" name="Text 15"/>
          <p:cNvSpPr txBox="1"/>
          <p:nvPr/>
        </p:nvSpPr>
        <p:spPr>
          <a:xfrm>
            <a:off x="868680" y="3419856"/>
            <a:ext cx="347472" cy="347472"/>
          </a:xfrm>
          <a:prstGeom prst="rect">
            <a:avLst/>
          </a:prstGeom>
          <a:noFill/>
        </p:spPr>
        <p:txBody>
          <a:bodyPr wrap="square" lIns="0" tIns="0" rIns="0" bIns="0" rtlCol="0" anchor="ctr"/>
          <a:lstStyle/>
          <a:p>
            <a:pPr marL="0" indent="0" algn="ctr">
              <a:buNone/>
            </a:pPr>
            <a:r>
              <a:rPr lang="en-US" sz="1400" b="1" dirty="0">
                <a:solidFill>
                  <a:srgbClr val="081527"/>
                </a:solidFill>
                <a:latin typeface="Calibri" panose="020F0502020204030204" pitchFamily="34" charset="0"/>
                <a:ea typeface="Calibri" panose="020F0502020204030204" pitchFamily="34" charset="-122"/>
                <a:cs typeface="Calibri" panose="020F0502020204030204" pitchFamily="34" charset="-120"/>
              </a:rPr>
              <a:t>3</a:t>
            </a:r>
            <a:endParaRPr lang="en-US" sz="1400" dirty="0"/>
          </a:p>
        </p:txBody>
      </p:sp>
      <p:sp>
        <p:nvSpPr>
          <p:cNvPr id="18" name="Text 16"/>
          <p:cNvSpPr txBox="1"/>
          <p:nvPr/>
        </p:nvSpPr>
        <p:spPr>
          <a:xfrm>
            <a:off x="1417320" y="3337560"/>
            <a:ext cx="8595360" cy="320040"/>
          </a:xfrm>
          <a:prstGeom prst="rect">
            <a:avLst/>
          </a:prstGeom>
          <a:noFill/>
        </p:spPr>
        <p:txBody>
          <a:bodyPr wrap="square" lIns="0" tIns="0" rIns="0" bIns="0"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Types &amp; Patterns of Agentic AI</a:t>
            </a:r>
            <a:endParaRPr lang="en-US" sz="1400" dirty="0"/>
          </a:p>
        </p:txBody>
      </p:sp>
      <p:sp>
        <p:nvSpPr>
          <p:cNvPr id="19" name="Text 17"/>
          <p:cNvSpPr txBox="1"/>
          <p:nvPr/>
        </p:nvSpPr>
        <p:spPr>
          <a:xfrm>
            <a:off x="1417320" y="3630168"/>
            <a:ext cx="8595360" cy="292608"/>
          </a:xfrm>
          <a:prstGeom prst="rect">
            <a:avLst/>
          </a:prstGeom>
          <a:noFill/>
        </p:spPr>
        <p:txBody>
          <a:bodyPr wrap="square" lIns="0" tIns="0" rIns="0" bIns="0" rtlCol="0" anchor="ctr"/>
          <a:lstStyle/>
          <a:p>
            <a:pPr marL="0" indent="0">
              <a:buNone/>
            </a:pPr>
            <a:r>
              <a:rPr lang="en-US" sz="1100" dirty="0">
                <a:solidFill>
                  <a:srgbClr val="9FB3CC"/>
                </a:solidFill>
                <a:latin typeface="Calibri" panose="020F0502020204030204" pitchFamily="34" charset="0"/>
                <a:ea typeface="Calibri" panose="020F0502020204030204" pitchFamily="34" charset="-122"/>
                <a:cs typeface="Calibri" panose="020F0502020204030204" pitchFamily="34" charset="-120"/>
              </a:rPr>
              <a:t>Reactive, Deliberative, Multi-Agent — and what powers each</a:t>
            </a:r>
            <a:endParaRPr lang="en-US" sz="1100" dirty="0"/>
          </a:p>
        </p:txBody>
      </p:sp>
      <p:sp>
        <p:nvSpPr>
          <p:cNvPr id="20" name="Shape 18"/>
          <p:cNvSpPr/>
          <p:nvPr/>
        </p:nvSpPr>
        <p:spPr>
          <a:xfrm>
            <a:off x="640080" y="4032504"/>
            <a:ext cx="9692640" cy="621792"/>
          </a:xfrm>
          <a:prstGeom prst="roundRect">
            <a:avLst>
              <a:gd name="adj" fmla="val 8824"/>
            </a:avLst>
          </a:prstGeom>
          <a:solidFill>
            <a:srgbClr val="17263B"/>
          </a:solidFill>
        </p:spPr>
        <p:txBody>
          <a:bodyPr/>
          <a:p/>
        </p:txBody>
      </p:sp>
      <p:sp>
        <p:nvSpPr>
          <p:cNvPr id="21" name="Shape 19"/>
          <p:cNvSpPr/>
          <p:nvPr/>
        </p:nvSpPr>
        <p:spPr>
          <a:xfrm>
            <a:off x="868680" y="4169664"/>
            <a:ext cx="347472" cy="347472"/>
          </a:xfrm>
          <a:prstGeom prst="ellipse">
            <a:avLst/>
          </a:prstGeom>
          <a:solidFill>
            <a:srgbClr val="FFB627"/>
          </a:solidFill>
        </p:spPr>
        <p:txBody>
          <a:bodyPr/>
          <a:p/>
        </p:txBody>
      </p:sp>
      <p:sp>
        <p:nvSpPr>
          <p:cNvPr id="22" name="Text 20"/>
          <p:cNvSpPr txBox="1"/>
          <p:nvPr/>
        </p:nvSpPr>
        <p:spPr>
          <a:xfrm>
            <a:off x="868680" y="4169664"/>
            <a:ext cx="347472" cy="347472"/>
          </a:xfrm>
          <a:prstGeom prst="rect">
            <a:avLst/>
          </a:prstGeom>
          <a:noFill/>
        </p:spPr>
        <p:txBody>
          <a:bodyPr wrap="square" lIns="0" tIns="0" rIns="0" bIns="0" rtlCol="0" anchor="ctr"/>
          <a:lstStyle/>
          <a:p>
            <a:pPr marL="0" indent="0" algn="ctr">
              <a:buNone/>
            </a:pPr>
            <a:r>
              <a:rPr lang="en-US" sz="1400" b="1" dirty="0">
                <a:solidFill>
                  <a:srgbClr val="081527"/>
                </a:solidFill>
                <a:latin typeface="Calibri" panose="020F0502020204030204" pitchFamily="34" charset="0"/>
                <a:ea typeface="Calibri" panose="020F0502020204030204" pitchFamily="34" charset="-122"/>
                <a:cs typeface="Calibri" panose="020F0502020204030204" pitchFamily="34" charset="-120"/>
              </a:rPr>
              <a:t>4</a:t>
            </a:r>
            <a:endParaRPr lang="en-US" sz="1400" dirty="0"/>
          </a:p>
        </p:txBody>
      </p:sp>
      <p:sp>
        <p:nvSpPr>
          <p:cNvPr id="23" name="Text 21"/>
          <p:cNvSpPr txBox="1"/>
          <p:nvPr/>
        </p:nvSpPr>
        <p:spPr>
          <a:xfrm>
            <a:off x="1417320" y="4087368"/>
            <a:ext cx="8595360" cy="320040"/>
          </a:xfrm>
          <a:prstGeom prst="rect">
            <a:avLst/>
          </a:prstGeom>
          <a:noFill/>
        </p:spPr>
        <p:txBody>
          <a:bodyPr wrap="square" lIns="0" tIns="0" rIns="0" bIns="0"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Meet the 5 Agentic AI Roles</a:t>
            </a:r>
            <a:endParaRPr lang="en-US" sz="1400" dirty="0"/>
          </a:p>
        </p:txBody>
      </p:sp>
      <p:sp>
        <p:nvSpPr>
          <p:cNvPr id="24" name="Text 22"/>
          <p:cNvSpPr txBox="1"/>
          <p:nvPr/>
        </p:nvSpPr>
        <p:spPr>
          <a:xfrm>
            <a:off x="1417320" y="4379976"/>
            <a:ext cx="8595360" cy="292608"/>
          </a:xfrm>
          <a:prstGeom prst="rect">
            <a:avLst/>
          </a:prstGeom>
          <a:noFill/>
        </p:spPr>
        <p:txBody>
          <a:bodyPr wrap="square" lIns="0" tIns="0" rIns="0" bIns="0" rtlCol="0" anchor="ctr"/>
          <a:lstStyle/>
          <a:p>
            <a:pPr marL="0" indent="0">
              <a:buNone/>
            </a:pPr>
            <a:r>
              <a:rPr lang="en-US" sz="1100" dirty="0">
                <a:solidFill>
                  <a:srgbClr val="9FB3CC"/>
                </a:solidFill>
                <a:latin typeface="Calibri" panose="020F0502020204030204" pitchFamily="34" charset="0"/>
                <a:ea typeface="Calibri" panose="020F0502020204030204" pitchFamily="34" charset="-122"/>
                <a:cs typeface="Calibri" panose="020F0502020204030204" pitchFamily="34" charset="-120"/>
              </a:rPr>
              <a:t>Knowledge Engineer → Workflow → Agent → Evaluation → Integration Engineer</a:t>
            </a:r>
            <a:endParaRPr lang="en-US" sz="1100" dirty="0"/>
          </a:p>
        </p:txBody>
      </p:sp>
      <p:sp>
        <p:nvSpPr>
          <p:cNvPr id="25" name="Shape 23"/>
          <p:cNvSpPr/>
          <p:nvPr/>
        </p:nvSpPr>
        <p:spPr>
          <a:xfrm>
            <a:off x="640080" y="4782312"/>
            <a:ext cx="9692640" cy="621792"/>
          </a:xfrm>
          <a:prstGeom prst="roundRect">
            <a:avLst>
              <a:gd name="adj" fmla="val 8824"/>
            </a:avLst>
          </a:prstGeom>
          <a:solidFill>
            <a:srgbClr val="17263B"/>
          </a:solidFill>
        </p:spPr>
        <p:txBody>
          <a:bodyPr/>
          <a:p/>
        </p:txBody>
      </p:sp>
      <p:sp>
        <p:nvSpPr>
          <p:cNvPr id="26" name="Shape 24"/>
          <p:cNvSpPr/>
          <p:nvPr/>
        </p:nvSpPr>
        <p:spPr>
          <a:xfrm>
            <a:off x="868680" y="4919472"/>
            <a:ext cx="347472" cy="347472"/>
          </a:xfrm>
          <a:prstGeom prst="ellipse">
            <a:avLst/>
          </a:prstGeom>
          <a:solidFill>
            <a:srgbClr val="FFB627"/>
          </a:solidFill>
        </p:spPr>
        <p:txBody>
          <a:bodyPr/>
          <a:p/>
        </p:txBody>
      </p:sp>
      <p:sp>
        <p:nvSpPr>
          <p:cNvPr id="27" name="Text 25"/>
          <p:cNvSpPr txBox="1"/>
          <p:nvPr/>
        </p:nvSpPr>
        <p:spPr>
          <a:xfrm>
            <a:off x="868680" y="4919472"/>
            <a:ext cx="347472" cy="347472"/>
          </a:xfrm>
          <a:prstGeom prst="rect">
            <a:avLst/>
          </a:prstGeom>
          <a:noFill/>
        </p:spPr>
        <p:txBody>
          <a:bodyPr wrap="square" lIns="0" tIns="0" rIns="0" bIns="0" rtlCol="0" anchor="ctr"/>
          <a:lstStyle/>
          <a:p>
            <a:pPr marL="0" indent="0" algn="ctr">
              <a:buNone/>
            </a:pPr>
            <a:r>
              <a:rPr lang="en-US" sz="1400" b="1" dirty="0">
                <a:solidFill>
                  <a:srgbClr val="081527"/>
                </a:solidFill>
                <a:latin typeface="Calibri" panose="020F0502020204030204" pitchFamily="34" charset="0"/>
                <a:ea typeface="Calibri" panose="020F0502020204030204" pitchFamily="34" charset="-122"/>
                <a:cs typeface="Calibri" panose="020F0502020204030204" pitchFamily="34" charset="-120"/>
              </a:rPr>
              <a:t>5</a:t>
            </a:r>
            <a:endParaRPr lang="en-US" sz="1400" dirty="0"/>
          </a:p>
        </p:txBody>
      </p:sp>
      <p:sp>
        <p:nvSpPr>
          <p:cNvPr id="28" name="Text 26"/>
          <p:cNvSpPr txBox="1"/>
          <p:nvPr/>
        </p:nvSpPr>
        <p:spPr>
          <a:xfrm>
            <a:off x="1417320" y="4837176"/>
            <a:ext cx="8595360" cy="320040"/>
          </a:xfrm>
          <a:prstGeom prst="rect">
            <a:avLst/>
          </a:prstGeom>
          <a:noFill/>
        </p:spPr>
        <p:txBody>
          <a:bodyPr wrap="square" lIns="0" tIns="0" rIns="0" bIns="0"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Building &amp; Trusting the Agent</a:t>
            </a:r>
            <a:endParaRPr lang="en-US" sz="1400" dirty="0"/>
          </a:p>
        </p:txBody>
      </p:sp>
      <p:sp>
        <p:nvSpPr>
          <p:cNvPr id="29" name="Text 27"/>
          <p:cNvSpPr txBox="1"/>
          <p:nvPr/>
        </p:nvSpPr>
        <p:spPr>
          <a:xfrm>
            <a:off x="1417320" y="5129784"/>
            <a:ext cx="8595360" cy="292608"/>
          </a:xfrm>
          <a:prstGeom prst="rect">
            <a:avLst/>
          </a:prstGeom>
          <a:noFill/>
        </p:spPr>
        <p:txBody>
          <a:bodyPr wrap="square" lIns="0" tIns="0" rIns="0" bIns="0" rtlCol="0" anchor="ctr"/>
          <a:lstStyle/>
          <a:p>
            <a:pPr marL="0" indent="0">
              <a:buNone/>
            </a:pPr>
            <a:r>
              <a:rPr lang="en-US" sz="1100" dirty="0">
                <a:solidFill>
                  <a:srgbClr val="9FB3CC"/>
                </a:solidFill>
                <a:latin typeface="Calibri" panose="020F0502020204030204" pitchFamily="34" charset="0"/>
                <a:ea typeface="Calibri" panose="020F0502020204030204" pitchFamily="34" charset="-122"/>
                <a:cs typeface="Calibri" panose="020F0502020204030204" pitchFamily="34" charset="-120"/>
              </a:rPr>
              <a:t>Building a ReAct reasoning loop together, then testing if it can be trusted</a:t>
            </a:r>
            <a:endParaRPr lang="en-US" sz="1100" dirty="0"/>
          </a:p>
        </p:txBody>
      </p:sp>
      <p:sp>
        <p:nvSpPr>
          <p:cNvPr id="30" name="Shape 28"/>
          <p:cNvSpPr/>
          <p:nvPr/>
        </p:nvSpPr>
        <p:spPr>
          <a:xfrm>
            <a:off x="640080" y="5532120"/>
            <a:ext cx="9692640" cy="621792"/>
          </a:xfrm>
          <a:prstGeom prst="roundRect">
            <a:avLst>
              <a:gd name="adj" fmla="val 8824"/>
            </a:avLst>
          </a:prstGeom>
          <a:solidFill>
            <a:srgbClr val="17263B"/>
          </a:solidFill>
        </p:spPr>
        <p:txBody>
          <a:bodyPr/>
          <a:p/>
        </p:txBody>
      </p:sp>
      <p:sp>
        <p:nvSpPr>
          <p:cNvPr id="31" name="Shape 29"/>
          <p:cNvSpPr/>
          <p:nvPr/>
        </p:nvSpPr>
        <p:spPr>
          <a:xfrm>
            <a:off x="868680" y="5669280"/>
            <a:ext cx="347472" cy="347472"/>
          </a:xfrm>
          <a:prstGeom prst="ellipse">
            <a:avLst/>
          </a:prstGeom>
          <a:solidFill>
            <a:srgbClr val="FFB627"/>
          </a:solidFill>
        </p:spPr>
        <p:txBody>
          <a:bodyPr/>
          <a:p/>
        </p:txBody>
      </p:sp>
      <p:sp>
        <p:nvSpPr>
          <p:cNvPr id="32" name="Text 30"/>
          <p:cNvSpPr txBox="1"/>
          <p:nvPr/>
        </p:nvSpPr>
        <p:spPr>
          <a:xfrm>
            <a:off x="868680" y="5669280"/>
            <a:ext cx="347472" cy="347472"/>
          </a:xfrm>
          <a:prstGeom prst="rect">
            <a:avLst/>
          </a:prstGeom>
          <a:noFill/>
        </p:spPr>
        <p:txBody>
          <a:bodyPr wrap="square" lIns="0" tIns="0" rIns="0" bIns="0" rtlCol="0" anchor="ctr"/>
          <a:lstStyle/>
          <a:p>
            <a:pPr marL="0" indent="0" algn="ctr">
              <a:buNone/>
            </a:pPr>
            <a:r>
              <a:rPr lang="en-US" sz="1400" b="1" dirty="0">
                <a:solidFill>
                  <a:srgbClr val="081527"/>
                </a:solidFill>
                <a:latin typeface="Calibri" panose="020F0502020204030204" pitchFamily="34" charset="0"/>
                <a:ea typeface="Calibri" panose="020F0502020204030204" pitchFamily="34" charset="-122"/>
                <a:cs typeface="Calibri" panose="020F0502020204030204" pitchFamily="34" charset="-120"/>
              </a:rPr>
              <a:t>6</a:t>
            </a:r>
            <a:endParaRPr lang="en-US" sz="1400" dirty="0"/>
          </a:p>
        </p:txBody>
      </p:sp>
      <p:sp>
        <p:nvSpPr>
          <p:cNvPr id="33" name="Text 31"/>
          <p:cNvSpPr txBox="1"/>
          <p:nvPr/>
        </p:nvSpPr>
        <p:spPr>
          <a:xfrm>
            <a:off x="1417320" y="5586984"/>
            <a:ext cx="8595360" cy="320040"/>
          </a:xfrm>
          <a:prstGeom prst="rect">
            <a:avLst/>
          </a:prstGeom>
          <a:noFill/>
        </p:spPr>
        <p:txBody>
          <a:bodyPr wrap="square" lIns="0" tIns="0" rIns="0" bIns="0"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Live Case &amp; Recap</a:t>
            </a:r>
            <a:endParaRPr lang="en-US" sz="1400" dirty="0"/>
          </a:p>
        </p:txBody>
      </p:sp>
      <p:sp>
        <p:nvSpPr>
          <p:cNvPr id="34" name="Text 32"/>
          <p:cNvSpPr txBox="1"/>
          <p:nvPr/>
        </p:nvSpPr>
        <p:spPr>
          <a:xfrm>
            <a:off x="1417320" y="5879592"/>
            <a:ext cx="8595360" cy="292608"/>
          </a:xfrm>
          <a:prstGeom prst="rect">
            <a:avLst/>
          </a:prstGeom>
          <a:noFill/>
        </p:spPr>
        <p:txBody>
          <a:bodyPr wrap="square" lIns="0" tIns="0" rIns="0" bIns="0" rtlCol="0" anchor="ctr"/>
          <a:lstStyle/>
          <a:p>
            <a:pPr marL="0" indent="0">
              <a:buNone/>
            </a:pPr>
            <a:r>
              <a:rPr lang="en-US" sz="1100" dirty="0">
                <a:solidFill>
                  <a:srgbClr val="9FB3CC"/>
                </a:solidFill>
                <a:latin typeface="Calibri" panose="020F0502020204030204" pitchFamily="34" charset="0"/>
                <a:ea typeface="Calibri" panose="020F0502020204030204" pitchFamily="34" charset="-122"/>
                <a:cs typeface="Calibri" panose="020F0502020204030204" pitchFamily="34" charset="-120"/>
              </a:rPr>
              <a:t>Watch the agent decide a treatment plan — then recap the full journey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a:xfrm>
          <a:off x="0" y="0"/>
          <a:ext cx="0" cy="0"/>
          <a:chOff x="0" y="0"/>
          <a:chExt cx="0" cy="0"/>
        </a:xfrm>
      </p:grpSpPr>
      <p:sp>
        <p:nvSpPr>
          <p:cNvPr id="2" name="Shape 0"/>
          <p:cNvSpPr/>
          <p:nvPr/>
        </p:nvSpPr>
        <p:spPr>
          <a:xfrm>
            <a:off x="10332720" y="502920"/>
            <a:ext cx="1005840" cy="1005840"/>
          </a:xfrm>
          <a:prstGeom prst="ellipse">
            <a:avLst/>
          </a:prstGeom>
          <a:solidFill>
            <a:srgbClr val="17263B"/>
          </a:solidFill>
          <a:ln w="15240">
            <a:solidFill>
              <a:srgbClr val="FFB627"/>
            </a:solidFill>
            <a:prstDash val="solid"/>
          </a:ln>
        </p:spPr>
        <p:txBody>
          <a:bodyPr/>
          <a:p/>
        </p:txBody>
      </p:sp>
      <p:sp>
        <p:nvSpPr>
          <p:cNvPr id="3" name="Text 1"/>
          <p:cNvSpPr txBox="1"/>
          <p:nvPr/>
        </p:nvSpPr>
        <p:spPr>
          <a:xfrm>
            <a:off x="10332720" y="502920"/>
            <a:ext cx="1005840" cy="1005840"/>
          </a:xfrm>
          <a:prstGeom prst="rect">
            <a:avLst/>
          </a:prstGeom>
          <a:noFill/>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4" name="Text 2"/>
          <p:cNvSpPr txBox="1"/>
          <p:nvPr/>
        </p:nvSpPr>
        <p:spPr>
          <a:xfrm>
            <a:off x="640080" y="1554480"/>
            <a:ext cx="1097280" cy="914400"/>
          </a:xfrm>
          <a:prstGeom prst="rect">
            <a:avLst/>
          </a:prstGeom>
          <a:noFill/>
        </p:spPr>
        <p:txBody>
          <a:bodyPr wrap="square" lIns="0" tIns="0" rIns="0" bIns="0" rtlCol="0" anchor="ctr"/>
          <a:lstStyle/>
          <a:p>
            <a:pPr marL="0" indent="0">
              <a:buNone/>
            </a:pPr>
            <a:r>
              <a:rPr lang="en-US" sz="4000" dirty="0">
                <a:solidFill>
                  <a:srgbClr val="000000"/>
                </a:solidFill>
              </a:rPr>
              <a:t>🚨</a:t>
            </a:r>
            <a:endParaRPr lang="en-US" sz="4000" dirty="0"/>
          </a:p>
        </p:txBody>
      </p:sp>
      <p:sp>
        <p:nvSpPr>
          <p:cNvPr id="5" name="Text 3"/>
          <p:cNvSpPr txBox="1"/>
          <p:nvPr/>
        </p:nvSpPr>
        <p:spPr>
          <a:xfrm>
            <a:off x="640080" y="2377440"/>
            <a:ext cx="10515600" cy="1188720"/>
          </a:xfrm>
          <a:prstGeom prst="rect">
            <a:avLst/>
          </a:prstGeom>
          <a:noFill/>
        </p:spPr>
        <p:txBody>
          <a:bodyPr wrap="square" lIns="0" tIns="0" rIns="0" bIns="0" rtlCol="0" anchor="ctr"/>
          <a:lstStyle/>
          <a:p>
            <a:pPr marL="0" indent="0">
              <a:lnSpc>
                <a:spcPct val="110000"/>
              </a:lnSpc>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CAN AN AI AGENT COMMAND THE RESCUE —</a:t>
            </a:r>
            <a:endParaRPr lang="en-US" sz="3200" dirty="0"/>
          </a:p>
          <a:p>
            <a:pPr marL="0" indent="0">
              <a:lnSpc>
                <a:spcPct val="110000"/>
              </a:lnSpc>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WITHOUT WAITING FOR ORDERS?</a:t>
            </a:r>
            <a:endParaRPr lang="en-US" sz="3200" dirty="0"/>
          </a:p>
        </p:txBody>
      </p:sp>
      <p:sp>
        <p:nvSpPr>
          <p:cNvPr id="6" name="Text 4"/>
          <p:cNvSpPr txBox="1"/>
          <p:nvPr/>
        </p:nvSpPr>
        <p:spPr>
          <a:xfrm>
            <a:off x="640080" y="3703320"/>
            <a:ext cx="9144000" cy="365760"/>
          </a:xfrm>
          <a:prstGeom prst="rect">
            <a:avLst/>
          </a:prstGeom>
          <a:noFill/>
        </p:spPr>
        <p:txBody>
          <a:bodyPr wrap="square" lIns="0" tIns="0" rIns="0" bIns="0" rtlCol="0" anchor="ctr"/>
          <a:lstStyle/>
          <a:p>
            <a:pPr marL="0" indent="0">
              <a:buNone/>
            </a:pPr>
            <a:r>
              <a:rPr lang="en-US" sz="1400" i="1" dirty="0">
                <a:solidFill>
                  <a:srgbClr val="9FB3CC"/>
                </a:solidFill>
                <a:latin typeface="Calibri" panose="020F0502020204030204" pitchFamily="34" charset="0"/>
                <a:ea typeface="Calibri" panose="020F0502020204030204" pitchFamily="34" charset="-122"/>
                <a:cs typeface="Calibri" panose="020F0502020204030204" pitchFamily="34" charset="-120"/>
              </a:rPr>
              <a:t>Agentic AI through a Real Precision Oncology Case Study</a:t>
            </a:r>
            <a:endParaRPr lang="en-US" sz="1400" dirty="0"/>
          </a:p>
        </p:txBody>
      </p:sp>
      <p:sp>
        <p:nvSpPr>
          <p:cNvPr id="7" name="Shape 5"/>
          <p:cNvSpPr/>
          <p:nvPr/>
        </p:nvSpPr>
        <p:spPr>
          <a:xfrm>
            <a:off x="640080" y="4297680"/>
            <a:ext cx="7863840" cy="868680"/>
          </a:xfrm>
          <a:prstGeom prst="roundRect">
            <a:avLst>
              <a:gd name="adj" fmla="val 6316"/>
            </a:avLst>
          </a:prstGeom>
          <a:solidFill>
            <a:srgbClr val="0F3D5C"/>
          </a:solidFill>
        </p:spPr>
        <p:txBody>
          <a:bodyPr/>
          <a:p/>
        </p:txBody>
      </p:sp>
      <p:sp>
        <p:nvSpPr>
          <p:cNvPr id="8" name="Text 6"/>
          <p:cNvSpPr txBox="1"/>
          <p:nvPr/>
        </p:nvSpPr>
        <p:spPr>
          <a:xfrm>
            <a:off x="914400" y="4370832"/>
            <a:ext cx="7315200" cy="731520"/>
          </a:xfrm>
          <a:prstGeom prst="rect">
            <a:avLst/>
          </a:prstGeom>
          <a:noFill/>
        </p:spPr>
        <p:txBody>
          <a:bodyPr wrap="square" lIns="0" tIns="0" rIns="0" bIns="0" rtlCol="0" anchor="ctr"/>
          <a:lstStyle/>
          <a:p>
            <a:pPr marL="0" indent="0">
              <a:buNone/>
            </a:pPr>
            <a:r>
              <a:rPr lang="en-US" sz="1300" dirty="0">
                <a:solidFill>
                  <a:srgbClr val="E3E9F2"/>
                </a:solidFill>
                <a:latin typeface="Calibri" panose="020F0502020204030204" pitchFamily="34" charset="0"/>
                <a:ea typeface="Calibri" panose="020F0502020204030204" pitchFamily="34" charset="-122"/>
                <a:cs typeface="Calibri" panose="020F0502020204030204" pitchFamily="34" charset="-120"/>
              </a:rPr>
              <a:t>Today, you are not just students.
</a:t>
            </a:r>
            <a:r>
              <a:rPr lang="en-US" sz="1400" b="1" dirty="0">
                <a:solidFill>
                  <a:srgbClr val="FFB627"/>
                </a:solidFill>
                <a:latin typeface="Calibri" panose="020F0502020204030204" pitchFamily="34" charset="0"/>
                <a:ea typeface="Calibri" panose="020F0502020204030204" pitchFamily="34" charset="-122"/>
                <a:cs typeface="Calibri" panose="020F0502020204030204" pitchFamily="34" charset="-120"/>
              </a:rPr>
              <a:t>You are the AI Oncology Command Team.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548640"/>
          </a:xfrm>
          <a:prstGeom prst="rect">
            <a:avLst/>
          </a:prstGeom>
          <a:noFill/>
        </p:spPr>
        <p:txBody>
          <a:bodyPr wrap="square" lIns="0" tIns="0" rIns="0" bIns="0" rtlCol="0" anchor="ctr"/>
          <a:lstStyle/>
          <a:p>
            <a:pPr marL="0" indent="0">
              <a:buNone/>
            </a:pPr>
            <a:r>
              <a:rPr lang="en-US" sz="3000" b="1" dirty="0">
                <a:solidFill>
                  <a:srgbClr val="0F2843"/>
                </a:solidFill>
                <a:latin typeface="Cambria" panose="02040503050406030204" pitchFamily="34" charset="0"/>
                <a:ea typeface="Cambria" panose="02040503050406030204" pitchFamily="34" charset="-122"/>
                <a:cs typeface="Cambria" panose="02040503050406030204" pitchFamily="34" charset="-120"/>
              </a:rPr>
              <a:t>The Case</a:t>
            </a:r>
            <a:endParaRPr lang="en-US" sz="3000" dirty="0"/>
          </a:p>
        </p:txBody>
      </p:sp>
      <p:sp>
        <p:nvSpPr>
          <p:cNvPr id="3" name="Shape 1"/>
          <p:cNvSpPr/>
          <p:nvPr/>
        </p:nvSpPr>
        <p:spPr>
          <a:xfrm>
            <a:off x="640080" y="1463040"/>
            <a:ext cx="4754880" cy="1051560"/>
          </a:xfrm>
          <a:prstGeom prst="roundRect">
            <a:avLst>
              <a:gd name="adj" fmla="val 6087"/>
            </a:avLst>
          </a:prstGeom>
          <a:solidFill>
            <a:srgbClr val="FFFFFF"/>
          </a:solidFill>
          <a:ln w="12700">
            <a:solidFill>
              <a:srgbClr val="EEF2F7"/>
            </a:solidFill>
            <a:prstDash val="solid"/>
          </a:ln>
          <a:effectLst>
            <a:outerShdw blurRad="76200" dist="25400" dir="5400000" algn="bl" rotWithShape="0">
              <a:srgbClr val="9FB3CC">
                <a:alpha val="25000"/>
              </a:srgbClr>
            </a:outerShdw>
          </a:effectLst>
        </p:spPr>
        <p:txBody>
          <a:bodyPr/>
          <a:p/>
        </p:txBody>
      </p:sp>
      <p:sp>
        <p:nvSpPr>
          <p:cNvPr id="4" name="Text 2"/>
          <p:cNvSpPr txBox="1"/>
          <p:nvPr/>
        </p:nvSpPr>
        <p:spPr>
          <a:xfrm>
            <a:off x="822960" y="1627632"/>
            <a:ext cx="731520" cy="731520"/>
          </a:xfrm>
          <a:prstGeom prst="rect">
            <a:avLst/>
          </a:prstGeom>
          <a:noFill/>
        </p:spPr>
        <p:txBody>
          <a:bodyPr wrap="square" lIns="0" tIns="0" rIns="0" bIns="0" rtlCol="0" anchor="ctr"/>
          <a:lstStyle/>
          <a:p>
            <a:pPr marL="0" indent="0">
              <a:buNone/>
            </a:pPr>
            <a:r>
              <a:rPr lang="en-US" sz="2600" dirty="0">
                <a:solidFill>
                  <a:srgbClr val="000000"/>
                </a:solidFill>
              </a:rPr>
              <a:t>🧬</a:t>
            </a:r>
            <a:endParaRPr lang="en-US" sz="2600" dirty="0"/>
          </a:p>
        </p:txBody>
      </p:sp>
      <p:sp>
        <p:nvSpPr>
          <p:cNvPr id="5" name="Text 3"/>
          <p:cNvSpPr txBox="1"/>
          <p:nvPr/>
        </p:nvSpPr>
        <p:spPr>
          <a:xfrm>
            <a:off x="1600200" y="1627632"/>
            <a:ext cx="3657600" cy="365760"/>
          </a:xfrm>
          <a:prstGeom prst="rect">
            <a:avLst/>
          </a:prstGeom>
          <a:noFill/>
        </p:spPr>
        <p:txBody>
          <a:bodyPr wrap="square" lIns="0" tIns="0" rIns="0" bIns="0" rtlCol="0" anchor="ctr"/>
          <a:lstStyle/>
          <a:p>
            <a:pPr marL="0" indent="0">
              <a:buNone/>
            </a:pPr>
            <a:r>
              <a:rPr lang="en-US" sz="1400" b="1" dirty="0">
                <a:solidFill>
                  <a:srgbClr val="0F2843"/>
                </a:solidFill>
                <a:latin typeface="Calibri" panose="020F0502020204030204" pitchFamily="34" charset="0"/>
                <a:ea typeface="Calibri" panose="020F0502020204030204" pitchFamily="34" charset="-122"/>
                <a:cs typeface="Calibri" panose="020F0502020204030204" pitchFamily="34" charset="-120"/>
              </a:rPr>
              <a:t>Patient A — EGFR+ NSCLC</a:t>
            </a:r>
            <a:endParaRPr lang="en-US" sz="1400" dirty="0"/>
          </a:p>
        </p:txBody>
      </p:sp>
      <p:sp>
        <p:nvSpPr>
          <p:cNvPr id="6" name="Text 4"/>
          <p:cNvSpPr txBox="1"/>
          <p:nvPr/>
        </p:nvSpPr>
        <p:spPr>
          <a:xfrm>
            <a:off x="1600200" y="1993392"/>
            <a:ext cx="3657600" cy="365760"/>
          </a:xfrm>
          <a:prstGeom prst="rect">
            <a:avLst/>
          </a:prstGeom>
          <a:noFill/>
        </p:spPr>
        <p:txBody>
          <a:bodyPr wrap="square" lIns="0" tIns="0" rIns="0" bIns="0" rtlCol="0" anchor="ctr"/>
          <a:lstStyle/>
          <a:p>
            <a:pPr marL="0" indent="0">
              <a:buNone/>
            </a:pPr>
            <a:r>
              <a:rPr lang="en-US" sz="1100" dirty="0">
                <a:solidFill>
                  <a:srgbClr val="5B6B82"/>
                </a:solidFill>
                <a:latin typeface="Calibri" panose="020F0502020204030204" pitchFamily="34" charset="0"/>
                <a:ea typeface="Calibri" panose="020F0502020204030204" pitchFamily="34" charset="-122"/>
                <a:cs typeface="Calibri" panose="020F0502020204030204" pitchFamily="34" charset="-120"/>
              </a:rPr>
              <a:t>High toxicity risk, rapid ctDNA rise</a:t>
            </a:r>
            <a:endParaRPr lang="en-US" sz="1100" dirty="0"/>
          </a:p>
        </p:txBody>
      </p:sp>
      <p:sp>
        <p:nvSpPr>
          <p:cNvPr id="7" name="Shape 5"/>
          <p:cNvSpPr/>
          <p:nvPr/>
        </p:nvSpPr>
        <p:spPr>
          <a:xfrm>
            <a:off x="640080" y="2788920"/>
            <a:ext cx="4754880" cy="1051560"/>
          </a:xfrm>
          <a:prstGeom prst="roundRect">
            <a:avLst>
              <a:gd name="adj" fmla="val 6087"/>
            </a:avLst>
          </a:prstGeom>
          <a:solidFill>
            <a:srgbClr val="FFFFFF"/>
          </a:solidFill>
          <a:ln w="12700">
            <a:solidFill>
              <a:srgbClr val="EEF2F7"/>
            </a:solidFill>
            <a:prstDash val="solid"/>
          </a:ln>
          <a:effectLst>
            <a:outerShdw blurRad="76200" dist="25400" dir="5400000" algn="bl" rotWithShape="0">
              <a:srgbClr val="9FB3CC">
                <a:alpha val="25000"/>
              </a:srgbClr>
            </a:outerShdw>
          </a:effectLst>
        </p:spPr>
        <p:txBody>
          <a:bodyPr/>
          <a:p/>
        </p:txBody>
      </p:sp>
      <p:sp>
        <p:nvSpPr>
          <p:cNvPr id="8" name="Text 6"/>
          <p:cNvSpPr txBox="1"/>
          <p:nvPr/>
        </p:nvSpPr>
        <p:spPr>
          <a:xfrm>
            <a:off x="822960" y="2953512"/>
            <a:ext cx="731520" cy="731520"/>
          </a:xfrm>
          <a:prstGeom prst="rect">
            <a:avLst/>
          </a:prstGeom>
          <a:noFill/>
        </p:spPr>
        <p:txBody>
          <a:bodyPr wrap="square" lIns="0" tIns="0" rIns="0" bIns="0" rtlCol="0" anchor="ctr"/>
          <a:lstStyle/>
          <a:p>
            <a:pPr marL="0" indent="0">
              <a:buNone/>
            </a:pPr>
            <a:r>
              <a:rPr lang="en-US" sz="2600" dirty="0">
                <a:solidFill>
                  <a:srgbClr val="000000"/>
                </a:solidFill>
              </a:rPr>
              <a:t>🧬</a:t>
            </a:r>
            <a:endParaRPr lang="en-US" sz="2600" dirty="0"/>
          </a:p>
        </p:txBody>
      </p:sp>
      <p:sp>
        <p:nvSpPr>
          <p:cNvPr id="9" name="Text 7"/>
          <p:cNvSpPr txBox="1"/>
          <p:nvPr/>
        </p:nvSpPr>
        <p:spPr>
          <a:xfrm>
            <a:off x="1600200" y="2953512"/>
            <a:ext cx="3657600" cy="365760"/>
          </a:xfrm>
          <a:prstGeom prst="rect">
            <a:avLst/>
          </a:prstGeom>
          <a:noFill/>
        </p:spPr>
        <p:txBody>
          <a:bodyPr wrap="square" lIns="0" tIns="0" rIns="0" bIns="0" rtlCol="0" anchor="ctr"/>
          <a:lstStyle/>
          <a:p>
            <a:pPr marL="0" indent="0">
              <a:buNone/>
            </a:pPr>
            <a:r>
              <a:rPr lang="en-US" sz="1400" b="1" dirty="0">
                <a:solidFill>
                  <a:srgbClr val="0F2843"/>
                </a:solidFill>
                <a:latin typeface="Calibri" panose="020F0502020204030204" pitchFamily="34" charset="0"/>
                <a:ea typeface="Calibri" panose="020F0502020204030204" pitchFamily="34" charset="-122"/>
                <a:cs typeface="Calibri" panose="020F0502020204030204" pitchFamily="34" charset="-120"/>
              </a:rPr>
              <a:t>Patient B — KRAS+ NSCLC</a:t>
            </a:r>
            <a:endParaRPr lang="en-US" sz="1400" dirty="0"/>
          </a:p>
        </p:txBody>
      </p:sp>
      <p:sp>
        <p:nvSpPr>
          <p:cNvPr id="10" name="Text 8"/>
          <p:cNvSpPr txBox="1"/>
          <p:nvPr/>
        </p:nvSpPr>
        <p:spPr>
          <a:xfrm>
            <a:off x="1600200" y="3319272"/>
            <a:ext cx="3657600" cy="365760"/>
          </a:xfrm>
          <a:prstGeom prst="rect">
            <a:avLst/>
          </a:prstGeom>
          <a:noFill/>
        </p:spPr>
        <p:txBody>
          <a:bodyPr wrap="square" lIns="0" tIns="0" rIns="0" bIns="0" rtlCol="0" anchor="ctr"/>
          <a:lstStyle/>
          <a:p>
            <a:pPr marL="0" indent="0">
              <a:buNone/>
            </a:pPr>
            <a:r>
              <a:rPr lang="en-US" sz="1100" dirty="0">
                <a:solidFill>
                  <a:srgbClr val="5B6B82"/>
                </a:solidFill>
                <a:latin typeface="Calibri" panose="020F0502020204030204" pitchFamily="34" charset="0"/>
                <a:ea typeface="Calibri" panose="020F0502020204030204" pitchFamily="34" charset="-122"/>
                <a:cs typeface="Calibri" panose="020F0502020204030204" pitchFamily="34" charset="-120"/>
              </a:rPr>
              <a:t>High toxicity risk, moderate ctDNA rise</a:t>
            </a:r>
            <a:endParaRPr lang="en-US" sz="1100" dirty="0"/>
          </a:p>
        </p:txBody>
      </p:sp>
      <p:sp>
        <p:nvSpPr>
          <p:cNvPr id="11" name="Shape 9"/>
          <p:cNvSpPr/>
          <p:nvPr/>
        </p:nvSpPr>
        <p:spPr>
          <a:xfrm>
            <a:off x="640080" y="4114800"/>
            <a:ext cx="4754880" cy="1051560"/>
          </a:xfrm>
          <a:prstGeom prst="roundRect">
            <a:avLst>
              <a:gd name="adj" fmla="val 6087"/>
            </a:avLst>
          </a:prstGeom>
          <a:solidFill>
            <a:srgbClr val="FFFFFF"/>
          </a:solidFill>
          <a:ln w="12700">
            <a:solidFill>
              <a:srgbClr val="EEF2F7"/>
            </a:solidFill>
            <a:prstDash val="solid"/>
          </a:ln>
          <a:effectLst>
            <a:outerShdw blurRad="76200" dist="25400" dir="5400000" algn="bl" rotWithShape="0">
              <a:srgbClr val="9FB3CC">
                <a:alpha val="25000"/>
              </a:srgbClr>
            </a:outerShdw>
          </a:effectLst>
        </p:spPr>
        <p:txBody>
          <a:bodyPr/>
          <a:p/>
        </p:txBody>
      </p:sp>
      <p:sp>
        <p:nvSpPr>
          <p:cNvPr id="12" name="Text 10"/>
          <p:cNvSpPr txBox="1"/>
          <p:nvPr/>
        </p:nvSpPr>
        <p:spPr>
          <a:xfrm>
            <a:off x="822960" y="4279392"/>
            <a:ext cx="731520" cy="731520"/>
          </a:xfrm>
          <a:prstGeom prst="rect">
            <a:avLst/>
          </a:prstGeom>
          <a:noFill/>
        </p:spPr>
        <p:txBody>
          <a:bodyPr wrap="square" lIns="0" tIns="0" rIns="0" bIns="0" rtlCol="0" anchor="ctr"/>
          <a:lstStyle/>
          <a:p>
            <a:pPr marL="0" indent="0">
              <a:buNone/>
            </a:pPr>
            <a:r>
              <a:rPr lang="en-US" sz="2600" dirty="0">
                <a:solidFill>
                  <a:srgbClr val="000000"/>
                </a:solidFill>
              </a:rPr>
              <a:t>🧪</a:t>
            </a:r>
            <a:endParaRPr lang="en-US" sz="2600" dirty="0"/>
          </a:p>
        </p:txBody>
      </p:sp>
      <p:sp>
        <p:nvSpPr>
          <p:cNvPr id="13" name="Text 11"/>
          <p:cNvSpPr txBox="1"/>
          <p:nvPr/>
        </p:nvSpPr>
        <p:spPr>
          <a:xfrm>
            <a:off x="1600200" y="4279392"/>
            <a:ext cx="3657600" cy="365760"/>
          </a:xfrm>
          <a:prstGeom prst="rect">
            <a:avLst/>
          </a:prstGeom>
          <a:noFill/>
        </p:spPr>
        <p:txBody>
          <a:bodyPr wrap="square" lIns="0" tIns="0" rIns="0" bIns="0" rtlCol="0" anchor="ctr"/>
          <a:lstStyle/>
          <a:p>
            <a:pPr marL="0" indent="0">
              <a:buNone/>
            </a:pPr>
            <a:r>
              <a:rPr lang="en-US" sz="1400" b="1" dirty="0">
                <a:solidFill>
                  <a:srgbClr val="0F2843"/>
                </a:solidFill>
                <a:latin typeface="Calibri" panose="020F0502020204030204" pitchFamily="34" charset="0"/>
                <a:ea typeface="Calibri" panose="020F0502020204030204" pitchFamily="34" charset="-122"/>
                <a:cs typeface="Calibri" panose="020F0502020204030204" pitchFamily="34" charset="-120"/>
              </a:rPr>
              <a:t>Only One Trial Slot</a:t>
            </a:r>
            <a:endParaRPr lang="en-US" sz="1400" dirty="0"/>
          </a:p>
        </p:txBody>
      </p:sp>
      <p:sp>
        <p:nvSpPr>
          <p:cNvPr id="14" name="Text 12"/>
          <p:cNvSpPr txBox="1"/>
          <p:nvPr/>
        </p:nvSpPr>
        <p:spPr>
          <a:xfrm>
            <a:off x="1600200" y="4645152"/>
            <a:ext cx="3657600" cy="365760"/>
          </a:xfrm>
          <a:prstGeom prst="rect">
            <a:avLst/>
          </a:prstGeom>
          <a:noFill/>
        </p:spPr>
        <p:txBody>
          <a:bodyPr wrap="square" lIns="0" tIns="0" rIns="0" bIns="0" rtlCol="0" anchor="ctr"/>
          <a:lstStyle/>
          <a:p>
            <a:pPr marL="0" indent="0">
              <a:buNone/>
            </a:pPr>
            <a:r>
              <a:rPr lang="en-US" sz="1100" dirty="0">
                <a:solidFill>
                  <a:srgbClr val="5B6B82"/>
                </a:solidFill>
                <a:latin typeface="Calibri" panose="020F0502020204030204" pitchFamily="34" charset="0"/>
                <a:ea typeface="Calibri" panose="020F0502020204030204" pitchFamily="34" charset="-122"/>
                <a:cs typeface="Calibri" panose="020F0502020204030204" pitchFamily="34" charset="-120"/>
              </a:rPr>
              <a:t>The rest of the cohort is already enrolled</a:t>
            </a:r>
            <a:endParaRPr lang="en-US" sz="1100" dirty="0"/>
          </a:p>
        </p:txBody>
      </p:sp>
      <p:sp>
        <p:nvSpPr>
          <p:cNvPr id="15" name="Shape 13"/>
          <p:cNvSpPr/>
          <p:nvPr/>
        </p:nvSpPr>
        <p:spPr>
          <a:xfrm>
            <a:off x="640080" y="5440680"/>
            <a:ext cx="4754880" cy="1051560"/>
          </a:xfrm>
          <a:prstGeom prst="roundRect">
            <a:avLst>
              <a:gd name="adj" fmla="val 6087"/>
            </a:avLst>
          </a:prstGeom>
          <a:solidFill>
            <a:srgbClr val="FFFFFF"/>
          </a:solidFill>
          <a:ln w="12700">
            <a:solidFill>
              <a:srgbClr val="EEF2F7"/>
            </a:solidFill>
            <a:prstDash val="solid"/>
          </a:ln>
          <a:effectLst>
            <a:outerShdw blurRad="76200" dist="25400" dir="5400000" algn="bl" rotWithShape="0">
              <a:srgbClr val="9FB3CC">
                <a:alpha val="25000"/>
              </a:srgbClr>
            </a:outerShdw>
          </a:effectLst>
        </p:spPr>
        <p:txBody>
          <a:bodyPr/>
          <a:p/>
        </p:txBody>
      </p:sp>
      <p:sp>
        <p:nvSpPr>
          <p:cNvPr id="16" name="Text 14"/>
          <p:cNvSpPr txBox="1"/>
          <p:nvPr/>
        </p:nvSpPr>
        <p:spPr>
          <a:xfrm>
            <a:off x="822960" y="5605272"/>
            <a:ext cx="731520" cy="731520"/>
          </a:xfrm>
          <a:prstGeom prst="rect">
            <a:avLst/>
          </a:prstGeom>
          <a:noFill/>
        </p:spPr>
        <p:txBody>
          <a:bodyPr wrap="square" lIns="0" tIns="0" rIns="0" bIns="0" rtlCol="0" anchor="ctr"/>
          <a:lstStyle/>
          <a:p>
            <a:pPr marL="0" indent="0">
              <a:buNone/>
            </a:pPr>
            <a:r>
              <a:rPr lang="en-US" sz="2600" dirty="0">
                <a:solidFill>
                  <a:srgbClr val="000000"/>
                </a:solidFill>
              </a:rPr>
              <a:t>⏱️</a:t>
            </a:r>
            <a:endParaRPr lang="en-US" sz="2600" dirty="0"/>
          </a:p>
        </p:txBody>
      </p:sp>
      <p:sp>
        <p:nvSpPr>
          <p:cNvPr id="17" name="Text 15"/>
          <p:cNvSpPr txBox="1"/>
          <p:nvPr/>
        </p:nvSpPr>
        <p:spPr>
          <a:xfrm>
            <a:off x="1600200" y="5605272"/>
            <a:ext cx="3657600" cy="365760"/>
          </a:xfrm>
          <a:prstGeom prst="rect">
            <a:avLst/>
          </a:prstGeom>
          <a:noFill/>
        </p:spPr>
        <p:txBody>
          <a:bodyPr wrap="square" lIns="0" tIns="0" rIns="0" bIns="0" rtlCol="0" anchor="ctr"/>
          <a:lstStyle/>
          <a:p>
            <a:pPr marL="0" indent="0">
              <a:buNone/>
            </a:pPr>
            <a:r>
              <a:rPr lang="en-US" sz="1400" b="1" dirty="0">
                <a:solidFill>
                  <a:srgbClr val="0F2843"/>
                </a:solidFill>
                <a:latin typeface="Calibri" panose="020F0502020204030204" pitchFamily="34" charset="0"/>
                <a:ea typeface="Calibri" panose="020F0502020204030204" pitchFamily="34" charset="-122"/>
                <a:cs typeface="Calibri" panose="020F0502020204030204" pitchFamily="34" charset="-120"/>
              </a:rPr>
              <a:t>Zero Time to Deliberate</a:t>
            </a:r>
            <a:endParaRPr lang="en-US" sz="1400" dirty="0"/>
          </a:p>
        </p:txBody>
      </p:sp>
      <p:sp>
        <p:nvSpPr>
          <p:cNvPr id="18" name="Text 16"/>
          <p:cNvSpPr txBox="1"/>
          <p:nvPr/>
        </p:nvSpPr>
        <p:spPr>
          <a:xfrm>
            <a:off x="1600200" y="5971032"/>
            <a:ext cx="3657600" cy="365760"/>
          </a:xfrm>
          <a:prstGeom prst="rect">
            <a:avLst/>
          </a:prstGeom>
          <a:noFill/>
        </p:spPr>
        <p:txBody>
          <a:bodyPr wrap="square" lIns="0" tIns="0" rIns="0" bIns="0" rtlCol="0" anchor="ctr"/>
          <a:lstStyle/>
          <a:p>
            <a:pPr marL="0" indent="0">
              <a:buNone/>
            </a:pPr>
            <a:r>
              <a:rPr lang="en-US" sz="1100" dirty="0">
                <a:solidFill>
                  <a:srgbClr val="5B6B82"/>
                </a:solidFill>
                <a:latin typeface="Calibri" panose="020F0502020204030204" pitchFamily="34" charset="0"/>
                <a:ea typeface="Calibri" panose="020F0502020204030204" pitchFamily="34" charset="-122"/>
                <a:cs typeface="Calibri" panose="020F0502020204030204" pitchFamily="34" charset="-120"/>
              </a:rPr>
              <a:t>Both patients need a decision right now</a:t>
            </a:r>
            <a:endParaRPr lang="en-US" sz="1100" dirty="0"/>
          </a:p>
        </p:txBody>
      </p:sp>
      <p:sp>
        <p:nvSpPr>
          <p:cNvPr id="19" name="Shape 17"/>
          <p:cNvSpPr/>
          <p:nvPr/>
        </p:nvSpPr>
        <p:spPr>
          <a:xfrm>
            <a:off x="5760720" y="1463040"/>
            <a:ext cx="5760720" cy="5029200"/>
          </a:xfrm>
          <a:prstGeom prst="roundRect">
            <a:avLst>
              <a:gd name="adj" fmla="val 1273"/>
            </a:avLst>
          </a:prstGeom>
          <a:solidFill>
            <a:srgbClr val="0F2843"/>
          </a:solidFill>
        </p:spPr>
        <p:txBody>
          <a:bodyPr/>
          <a:p/>
        </p:txBody>
      </p:sp>
      <p:sp>
        <p:nvSpPr>
          <p:cNvPr id="20" name="Text 18"/>
          <p:cNvSpPr txBox="1"/>
          <p:nvPr/>
        </p:nvSpPr>
        <p:spPr>
          <a:xfrm>
            <a:off x="6080760" y="1463040"/>
            <a:ext cx="5120640" cy="5029200"/>
          </a:xfrm>
          <a:prstGeom prst="rect">
            <a:avLst/>
          </a:prstGeom>
          <a:noFill/>
        </p:spPr>
        <p:txBody>
          <a:bodyPr wrap="square" lIns="0" tIns="0" rIns="0" bIns="0" rtlCol="0" anchor="ctr"/>
          <a:lstStyle/>
          <a:p>
            <a:pPr marL="0" indent="0">
              <a:lnSpc>
                <a:spcPct val="125000"/>
              </a:lnSpc>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You have only ONE open trial slot.</a:t>
            </a:r>
            <a:endParaRPr lang="en-US" sz="1800" dirty="0"/>
          </a:p>
          <a:p>
            <a:pPr marL="0" indent="0">
              <a:lnSpc>
                <a:spcPct val="125000"/>
              </a:lnSpc>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Which patient should receive it first —</a:t>
            </a:r>
            <a:endParaRPr lang="en-US" sz="1800" dirty="0"/>
          </a:p>
          <a:p>
            <a:pPr marL="0" indent="0">
              <a:lnSpc>
                <a:spcPct val="125000"/>
              </a:lnSpc>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and what happens to the other?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058400" cy="502920"/>
          </a:xfrm>
          <a:prstGeom prst="rect">
            <a:avLst/>
          </a:prstGeom>
          <a:noFill/>
        </p:spPr>
        <p:txBody>
          <a:bodyPr wrap="square" lIns="0" tIns="0" rIns="0" bIns="0" rtlCol="0" anchor="ctr"/>
          <a:lstStyle/>
          <a:p>
            <a:pPr marL="0" indent="0">
              <a:buNone/>
            </a:pPr>
            <a:r>
              <a:rPr lang="en-US" sz="2600" b="1" dirty="0">
                <a:solidFill>
                  <a:srgbClr val="0F2843"/>
                </a:solidFill>
                <a:latin typeface="Cambria" panose="02040503050406030204" pitchFamily="34" charset="0"/>
                <a:ea typeface="Cambria" panose="02040503050406030204" pitchFamily="34" charset="-122"/>
                <a:cs typeface="Cambria" panose="02040503050406030204" pitchFamily="34" charset="-120"/>
              </a:rPr>
              <a:t>Which Patient Would the Agent Prioritize?</a:t>
            </a:r>
            <a:endParaRPr lang="en-US" sz="2600" dirty="0"/>
          </a:p>
        </p:txBody>
      </p:sp>
      <p:sp>
        <p:nvSpPr>
          <p:cNvPr id="3" name="Shape 1"/>
          <p:cNvSpPr/>
          <p:nvPr/>
        </p:nvSpPr>
        <p:spPr>
          <a:xfrm>
            <a:off x="640080" y="1280160"/>
            <a:ext cx="5120640" cy="640080"/>
          </a:xfrm>
          <a:prstGeom prst="roundRect">
            <a:avLst>
              <a:gd name="adj" fmla="val 10000"/>
            </a:avLst>
          </a:prstGeom>
          <a:solidFill>
            <a:srgbClr val="E63946"/>
          </a:solidFill>
        </p:spPr>
        <p:txBody>
          <a:bodyPr/>
          <a:p/>
        </p:txBody>
      </p:sp>
      <p:sp>
        <p:nvSpPr>
          <p:cNvPr id="4" name="Text 2"/>
          <p:cNvSpPr txBox="1"/>
          <p:nvPr/>
        </p:nvSpPr>
        <p:spPr>
          <a:xfrm>
            <a:off x="640080" y="1280160"/>
            <a:ext cx="5120640" cy="640080"/>
          </a:xfrm>
          <a:prstGeom prst="rect">
            <a:avLst/>
          </a:prstGeom>
          <a:noFill/>
        </p:spPr>
        <p:txBody>
          <a:bodyPr wrap="square" lIns="0" tIns="0" rIns="0" bIns="0" rtlCol="0" anchor="ctr"/>
          <a:lstStyle/>
          <a:p>
            <a:pPr marL="0" indent="0" algn="ctr">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PATIENT A</a:t>
            </a:r>
            <a:endParaRPr lang="en-US" sz="2000" dirty="0"/>
          </a:p>
        </p:txBody>
      </p:sp>
      <p:sp>
        <p:nvSpPr>
          <p:cNvPr id="5" name="Shape 3"/>
          <p:cNvSpPr/>
          <p:nvPr/>
        </p:nvSpPr>
        <p:spPr>
          <a:xfrm>
            <a:off x="640080" y="2011680"/>
            <a:ext cx="5120640" cy="3474720"/>
          </a:xfrm>
          <a:prstGeom prst="roundRect">
            <a:avLst>
              <a:gd name="adj" fmla="val 1842"/>
            </a:avLst>
          </a:prstGeom>
          <a:solidFill>
            <a:srgbClr val="FFFFFF"/>
          </a:solidFill>
          <a:ln w="12700">
            <a:solidFill>
              <a:srgbClr val="EEF2F7"/>
            </a:solidFill>
            <a:prstDash val="solid"/>
          </a:ln>
        </p:spPr>
        <p:txBody>
          <a:bodyPr/>
          <a:p/>
        </p:txBody>
      </p:sp>
      <p:sp>
        <p:nvSpPr>
          <p:cNvPr id="6" name="Text 4"/>
          <p:cNvSpPr txBox="1"/>
          <p:nvPr/>
        </p:nvSpPr>
        <p:spPr>
          <a:xfrm>
            <a:off x="960120" y="2240280"/>
            <a:ext cx="448056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ML Risk Score</a:t>
            </a:r>
            <a:endParaRPr lang="en-US" sz="1200" dirty="0"/>
          </a:p>
        </p:txBody>
      </p:sp>
      <p:sp>
        <p:nvSpPr>
          <p:cNvPr id="7" name="Text 5"/>
          <p:cNvSpPr txBox="1"/>
          <p:nvPr/>
        </p:nvSpPr>
        <p:spPr>
          <a:xfrm>
            <a:off x="960120" y="2532888"/>
            <a:ext cx="4480560" cy="365760"/>
          </a:xfrm>
          <a:prstGeom prst="rect">
            <a:avLst/>
          </a:prstGeom>
          <a:noFill/>
        </p:spPr>
        <p:txBody>
          <a:bodyPr wrap="square" lIns="0" tIns="0" rIns="0" bIns="0" rtlCol="0" anchor="ctr"/>
          <a:lstStyle/>
          <a:p>
            <a:pPr marL="0" indent="0">
              <a:buNone/>
            </a:pPr>
            <a:r>
              <a:rPr lang="en-US" sz="1600" b="1" dirty="0">
                <a:solidFill>
                  <a:srgbClr val="0F2843"/>
                </a:solidFill>
                <a:latin typeface="Calibri" panose="020F0502020204030204" pitchFamily="34" charset="0"/>
                <a:ea typeface="Calibri" panose="020F0502020204030204" pitchFamily="34" charset="-122"/>
                <a:cs typeface="Calibri" panose="020F0502020204030204" pitchFamily="34" charset="-120"/>
              </a:rPr>
              <a:t>Severe</a:t>
            </a:r>
            <a:endParaRPr lang="en-US" sz="1600" dirty="0"/>
          </a:p>
        </p:txBody>
      </p:sp>
      <p:sp>
        <p:nvSpPr>
          <p:cNvPr id="8" name="Shape 6"/>
          <p:cNvSpPr/>
          <p:nvPr/>
        </p:nvSpPr>
        <p:spPr>
          <a:xfrm>
            <a:off x="960120" y="2953512"/>
            <a:ext cx="4480560" cy="0"/>
          </a:xfrm>
          <a:prstGeom prst="line">
            <a:avLst/>
          </a:prstGeom>
          <a:noFill/>
          <a:ln w="12700">
            <a:solidFill>
              <a:srgbClr val="EEF2F7"/>
            </a:solidFill>
            <a:prstDash val="solid"/>
          </a:ln>
        </p:spPr>
        <p:txBody>
          <a:bodyPr/>
          <a:p/>
        </p:txBody>
      </p:sp>
      <p:sp>
        <p:nvSpPr>
          <p:cNvPr id="9" name="Text 7"/>
          <p:cNvSpPr txBox="1"/>
          <p:nvPr/>
        </p:nvSpPr>
        <p:spPr>
          <a:xfrm>
            <a:off x="960120" y="3017520"/>
            <a:ext cx="448056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Vision Alert (DL)</a:t>
            </a:r>
            <a:endParaRPr lang="en-US" sz="1200" dirty="0"/>
          </a:p>
        </p:txBody>
      </p:sp>
      <p:sp>
        <p:nvSpPr>
          <p:cNvPr id="10" name="Text 8"/>
          <p:cNvSpPr txBox="1"/>
          <p:nvPr/>
        </p:nvSpPr>
        <p:spPr>
          <a:xfrm>
            <a:off x="960120" y="3310128"/>
            <a:ext cx="4480560" cy="365760"/>
          </a:xfrm>
          <a:prstGeom prst="rect">
            <a:avLst/>
          </a:prstGeom>
          <a:noFill/>
        </p:spPr>
        <p:txBody>
          <a:bodyPr wrap="square" lIns="0" tIns="0" rIns="0" bIns="0" rtlCol="0" anchor="ctr"/>
          <a:lstStyle/>
          <a:p>
            <a:pPr marL="0" indent="0">
              <a:buNone/>
            </a:pPr>
            <a:r>
              <a:rPr lang="en-US" sz="1600" b="1" dirty="0">
                <a:solidFill>
                  <a:srgbClr val="0F2843"/>
                </a:solidFill>
                <a:latin typeface="Calibri" panose="020F0502020204030204" pitchFamily="34" charset="0"/>
                <a:ea typeface="Calibri" panose="020F0502020204030204" pitchFamily="34" charset="-122"/>
                <a:cs typeface="Calibri" panose="020F0502020204030204" pitchFamily="34" charset="-120"/>
              </a:rPr>
              <a:t>Rapid tumor growth on imaging</a:t>
            </a:r>
            <a:endParaRPr lang="en-US" sz="1600" dirty="0"/>
          </a:p>
        </p:txBody>
      </p:sp>
      <p:sp>
        <p:nvSpPr>
          <p:cNvPr id="11" name="Shape 9"/>
          <p:cNvSpPr/>
          <p:nvPr/>
        </p:nvSpPr>
        <p:spPr>
          <a:xfrm>
            <a:off x="960120" y="3730752"/>
            <a:ext cx="4480560" cy="0"/>
          </a:xfrm>
          <a:prstGeom prst="line">
            <a:avLst/>
          </a:prstGeom>
          <a:noFill/>
          <a:ln w="12700">
            <a:solidFill>
              <a:srgbClr val="EEF2F7"/>
            </a:solidFill>
            <a:prstDash val="solid"/>
          </a:ln>
        </p:spPr>
        <p:txBody>
          <a:bodyPr/>
          <a:p/>
        </p:txBody>
      </p:sp>
      <p:sp>
        <p:nvSpPr>
          <p:cNvPr id="12" name="Text 10"/>
          <p:cNvSpPr txBox="1"/>
          <p:nvPr/>
        </p:nvSpPr>
        <p:spPr>
          <a:xfrm>
            <a:off x="960120" y="3794760"/>
            <a:ext cx="448056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Clinical Notes Urgency (NLP)</a:t>
            </a:r>
            <a:endParaRPr lang="en-US" sz="1200" dirty="0"/>
          </a:p>
        </p:txBody>
      </p:sp>
      <p:sp>
        <p:nvSpPr>
          <p:cNvPr id="13" name="Text 11"/>
          <p:cNvSpPr txBox="1"/>
          <p:nvPr/>
        </p:nvSpPr>
        <p:spPr>
          <a:xfrm>
            <a:off x="960120" y="4087368"/>
            <a:ext cx="4480560" cy="365760"/>
          </a:xfrm>
          <a:prstGeom prst="rect">
            <a:avLst/>
          </a:prstGeom>
          <a:noFill/>
        </p:spPr>
        <p:txBody>
          <a:bodyPr wrap="square" lIns="0" tIns="0" rIns="0" bIns="0" rtlCol="0" anchor="ctr"/>
          <a:lstStyle/>
          <a:p>
            <a:pPr marL="0" indent="0">
              <a:buNone/>
            </a:pPr>
            <a:r>
              <a:rPr lang="en-US" sz="1600" b="1" dirty="0">
                <a:solidFill>
                  <a:srgbClr val="0F2843"/>
                </a:solidFill>
                <a:latin typeface="Calibri" panose="020F0502020204030204" pitchFamily="34" charset="0"/>
                <a:ea typeface="Calibri" panose="020F0502020204030204" pitchFamily="34" charset="-122"/>
                <a:cs typeface="Calibri" panose="020F0502020204030204" pitchFamily="34" charset="-120"/>
              </a:rPr>
              <a:t>High urgency in oncologist notes</a:t>
            </a:r>
            <a:endParaRPr lang="en-US" sz="1600" dirty="0"/>
          </a:p>
        </p:txBody>
      </p:sp>
      <p:sp>
        <p:nvSpPr>
          <p:cNvPr id="14" name="Shape 12"/>
          <p:cNvSpPr/>
          <p:nvPr/>
        </p:nvSpPr>
        <p:spPr>
          <a:xfrm>
            <a:off x="960120" y="4507992"/>
            <a:ext cx="4480560" cy="0"/>
          </a:xfrm>
          <a:prstGeom prst="line">
            <a:avLst/>
          </a:prstGeom>
          <a:noFill/>
          <a:ln w="12700">
            <a:solidFill>
              <a:srgbClr val="EEF2F7"/>
            </a:solidFill>
            <a:prstDash val="solid"/>
          </a:ln>
        </p:spPr>
        <p:txBody>
          <a:bodyPr/>
          <a:p/>
        </p:txBody>
      </p:sp>
      <p:sp>
        <p:nvSpPr>
          <p:cNvPr id="15" name="Text 13"/>
          <p:cNvSpPr txBox="1"/>
          <p:nvPr/>
        </p:nvSpPr>
        <p:spPr>
          <a:xfrm>
            <a:off x="960120" y="4572000"/>
            <a:ext cx="448056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ctDNA Readings</a:t>
            </a:r>
            <a:endParaRPr lang="en-US" sz="1200" dirty="0"/>
          </a:p>
        </p:txBody>
      </p:sp>
      <p:sp>
        <p:nvSpPr>
          <p:cNvPr id="16" name="Text 14"/>
          <p:cNvSpPr txBox="1"/>
          <p:nvPr/>
        </p:nvSpPr>
        <p:spPr>
          <a:xfrm>
            <a:off x="960120" y="4864608"/>
            <a:ext cx="4480560" cy="365760"/>
          </a:xfrm>
          <a:prstGeom prst="rect">
            <a:avLst/>
          </a:prstGeom>
          <a:noFill/>
        </p:spPr>
        <p:txBody>
          <a:bodyPr wrap="square" lIns="0" tIns="0" rIns="0" bIns="0" rtlCol="0" anchor="ctr"/>
          <a:lstStyle/>
          <a:p>
            <a:pPr marL="0" indent="0">
              <a:buNone/>
            </a:pPr>
            <a:r>
              <a:rPr lang="en-US" sz="1600" b="1" dirty="0">
                <a:solidFill>
                  <a:srgbClr val="0F2843"/>
                </a:solidFill>
                <a:latin typeface="Calibri" panose="020F0502020204030204" pitchFamily="34" charset="0"/>
                <a:ea typeface="Calibri" panose="020F0502020204030204" pitchFamily="34" charset="-122"/>
                <a:cs typeface="Calibri" panose="020F0502020204030204" pitchFamily="34" charset="-120"/>
              </a:rPr>
              <a:t>6 rising readings</a:t>
            </a:r>
            <a:endParaRPr lang="en-US" sz="1600" dirty="0"/>
          </a:p>
        </p:txBody>
      </p:sp>
      <p:sp>
        <p:nvSpPr>
          <p:cNvPr id="17" name="Shape 15"/>
          <p:cNvSpPr/>
          <p:nvPr/>
        </p:nvSpPr>
        <p:spPr>
          <a:xfrm>
            <a:off x="6126480" y="1280160"/>
            <a:ext cx="5120640" cy="640080"/>
          </a:xfrm>
          <a:prstGeom prst="roundRect">
            <a:avLst>
              <a:gd name="adj" fmla="val 10000"/>
            </a:avLst>
          </a:prstGeom>
          <a:solidFill>
            <a:srgbClr val="F4A300"/>
          </a:solidFill>
        </p:spPr>
        <p:txBody>
          <a:bodyPr/>
          <a:p/>
        </p:txBody>
      </p:sp>
      <p:sp>
        <p:nvSpPr>
          <p:cNvPr id="18" name="Text 16"/>
          <p:cNvSpPr txBox="1"/>
          <p:nvPr/>
        </p:nvSpPr>
        <p:spPr>
          <a:xfrm>
            <a:off x="6126480" y="1280160"/>
            <a:ext cx="5120640" cy="640080"/>
          </a:xfrm>
          <a:prstGeom prst="rect">
            <a:avLst/>
          </a:prstGeom>
          <a:noFill/>
        </p:spPr>
        <p:txBody>
          <a:bodyPr wrap="square" lIns="0" tIns="0" rIns="0" bIns="0" rtlCol="0" anchor="ctr"/>
          <a:lstStyle/>
          <a:p>
            <a:pPr marL="0" indent="0" algn="ctr">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PATIENT B</a:t>
            </a:r>
            <a:endParaRPr lang="en-US" sz="2000" dirty="0"/>
          </a:p>
        </p:txBody>
      </p:sp>
      <p:sp>
        <p:nvSpPr>
          <p:cNvPr id="19" name="Shape 17"/>
          <p:cNvSpPr/>
          <p:nvPr/>
        </p:nvSpPr>
        <p:spPr>
          <a:xfrm>
            <a:off x="6126480" y="2011680"/>
            <a:ext cx="5120640" cy="3474720"/>
          </a:xfrm>
          <a:prstGeom prst="roundRect">
            <a:avLst>
              <a:gd name="adj" fmla="val 1842"/>
            </a:avLst>
          </a:prstGeom>
          <a:solidFill>
            <a:srgbClr val="FFFFFF"/>
          </a:solidFill>
          <a:ln w="12700">
            <a:solidFill>
              <a:srgbClr val="EEF2F7"/>
            </a:solidFill>
            <a:prstDash val="solid"/>
          </a:ln>
        </p:spPr>
        <p:txBody>
          <a:bodyPr/>
          <a:p/>
        </p:txBody>
      </p:sp>
      <p:sp>
        <p:nvSpPr>
          <p:cNvPr id="20" name="Text 18"/>
          <p:cNvSpPr txBox="1"/>
          <p:nvPr/>
        </p:nvSpPr>
        <p:spPr>
          <a:xfrm>
            <a:off x="6446520" y="2240280"/>
            <a:ext cx="448056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ML Risk Score</a:t>
            </a:r>
            <a:endParaRPr lang="en-US" sz="1200" dirty="0"/>
          </a:p>
        </p:txBody>
      </p:sp>
      <p:sp>
        <p:nvSpPr>
          <p:cNvPr id="21" name="Text 19"/>
          <p:cNvSpPr txBox="1"/>
          <p:nvPr/>
        </p:nvSpPr>
        <p:spPr>
          <a:xfrm>
            <a:off x="6446520" y="2532888"/>
            <a:ext cx="4480560" cy="365760"/>
          </a:xfrm>
          <a:prstGeom prst="rect">
            <a:avLst/>
          </a:prstGeom>
          <a:noFill/>
        </p:spPr>
        <p:txBody>
          <a:bodyPr wrap="square" lIns="0" tIns="0" rIns="0" bIns="0" rtlCol="0" anchor="ctr"/>
          <a:lstStyle/>
          <a:p>
            <a:pPr marL="0" indent="0">
              <a:buNone/>
            </a:pPr>
            <a:r>
              <a:rPr lang="en-US" sz="1600" b="1" dirty="0">
                <a:solidFill>
                  <a:srgbClr val="0F2843"/>
                </a:solidFill>
                <a:latin typeface="Calibri" panose="020F0502020204030204" pitchFamily="34" charset="0"/>
                <a:ea typeface="Calibri" panose="020F0502020204030204" pitchFamily="34" charset="-122"/>
                <a:cs typeface="Calibri" panose="020F0502020204030204" pitchFamily="34" charset="-120"/>
              </a:rPr>
              <a:t>Severe</a:t>
            </a:r>
            <a:endParaRPr lang="en-US" sz="1600" dirty="0"/>
          </a:p>
        </p:txBody>
      </p:sp>
      <p:sp>
        <p:nvSpPr>
          <p:cNvPr id="22" name="Shape 20"/>
          <p:cNvSpPr/>
          <p:nvPr/>
        </p:nvSpPr>
        <p:spPr>
          <a:xfrm>
            <a:off x="6446520" y="2953512"/>
            <a:ext cx="4480560" cy="0"/>
          </a:xfrm>
          <a:prstGeom prst="line">
            <a:avLst/>
          </a:prstGeom>
          <a:noFill/>
          <a:ln w="12700">
            <a:solidFill>
              <a:srgbClr val="EEF2F7"/>
            </a:solidFill>
            <a:prstDash val="solid"/>
          </a:ln>
        </p:spPr>
        <p:txBody>
          <a:bodyPr/>
          <a:p/>
        </p:txBody>
      </p:sp>
      <p:sp>
        <p:nvSpPr>
          <p:cNvPr id="23" name="Text 21"/>
          <p:cNvSpPr txBox="1"/>
          <p:nvPr/>
        </p:nvSpPr>
        <p:spPr>
          <a:xfrm>
            <a:off x="6446520" y="3017520"/>
            <a:ext cx="448056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Vision Alert (DL)</a:t>
            </a:r>
            <a:endParaRPr lang="en-US" sz="1200" dirty="0"/>
          </a:p>
        </p:txBody>
      </p:sp>
      <p:sp>
        <p:nvSpPr>
          <p:cNvPr id="24" name="Text 22"/>
          <p:cNvSpPr txBox="1"/>
          <p:nvPr/>
        </p:nvSpPr>
        <p:spPr>
          <a:xfrm>
            <a:off x="6446520" y="3310128"/>
            <a:ext cx="4480560" cy="365760"/>
          </a:xfrm>
          <a:prstGeom prst="rect">
            <a:avLst/>
          </a:prstGeom>
          <a:noFill/>
        </p:spPr>
        <p:txBody>
          <a:bodyPr wrap="square" lIns="0" tIns="0" rIns="0" bIns="0" rtlCol="0" anchor="ctr"/>
          <a:lstStyle/>
          <a:p>
            <a:pPr marL="0" indent="0">
              <a:buNone/>
            </a:pPr>
            <a:r>
              <a:rPr lang="en-US" sz="1600" b="1" dirty="0">
                <a:solidFill>
                  <a:srgbClr val="0F2843"/>
                </a:solidFill>
                <a:latin typeface="Calibri" panose="020F0502020204030204" pitchFamily="34" charset="0"/>
                <a:ea typeface="Calibri" panose="020F0502020204030204" pitchFamily="34" charset="-122"/>
                <a:cs typeface="Calibri" panose="020F0502020204030204" pitchFamily="34" charset="-120"/>
              </a:rPr>
              <a:t>Stable tumor size</a:t>
            </a:r>
            <a:endParaRPr lang="en-US" sz="1600" dirty="0"/>
          </a:p>
        </p:txBody>
      </p:sp>
      <p:sp>
        <p:nvSpPr>
          <p:cNvPr id="25" name="Shape 23"/>
          <p:cNvSpPr/>
          <p:nvPr/>
        </p:nvSpPr>
        <p:spPr>
          <a:xfrm>
            <a:off x="6446520" y="3730752"/>
            <a:ext cx="4480560" cy="0"/>
          </a:xfrm>
          <a:prstGeom prst="line">
            <a:avLst/>
          </a:prstGeom>
          <a:noFill/>
          <a:ln w="12700">
            <a:solidFill>
              <a:srgbClr val="EEF2F7"/>
            </a:solidFill>
            <a:prstDash val="solid"/>
          </a:ln>
        </p:spPr>
        <p:txBody>
          <a:bodyPr/>
          <a:p/>
        </p:txBody>
      </p:sp>
      <p:sp>
        <p:nvSpPr>
          <p:cNvPr id="26" name="Text 24"/>
          <p:cNvSpPr txBox="1"/>
          <p:nvPr/>
        </p:nvSpPr>
        <p:spPr>
          <a:xfrm>
            <a:off x="6446520" y="3794760"/>
            <a:ext cx="448056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Clinical Notes Urgency (NLP)</a:t>
            </a:r>
            <a:endParaRPr lang="en-US" sz="1200" dirty="0"/>
          </a:p>
        </p:txBody>
      </p:sp>
      <p:sp>
        <p:nvSpPr>
          <p:cNvPr id="27" name="Text 25"/>
          <p:cNvSpPr txBox="1"/>
          <p:nvPr/>
        </p:nvSpPr>
        <p:spPr>
          <a:xfrm>
            <a:off x="6446520" y="4087368"/>
            <a:ext cx="4480560" cy="365760"/>
          </a:xfrm>
          <a:prstGeom prst="rect">
            <a:avLst/>
          </a:prstGeom>
          <a:noFill/>
        </p:spPr>
        <p:txBody>
          <a:bodyPr wrap="square" lIns="0" tIns="0" rIns="0" bIns="0" rtlCol="0" anchor="ctr"/>
          <a:lstStyle/>
          <a:p>
            <a:pPr marL="0" indent="0">
              <a:buNone/>
            </a:pPr>
            <a:r>
              <a:rPr lang="en-US" sz="1600" b="1" dirty="0">
                <a:solidFill>
                  <a:srgbClr val="0F2843"/>
                </a:solidFill>
                <a:latin typeface="Calibri" panose="020F0502020204030204" pitchFamily="34" charset="0"/>
                <a:ea typeface="Calibri" panose="020F0502020204030204" pitchFamily="34" charset="-122"/>
                <a:cs typeface="Calibri" panose="020F0502020204030204" pitchFamily="34" charset="-120"/>
              </a:rPr>
              <a:t>Moderate urgency</a:t>
            </a:r>
            <a:endParaRPr lang="en-US" sz="1600" dirty="0"/>
          </a:p>
        </p:txBody>
      </p:sp>
      <p:sp>
        <p:nvSpPr>
          <p:cNvPr id="28" name="Shape 26"/>
          <p:cNvSpPr/>
          <p:nvPr/>
        </p:nvSpPr>
        <p:spPr>
          <a:xfrm>
            <a:off x="6446520" y="4507992"/>
            <a:ext cx="4480560" cy="0"/>
          </a:xfrm>
          <a:prstGeom prst="line">
            <a:avLst/>
          </a:prstGeom>
          <a:noFill/>
          <a:ln w="12700">
            <a:solidFill>
              <a:srgbClr val="EEF2F7"/>
            </a:solidFill>
            <a:prstDash val="solid"/>
          </a:ln>
        </p:spPr>
        <p:txBody>
          <a:bodyPr/>
          <a:p/>
        </p:txBody>
      </p:sp>
      <p:sp>
        <p:nvSpPr>
          <p:cNvPr id="29" name="Text 27"/>
          <p:cNvSpPr txBox="1"/>
          <p:nvPr/>
        </p:nvSpPr>
        <p:spPr>
          <a:xfrm>
            <a:off x="6446520" y="4572000"/>
            <a:ext cx="448056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ctDNA Readings</a:t>
            </a:r>
            <a:endParaRPr lang="en-US" sz="1200" dirty="0"/>
          </a:p>
        </p:txBody>
      </p:sp>
      <p:sp>
        <p:nvSpPr>
          <p:cNvPr id="30" name="Text 28"/>
          <p:cNvSpPr txBox="1"/>
          <p:nvPr/>
        </p:nvSpPr>
        <p:spPr>
          <a:xfrm>
            <a:off x="6446520" y="4864608"/>
            <a:ext cx="4480560" cy="365760"/>
          </a:xfrm>
          <a:prstGeom prst="rect">
            <a:avLst/>
          </a:prstGeom>
          <a:noFill/>
        </p:spPr>
        <p:txBody>
          <a:bodyPr wrap="square" lIns="0" tIns="0" rIns="0" bIns="0" rtlCol="0" anchor="ctr"/>
          <a:lstStyle/>
          <a:p>
            <a:pPr marL="0" indent="0">
              <a:buNone/>
            </a:pPr>
            <a:r>
              <a:rPr lang="en-US" sz="1600" b="1" dirty="0">
                <a:solidFill>
                  <a:srgbClr val="0F2843"/>
                </a:solidFill>
                <a:latin typeface="Calibri" panose="020F0502020204030204" pitchFamily="34" charset="0"/>
                <a:ea typeface="Calibri" panose="020F0502020204030204" pitchFamily="34" charset="-122"/>
                <a:cs typeface="Calibri" panose="020F0502020204030204" pitchFamily="34" charset="-120"/>
              </a:rPr>
              <a:t>2 rising readings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p:spPr>
        <p:txBody>
          <a:bodyPr wrap="square" lIns="0" tIns="0" rIns="0" bIns="0" rtlCol="0" anchor="ctr"/>
          <a:lstStyle/>
          <a:p>
            <a:pPr marL="0" indent="0">
              <a:buNone/>
            </a:pPr>
            <a:r>
              <a:rPr lang="en-US" sz="1200" b="1" kern="0" spc="200" dirty="0">
                <a:solidFill>
                  <a:srgbClr val="F4A300"/>
                </a:solidFill>
                <a:latin typeface="Calibri" panose="020F0502020204030204" pitchFamily="34" charset="0"/>
                <a:ea typeface="Calibri" panose="020F0502020204030204" pitchFamily="34" charset="-122"/>
                <a:cs typeface="Calibri" panose="020F0502020204030204" pitchFamily="34" charset="-120"/>
              </a:rPr>
              <a:t>THE REAL PROBLEM</a:t>
            </a:r>
            <a:endParaRPr lang="en-US" sz="1200" dirty="0"/>
          </a:p>
        </p:txBody>
      </p:sp>
      <p:sp>
        <p:nvSpPr>
          <p:cNvPr id="3" name="Text 1"/>
          <p:cNvSpPr txBox="1"/>
          <p:nvPr/>
        </p:nvSpPr>
        <p:spPr>
          <a:xfrm>
            <a:off x="640080" y="777240"/>
            <a:ext cx="10607040" cy="1005840"/>
          </a:xfrm>
          <a:prstGeom prst="rect">
            <a:avLst/>
          </a:prstGeom>
          <a:noFill/>
        </p:spPr>
        <p:txBody>
          <a:bodyPr wrap="square" lIns="0" tIns="0" rIns="0" bIns="0" rtlCol="0" anchor="ctr"/>
          <a:lstStyle/>
          <a:p>
            <a:pPr marL="0" indent="0">
              <a:lnSpc>
                <a:spcPct val="115000"/>
              </a:lnSpc>
              <a:buNone/>
            </a:pPr>
            <a:r>
              <a:rPr lang="en-US" sz="2400" b="1" dirty="0">
                <a:solidFill>
                  <a:srgbClr val="0F2843"/>
                </a:solidFill>
                <a:latin typeface="Cambria" panose="02040503050406030204" pitchFamily="34" charset="0"/>
                <a:ea typeface="Cambria" panose="02040503050406030204" pitchFamily="34" charset="-122"/>
                <a:cs typeface="Cambria" panose="02040503050406030204" pitchFamily="34" charset="-120"/>
              </a:rPr>
              <a:t>Can a human oncologist read every model output,</a:t>
            </a:r>
            <a:endParaRPr lang="en-US" sz="2400" dirty="0"/>
          </a:p>
          <a:p>
            <a:pPr marL="0" indent="0">
              <a:lnSpc>
                <a:spcPct val="115000"/>
              </a:lnSpc>
              <a:buNone/>
            </a:pPr>
            <a:r>
              <a:rPr lang="en-US" sz="2400" b="1" dirty="0">
                <a:solidFill>
                  <a:srgbClr val="0F2843"/>
                </a:solidFill>
                <a:latin typeface="Cambria" panose="02040503050406030204" pitchFamily="34" charset="0"/>
                <a:ea typeface="Cambria" panose="02040503050406030204" pitchFamily="34" charset="-122"/>
                <a:cs typeface="Cambria" panose="02040503050406030204" pitchFamily="34" charset="-120"/>
              </a:rPr>
              <a:t>cross-reference resources, and issue an order in seconds?</a:t>
            </a:r>
            <a:endParaRPr lang="en-US" sz="2400" dirty="0"/>
          </a:p>
        </p:txBody>
      </p:sp>
      <p:sp>
        <p:nvSpPr>
          <p:cNvPr id="4" name="Shape 2"/>
          <p:cNvSpPr/>
          <p:nvPr/>
        </p:nvSpPr>
        <p:spPr>
          <a:xfrm>
            <a:off x="640080" y="2194560"/>
            <a:ext cx="2148840" cy="548640"/>
          </a:xfrm>
          <a:prstGeom prst="roundRect">
            <a:avLst>
              <a:gd name="adj" fmla="val 50000"/>
            </a:avLst>
          </a:prstGeom>
          <a:solidFill>
            <a:srgbClr val="FFFFFF"/>
          </a:solidFill>
          <a:ln w="12700">
            <a:solidFill>
              <a:srgbClr val="CADCFC"/>
            </a:solidFill>
            <a:prstDash val="solid"/>
          </a:ln>
        </p:spPr>
        <p:txBody>
          <a:bodyPr/>
          <a:p/>
        </p:txBody>
      </p:sp>
      <p:sp>
        <p:nvSpPr>
          <p:cNvPr id="5" name="Text 3"/>
          <p:cNvSpPr txBox="1"/>
          <p:nvPr/>
        </p:nvSpPr>
        <p:spPr>
          <a:xfrm>
            <a:off x="640080" y="2194560"/>
            <a:ext cx="2148840" cy="548640"/>
          </a:xfrm>
          <a:prstGeom prst="rect">
            <a:avLst/>
          </a:prstGeom>
          <a:noFill/>
        </p:spPr>
        <p:txBody>
          <a:bodyPr wrap="square" lIns="0" tIns="0" rIns="0" bIns="0" rtlCol="0" anchor="ctr"/>
          <a:lstStyle/>
          <a:p>
            <a:pPr marL="0" indent="0" algn="ctr">
              <a:buNone/>
            </a:pPr>
            <a:r>
              <a:rPr lang="en-US" sz="1200" b="1" dirty="0">
                <a:solidFill>
                  <a:srgbClr val="0F2843"/>
                </a:solidFill>
                <a:latin typeface="Calibri" panose="020F0502020204030204" pitchFamily="34" charset="0"/>
                <a:ea typeface="Calibri" panose="020F0502020204030204" pitchFamily="34" charset="-122"/>
                <a:cs typeface="Calibri" panose="020F0502020204030204" pitchFamily="34" charset="-120"/>
              </a:rPr>
              <a:t>Risk scores</a:t>
            </a:r>
            <a:endParaRPr lang="en-US" sz="1200" dirty="0"/>
          </a:p>
        </p:txBody>
      </p:sp>
      <p:sp>
        <p:nvSpPr>
          <p:cNvPr id="6" name="Text 4"/>
          <p:cNvSpPr txBox="1"/>
          <p:nvPr/>
        </p:nvSpPr>
        <p:spPr>
          <a:xfrm>
            <a:off x="2770632" y="2194560"/>
            <a:ext cx="182880" cy="548640"/>
          </a:xfrm>
          <a:prstGeom prst="rect">
            <a:avLst/>
          </a:prstGeom>
          <a:noFill/>
        </p:spPr>
        <p:txBody>
          <a:bodyPr wrap="square" lIns="0" tIns="0" rIns="0" bIns="0" rtlCol="0" anchor="ctr"/>
          <a:lstStyle/>
          <a:p>
            <a:pPr marL="0" indent="0" algn="ctr">
              <a:buNone/>
            </a:pPr>
            <a:r>
              <a:rPr lang="en-US" sz="1800" b="1"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7" name="Shape 5"/>
          <p:cNvSpPr/>
          <p:nvPr/>
        </p:nvSpPr>
        <p:spPr>
          <a:xfrm>
            <a:off x="2971800" y="2194560"/>
            <a:ext cx="2148840" cy="548640"/>
          </a:xfrm>
          <a:prstGeom prst="roundRect">
            <a:avLst>
              <a:gd name="adj" fmla="val 50000"/>
            </a:avLst>
          </a:prstGeom>
          <a:solidFill>
            <a:srgbClr val="FFFFFF"/>
          </a:solidFill>
          <a:ln w="12700">
            <a:solidFill>
              <a:srgbClr val="CADCFC"/>
            </a:solidFill>
            <a:prstDash val="solid"/>
          </a:ln>
        </p:spPr>
        <p:txBody>
          <a:bodyPr/>
          <a:p/>
        </p:txBody>
      </p:sp>
      <p:sp>
        <p:nvSpPr>
          <p:cNvPr id="8" name="Text 6"/>
          <p:cNvSpPr txBox="1"/>
          <p:nvPr/>
        </p:nvSpPr>
        <p:spPr>
          <a:xfrm>
            <a:off x="2971800" y="2194560"/>
            <a:ext cx="2148840" cy="548640"/>
          </a:xfrm>
          <a:prstGeom prst="rect">
            <a:avLst/>
          </a:prstGeom>
          <a:noFill/>
        </p:spPr>
        <p:txBody>
          <a:bodyPr wrap="square" lIns="0" tIns="0" rIns="0" bIns="0" rtlCol="0" anchor="ctr"/>
          <a:lstStyle/>
          <a:p>
            <a:pPr marL="0" indent="0" algn="ctr">
              <a:buNone/>
            </a:pPr>
            <a:r>
              <a:rPr lang="en-US" sz="1200" b="1" dirty="0">
                <a:solidFill>
                  <a:srgbClr val="0F2843"/>
                </a:solidFill>
                <a:latin typeface="Calibri" panose="020F0502020204030204" pitchFamily="34" charset="0"/>
                <a:ea typeface="Calibri" panose="020F0502020204030204" pitchFamily="34" charset="-122"/>
                <a:cs typeface="Calibri" panose="020F0502020204030204" pitchFamily="34" charset="-120"/>
              </a:rPr>
              <a:t>Vision alerts</a:t>
            </a:r>
            <a:endParaRPr lang="en-US" sz="1200" dirty="0"/>
          </a:p>
        </p:txBody>
      </p:sp>
      <p:sp>
        <p:nvSpPr>
          <p:cNvPr id="9" name="Text 7"/>
          <p:cNvSpPr txBox="1"/>
          <p:nvPr/>
        </p:nvSpPr>
        <p:spPr>
          <a:xfrm>
            <a:off x="5102352" y="2194560"/>
            <a:ext cx="182880" cy="548640"/>
          </a:xfrm>
          <a:prstGeom prst="rect">
            <a:avLst/>
          </a:prstGeom>
          <a:noFill/>
        </p:spPr>
        <p:txBody>
          <a:bodyPr wrap="square" lIns="0" tIns="0" rIns="0" bIns="0" rtlCol="0" anchor="ctr"/>
          <a:lstStyle/>
          <a:p>
            <a:pPr marL="0" indent="0" algn="ctr">
              <a:buNone/>
            </a:pPr>
            <a:r>
              <a:rPr lang="en-US" sz="1800" b="1"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10" name="Shape 8"/>
          <p:cNvSpPr/>
          <p:nvPr/>
        </p:nvSpPr>
        <p:spPr>
          <a:xfrm>
            <a:off x="5303520" y="2194560"/>
            <a:ext cx="2148840" cy="548640"/>
          </a:xfrm>
          <a:prstGeom prst="roundRect">
            <a:avLst>
              <a:gd name="adj" fmla="val 50000"/>
            </a:avLst>
          </a:prstGeom>
          <a:solidFill>
            <a:srgbClr val="FFFFFF"/>
          </a:solidFill>
          <a:ln w="12700">
            <a:solidFill>
              <a:srgbClr val="CADCFC"/>
            </a:solidFill>
            <a:prstDash val="solid"/>
          </a:ln>
        </p:spPr>
        <p:txBody>
          <a:bodyPr/>
          <a:p/>
        </p:txBody>
      </p:sp>
      <p:sp>
        <p:nvSpPr>
          <p:cNvPr id="11" name="Text 9"/>
          <p:cNvSpPr txBox="1"/>
          <p:nvPr/>
        </p:nvSpPr>
        <p:spPr>
          <a:xfrm>
            <a:off x="5303520" y="2194560"/>
            <a:ext cx="2148840" cy="548640"/>
          </a:xfrm>
          <a:prstGeom prst="rect">
            <a:avLst/>
          </a:prstGeom>
          <a:noFill/>
        </p:spPr>
        <p:txBody>
          <a:bodyPr wrap="square" lIns="0" tIns="0" rIns="0" bIns="0" rtlCol="0" anchor="ctr"/>
          <a:lstStyle/>
          <a:p>
            <a:pPr marL="0" indent="0" algn="ctr">
              <a:buNone/>
            </a:pPr>
            <a:r>
              <a:rPr lang="en-US" sz="1200" b="1" dirty="0">
                <a:solidFill>
                  <a:srgbClr val="0F2843"/>
                </a:solidFill>
                <a:latin typeface="Calibri" panose="020F0502020204030204" pitchFamily="34" charset="0"/>
                <a:ea typeface="Calibri" panose="020F0502020204030204" pitchFamily="34" charset="-122"/>
                <a:cs typeface="Calibri" panose="020F0502020204030204" pitchFamily="34" charset="-120"/>
              </a:rPr>
              <a:t>Text urgency</a:t>
            </a:r>
            <a:endParaRPr lang="en-US" sz="1200" dirty="0"/>
          </a:p>
        </p:txBody>
      </p:sp>
      <p:sp>
        <p:nvSpPr>
          <p:cNvPr id="12" name="Text 10"/>
          <p:cNvSpPr txBox="1"/>
          <p:nvPr/>
        </p:nvSpPr>
        <p:spPr>
          <a:xfrm>
            <a:off x="7434072" y="2194560"/>
            <a:ext cx="182880" cy="548640"/>
          </a:xfrm>
          <a:prstGeom prst="rect">
            <a:avLst/>
          </a:prstGeom>
          <a:noFill/>
        </p:spPr>
        <p:txBody>
          <a:bodyPr wrap="square" lIns="0" tIns="0" rIns="0" bIns="0" rtlCol="0" anchor="ctr"/>
          <a:lstStyle/>
          <a:p>
            <a:pPr marL="0" indent="0" algn="ctr">
              <a:buNone/>
            </a:pPr>
            <a:r>
              <a:rPr lang="en-US" sz="1800" b="1"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13" name="Shape 11"/>
          <p:cNvSpPr/>
          <p:nvPr/>
        </p:nvSpPr>
        <p:spPr>
          <a:xfrm>
            <a:off x="7635240" y="2194560"/>
            <a:ext cx="2148840" cy="548640"/>
          </a:xfrm>
          <a:prstGeom prst="roundRect">
            <a:avLst>
              <a:gd name="adj" fmla="val 50000"/>
            </a:avLst>
          </a:prstGeom>
          <a:solidFill>
            <a:srgbClr val="FFFFFF"/>
          </a:solidFill>
          <a:ln w="12700">
            <a:solidFill>
              <a:srgbClr val="CADCFC"/>
            </a:solidFill>
            <a:prstDash val="solid"/>
          </a:ln>
        </p:spPr>
        <p:txBody>
          <a:bodyPr/>
          <a:p/>
        </p:txBody>
      </p:sp>
      <p:sp>
        <p:nvSpPr>
          <p:cNvPr id="14" name="Text 12"/>
          <p:cNvSpPr txBox="1"/>
          <p:nvPr/>
        </p:nvSpPr>
        <p:spPr>
          <a:xfrm>
            <a:off x="7635240" y="2194560"/>
            <a:ext cx="2148840" cy="548640"/>
          </a:xfrm>
          <a:prstGeom prst="rect">
            <a:avLst/>
          </a:prstGeom>
          <a:noFill/>
        </p:spPr>
        <p:txBody>
          <a:bodyPr wrap="square" lIns="0" tIns="0" rIns="0" bIns="0" rtlCol="0" anchor="ctr"/>
          <a:lstStyle/>
          <a:p>
            <a:pPr marL="0" indent="0" algn="ctr">
              <a:buNone/>
            </a:pPr>
            <a:r>
              <a:rPr lang="en-US" sz="1200" b="1" dirty="0">
                <a:solidFill>
                  <a:srgbClr val="0F2843"/>
                </a:solidFill>
                <a:latin typeface="Calibri" panose="020F0502020204030204" pitchFamily="34" charset="0"/>
                <a:ea typeface="Calibri" panose="020F0502020204030204" pitchFamily="34" charset="-122"/>
                <a:cs typeface="Calibri" panose="020F0502020204030204" pitchFamily="34" charset="-120"/>
              </a:rPr>
              <a:t>Trial &amp; drug inventory</a:t>
            </a:r>
            <a:endParaRPr lang="en-US" sz="1200" dirty="0"/>
          </a:p>
        </p:txBody>
      </p:sp>
      <p:sp>
        <p:nvSpPr>
          <p:cNvPr id="15" name="Shape 13"/>
          <p:cNvSpPr/>
          <p:nvPr/>
        </p:nvSpPr>
        <p:spPr>
          <a:xfrm>
            <a:off x="640080" y="3200400"/>
            <a:ext cx="10881360" cy="2011680"/>
          </a:xfrm>
          <a:prstGeom prst="roundRect">
            <a:avLst>
              <a:gd name="adj" fmla="val 3636"/>
            </a:avLst>
          </a:prstGeom>
          <a:solidFill>
            <a:srgbClr val="0F2843"/>
          </a:solidFill>
        </p:spPr>
        <p:txBody>
          <a:bodyPr/>
          <a:p/>
        </p:txBody>
      </p:sp>
      <p:sp>
        <p:nvSpPr>
          <p:cNvPr id="16" name="Text 14"/>
          <p:cNvSpPr txBox="1"/>
          <p:nvPr/>
        </p:nvSpPr>
        <p:spPr>
          <a:xfrm>
            <a:off x="1005840" y="3383280"/>
            <a:ext cx="10149840" cy="1645920"/>
          </a:xfrm>
          <a:prstGeom prst="rect">
            <a:avLst/>
          </a:prstGeom>
          <a:noFill/>
        </p:spPr>
        <p:txBody>
          <a:bodyPr wrap="square" lIns="0" tIns="0" rIns="0" bIns="0" rtlCol="0" anchor="ctr"/>
          <a:lstStyle/>
          <a:p>
            <a:pPr marL="0" indent="0">
              <a:lnSpc>
                <a:spcPct val="130000"/>
              </a:lnSpc>
              <a:buNone/>
            </a:pPr>
            <a:r>
              <a:rPr lang="en-US" sz="1900" b="1" dirty="0">
                <a:solidFill>
                  <a:srgbClr val="FFFFFF"/>
                </a:solidFill>
                <a:latin typeface="Calibri" panose="020F0502020204030204" pitchFamily="34" charset="0"/>
                <a:ea typeface="Calibri" panose="020F0502020204030204" pitchFamily="34" charset="-122"/>
                <a:cs typeface="Calibri" panose="020F0502020204030204" pitchFamily="34" charset="-120"/>
              </a:rPr>
              <a:t>We need a system that can reason, decide, and act
on its own judgement.
</a:t>
            </a:r>
            <a:r>
              <a:rPr lang="en-US" sz="1400" i="1" dirty="0">
                <a:solidFill>
                  <a:srgbClr val="FFB627"/>
                </a:solidFill>
                <a:latin typeface="Calibri" panose="020F0502020204030204" pitchFamily="34" charset="0"/>
                <a:ea typeface="Calibri" panose="020F0502020204030204" pitchFamily="34" charset="-122"/>
                <a:cs typeface="Calibri" panose="020F0502020204030204" pitchFamily="34" charset="-120"/>
              </a:rPr>
              <a:t>This is where Agentic AI enters the story.</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502920"/>
          </a:xfrm>
          <a:prstGeom prst="rect">
            <a:avLst/>
          </a:prstGeom>
          <a:noFill/>
        </p:spPr>
        <p:txBody>
          <a:bodyPr wrap="square" lIns="0" tIns="0" rIns="0" bIns="0" rtlCol="0" anchor="ctr"/>
          <a:lstStyle/>
          <a:p>
            <a:pPr marL="0" indent="0">
              <a:buNone/>
            </a:pPr>
            <a:r>
              <a:rPr lang="en-US" sz="2800" b="1" dirty="0">
                <a:solidFill>
                  <a:srgbClr val="0F2843"/>
                </a:solidFill>
                <a:latin typeface="Cambria" panose="02040503050406030204" pitchFamily="34" charset="0"/>
                <a:ea typeface="Cambria" panose="02040503050406030204" pitchFamily="34" charset="-122"/>
                <a:cs typeface="Cambria" panose="02040503050406030204" pitchFamily="34" charset="-120"/>
              </a:rPr>
              <a:t>What Is Agentic AI?</a:t>
            </a:r>
            <a:endParaRPr lang="en-US" sz="2800" dirty="0"/>
          </a:p>
        </p:txBody>
      </p:sp>
      <p:sp>
        <p:nvSpPr>
          <p:cNvPr id="3" name="Shape 1"/>
          <p:cNvSpPr/>
          <p:nvPr/>
        </p:nvSpPr>
        <p:spPr>
          <a:xfrm>
            <a:off x="640080" y="1234440"/>
            <a:ext cx="2286000" cy="822960"/>
          </a:xfrm>
          <a:prstGeom prst="roundRect">
            <a:avLst>
              <a:gd name="adj" fmla="val 7778"/>
            </a:avLst>
          </a:prstGeom>
          <a:solidFill>
            <a:srgbClr val="0F2843"/>
          </a:solidFill>
        </p:spPr>
        <p:txBody>
          <a:bodyPr/>
          <a:p/>
        </p:txBody>
      </p:sp>
      <p:sp>
        <p:nvSpPr>
          <p:cNvPr id="4" name="Text 2"/>
          <p:cNvSpPr txBox="1"/>
          <p:nvPr/>
        </p:nvSpPr>
        <p:spPr>
          <a:xfrm>
            <a:off x="640080" y="1234440"/>
            <a:ext cx="2286000" cy="82296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PERCEIVE</a:t>
            </a:r>
            <a:endParaRPr lang="en-US" sz="1300" dirty="0"/>
          </a:p>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SITUATION</a:t>
            </a:r>
            <a:endParaRPr lang="en-US" sz="1300" dirty="0"/>
          </a:p>
        </p:txBody>
      </p:sp>
      <p:sp>
        <p:nvSpPr>
          <p:cNvPr id="5" name="Text 3"/>
          <p:cNvSpPr txBox="1"/>
          <p:nvPr/>
        </p:nvSpPr>
        <p:spPr>
          <a:xfrm>
            <a:off x="2926080" y="1234440"/>
            <a:ext cx="502920" cy="822960"/>
          </a:xfrm>
          <a:prstGeom prst="rect">
            <a:avLst/>
          </a:prstGeom>
          <a:noFill/>
        </p:spPr>
        <p:txBody>
          <a:bodyPr wrap="square" lIns="0" tIns="0" rIns="0" bIns="0" rtlCol="0" anchor="ctr"/>
          <a:lstStyle/>
          <a:p>
            <a:pPr marL="0" indent="0" algn="ctr">
              <a:buNone/>
            </a:pPr>
            <a:r>
              <a:rPr lang="en-US" sz="2000" dirty="0">
                <a:solidFill>
                  <a:srgbClr val="5B6B82"/>
                </a:solidFill>
              </a:rPr>
              <a:t>→</a:t>
            </a:r>
            <a:endParaRPr lang="en-US" sz="2000" dirty="0"/>
          </a:p>
        </p:txBody>
      </p:sp>
      <p:sp>
        <p:nvSpPr>
          <p:cNvPr id="6" name="Shape 4"/>
          <p:cNvSpPr/>
          <p:nvPr/>
        </p:nvSpPr>
        <p:spPr>
          <a:xfrm>
            <a:off x="3429000" y="1234440"/>
            <a:ext cx="2286000" cy="822960"/>
          </a:xfrm>
          <a:prstGeom prst="roundRect">
            <a:avLst>
              <a:gd name="adj" fmla="val 7778"/>
            </a:avLst>
          </a:prstGeom>
          <a:solidFill>
            <a:srgbClr val="0F2843"/>
          </a:solidFill>
        </p:spPr>
        <p:txBody>
          <a:bodyPr/>
          <a:p/>
        </p:txBody>
      </p:sp>
      <p:sp>
        <p:nvSpPr>
          <p:cNvPr id="7" name="Text 5"/>
          <p:cNvSpPr txBox="1"/>
          <p:nvPr/>
        </p:nvSpPr>
        <p:spPr>
          <a:xfrm>
            <a:off x="3429000" y="1234440"/>
            <a:ext cx="2286000" cy="82296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REASON</a:t>
            </a:r>
            <a:endParaRPr lang="en-US" sz="1300" dirty="0"/>
          </a:p>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OVER GOAL</a:t>
            </a:r>
            <a:endParaRPr lang="en-US" sz="1300" dirty="0"/>
          </a:p>
        </p:txBody>
      </p:sp>
      <p:sp>
        <p:nvSpPr>
          <p:cNvPr id="8" name="Text 6"/>
          <p:cNvSpPr txBox="1"/>
          <p:nvPr/>
        </p:nvSpPr>
        <p:spPr>
          <a:xfrm>
            <a:off x="5715000" y="1234440"/>
            <a:ext cx="502920" cy="822960"/>
          </a:xfrm>
          <a:prstGeom prst="rect">
            <a:avLst/>
          </a:prstGeom>
          <a:noFill/>
        </p:spPr>
        <p:txBody>
          <a:bodyPr wrap="square" lIns="0" tIns="0" rIns="0" bIns="0" rtlCol="0" anchor="ctr"/>
          <a:lstStyle/>
          <a:p>
            <a:pPr marL="0" indent="0" algn="ctr">
              <a:buNone/>
            </a:pPr>
            <a:r>
              <a:rPr lang="en-US" sz="2000" dirty="0">
                <a:solidFill>
                  <a:srgbClr val="5B6B82"/>
                </a:solidFill>
              </a:rPr>
              <a:t>→</a:t>
            </a:r>
            <a:endParaRPr lang="en-US" sz="2000" dirty="0"/>
          </a:p>
        </p:txBody>
      </p:sp>
      <p:sp>
        <p:nvSpPr>
          <p:cNvPr id="9" name="Shape 7"/>
          <p:cNvSpPr/>
          <p:nvPr/>
        </p:nvSpPr>
        <p:spPr>
          <a:xfrm>
            <a:off x="6217920" y="1234440"/>
            <a:ext cx="2286000" cy="822960"/>
          </a:xfrm>
          <a:prstGeom prst="roundRect">
            <a:avLst>
              <a:gd name="adj" fmla="val 7778"/>
            </a:avLst>
          </a:prstGeom>
          <a:solidFill>
            <a:srgbClr val="0F2843"/>
          </a:solidFill>
        </p:spPr>
        <p:txBody>
          <a:bodyPr/>
          <a:p/>
        </p:txBody>
      </p:sp>
      <p:sp>
        <p:nvSpPr>
          <p:cNvPr id="10" name="Text 8"/>
          <p:cNvSpPr txBox="1"/>
          <p:nvPr/>
        </p:nvSpPr>
        <p:spPr>
          <a:xfrm>
            <a:off x="6217920" y="1234440"/>
            <a:ext cx="2286000" cy="82296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CHOOSE &amp;</a:t>
            </a:r>
            <a:endParaRPr lang="en-US" sz="1300" dirty="0"/>
          </a:p>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ACT</a:t>
            </a:r>
            <a:endParaRPr lang="en-US" sz="1300" dirty="0"/>
          </a:p>
        </p:txBody>
      </p:sp>
      <p:sp>
        <p:nvSpPr>
          <p:cNvPr id="11" name="Text 9"/>
          <p:cNvSpPr txBox="1"/>
          <p:nvPr/>
        </p:nvSpPr>
        <p:spPr>
          <a:xfrm>
            <a:off x="8503920" y="1234440"/>
            <a:ext cx="502920" cy="822960"/>
          </a:xfrm>
          <a:prstGeom prst="rect">
            <a:avLst/>
          </a:prstGeom>
          <a:noFill/>
        </p:spPr>
        <p:txBody>
          <a:bodyPr wrap="square" lIns="0" tIns="0" rIns="0" bIns="0" rtlCol="0" anchor="ctr"/>
          <a:lstStyle/>
          <a:p>
            <a:pPr marL="0" indent="0" algn="ctr">
              <a:buNone/>
            </a:pPr>
            <a:r>
              <a:rPr lang="en-US" sz="2000" dirty="0">
                <a:solidFill>
                  <a:srgbClr val="5B6B82"/>
                </a:solidFill>
              </a:rPr>
              <a:t>→</a:t>
            </a:r>
            <a:endParaRPr lang="en-US" sz="2000" dirty="0"/>
          </a:p>
        </p:txBody>
      </p:sp>
      <p:sp>
        <p:nvSpPr>
          <p:cNvPr id="12" name="Shape 10"/>
          <p:cNvSpPr/>
          <p:nvPr/>
        </p:nvSpPr>
        <p:spPr>
          <a:xfrm>
            <a:off x="9006840" y="1234440"/>
            <a:ext cx="2286000" cy="822960"/>
          </a:xfrm>
          <a:prstGeom prst="roundRect">
            <a:avLst>
              <a:gd name="adj" fmla="val 7778"/>
            </a:avLst>
          </a:prstGeom>
          <a:solidFill>
            <a:srgbClr val="FFB627"/>
          </a:solidFill>
        </p:spPr>
        <p:txBody>
          <a:bodyPr/>
          <a:p/>
        </p:txBody>
      </p:sp>
      <p:sp>
        <p:nvSpPr>
          <p:cNvPr id="13" name="Text 11"/>
          <p:cNvSpPr txBox="1"/>
          <p:nvPr/>
        </p:nvSpPr>
        <p:spPr>
          <a:xfrm>
            <a:off x="9006840" y="1234440"/>
            <a:ext cx="2286000" cy="822960"/>
          </a:xfrm>
          <a:prstGeom prst="rect">
            <a:avLst/>
          </a:prstGeom>
          <a:noFill/>
        </p:spPr>
        <p:txBody>
          <a:bodyPr wrap="square" lIns="0" tIns="0" rIns="0" bIns="0" rtlCol="0" anchor="ctr"/>
          <a:lstStyle/>
          <a:p>
            <a:pPr marL="0" indent="0" algn="ctr">
              <a:buNone/>
            </a:pPr>
            <a:r>
              <a:rPr lang="en-US" sz="1300" b="1" dirty="0">
                <a:solidFill>
                  <a:srgbClr val="081527"/>
                </a:solidFill>
                <a:latin typeface="Calibri" panose="020F0502020204030204" pitchFamily="34" charset="0"/>
                <a:ea typeface="Calibri" panose="020F0502020204030204" pitchFamily="34" charset="-122"/>
                <a:cs typeface="Calibri" panose="020F0502020204030204" pitchFamily="34" charset="-120"/>
              </a:rPr>
              <a:t>OBSERVE</a:t>
            </a:r>
            <a:endParaRPr lang="en-US" sz="1300" dirty="0"/>
          </a:p>
          <a:p>
            <a:pPr marL="0" indent="0" algn="ctr">
              <a:buNone/>
            </a:pPr>
            <a:r>
              <a:rPr lang="en-US" sz="1300" b="1" dirty="0">
                <a:solidFill>
                  <a:srgbClr val="081527"/>
                </a:solidFill>
                <a:latin typeface="Calibri" panose="020F0502020204030204" pitchFamily="34" charset="0"/>
                <a:ea typeface="Calibri" panose="020F0502020204030204" pitchFamily="34" charset="-122"/>
                <a:cs typeface="Calibri" panose="020F0502020204030204" pitchFamily="34" charset="-120"/>
              </a:rPr>
              <a:t>RESULT</a:t>
            </a:r>
            <a:endParaRPr lang="en-US" sz="1300" dirty="0"/>
          </a:p>
        </p:txBody>
      </p:sp>
      <p:sp>
        <p:nvSpPr>
          <p:cNvPr id="14" name="Text 12"/>
          <p:cNvSpPr txBox="1"/>
          <p:nvPr/>
        </p:nvSpPr>
        <p:spPr>
          <a:xfrm>
            <a:off x="640080" y="2331720"/>
            <a:ext cx="10698480" cy="685800"/>
          </a:xfrm>
          <a:prstGeom prst="rect">
            <a:avLst/>
          </a:prstGeom>
          <a:noFill/>
        </p:spPr>
        <p:txBody>
          <a:bodyPr wrap="square" lIns="0" tIns="0" rIns="0" bIns="0" rtlCol="0" anchor="ctr"/>
          <a:lstStyle/>
          <a:p>
            <a:pPr marL="0" indent="0">
              <a:lnSpc>
                <a:spcPct val="120000"/>
              </a:lnSpc>
              <a:buNone/>
            </a:pPr>
            <a:r>
              <a:rPr lang="en-US" sz="1300" i="1" dirty="0">
                <a:solidFill>
                  <a:srgbClr val="5B6B82"/>
                </a:solidFill>
                <a:latin typeface="Calibri" panose="020F0502020204030204" pitchFamily="34" charset="0"/>
                <a:ea typeface="Calibri" panose="020F0502020204030204" pitchFamily="34" charset="-122"/>
                <a:cs typeface="Calibri" panose="020F0502020204030204" pitchFamily="34" charset="-120"/>
              </a:rPr>
              <a:t>Agentic AI means reasoning about a goal, choosing tools and actions,</a:t>
            </a:r>
            <a:endParaRPr lang="en-US" sz="1300" dirty="0"/>
          </a:p>
          <a:p>
            <a:pPr marL="0" indent="0">
              <a:lnSpc>
                <a:spcPct val="120000"/>
              </a:lnSpc>
              <a:buNone/>
            </a:pPr>
            <a:r>
              <a:rPr lang="en-US" sz="1300" i="1" dirty="0">
                <a:solidFill>
                  <a:srgbClr val="5B6B82"/>
                </a:solidFill>
                <a:latin typeface="Calibri" panose="020F0502020204030204" pitchFamily="34" charset="0"/>
                <a:ea typeface="Calibri" panose="020F0502020204030204" pitchFamily="34" charset="-122"/>
                <a:cs typeface="Calibri" panose="020F0502020204030204" pitchFamily="34" charset="-120"/>
              </a:rPr>
              <a:t>and acting autonomously toward that goal — not just predicting, but deciding and executing.</a:t>
            </a:r>
            <a:endParaRPr lang="en-US" sz="1300" dirty="0"/>
          </a:p>
        </p:txBody>
      </p:sp>
      <p:sp>
        <p:nvSpPr>
          <p:cNvPr id="15" name="Shape 13"/>
          <p:cNvSpPr/>
          <p:nvPr/>
        </p:nvSpPr>
        <p:spPr>
          <a:xfrm>
            <a:off x="640080" y="3246120"/>
            <a:ext cx="10881360" cy="411480"/>
          </a:xfrm>
          <a:prstGeom prst="roundRect">
            <a:avLst>
              <a:gd name="adj" fmla="val 11111"/>
            </a:avLst>
          </a:prstGeom>
          <a:solidFill>
            <a:srgbClr val="FFFFFF"/>
          </a:solidFill>
          <a:ln w="12700">
            <a:solidFill>
              <a:srgbClr val="EEF2F7"/>
            </a:solidFill>
            <a:prstDash val="solid"/>
          </a:ln>
        </p:spPr>
        <p:txBody>
          <a:bodyPr/>
          <a:p/>
        </p:txBody>
      </p:sp>
      <p:sp>
        <p:nvSpPr>
          <p:cNvPr id="16" name="Text 14"/>
          <p:cNvSpPr txBox="1"/>
          <p:nvPr/>
        </p:nvSpPr>
        <p:spPr>
          <a:xfrm>
            <a:off x="868680" y="3246120"/>
            <a:ext cx="2926080" cy="411480"/>
          </a:xfrm>
          <a:prstGeom prst="rect">
            <a:avLst/>
          </a:prstGeom>
          <a:noFill/>
        </p:spPr>
        <p:txBody>
          <a:bodyPr wrap="square" lIns="0" tIns="0" rIns="0" bIns="0" rtlCol="0" anchor="ctr"/>
          <a:lstStyle/>
          <a:p>
            <a:pPr marL="0" indent="0">
              <a:buNone/>
            </a:pPr>
            <a:r>
              <a:rPr lang="en-US" sz="1200" b="1" dirty="0">
                <a:solidFill>
                  <a:srgbClr val="0F2843"/>
                </a:solidFill>
                <a:latin typeface="Calibri" panose="020F0502020204030204" pitchFamily="34" charset="0"/>
                <a:ea typeface="Calibri" panose="020F0502020204030204" pitchFamily="34" charset="-122"/>
                <a:cs typeface="Calibri" panose="020F0502020204030204" pitchFamily="34" charset="-120"/>
              </a:rPr>
              <a:t>Low autonomy</a:t>
            </a:r>
            <a:endParaRPr lang="en-US" sz="1200" dirty="0"/>
          </a:p>
        </p:txBody>
      </p:sp>
      <p:sp>
        <p:nvSpPr>
          <p:cNvPr id="17" name="Text 15"/>
          <p:cNvSpPr txBox="1"/>
          <p:nvPr/>
        </p:nvSpPr>
        <p:spPr>
          <a:xfrm>
            <a:off x="3840480" y="3246120"/>
            <a:ext cx="7498080" cy="41148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Agent suggests ranked options; a human picks the action</a:t>
            </a:r>
            <a:endParaRPr lang="en-US" sz="1200" dirty="0"/>
          </a:p>
        </p:txBody>
      </p:sp>
      <p:sp>
        <p:nvSpPr>
          <p:cNvPr id="18" name="Shape 16"/>
          <p:cNvSpPr/>
          <p:nvPr/>
        </p:nvSpPr>
        <p:spPr>
          <a:xfrm>
            <a:off x="640080" y="3749040"/>
            <a:ext cx="10881360" cy="411480"/>
          </a:xfrm>
          <a:prstGeom prst="roundRect">
            <a:avLst>
              <a:gd name="adj" fmla="val 11111"/>
            </a:avLst>
          </a:prstGeom>
          <a:solidFill>
            <a:srgbClr val="FFFFFF"/>
          </a:solidFill>
          <a:ln w="12700">
            <a:solidFill>
              <a:srgbClr val="EEF2F7"/>
            </a:solidFill>
            <a:prstDash val="solid"/>
          </a:ln>
        </p:spPr>
        <p:txBody>
          <a:bodyPr/>
          <a:p/>
        </p:txBody>
      </p:sp>
      <p:sp>
        <p:nvSpPr>
          <p:cNvPr id="19" name="Text 17"/>
          <p:cNvSpPr txBox="1"/>
          <p:nvPr/>
        </p:nvSpPr>
        <p:spPr>
          <a:xfrm>
            <a:off x="868680" y="3749040"/>
            <a:ext cx="2926080" cy="411480"/>
          </a:xfrm>
          <a:prstGeom prst="rect">
            <a:avLst/>
          </a:prstGeom>
          <a:noFill/>
        </p:spPr>
        <p:txBody>
          <a:bodyPr wrap="square" lIns="0" tIns="0" rIns="0" bIns="0" rtlCol="0" anchor="ctr"/>
          <a:lstStyle/>
          <a:p>
            <a:pPr marL="0" indent="0">
              <a:buNone/>
            </a:pPr>
            <a:r>
              <a:rPr lang="en-US" sz="1200" b="1" dirty="0">
                <a:solidFill>
                  <a:srgbClr val="0F2843"/>
                </a:solidFill>
                <a:latin typeface="Calibri" panose="020F0502020204030204" pitchFamily="34" charset="0"/>
                <a:ea typeface="Calibri" panose="020F0502020204030204" pitchFamily="34" charset="-122"/>
                <a:cs typeface="Calibri" panose="020F0502020204030204" pitchFamily="34" charset="-120"/>
              </a:rPr>
              <a:t>Moderate autonomy</a:t>
            </a:r>
            <a:endParaRPr lang="en-US" sz="1200" dirty="0"/>
          </a:p>
        </p:txBody>
      </p:sp>
      <p:sp>
        <p:nvSpPr>
          <p:cNvPr id="20" name="Text 18"/>
          <p:cNvSpPr txBox="1"/>
          <p:nvPr/>
        </p:nvSpPr>
        <p:spPr>
          <a:xfrm>
            <a:off x="3840480" y="3749040"/>
            <a:ext cx="7498080" cy="41148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Agent executes routine actions, asks approval for major ones</a:t>
            </a:r>
            <a:endParaRPr lang="en-US" sz="1200" dirty="0"/>
          </a:p>
        </p:txBody>
      </p:sp>
      <p:sp>
        <p:nvSpPr>
          <p:cNvPr id="21" name="Shape 19"/>
          <p:cNvSpPr/>
          <p:nvPr/>
        </p:nvSpPr>
        <p:spPr>
          <a:xfrm>
            <a:off x="640080" y="4251960"/>
            <a:ext cx="10881360" cy="411480"/>
          </a:xfrm>
          <a:prstGeom prst="roundRect">
            <a:avLst>
              <a:gd name="adj" fmla="val 11111"/>
            </a:avLst>
          </a:prstGeom>
          <a:solidFill>
            <a:srgbClr val="FFFFFF"/>
          </a:solidFill>
          <a:ln w="12700">
            <a:solidFill>
              <a:srgbClr val="EEF2F7"/>
            </a:solidFill>
            <a:prstDash val="solid"/>
          </a:ln>
        </p:spPr>
        <p:txBody>
          <a:bodyPr/>
          <a:p/>
        </p:txBody>
      </p:sp>
      <p:sp>
        <p:nvSpPr>
          <p:cNvPr id="22" name="Text 20"/>
          <p:cNvSpPr txBox="1"/>
          <p:nvPr/>
        </p:nvSpPr>
        <p:spPr>
          <a:xfrm>
            <a:off x="868680" y="4251960"/>
            <a:ext cx="2926080" cy="411480"/>
          </a:xfrm>
          <a:prstGeom prst="rect">
            <a:avLst/>
          </a:prstGeom>
          <a:noFill/>
        </p:spPr>
        <p:txBody>
          <a:bodyPr wrap="square" lIns="0" tIns="0" rIns="0" bIns="0" rtlCol="0" anchor="ctr"/>
          <a:lstStyle/>
          <a:p>
            <a:pPr marL="0" indent="0">
              <a:buNone/>
            </a:pPr>
            <a:r>
              <a:rPr lang="en-US" sz="1200" b="1" dirty="0">
                <a:solidFill>
                  <a:srgbClr val="0F2843"/>
                </a:solidFill>
                <a:latin typeface="Calibri" panose="020F0502020204030204" pitchFamily="34" charset="0"/>
                <a:ea typeface="Calibri" panose="020F0502020204030204" pitchFamily="34" charset="-122"/>
                <a:cs typeface="Calibri" panose="020F0502020204030204" pitchFamily="34" charset="-120"/>
              </a:rPr>
              <a:t>Full autonomy</a:t>
            </a:r>
            <a:endParaRPr lang="en-US" sz="1200" dirty="0"/>
          </a:p>
        </p:txBody>
      </p:sp>
      <p:sp>
        <p:nvSpPr>
          <p:cNvPr id="23" name="Text 21"/>
          <p:cNvSpPr txBox="1"/>
          <p:nvPr/>
        </p:nvSpPr>
        <p:spPr>
          <a:xfrm>
            <a:off x="3840480" y="4251960"/>
            <a:ext cx="7498080" cy="41148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Agent starts the regimen on its own and reports after the fact</a:t>
            </a:r>
            <a:endParaRPr lang="en-US" sz="1200" dirty="0"/>
          </a:p>
        </p:txBody>
      </p:sp>
      <p:sp>
        <p:nvSpPr>
          <p:cNvPr id="24" name="Shape 22"/>
          <p:cNvSpPr/>
          <p:nvPr/>
        </p:nvSpPr>
        <p:spPr>
          <a:xfrm>
            <a:off x="640080" y="4892040"/>
            <a:ext cx="10881360" cy="566928"/>
          </a:xfrm>
          <a:prstGeom prst="roundRect">
            <a:avLst>
              <a:gd name="adj" fmla="val 8065"/>
            </a:avLst>
          </a:prstGeom>
          <a:solidFill>
            <a:srgbClr val="0F2843"/>
          </a:solidFill>
        </p:spPr>
        <p:txBody>
          <a:bodyPr/>
          <a:p/>
        </p:txBody>
      </p:sp>
      <p:sp>
        <p:nvSpPr>
          <p:cNvPr id="25" name="Text 23"/>
          <p:cNvSpPr txBox="1"/>
          <p:nvPr/>
        </p:nvSpPr>
        <p:spPr>
          <a:xfrm>
            <a:off x="868680" y="4892040"/>
            <a:ext cx="10424160" cy="566928"/>
          </a:xfrm>
          <a:prstGeom prst="rect">
            <a:avLst/>
          </a:prstGeom>
          <a:noFill/>
        </p:spPr>
        <p:txBody>
          <a:bodyPr wrap="square" lIns="0" tIns="0" rIns="0" bIns="0" rtlCol="0" anchor="ctr"/>
          <a:lstStyle/>
          <a:p>
            <a:pPr marL="0" indent="0">
              <a:buNone/>
            </a:pPr>
            <a:r>
              <a:rPr lang="en-US" sz="1200" i="1" dirty="0">
                <a:solidFill>
                  <a:srgbClr val="E3E9F2"/>
                </a:solidFill>
                <a:latin typeface="Calibri" panose="020F0502020204030204" pitchFamily="34" charset="0"/>
                <a:ea typeface="Calibri" panose="020F0502020204030204" pitchFamily="34" charset="-122"/>
                <a:cs typeface="Calibri" panose="020F0502020204030204" pitchFamily="34" charset="-120"/>
              </a:rPr>
              <a:t>If a goal requires choosing a regimen in under 10 seconds, how much autonomy should the agent have?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p:spPr>
        <p:txBody>
          <a:bodyPr wrap="square" lIns="0" tIns="0" rIns="0" bIns="0" rtlCol="0" anchor="ctr"/>
          <a:lstStyle/>
          <a:p>
            <a:pPr marL="0" indent="0">
              <a:buNone/>
            </a:pPr>
            <a:r>
              <a:rPr lang="en-US" sz="1200" b="1" kern="0" spc="200" dirty="0">
                <a:solidFill>
                  <a:srgbClr val="FFB627"/>
                </a:solidFill>
                <a:latin typeface="Calibri" panose="020F0502020204030204" pitchFamily="34" charset="0"/>
                <a:ea typeface="Calibri" panose="020F0502020204030204" pitchFamily="34" charset="-122"/>
                <a:cs typeface="Calibri" panose="020F0502020204030204" pitchFamily="34" charset="-120"/>
              </a:rPr>
              <a:t>YOUR FIRST DECISION</a:t>
            </a:r>
            <a:endParaRPr lang="en-US" sz="1200" dirty="0"/>
          </a:p>
        </p:txBody>
      </p:sp>
      <p:sp>
        <p:nvSpPr>
          <p:cNvPr id="3" name="Text 1"/>
          <p:cNvSpPr txBox="1"/>
          <p:nvPr/>
        </p:nvSpPr>
        <p:spPr>
          <a:xfrm>
            <a:off x="640080" y="777240"/>
            <a:ext cx="8229600" cy="548640"/>
          </a:xfrm>
          <a:prstGeom prst="rect">
            <a:avLst/>
          </a:prstGeom>
          <a:noFill/>
        </p:spPr>
        <p:txBody>
          <a:bodyPr wrap="square" lIns="0" tIns="0" rIns="0" bIns="0" rtlCol="0" anchor="ctr"/>
          <a:lstStyle/>
          <a:p>
            <a:pPr marL="0" indent="0">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New Directive Incoming...</a:t>
            </a:r>
            <a:endParaRPr lang="en-US" sz="2800" dirty="0"/>
          </a:p>
        </p:txBody>
      </p:sp>
      <p:sp>
        <p:nvSpPr>
          <p:cNvPr id="4" name="Shape 2"/>
          <p:cNvSpPr/>
          <p:nvPr/>
        </p:nvSpPr>
        <p:spPr>
          <a:xfrm>
            <a:off x="640080" y="1554480"/>
            <a:ext cx="5212080" cy="2834640"/>
          </a:xfrm>
          <a:prstGeom prst="roundRect">
            <a:avLst>
              <a:gd name="adj" fmla="val 2581"/>
            </a:avLst>
          </a:prstGeom>
          <a:solidFill>
            <a:srgbClr val="17263B"/>
          </a:solidFill>
        </p:spPr>
        <p:txBody>
          <a:bodyPr/>
          <a:p/>
        </p:txBody>
      </p:sp>
      <p:sp>
        <p:nvSpPr>
          <p:cNvPr id="5" name="Text 3"/>
          <p:cNvSpPr txBox="1"/>
          <p:nvPr/>
        </p:nvSpPr>
        <p:spPr>
          <a:xfrm>
            <a:off x="914400" y="1783080"/>
            <a:ext cx="4480560" cy="292608"/>
          </a:xfrm>
          <a:prstGeom prst="rect">
            <a:avLst/>
          </a:prstGeom>
          <a:noFill/>
        </p:spPr>
        <p:txBody>
          <a:bodyPr wrap="square" lIns="0" tIns="0" rIns="0" bIns="0" rtlCol="0" anchor="ctr"/>
          <a:lstStyle/>
          <a:p>
            <a:pPr marL="0" indent="0">
              <a:buNone/>
            </a:pPr>
            <a:r>
              <a:rPr lang="en-US" sz="1200" dirty="0">
                <a:solidFill>
                  <a:srgbClr val="9FB3CC"/>
                </a:solidFill>
                <a:latin typeface="Calibri" panose="020F0502020204030204" pitchFamily="34" charset="0"/>
                <a:ea typeface="Calibri" panose="020F0502020204030204" pitchFamily="34" charset="-122"/>
                <a:cs typeface="Calibri" panose="020F0502020204030204" pitchFamily="34" charset="-120"/>
              </a:rPr>
              <a:t>Goal</a:t>
            </a:r>
            <a:endParaRPr lang="en-US" sz="1200" dirty="0"/>
          </a:p>
        </p:txBody>
      </p:sp>
      <p:sp>
        <p:nvSpPr>
          <p:cNvPr id="6" name="Text 4"/>
          <p:cNvSpPr txBox="1"/>
          <p:nvPr/>
        </p:nvSpPr>
        <p:spPr>
          <a:xfrm>
            <a:off x="914400" y="2057400"/>
            <a:ext cx="4480560" cy="384048"/>
          </a:xfrm>
          <a:prstGeom prst="rect">
            <a:avLst/>
          </a:prstGeom>
          <a:noFill/>
        </p:spPr>
        <p:txBody>
          <a:bodyPr wrap="square" lIns="0" tIns="0" rIns="0" bIns="0" rtlCol="0" anchor="ctr"/>
          <a:lstStyle/>
          <a:p>
            <a:pPr marL="0" indent="0">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Treat Patient A</a:t>
            </a:r>
            <a:endParaRPr lang="en-US" sz="1700" dirty="0"/>
          </a:p>
        </p:txBody>
      </p:sp>
      <p:sp>
        <p:nvSpPr>
          <p:cNvPr id="7" name="Text 5"/>
          <p:cNvSpPr txBox="1"/>
          <p:nvPr/>
        </p:nvSpPr>
        <p:spPr>
          <a:xfrm>
            <a:off x="914400" y="2560320"/>
            <a:ext cx="4480560" cy="292608"/>
          </a:xfrm>
          <a:prstGeom prst="rect">
            <a:avLst/>
          </a:prstGeom>
          <a:noFill/>
        </p:spPr>
        <p:txBody>
          <a:bodyPr wrap="square" lIns="0" tIns="0" rIns="0" bIns="0" rtlCol="0" anchor="ctr"/>
          <a:lstStyle/>
          <a:p>
            <a:pPr marL="0" indent="0">
              <a:buNone/>
            </a:pPr>
            <a:r>
              <a:rPr lang="en-US" sz="1200" dirty="0">
                <a:solidFill>
                  <a:srgbClr val="9FB3CC"/>
                </a:solidFill>
                <a:latin typeface="Calibri" panose="020F0502020204030204" pitchFamily="34" charset="0"/>
                <a:ea typeface="Calibri" panose="020F0502020204030204" pitchFamily="34" charset="-122"/>
                <a:cs typeface="Calibri" panose="020F0502020204030204" pitchFamily="34" charset="-120"/>
              </a:rPr>
              <a:t>Situation</a:t>
            </a:r>
            <a:endParaRPr lang="en-US" sz="1200" dirty="0"/>
          </a:p>
        </p:txBody>
      </p:sp>
      <p:sp>
        <p:nvSpPr>
          <p:cNvPr id="8" name="Text 6"/>
          <p:cNvSpPr txBox="1"/>
          <p:nvPr/>
        </p:nvSpPr>
        <p:spPr>
          <a:xfrm>
            <a:off x="914400" y="2834640"/>
            <a:ext cx="4480560" cy="384048"/>
          </a:xfrm>
          <a:prstGeom prst="rect">
            <a:avLst/>
          </a:prstGeom>
          <a:noFill/>
        </p:spPr>
        <p:txBody>
          <a:bodyPr wrap="square" lIns="0" tIns="0" rIns="0" bIns="0" rtlCol="0" anchor="ctr"/>
          <a:lstStyle/>
          <a:p>
            <a:pPr marL="0" indent="0">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Rapid progression, 6 rising ctDNA readings</a:t>
            </a:r>
            <a:endParaRPr lang="en-US" sz="1700" dirty="0"/>
          </a:p>
        </p:txBody>
      </p:sp>
      <p:sp>
        <p:nvSpPr>
          <p:cNvPr id="9" name="Text 7"/>
          <p:cNvSpPr txBox="1"/>
          <p:nvPr/>
        </p:nvSpPr>
        <p:spPr>
          <a:xfrm>
            <a:off x="914400" y="3337560"/>
            <a:ext cx="4480560" cy="292608"/>
          </a:xfrm>
          <a:prstGeom prst="rect">
            <a:avLst/>
          </a:prstGeom>
          <a:noFill/>
        </p:spPr>
        <p:txBody>
          <a:bodyPr wrap="square" lIns="0" tIns="0" rIns="0" bIns="0" rtlCol="0" anchor="ctr"/>
          <a:lstStyle/>
          <a:p>
            <a:pPr marL="0" indent="0">
              <a:buNone/>
            </a:pPr>
            <a:r>
              <a:rPr lang="en-US" sz="1200" dirty="0">
                <a:solidFill>
                  <a:srgbClr val="9FB3CC"/>
                </a:solidFill>
                <a:latin typeface="Calibri" panose="020F0502020204030204" pitchFamily="34" charset="0"/>
                <a:ea typeface="Calibri" panose="020F0502020204030204" pitchFamily="34" charset="-122"/>
                <a:cs typeface="Calibri" panose="020F0502020204030204" pitchFamily="34" charset="-120"/>
              </a:rPr>
              <a:t>Resources</a:t>
            </a:r>
            <a:endParaRPr lang="en-US" sz="1200" dirty="0"/>
          </a:p>
        </p:txBody>
      </p:sp>
      <p:sp>
        <p:nvSpPr>
          <p:cNvPr id="10" name="Text 8"/>
          <p:cNvSpPr txBox="1"/>
          <p:nvPr/>
        </p:nvSpPr>
        <p:spPr>
          <a:xfrm>
            <a:off x="914400" y="3611880"/>
            <a:ext cx="4480560" cy="384048"/>
          </a:xfrm>
          <a:prstGeom prst="rect">
            <a:avLst/>
          </a:prstGeom>
          <a:noFill/>
        </p:spPr>
        <p:txBody>
          <a:bodyPr wrap="square" lIns="0" tIns="0" rIns="0" bIns="0" rtlCol="0" anchor="ctr"/>
          <a:lstStyle/>
          <a:p>
            <a:pPr marL="0" indent="0">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1 trial slot available</a:t>
            </a:r>
            <a:endParaRPr lang="en-US" sz="1700" dirty="0"/>
          </a:p>
        </p:txBody>
      </p:sp>
      <p:sp>
        <p:nvSpPr>
          <p:cNvPr id="11" name="Text 9"/>
          <p:cNvSpPr txBox="1"/>
          <p:nvPr/>
        </p:nvSpPr>
        <p:spPr>
          <a:xfrm>
            <a:off x="914400" y="3977640"/>
            <a:ext cx="4480560" cy="320040"/>
          </a:xfrm>
          <a:prstGeom prst="rect">
            <a:avLst/>
          </a:prstGeom>
          <a:noFill/>
        </p:spPr>
        <p:txBody>
          <a:bodyPr wrap="square" lIns="0" tIns="0" rIns="0" bIns="0" rtlCol="0" anchor="ctr"/>
          <a:lstStyle/>
          <a:p>
            <a:pPr marL="0" indent="0">
              <a:buNone/>
            </a:pPr>
            <a:r>
              <a:rPr lang="en-US" sz="1300" b="1" dirty="0">
                <a:solidFill>
                  <a:srgbClr val="FFB627"/>
                </a:solidFill>
                <a:latin typeface="Calibri" panose="020F0502020204030204" pitchFamily="34" charset="0"/>
                <a:ea typeface="Calibri" panose="020F0502020204030204" pitchFamily="34" charset="-122"/>
                <a:cs typeface="Calibri" panose="020F0502020204030204" pitchFamily="34" charset="-120"/>
              </a:rPr>
              <a:t>DECISION = ???</a:t>
            </a:r>
            <a:endParaRPr lang="en-US" sz="1300" dirty="0"/>
          </a:p>
        </p:txBody>
      </p:sp>
      <p:sp>
        <p:nvSpPr>
          <p:cNvPr id="12" name="Shape 10"/>
          <p:cNvSpPr/>
          <p:nvPr/>
        </p:nvSpPr>
        <p:spPr>
          <a:xfrm>
            <a:off x="6126480" y="1554480"/>
            <a:ext cx="5394960" cy="2834640"/>
          </a:xfrm>
          <a:prstGeom prst="roundRect">
            <a:avLst>
              <a:gd name="adj" fmla="val 2581"/>
            </a:avLst>
          </a:prstGeom>
          <a:solidFill>
            <a:srgbClr val="E63946"/>
          </a:solidFill>
        </p:spPr>
        <p:txBody>
          <a:bodyPr/>
          <a:p/>
        </p:txBody>
      </p:sp>
      <p:sp>
        <p:nvSpPr>
          <p:cNvPr id="13" name="Text 11"/>
          <p:cNvSpPr txBox="1"/>
          <p:nvPr/>
        </p:nvSpPr>
        <p:spPr>
          <a:xfrm>
            <a:off x="6400800" y="1783080"/>
            <a:ext cx="4846320" cy="640080"/>
          </a:xfrm>
          <a:prstGeom prst="rect">
            <a:avLst/>
          </a:prstGeom>
          <a:noFill/>
        </p:spPr>
        <p:txBody>
          <a:bodyPr wrap="square" lIns="0" tIns="0" rIns="0" bIns="0" rtlCol="0" anchor="ctr"/>
          <a:lstStyle/>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Based on tools + reasoning,</a:t>
            </a:r>
            <a:endParaRPr lang="en-US" sz="1300" dirty="0"/>
          </a:p>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we decide:</a:t>
            </a:r>
            <a:endParaRPr lang="en-US" sz="1300" dirty="0"/>
          </a:p>
        </p:txBody>
      </p:sp>
      <p:sp>
        <p:nvSpPr>
          <p:cNvPr id="14" name="Text 12"/>
          <p:cNvSpPr txBox="1"/>
          <p:nvPr/>
        </p:nvSpPr>
        <p:spPr>
          <a:xfrm>
            <a:off x="6400800" y="2560320"/>
            <a:ext cx="4846320" cy="1097280"/>
          </a:xfrm>
          <a:prstGeom prst="rect">
            <a:avLst/>
          </a:prstGeom>
          <a:noFill/>
        </p:spPr>
        <p:txBody>
          <a:bodyPr wrap="square" lIns="0" tIns="0" rIns="0" bIns="0" rtlCol="0" anchor="ctr"/>
          <a:lstStyle/>
          <a:p>
            <a:pPr marL="0" indent="0">
              <a:buNone/>
            </a:pPr>
            <a:r>
              <a:rPr lang="en-US" sz="2700" b="1" dirty="0">
                <a:solidFill>
                  <a:srgbClr val="FFFFFF"/>
                </a:solidFill>
                <a:latin typeface="Cambria" panose="02040503050406030204" pitchFamily="34" charset="0"/>
                <a:ea typeface="Cambria" panose="02040503050406030204" pitchFamily="34" charset="-122"/>
                <a:cs typeface="Cambria" panose="02040503050406030204" pitchFamily="34" charset="-120"/>
              </a:rPr>
              <a:t>🚨 ENROLL PATIENT A</a:t>
            </a:r>
            <a:endParaRPr lang="en-US" sz="2700" dirty="0"/>
          </a:p>
        </p:txBody>
      </p:sp>
      <p:sp>
        <p:nvSpPr>
          <p:cNvPr id="15" name="Shape 13"/>
          <p:cNvSpPr/>
          <p:nvPr/>
        </p:nvSpPr>
        <p:spPr>
          <a:xfrm>
            <a:off x="640080" y="4617720"/>
            <a:ext cx="10881360" cy="777240"/>
          </a:xfrm>
          <a:prstGeom prst="roundRect">
            <a:avLst>
              <a:gd name="adj" fmla="val 7059"/>
            </a:avLst>
          </a:prstGeom>
          <a:solidFill>
            <a:srgbClr val="FFB627"/>
          </a:solidFill>
        </p:spPr>
        <p:txBody>
          <a:bodyPr/>
          <a:p/>
        </p:txBody>
      </p:sp>
      <p:sp>
        <p:nvSpPr>
          <p:cNvPr id="16" name="Text 14"/>
          <p:cNvSpPr txBox="1"/>
          <p:nvPr/>
        </p:nvSpPr>
        <p:spPr>
          <a:xfrm>
            <a:off x="914400" y="4617720"/>
            <a:ext cx="10332720" cy="777240"/>
          </a:xfrm>
          <a:prstGeom prst="rect">
            <a:avLst/>
          </a:prstGeom>
          <a:noFill/>
        </p:spPr>
        <p:txBody>
          <a:bodyPr wrap="square" lIns="0" tIns="0" rIns="0" bIns="0" rtlCol="0" anchor="ctr"/>
          <a:lstStyle/>
          <a:p>
            <a:pPr marL="0" indent="0">
              <a:lnSpc>
                <a:spcPct val="115000"/>
              </a:lnSpc>
              <a:buNone/>
            </a:pPr>
            <a:r>
              <a:rPr lang="en-US" sz="1300" b="1" dirty="0">
                <a:solidFill>
                  <a:srgbClr val="081527"/>
                </a:solidFill>
                <a:latin typeface="Calibri" panose="020F0502020204030204" pitchFamily="34" charset="0"/>
                <a:ea typeface="Calibri" panose="020F0502020204030204" pitchFamily="34" charset="-122"/>
                <a:cs typeface="Calibri" panose="020F0502020204030204" pitchFamily="34" charset="-120"/>
              </a:rPr>
              <a:t>You just performed the basic idea of Agentic AI:</a:t>
            </a:r>
            <a:endParaRPr lang="en-US" sz="1300" dirty="0"/>
          </a:p>
          <a:p>
            <a:pPr marL="0" indent="0">
              <a:lnSpc>
                <a:spcPct val="115000"/>
              </a:lnSpc>
              <a:buNone/>
            </a:pPr>
            <a:r>
              <a:rPr lang="en-US" sz="1300" b="1" dirty="0">
                <a:solidFill>
                  <a:srgbClr val="081527"/>
                </a:solidFill>
                <a:latin typeface="Calibri" panose="020F0502020204030204" pitchFamily="34" charset="0"/>
                <a:ea typeface="Calibri" panose="020F0502020204030204" pitchFamily="34" charset="-122"/>
                <a:cs typeface="Calibri" panose="020F0502020204030204" pitchFamily="34" charset="-120"/>
              </a:rPr>
              <a:t>Reason over a goal + available tools → Choose and execute an action.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9144000" cy="457200"/>
          </a:xfrm>
          <a:prstGeom prst="rect">
            <a:avLst/>
          </a:prstGeom>
          <a:noFill/>
        </p:spPr>
        <p:txBody>
          <a:bodyPr wrap="square" lIns="0" tIns="0" rIns="0" bIns="0" rtlCol="0" anchor="ctr"/>
          <a:lstStyle/>
          <a:p>
            <a:pPr marL="0" indent="0">
              <a:buNone/>
            </a:pPr>
            <a:r>
              <a:rPr lang="en-US" sz="2600" b="1" dirty="0">
                <a:solidFill>
                  <a:srgbClr val="0F2843"/>
                </a:solidFill>
                <a:latin typeface="Cambria" panose="02040503050406030204" pitchFamily="34" charset="0"/>
                <a:ea typeface="Cambria" panose="02040503050406030204" pitchFamily="34" charset="-122"/>
                <a:cs typeface="Cambria" panose="02040503050406030204" pitchFamily="34" charset="-120"/>
              </a:rPr>
              <a:t>Types of Agentic AI</a:t>
            </a:r>
            <a:endParaRPr lang="en-US" sz="2600" dirty="0"/>
          </a:p>
        </p:txBody>
      </p:sp>
      <p:sp>
        <p:nvSpPr>
          <p:cNvPr id="3" name="Text 1"/>
          <p:cNvSpPr txBox="1"/>
          <p:nvPr/>
        </p:nvSpPr>
        <p:spPr>
          <a:xfrm>
            <a:off x="640080" y="868680"/>
            <a:ext cx="1005840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Three different ways an agent can operate — before we pick one for our treatment project</a:t>
            </a:r>
            <a:endParaRPr lang="en-US" sz="1200" dirty="0"/>
          </a:p>
        </p:txBody>
      </p:sp>
      <p:sp>
        <p:nvSpPr>
          <p:cNvPr id="4" name="Shape 2"/>
          <p:cNvSpPr/>
          <p:nvPr/>
        </p:nvSpPr>
        <p:spPr>
          <a:xfrm>
            <a:off x="640080" y="1325880"/>
            <a:ext cx="2286000" cy="457200"/>
          </a:xfrm>
          <a:prstGeom prst="rect">
            <a:avLst/>
          </a:prstGeom>
          <a:solidFill>
            <a:srgbClr val="0F2843"/>
          </a:solidFill>
          <a:ln w="6350">
            <a:solidFill>
              <a:srgbClr val="FFFFFF"/>
            </a:solidFill>
            <a:prstDash val="solid"/>
          </a:ln>
        </p:spPr>
        <p:txBody>
          <a:bodyPr/>
          <a:p/>
        </p:txBody>
      </p:sp>
      <p:sp>
        <p:nvSpPr>
          <p:cNvPr id="5" name="Text 3"/>
          <p:cNvSpPr txBox="1"/>
          <p:nvPr/>
        </p:nvSpPr>
        <p:spPr>
          <a:xfrm>
            <a:off x="640080" y="1325880"/>
            <a:ext cx="2286000" cy="457200"/>
          </a:xfrm>
          <a:prstGeom prst="rect">
            <a:avLst/>
          </a:prstGeom>
          <a:noFill/>
        </p:spPr>
        <p:txBody>
          <a:bodyPr wrap="square" lIns="0" tIns="0" rIns="0" bIns="0" rtlCol="0" anchor="ctr"/>
          <a:lstStyle/>
          <a:p>
            <a:pPr marL="0" indent="0" algn="ctr">
              <a:buNone/>
            </a:pPr>
            <a:endParaRPr lang="en-US" sz="1200" dirty="0"/>
          </a:p>
        </p:txBody>
      </p:sp>
      <p:sp>
        <p:nvSpPr>
          <p:cNvPr id="6" name="Shape 4"/>
          <p:cNvSpPr/>
          <p:nvPr/>
        </p:nvSpPr>
        <p:spPr>
          <a:xfrm>
            <a:off x="2926080" y="1325880"/>
            <a:ext cx="2834640" cy="457200"/>
          </a:xfrm>
          <a:prstGeom prst="rect">
            <a:avLst/>
          </a:prstGeom>
          <a:solidFill>
            <a:srgbClr val="5B6B82"/>
          </a:solidFill>
          <a:ln w="6350">
            <a:solidFill>
              <a:srgbClr val="FFFFFF"/>
            </a:solidFill>
            <a:prstDash val="solid"/>
          </a:ln>
        </p:spPr>
        <p:txBody>
          <a:bodyPr/>
          <a:p/>
        </p:txBody>
      </p:sp>
      <p:sp>
        <p:nvSpPr>
          <p:cNvPr id="7" name="Text 5"/>
          <p:cNvSpPr txBox="1"/>
          <p:nvPr/>
        </p:nvSpPr>
        <p:spPr>
          <a:xfrm>
            <a:off x="2926080" y="1325880"/>
            <a:ext cx="2834640" cy="45720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REACTIVE</a:t>
            </a:r>
            <a:endParaRPr lang="en-US" sz="1200" dirty="0"/>
          </a:p>
        </p:txBody>
      </p:sp>
      <p:sp>
        <p:nvSpPr>
          <p:cNvPr id="8" name="Shape 6"/>
          <p:cNvSpPr/>
          <p:nvPr/>
        </p:nvSpPr>
        <p:spPr>
          <a:xfrm>
            <a:off x="5760720" y="1325880"/>
            <a:ext cx="2834640" cy="457200"/>
          </a:xfrm>
          <a:prstGeom prst="rect">
            <a:avLst/>
          </a:prstGeom>
          <a:solidFill>
            <a:srgbClr val="2A9D8F"/>
          </a:solidFill>
          <a:ln w="6350">
            <a:solidFill>
              <a:srgbClr val="FFFFFF"/>
            </a:solidFill>
            <a:prstDash val="solid"/>
          </a:ln>
        </p:spPr>
        <p:txBody>
          <a:bodyPr/>
          <a:p/>
        </p:txBody>
      </p:sp>
      <p:sp>
        <p:nvSpPr>
          <p:cNvPr id="9" name="Text 7"/>
          <p:cNvSpPr txBox="1"/>
          <p:nvPr/>
        </p:nvSpPr>
        <p:spPr>
          <a:xfrm>
            <a:off x="5760720" y="1325880"/>
            <a:ext cx="2834640" cy="45720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DELIBERATIVE</a:t>
            </a:r>
            <a:endParaRPr lang="en-US" sz="1200" dirty="0"/>
          </a:p>
        </p:txBody>
      </p:sp>
      <p:sp>
        <p:nvSpPr>
          <p:cNvPr id="10" name="Shape 8"/>
          <p:cNvSpPr/>
          <p:nvPr/>
        </p:nvSpPr>
        <p:spPr>
          <a:xfrm>
            <a:off x="8595360" y="1325880"/>
            <a:ext cx="2926080" cy="457200"/>
          </a:xfrm>
          <a:prstGeom prst="rect">
            <a:avLst/>
          </a:prstGeom>
          <a:solidFill>
            <a:srgbClr val="F4A300"/>
          </a:solidFill>
          <a:ln w="6350">
            <a:solidFill>
              <a:srgbClr val="FFFFFF"/>
            </a:solidFill>
            <a:prstDash val="solid"/>
          </a:ln>
        </p:spPr>
        <p:txBody>
          <a:bodyPr/>
          <a:p/>
        </p:txBody>
      </p:sp>
      <p:sp>
        <p:nvSpPr>
          <p:cNvPr id="11" name="Text 9"/>
          <p:cNvSpPr txBox="1"/>
          <p:nvPr/>
        </p:nvSpPr>
        <p:spPr>
          <a:xfrm>
            <a:off x="8595360" y="1325880"/>
            <a:ext cx="2926080" cy="45720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MULTI-AGENT</a:t>
            </a:r>
            <a:endParaRPr lang="en-US" sz="1200" dirty="0"/>
          </a:p>
        </p:txBody>
      </p:sp>
      <p:sp>
        <p:nvSpPr>
          <p:cNvPr id="12" name="Shape 10"/>
          <p:cNvSpPr/>
          <p:nvPr/>
        </p:nvSpPr>
        <p:spPr>
          <a:xfrm>
            <a:off x="640080" y="1783080"/>
            <a:ext cx="2286000" cy="777240"/>
          </a:xfrm>
          <a:prstGeom prst="rect">
            <a:avLst/>
          </a:prstGeom>
          <a:solidFill>
            <a:srgbClr val="EEF2F7"/>
          </a:solidFill>
          <a:ln w="9525">
            <a:solidFill>
              <a:srgbClr val="EEF2F7"/>
            </a:solidFill>
            <a:prstDash val="solid"/>
          </a:ln>
        </p:spPr>
        <p:txBody>
          <a:bodyPr/>
          <a:p/>
        </p:txBody>
      </p:sp>
      <p:sp>
        <p:nvSpPr>
          <p:cNvPr id="13" name="Text 11"/>
          <p:cNvSpPr txBox="1"/>
          <p:nvPr/>
        </p:nvSpPr>
        <p:spPr>
          <a:xfrm>
            <a:off x="731520" y="1783080"/>
            <a:ext cx="2103120" cy="777240"/>
          </a:xfrm>
          <a:prstGeom prst="rect">
            <a:avLst/>
          </a:prstGeom>
          <a:noFill/>
        </p:spPr>
        <p:txBody>
          <a:bodyPr wrap="square" lIns="0" tIns="0" rIns="0" bIns="0" rtlCol="0" anchor="ctr"/>
          <a:lstStyle/>
          <a:p>
            <a:pPr marL="0" indent="0" algn="l">
              <a:buNone/>
            </a:pPr>
            <a:r>
              <a:rPr lang="en-US" sz="1050" b="1" dirty="0">
                <a:solidFill>
                  <a:srgbClr val="0F2843"/>
                </a:solidFill>
                <a:latin typeface="Calibri" panose="020F0502020204030204" pitchFamily="34" charset="0"/>
                <a:ea typeface="Calibri" panose="020F0502020204030204" pitchFamily="34" charset="-122"/>
                <a:cs typeface="Calibri" panose="020F0502020204030204" pitchFamily="34" charset="-120"/>
              </a:rPr>
              <a:t>Data given</a:t>
            </a:r>
            <a:endParaRPr lang="en-US" sz="1050" dirty="0"/>
          </a:p>
        </p:txBody>
      </p:sp>
      <p:sp>
        <p:nvSpPr>
          <p:cNvPr id="14" name="Shape 12"/>
          <p:cNvSpPr/>
          <p:nvPr/>
        </p:nvSpPr>
        <p:spPr>
          <a:xfrm>
            <a:off x="2926080" y="1783080"/>
            <a:ext cx="2834640" cy="777240"/>
          </a:xfrm>
          <a:prstGeom prst="rect">
            <a:avLst/>
          </a:prstGeom>
          <a:solidFill>
            <a:srgbClr val="FFFFFF"/>
          </a:solidFill>
          <a:ln w="9525">
            <a:solidFill>
              <a:srgbClr val="EEF2F7"/>
            </a:solidFill>
            <a:prstDash val="solid"/>
          </a:ln>
        </p:spPr>
        <p:txBody>
          <a:bodyPr/>
          <a:p/>
        </p:txBody>
      </p:sp>
      <p:sp>
        <p:nvSpPr>
          <p:cNvPr id="15" name="Text 13"/>
          <p:cNvSpPr txBox="1"/>
          <p:nvPr/>
        </p:nvSpPr>
        <p:spPr>
          <a:xfrm>
            <a:off x="3017520" y="1783080"/>
            <a:ext cx="2651760" cy="777240"/>
          </a:xfrm>
          <a:prstGeom prst="rect">
            <a:avLst/>
          </a:prstGeom>
          <a:noFill/>
        </p:spPr>
        <p:txBody>
          <a:bodyPr wrap="square" lIns="0" tIns="0" rIns="0" bIns="0" rtlCol="0" anchor="ctr"/>
          <a:lstStyle/>
          <a:p>
            <a:pPr marL="0" indent="0" algn="ctr">
              <a:buNone/>
            </a:pPr>
            <a:r>
              <a:rPr lang="en-US" sz="1050" dirty="0">
                <a:solidFill>
                  <a:srgbClr val="5B6B82"/>
                </a:solidFill>
                <a:latin typeface="Calibri" panose="020F0502020204030204" pitchFamily="34" charset="0"/>
                <a:ea typeface="Calibri" panose="020F0502020204030204" pitchFamily="34" charset="-122"/>
                <a:cs typeface="Calibri" panose="020F0502020204030204" pitchFamily="34" charset="-120"/>
              </a:rPr>
              <a:t>Direct trigger → action mapping</a:t>
            </a:r>
            <a:endParaRPr lang="en-US" sz="1050" dirty="0"/>
          </a:p>
        </p:txBody>
      </p:sp>
      <p:sp>
        <p:nvSpPr>
          <p:cNvPr id="16" name="Shape 14"/>
          <p:cNvSpPr/>
          <p:nvPr/>
        </p:nvSpPr>
        <p:spPr>
          <a:xfrm>
            <a:off x="5760720" y="1783080"/>
            <a:ext cx="2834640" cy="777240"/>
          </a:xfrm>
          <a:prstGeom prst="rect">
            <a:avLst/>
          </a:prstGeom>
          <a:solidFill>
            <a:srgbClr val="FFFFFF"/>
          </a:solidFill>
          <a:ln w="9525">
            <a:solidFill>
              <a:srgbClr val="EEF2F7"/>
            </a:solidFill>
            <a:prstDash val="solid"/>
          </a:ln>
        </p:spPr>
        <p:txBody>
          <a:bodyPr/>
          <a:p/>
        </p:txBody>
      </p:sp>
      <p:sp>
        <p:nvSpPr>
          <p:cNvPr id="17" name="Text 15"/>
          <p:cNvSpPr txBox="1"/>
          <p:nvPr/>
        </p:nvSpPr>
        <p:spPr>
          <a:xfrm>
            <a:off x="5852160" y="1783080"/>
            <a:ext cx="2651760" cy="777240"/>
          </a:xfrm>
          <a:prstGeom prst="rect">
            <a:avLst/>
          </a:prstGeom>
          <a:noFill/>
        </p:spPr>
        <p:txBody>
          <a:bodyPr wrap="square" lIns="0" tIns="0" rIns="0" bIns="0" rtlCol="0" anchor="ctr"/>
          <a:lstStyle/>
          <a:p>
            <a:pPr marL="0" indent="0" algn="ctr">
              <a:buNone/>
            </a:pPr>
            <a:r>
              <a:rPr lang="en-US" sz="1050" dirty="0">
                <a:solidFill>
                  <a:srgbClr val="5B6B82"/>
                </a:solidFill>
                <a:latin typeface="Calibri" panose="020F0502020204030204" pitchFamily="34" charset="0"/>
                <a:ea typeface="Calibri" panose="020F0502020204030204" pitchFamily="34" charset="-122"/>
                <a:cs typeface="Calibri" panose="020F0502020204030204" pitchFamily="34" charset="-120"/>
              </a:rPr>
              <a:t>Goal + tools + reasoning loop</a:t>
            </a:r>
            <a:endParaRPr lang="en-US" sz="1050" dirty="0"/>
          </a:p>
        </p:txBody>
      </p:sp>
      <p:sp>
        <p:nvSpPr>
          <p:cNvPr id="18" name="Shape 16"/>
          <p:cNvSpPr/>
          <p:nvPr/>
        </p:nvSpPr>
        <p:spPr>
          <a:xfrm>
            <a:off x="8595360" y="1783080"/>
            <a:ext cx="2926080" cy="777240"/>
          </a:xfrm>
          <a:prstGeom prst="rect">
            <a:avLst/>
          </a:prstGeom>
          <a:solidFill>
            <a:srgbClr val="FFFFFF"/>
          </a:solidFill>
          <a:ln w="9525">
            <a:solidFill>
              <a:srgbClr val="EEF2F7"/>
            </a:solidFill>
            <a:prstDash val="solid"/>
          </a:ln>
        </p:spPr>
        <p:txBody>
          <a:bodyPr/>
          <a:p/>
        </p:txBody>
      </p:sp>
      <p:sp>
        <p:nvSpPr>
          <p:cNvPr id="19" name="Text 17"/>
          <p:cNvSpPr txBox="1"/>
          <p:nvPr/>
        </p:nvSpPr>
        <p:spPr>
          <a:xfrm>
            <a:off x="8686800" y="1783080"/>
            <a:ext cx="2743200" cy="777240"/>
          </a:xfrm>
          <a:prstGeom prst="rect">
            <a:avLst/>
          </a:prstGeom>
          <a:noFill/>
        </p:spPr>
        <p:txBody>
          <a:bodyPr wrap="square" lIns="0" tIns="0" rIns="0" bIns="0" rtlCol="0" anchor="ctr"/>
          <a:lstStyle/>
          <a:p>
            <a:pPr marL="0" indent="0" algn="ctr">
              <a:buNone/>
            </a:pPr>
            <a:r>
              <a:rPr lang="en-US" sz="1050" dirty="0">
                <a:solidFill>
                  <a:srgbClr val="5B6B82"/>
                </a:solidFill>
                <a:latin typeface="Calibri" panose="020F0502020204030204" pitchFamily="34" charset="0"/>
                <a:ea typeface="Calibri" panose="020F0502020204030204" pitchFamily="34" charset="-122"/>
                <a:cs typeface="Calibri" panose="020F0502020204030204" pitchFamily="34" charset="-120"/>
              </a:rPr>
              <a:t>Multiple agents sharing resources</a:t>
            </a:r>
            <a:endParaRPr lang="en-US" sz="1050" dirty="0"/>
          </a:p>
        </p:txBody>
      </p:sp>
      <p:sp>
        <p:nvSpPr>
          <p:cNvPr id="20" name="Shape 18"/>
          <p:cNvSpPr/>
          <p:nvPr/>
        </p:nvSpPr>
        <p:spPr>
          <a:xfrm>
            <a:off x="640080" y="2560320"/>
            <a:ext cx="2286000" cy="777240"/>
          </a:xfrm>
          <a:prstGeom prst="rect">
            <a:avLst/>
          </a:prstGeom>
          <a:solidFill>
            <a:srgbClr val="EEF2F7"/>
          </a:solidFill>
          <a:ln w="9525">
            <a:solidFill>
              <a:srgbClr val="EEF2F7"/>
            </a:solidFill>
            <a:prstDash val="solid"/>
          </a:ln>
        </p:spPr>
        <p:txBody>
          <a:bodyPr/>
          <a:p/>
        </p:txBody>
      </p:sp>
      <p:sp>
        <p:nvSpPr>
          <p:cNvPr id="21" name="Text 19"/>
          <p:cNvSpPr txBox="1"/>
          <p:nvPr/>
        </p:nvSpPr>
        <p:spPr>
          <a:xfrm>
            <a:off x="731520" y="2560320"/>
            <a:ext cx="2103120" cy="777240"/>
          </a:xfrm>
          <a:prstGeom prst="rect">
            <a:avLst/>
          </a:prstGeom>
          <a:noFill/>
        </p:spPr>
        <p:txBody>
          <a:bodyPr wrap="square" lIns="0" tIns="0" rIns="0" bIns="0" rtlCol="0" anchor="ctr"/>
          <a:lstStyle/>
          <a:p>
            <a:pPr marL="0" indent="0" algn="l">
              <a:buNone/>
            </a:pPr>
            <a:r>
              <a:rPr lang="en-US" sz="1050" b="1" dirty="0">
                <a:solidFill>
                  <a:srgbClr val="0F2843"/>
                </a:solidFill>
                <a:latin typeface="Calibri" panose="020F0502020204030204" pitchFamily="34" charset="0"/>
                <a:ea typeface="Calibri" panose="020F0502020204030204" pitchFamily="34" charset="-122"/>
                <a:cs typeface="Calibri" panose="020F0502020204030204" pitchFamily="34" charset="-120"/>
              </a:rPr>
              <a:t>How it works</a:t>
            </a:r>
            <a:endParaRPr lang="en-US" sz="1050" dirty="0"/>
          </a:p>
        </p:txBody>
      </p:sp>
      <p:sp>
        <p:nvSpPr>
          <p:cNvPr id="22" name="Shape 20"/>
          <p:cNvSpPr/>
          <p:nvPr/>
        </p:nvSpPr>
        <p:spPr>
          <a:xfrm>
            <a:off x="2926080" y="2560320"/>
            <a:ext cx="2834640" cy="777240"/>
          </a:xfrm>
          <a:prstGeom prst="rect">
            <a:avLst/>
          </a:prstGeom>
          <a:solidFill>
            <a:srgbClr val="FFFFFF"/>
          </a:solidFill>
          <a:ln w="9525">
            <a:solidFill>
              <a:srgbClr val="EEF2F7"/>
            </a:solidFill>
            <a:prstDash val="solid"/>
          </a:ln>
        </p:spPr>
        <p:txBody>
          <a:bodyPr/>
          <a:p/>
        </p:txBody>
      </p:sp>
      <p:sp>
        <p:nvSpPr>
          <p:cNvPr id="23" name="Text 21"/>
          <p:cNvSpPr txBox="1"/>
          <p:nvPr/>
        </p:nvSpPr>
        <p:spPr>
          <a:xfrm>
            <a:off x="3017520" y="2560320"/>
            <a:ext cx="2651760" cy="777240"/>
          </a:xfrm>
          <a:prstGeom prst="rect">
            <a:avLst/>
          </a:prstGeom>
          <a:noFill/>
        </p:spPr>
        <p:txBody>
          <a:bodyPr wrap="square" lIns="0" tIns="0" rIns="0" bIns="0" rtlCol="0" anchor="ctr"/>
          <a:lstStyle/>
          <a:p>
            <a:pPr marL="0" indent="0" algn="ctr">
              <a:buNone/>
            </a:pPr>
            <a:r>
              <a:rPr lang="en-US" sz="1050" dirty="0">
                <a:solidFill>
                  <a:srgbClr val="5B6B82"/>
                </a:solidFill>
                <a:latin typeface="Calibri" panose="020F0502020204030204" pitchFamily="34" charset="0"/>
                <a:ea typeface="Calibri" panose="020F0502020204030204" pitchFamily="34" charset="-122"/>
                <a:cs typeface="Calibri" panose="020F0502020204030204" pitchFamily="34" charset="-120"/>
              </a:rPr>
              <a:t>Responds instantly to a fixed rule</a:t>
            </a:r>
            <a:endParaRPr lang="en-US" sz="1050" dirty="0"/>
          </a:p>
        </p:txBody>
      </p:sp>
      <p:sp>
        <p:nvSpPr>
          <p:cNvPr id="24" name="Shape 22"/>
          <p:cNvSpPr/>
          <p:nvPr/>
        </p:nvSpPr>
        <p:spPr>
          <a:xfrm>
            <a:off x="5760720" y="2560320"/>
            <a:ext cx="2834640" cy="777240"/>
          </a:xfrm>
          <a:prstGeom prst="rect">
            <a:avLst/>
          </a:prstGeom>
          <a:solidFill>
            <a:srgbClr val="FFFFFF"/>
          </a:solidFill>
          <a:ln w="9525">
            <a:solidFill>
              <a:srgbClr val="EEF2F7"/>
            </a:solidFill>
            <a:prstDash val="solid"/>
          </a:ln>
        </p:spPr>
        <p:txBody>
          <a:bodyPr/>
          <a:p/>
        </p:txBody>
      </p:sp>
      <p:sp>
        <p:nvSpPr>
          <p:cNvPr id="25" name="Text 23"/>
          <p:cNvSpPr txBox="1"/>
          <p:nvPr/>
        </p:nvSpPr>
        <p:spPr>
          <a:xfrm>
            <a:off x="5852160" y="2560320"/>
            <a:ext cx="2651760" cy="777240"/>
          </a:xfrm>
          <a:prstGeom prst="rect">
            <a:avLst/>
          </a:prstGeom>
          <a:noFill/>
        </p:spPr>
        <p:txBody>
          <a:bodyPr wrap="square" lIns="0" tIns="0" rIns="0" bIns="0" rtlCol="0" anchor="ctr"/>
          <a:lstStyle/>
          <a:p>
            <a:pPr marL="0" indent="0" algn="ctr">
              <a:buNone/>
            </a:pPr>
            <a:r>
              <a:rPr lang="en-US" sz="1050" dirty="0">
                <a:solidFill>
                  <a:srgbClr val="5B6B82"/>
                </a:solidFill>
                <a:latin typeface="Calibri" panose="020F0502020204030204" pitchFamily="34" charset="0"/>
                <a:ea typeface="Calibri" panose="020F0502020204030204" pitchFamily="34" charset="-122"/>
                <a:cs typeface="Calibri" panose="020F0502020204030204" pitchFamily="34" charset="-120"/>
              </a:rPr>
              <a:t>Plans steps (Reason → Act → Observe)</a:t>
            </a:r>
            <a:endParaRPr lang="en-US" sz="1050" dirty="0"/>
          </a:p>
        </p:txBody>
      </p:sp>
      <p:sp>
        <p:nvSpPr>
          <p:cNvPr id="26" name="Shape 24"/>
          <p:cNvSpPr/>
          <p:nvPr/>
        </p:nvSpPr>
        <p:spPr>
          <a:xfrm>
            <a:off x="8595360" y="2560320"/>
            <a:ext cx="2926080" cy="777240"/>
          </a:xfrm>
          <a:prstGeom prst="rect">
            <a:avLst/>
          </a:prstGeom>
          <a:solidFill>
            <a:srgbClr val="FFFFFF"/>
          </a:solidFill>
          <a:ln w="9525">
            <a:solidFill>
              <a:srgbClr val="EEF2F7"/>
            </a:solidFill>
            <a:prstDash val="solid"/>
          </a:ln>
        </p:spPr>
        <p:txBody>
          <a:bodyPr/>
          <a:p/>
        </p:txBody>
      </p:sp>
      <p:sp>
        <p:nvSpPr>
          <p:cNvPr id="27" name="Text 25"/>
          <p:cNvSpPr txBox="1"/>
          <p:nvPr/>
        </p:nvSpPr>
        <p:spPr>
          <a:xfrm>
            <a:off x="8686800" y="2560320"/>
            <a:ext cx="2743200" cy="777240"/>
          </a:xfrm>
          <a:prstGeom prst="rect">
            <a:avLst/>
          </a:prstGeom>
          <a:noFill/>
        </p:spPr>
        <p:txBody>
          <a:bodyPr wrap="square" lIns="0" tIns="0" rIns="0" bIns="0" rtlCol="0" anchor="ctr"/>
          <a:lstStyle/>
          <a:p>
            <a:pPr marL="0" indent="0" algn="ctr">
              <a:buNone/>
            </a:pPr>
            <a:r>
              <a:rPr lang="en-US" sz="1050" dirty="0">
                <a:solidFill>
                  <a:srgbClr val="5B6B82"/>
                </a:solidFill>
                <a:latin typeface="Calibri" panose="020F0502020204030204" pitchFamily="34" charset="0"/>
                <a:ea typeface="Calibri" panose="020F0502020204030204" pitchFamily="34" charset="-122"/>
                <a:cs typeface="Calibri" panose="020F0502020204030204" pitchFamily="34" charset="-120"/>
              </a:rPr>
              <a:t>Agents communicate &amp; divide tasks</a:t>
            </a:r>
            <a:endParaRPr lang="en-US" sz="1050" dirty="0"/>
          </a:p>
        </p:txBody>
      </p:sp>
      <p:sp>
        <p:nvSpPr>
          <p:cNvPr id="28" name="Shape 26"/>
          <p:cNvSpPr/>
          <p:nvPr/>
        </p:nvSpPr>
        <p:spPr>
          <a:xfrm>
            <a:off x="640080" y="3337560"/>
            <a:ext cx="2286000" cy="777240"/>
          </a:xfrm>
          <a:prstGeom prst="rect">
            <a:avLst/>
          </a:prstGeom>
          <a:solidFill>
            <a:srgbClr val="EEF2F7"/>
          </a:solidFill>
          <a:ln w="9525">
            <a:solidFill>
              <a:srgbClr val="EEF2F7"/>
            </a:solidFill>
            <a:prstDash val="solid"/>
          </a:ln>
        </p:spPr>
        <p:txBody>
          <a:bodyPr/>
          <a:p/>
        </p:txBody>
      </p:sp>
      <p:sp>
        <p:nvSpPr>
          <p:cNvPr id="29" name="Text 27"/>
          <p:cNvSpPr txBox="1"/>
          <p:nvPr/>
        </p:nvSpPr>
        <p:spPr>
          <a:xfrm>
            <a:off x="731520" y="3337560"/>
            <a:ext cx="2103120" cy="777240"/>
          </a:xfrm>
          <a:prstGeom prst="rect">
            <a:avLst/>
          </a:prstGeom>
          <a:noFill/>
        </p:spPr>
        <p:txBody>
          <a:bodyPr wrap="square" lIns="0" tIns="0" rIns="0" bIns="0" rtlCol="0" anchor="ctr"/>
          <a:lstStyle/>
          <a:p>
            <a:pPr marL="0" indent="0" algn="l">
              <a:buNone/>
            </a:pPr>
            <a:r>
              <a:rPr lang="en-US" sz="1050" b="1" dirty="0">
                <a:solidFill>
                  <a:srgbClr val="0F2843"/>
                </a:solidFill>
                <a:latin typeface="Calibri" panose="020F0502020204030204" pitchFamily="34" charset="0"/>
                <a:ea typeface="Calibri" panose="020F0502020204030204" pitchFamily="34" charset="-122"/>
                <a:cs typeface="Calibri" panose="020F0502020204030204" pitchFamily="34" charset="-120"/>
              </a:rPr>
              <a:t>Real oncology example</a:t>
            </a:r>
            <a:endParaRPr lang="en-US" sz="1050" dirty="0"/>
          </a:p>
        </p:txBody>
      </p:sp>
      <p:sp>
        <p:nvSpPr>
          <p:cNvPr id="30" name="Shape 28"/>
          <p:cNvSpPr/>
          <p:nvPr/>
        </p:nvSpPr>
        <p:spPr>
          <a:xfrm>
            <a:off x="2926080" y="3337560"/>
            <a:ext cx="2834640" cy="777240"/>
          </a:xfrm>
          <a:prstGeom prst="rect">
            <a:avLst/>
          </a:prstGeom>
          <a:solidFill>
            <a:srgbClr val="FFFFFF"/>
          </a:solidFill>
          <a:ln w="9525">
            <a:solidFill>
              <a:srgbClr val="EEF2F7"/>
            </a:solidFill>
            <a:prstDash val="solid"/>
          </a:ln>
        </p:spPr>
        <p:txBody>
          <a:bodyPr/>
          <a:p/>
        </p:txBody>
      </p:sp>
      <p:sp>
        <p:nvSpPr>
          <p:cNvPr id="31" name="Text 29"/>
          <p:cNvSpPr txBox="1"/>
          <p:nvPr/>
        </p:nvSpPr>
        <p:spPr>
          <a:xfrm>
            <a:off x="3017520" y="3337560"/>
            <a:ext cx="2651760" cy="777240"/>
          </a:xfrm>
          <a:prstGeom prst="rect">
            <a:avLst/>
          </a:prstGeom>
          <a:noFill/>
        </p:spPr>
        <p:txBody>
          <a:bodyPr wrap="square" lIns="0" tIns="0" rIns="0" bIns="0" rtlCol="0" anchor="ctr"/>
          <a:lstStyle/>
          <a:p>
            <a:pPr marL="0" indent="0" algn="ctr">
              <a:buNone/>
            </a:pPr>
            <a:r>
              <a:rPr lang="en-US" sz="1050" dirty="0">
                <a:solidFill>
                  <a:srgbClr val="5B6B82"/>
                </a:solidFill>
                <a:latin typeface="Calibri" panose="020F0502020204030204" pitchFamily="34" charset="0"/>
                <a:ea typeface="Calibri" panose="020F0502020204030204" pitchFamily="34" charset="-122"/>
                <a:cs typeface="Calibri" panose="020F0502020204030204" pitchFamily="34" charset="-120"/>
              </a:rPr>
              <a:t>Critical lab value auto-triggers alert</a:t>
            </a:r>
            <a:endParaRPr lang="en-US" sz="1050" dirty="0"/>
          </a:p>
        </p:txBody>
      </p:sp>
      <p:sp>
        <p:nvSpPr>
          <p:cNvPr id="32" name="Shape 30"/>
          <p:cNvSpPr/>
          <p:nvPr/>
        </p:nvSpPr>
        <p:spPr>
          <a:xfrm>
            <a:off x="5760720" y="3337560"/>
            <a:ext cx="2834640" cy="777240"/>
          </a:xfrm>
          <a:prstGeom prst="rect">
            <a:avLst/>
          </a:prstGeom>
          <a:solidFill>
            <a:srgbClr val="FFFFFF"/>
          </a:solidFill>
          <a:ln w="9525">
            <a:solidFill>
              <a:srgbClr val="EEF2F7"/>
            </a:solidFill>
            <a:prstDash val="solid"/>
          </a:ln>
        </p:spPr>
        <p:txBody>
          <a:bodyPr/>
          <a:p/>
        </p:txBody>
      </p:sp>
      <p:sp>
        <p:nvSpPr>
          <p:cNvPr id="33" name="Text 31"/>
          <p:cNvSpPr txBox="1"/>
          <p:nvPr/>
        </p:nvSpPr>
        <p:spPr>
          <a:xfrm>
            <a:off x="5852160" y="3337560"/>
            <a:ext cx="2651760" cy="777240"/>
          </a:xfrm>
          <a:prstGeom prst="rect">
            <a:avLst/>
          </a:prstGeom>
          <a:noFill/>
        </p:spPr>
        <p:txBody>
          <a:bodyPr wrap="square" lIns="0" tIns="0" rIns="0" bIns="0" rtlCol="0" anchor="ctr"/>
          <a:lstStyle/>
          <a:p>
            <a:pPr marL="0" indent="0" algn="ctr">
              <a:buNone/>
            </a:pPr>
            <a:r>
              <a:rPr lang="en-US" sz="1050" dirty="0">
                <a:solidFill>
                  <a:srgbClr val="5B6B82"/>
                </a:solidFill>
                <a:latin typeface="Calibri" panose="020F0502020204030204" pitchFamily="34" charset="0"/>
                <a:ea typeface="Calibri" panose="020F0502020204030204" pitchFamily="34" charset="-122"/>
                <a:cs typeface="Calibri" panose="020F0502020204030204" pitchFamily="34" charset="-120"/>
              </a:rPr>
              <a:t>Treatment agent reasons through trade-offs before acting</a:t>
            </a:r>
            <a:endParaRPr lang="en-US" sz="1050" dirty="0"/>
          </a:p>
        </p:txBody>
      </p:sp>
      <p:sp>
        <p:nvSpPr>
          <p:cNvPr id="34" name="Shape 32"/>
          <p:cNvSpPr/>
          <p:nvPr/>
        </p:nvSpPr>
        <p:spPr>
          <a:xfrm>
            <a:off x="8595360" y="3337560"/>
            <a:ext cx="2926080" cy="777240"/>
          </a:xfrm>
          <a:prstGeom prst="rect">
            <a:avLst/>
          </a:prstGeom>
          <a:solidFill>
            <a:srgbClr val="FFFFFF"/>
          </a:solidFill>
          <a:ln w="9525">
            <a:solidFill>
              <a:srgbClr val="EEF2F7"/>
            </a:solidFill>
            <a:prstDash val="solid"/>
          </a:ln>
        </p:spPr>
        <p:txBody>
          <a:bodyPr/>
          <a:p/>
        </p:txBody>
      </p:sp>
      <p:sp>
        <p:nvSpPr>
          <p:cNvPr id="35" name="Text 33"/>
          <p:cNvSpPr txBox="1"/>
          <p:nvPr/>
        </p:nvSpPr>
        <p:spPr>
          <a:xfrm>
            <a:off x="8686800" y="3337560"/>
            <a:ext cx="2743200" cy="777240"/>
          </a:xfrm>
          <a:prstGeom prst="rect">
            <a:avLst/>
          </a:prstGeom>
          <a:noFill/>
        </p:spPr>
        <p:txBody>
          <a:bodyPr wrap="square" lIns="0" tIns="0" rIns="0" bIns="0" rtlCol="0" anchor="ctr"/>
          <a:lstStyle/>
          <a:p>
            <a:pPr marL="0" indent="0" algn="ctr">
              <a:buNone/>
            </a:pPr>
            <a:r>
              <a:rPr lang="en-US" sz="1050" dirty="0">
                <a:solidFill>
                  <a:srgbClr val="5B6B82"/>
                </a:solidFill>
                <a:latin typeface="Calibri" panose="020F0502020204030204" pitchFamily="34" charset="0"/>
                <a:ea typeface="Calibri" panose="020F0502020204030204" pitchFamily="34" charset="-122"/>
                <a:cs typeface="Calibri" panose="020F0502020204030204" pitchFamily="34" charset="-120"/>
              </a:rPr>
              <a:t>Trial agent &amp; pharmacy agent negotiate the last slot</a:t>
            </a:r>
            <a:endParaRPr lang="en-US" sz="1050" dirty="0"/>
          </a:p>
        </p:txBody>
      </p:sp>
      <p:sp>
        <p:nvSpPr>
          <p:cNvPr id="36" name="Shape 34"/>
          <p:cNvSpPr/>
          <p:nvPr/>
        </p:nvSpPr>
        <p:spPr>
          <a:xfrm>
            <a:off x="640080" y="4114800"/>
            <a:ext cx="2286000" cy="777240"/>
          </a:xfrm>
          <a:prstGeom prst="rect">
            <a:avLst/>
          </a:prstGeom>
          <a:solidFill>
            <a:srgbClr val="EEF2F7"/>
          </a:solidFill>
          <a:ln w="9525">
            <a:solidFill>
              <a:srgbClr val="EEF2F7"/>
            </a:solidFill>
            <a:prstDash val="solid"/>
          </a:ln>
        </p:spPr>
        <p:txBody>
          <a:bodyPr/>
          <a:p/>
        </p:txBody>
      </p:sp>
      <p:sp>
        <p:nvSpPr>
          <p:cNvPr id="37" name="Text 35"/>
          <p:cNvSpPr txBox="1"/>
          <p:nvPr/>
        </p:nvSpPr>
        <p:spPr>
          <a:xfrm>
            <a:off x="731520" y="4114800"/>
            <a:ext cx="2103120" cy="777240"/>
          </a:xfrm>
          <a:prstGeom prst="rect">
            <a:avLst/>
          </a:prstGeom>
          <a:noFill/>
        </p:spPr>
        <p:txBody>
          <a:bodyPr wrap="square" lIns="0" tIns="0" rIns="0" bIns="0" rtlCol="0" anchor="ctr"/>
          <a:lstStyle/>
          <a:p>
            <a:pPr marL="0" indent="0" algn="l">
              <a:buNone/>
            </a:pPr>
            <a:r>
              <a:rPr lang="en-US" sz="1050" b="1" dirty="0">
                <a:solidFill>
                  <a:srgbClr val="0F2843"/>
                </a:solidFill>
                <a:latin typeface="Calibri" panose="020F0502020204030204" pitchFamily="34" charset="0"/>
                <a:ea typeface="Calibri" panose="020F0502020204030204" pitchFamily="34" charset="-122"/>
                <a:cs typeface="Calibri" panose="020F0502020204030204" pitchFamily="34" charset="-120"/>
              </a:rPr>
              <a:t>Used in our project</a:t>
            </a:r>
            <a:endParaRPr lang="en-US" sz="1050" dirty="0"/>
          </a:p>
        </p:txBody>
      </p:sp>
      <p:sp>
        <p:nvSpPr>
          <p:cNvPr id="38" name="Shape 36"/>
          <p:cNvSpPr/>
          <p:nvPr/>
        </p:nvSpPr>
        <p:spPr>
          <a:xfrm>
            <a:off x="2926080" y="4114800"/>
            <a:ext cx="2834640" cy="777240"/>
          </a:xfrm>
          <a:prstGeom prst="rect">
            <a:avLst/>
          </a:prstGeom>
          <a:solidFill>
            <a:srgbClr val="FFFFFF"/>
          </a:solidFill>
          <a:ln w="9525">
            <a:solidFill>
              <a:srgbClr val="EEF2F7"/>
            </a:solidFill>
            <a:prstDash val="solid"/>
          </a:ln>
        </p:spPr>
        <p:txBody>
          <a:bodyPr/>
          <a:p/>
        </p:txBody>
      </p:sp>
      <p:sp>
        <p:nvSpPr>
          <p:cNvPr id="39" name="Text 37"/>
          <p:cNvSpPr txBox="1"/>
          <p:nvPr/>
        </p:nvSpPr>
        <p:spPr>
          <a:xfrm>
            <a:off x="3017520" y="4114800"/>
            <a:ext cx="2651760" cy="777240"/>
          </a:xfrm>
          <a:prstGeom prst="rect">
            <a:avLst/>
          </a:prstGeom>
          <a:noFill/>
        </p:spPr>
        <p:txBody>
          <a:bodyPr wrap="square" lIns="0" tIns="0" rIns="0" bIns="0" rtlCol="0" anchor="ctr"/>
          <a:lstStyle/>
          <a:p>
            <a:pPr marL="0" indent="0" algn="ctr">
              <a:buNone/>
            </a:pPr>
            <a:r>
              <a:rPr lang="en-US" sz="1050"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050" dirty="0"/>
          </a:p>
        </p:txBody>
      </p:sp>
      <p:sp>
        <p:nvSpPr>
          <p:cNvPr id="40" name="Shape 38"/>
          <p:cNvSpPr/>
          <p:nvPr/>
        </p:nvSpPr>
        <p:spPr>
          <a:xfrm>
            <a:off x="5760720" y="4114800"/>
            <a:ext cx="2834640" cy="777240"/>
          </a:xfrm>
          <a:prstGeom prst="rect">
            <a:avLst/>
          </a:prstGeom>
          <a:solidFill>
            <a:srgbClr val="FFFFFF"/>
          </a:solidFill>
          <a:ln w="9525">
            <a:solidFill>
              <a:srgbClr val="EEF2F7"/>
            </a:solidFill>
            <a:prstDash val="solid"/>
          </a:ln>
        </p:spPr>
        <p:txBody>
          <a:bodyPr/>
          <a:p/>
        </p:txBody>
      </p:sp>
      <p:sp>
        <p:nvSpPr>
          <p:cNvPr id="41" name="Text 39"/>
          <p:cNvSpPr txBox="1"/>
          <p:nvPr/>
        </p:nvSpPr>
        <p:spPr>
          <a:xfrm>
            <a:off x="5852160" y="4114800"/>
            <a:ext cx="2651760" cy="777240"/>
          </a:xfrm>
          <a:prstGeom prst="rect">
            <a:avLst/>
          </a:prstGeom>
          <a:noFill/>
        </p:spPr>
        <p:txBody>
          <a:bodyPr wrap="square" lIns="0" tIns="0" rIns="0" bIns="0" rtlCol="0" anchor="ctr"/>
          <a:lstStyle/>
          <a:p>
            <a:pPr marL="0" indent="0" algn="ctr">
              <a:buNone/>
            </a:pPr>
            <a:r>
              <a:rPr lang="en-US" sz="1050" dirty="0">
                <a:solidFill>
                  <a:srgbClr val="5B6B82"/>
                </a:solidFill>
                <a:latin typeface="Calibri" panose="020F0502020204030204" pitchFamily="34" charset="0"/>
                <a:ea typeface="Calibri" panose="020F0502020204030204" pitchFamily="34" charset="-122"/>
                <a:cs typeface="Calibri" panose="020F0502020204030204" pitchFamily="34" charset="-120"/>
              </a:rPr>
              <a:t>✅ Yes — our approach</a:t>
            </a:r>
            <a:endParaRPr lang="en-US" sz="1050" dirty="0"/>
          </a:p>
        </p:txBody>
      </p:sp>
      <p:sp>
        <p:nvSpPr>
          <p:cNvPr id="42" name="Shape 40"/>
          <p:cNvSpPr/>
          <p:nvPr/>
        </p:nvSpPr>
        <p:spPr>
          <a:xfrm>
            <a:off x="8595360" y="4114800"/>
            <a:ext cx="2926080" cy="777240"/>
          </a:xfrm>
          <a:prstGeom prst="rect">
            <a:avLst/>
          </a:prstGeom>
          <a:solidFill>
            <a:srgbClr val="FFFFFF"/>
          </a:solidFill>
          <a:ln w="9525">
            <a:solidFill>
              <a:srgbClr val="EEF2F7"/>
            </a:solidFill>
            <a:prstDash val="solid"/>
          </a:ln>
        </p:spPr>
        <p:txBody>
          <a:bodyPr/>
          <a:p/>
        </p:txBody>
      </p:sp>
      <p:sp>
        <p:nvSpPr>
          <p:cNvPr id="43" name="Text 41"/>
          <p:cNvSpPr txBox="1"/>
          <p:nvPr/>
        </p:nvSpPr>
        <p:spPr>
          <a:xfrm>
            <a:off x="8686800" y="4114800"/>
            <a:ext cx="2743200" cy="777240"/>
          </a:xfrm>
          <a:prstGeom prst="rect">
            <a:avLst/>
          </a:prstGeom>
          <a:noFill/>
        </p:spPr>
        <p:txBody>
          <a:bodyPr wrap="square" lIns="0" tIns="0" rIns="0" bIns="0" rtlCol="0" anchor="ctr"/>
          <a:lstStyle/>
          <a:p>
            <a:pPr marL="0" indent="0" algn="ctr">
              <a:buNone/>
            </a:pPr>
            <a:r>
              <a:rPr lang="en-US" sz="1050" dirty="0">
                <a:solidFill>
                  <a:srgbClr val="5B6B82"/>
                </a:solidFill>
                <a:latin typeface="Calibri" panose="020F0502020204030204" pitchFamily="34" charset="0"/>
                <a:ea typeface="Calibri" panose="020F0502020204030204" pitchFamily="34" charset="-122"/>
                <a:cs typeface="Calibri" panose="020F0502020204030204" pitchFamily="34" charset="-120"/>
              </a:rPr>
              <a:t>✅ Partially — orchestration layer</a:t>
            </a:r>
            <a:endParaRPr lang="en-US" sz="1050" dirty="0"/>
          </a:p>
        </p:txBody>
      </p:sp>
      <p:sp>
        <p:nvSpPr>
          <p:cNvPr id="44" name="Shape 42"/>
          <p:cNvSpPr/>
          <p:nvPr/>
        </p:nvSpPr>
        <p:spPr>
          <a:xfrm>
            <a:off x="640080" y="5074920"/>
            <a:ext cx="10881360" cy="502920"/>
          </a:xfrm>
          <a:prstGeom prst="roundRect">
            <a:avLst>
              <a:gd name="adj" fmla="val 9091"/>
            </a:avLst>
          </a:prstGeom>
          <a:solidFill>
            <a:srgbClr val="2A9D8F"/>
          </a:solidFill>
        </p:spPr>
        <p:txBody>
          <a:bodyPr/>
          <a:p/>
        </p:txBody>
      </p:sp>
      <p:sp>
        <p:nvSpPr>
          <p:cNvPr id="45" name="Text 43"/>
          <p:cNvSpPr txBox="1"/>
          <p:nvPr/>
        </p:nvSpPr>
        <p:spPr>
          <a:xfrm>
            <a:off x="822960" y="5074920"/>
            <a:ext cx="10515600" cy="50292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Our treatment engine uses a Deliberative agent, coordinated across a Multi-Agent system for trials &amp; pharmacy.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10972800" cy="457200"/>
          </a:xfrm>
          <a:prstGeom prst="rect">
            <a:avLst/>
          </a:prstGeom>
          <a:noFill/>
        </p:spPr>
        <p:txBody>
          <a:bodyPr wrap="square" lIns="0" tIns="0" rIns="0" bIns="0" rtlCol="0" anchor="ctr"/>
          <a:lstStyle/>
          <a:p>
            <a:pPr marL="0" indent="0">
              <a:buNone/>
            </a:pPr>
            <a:r>
              <a:rPr lang="en-US" sz="2200" b="1" dirty="0">
                <a:solidFill>
                  <a:srgbClr val="0F2843"/>
                </a:solidFill>
                <a:latin typeface="Cambria" panose="02040503050406030204" pitchFamily="34" charset="0"/>
                <a:ea typeface="Cambria" panose="02040503050406030204" pitchFamily="34" charset="-122"/>
                <a:cs typeface="Cambria" panose="02040503050406030204" pitchFamily="34" charset="-120"/>
              </a:rPr>
              <a:t>Reactive vs Deliberative Agents — Same Oncology Data</a:t>
            </a:r>
            <a:endParaRPr lang="en-US" sz="2200" dirty="0"/>
          </a:p>
        </p:txBody>
      </p:sp>
      <p:sp>
        <p:nvSpPr>
          <p:cNvPr id="3" name="Text 1"/>
          <p:cNvSpPr txBox="1"/>
          <p:nvPr/>
        </p:nvSpPr>
        <p:spPr>
          <a:xfrm>
            <a:off x="640080" y="804672"/>
            <a:ext cx="1005840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The key difference: does the agent reason over a goal, or just fire a fixed rule?</a:t>
            </a:r>
            <a:endParaRPr lang="en-US" sz="1200" dirty="0"/>
          </a:p>
        </p:txBody>
      </p:sp>
      <p:sp>
        <p:nvSpPr>
          <p:cNvPr id="4" name="Shape 2"/>
          <p:cNvSpPr/>
          <p:nvPr/>
        </p:nvSpPr>
        <p:spPr>
          <a:xfrm>
            <a:off x="640080" y="1280160"/>
            <a:ext cx="5212080" cy="411480"/>
          </a:xfrm>
          <a:prstGeom prst="roundRect">
            <a:avLst>
              <a:gd name="adj" fmla="val 48889"/>
            </a:avLst>
          </a:prstGeom>
          <a:solidFill>
            <a:srgbClr val="5B6B82"/>
          </a:solidFill>
        </p:spPr>
        <p:txBody>
          <a:bodyPr/>
          <a:p/>
        </p:txBody>
      </p:sp>
      <p:sp>
        <p:nvSpPr>
          <p:cNvPr id="5" name="Text 3"/>
          <p:cNvSpPr txBox="1"/>
          <p:nvPr/>
        </p:nvSpPr>
        <p:spPr>
          <a:xfrm>
            <a:off x="640080" y="1280160"/>
            <a:ext cx="5212080" cy="41148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 REACTIVE AGENT</a:t>
            </a:r>
            <a:endParaRPr lang="en-US" sz="1300" dirty="0"/>
          </a:p>
        </p:txBody>
      </p:sp>
      <p:sp>
        <p:nvSpPr>
          <p:cNvPr id="6" name="Shape 4"/>
          <p:cNvSpPr/>
          <p:nvPr/>
        </p:nvSpPr>
        <p:spPr>
          <a:xfrm>
            <a:off x="640080" y="1828800"/>
            <a:ext cx="2606040" cy="365760"/>
          </a:xfrm>
          <a:prstGeom prst="rect">
            <a:avLst/>
          </a:prstGeom>
          <a:solidFill>
            <a:srgbClr val="0F2843"/>
          </a:solidFill>
          <a:ln w="9525">
            <a:solidFill>
              <a:srgbClr val="EEF2F7"/>
            </a:solidFill>
            <a:prstDash val="solid"/>
          </a:ln>
        </p:spPr>
        <p:txBody>
          <a:bodyPr/>
          <a:p/>
        </p:txBody>
      </p:sp>
      <p:sp>
        <p:nvSpPr>
          <p:cNvPr id="7" name="Shape 5"/>
          <p:cNvSpPr/>
          <p:nvPr/>
        </p:nvSpPr>
        <p:spPr>
          <a:xfrm>
            <a:off x="3246120" y="1828800"/>
            <a:ext cx="2606040" cy="365760"/>
          </a:xfrm>
          <a:prstGeom prst="rect">
            <a:avLst/>
          </a:prstGeom>
          <a:solidFill>
            <a:srgbClr val="0F2843"/>
          </a:solidFill>
          <a:ln w="9525">
            <a:solidFill>
              <a:srgbClr val="EEF2F7"/>
            </a:solidFill>
            <a:prstDash val="solid"/>
          </a:ln>
        </p:spPr>
        <p:txBody>
          <a:bodyPr/>
          <a:p/>
        </p:txBody>
      </p:sp>
      <p:sp>
        <p:nvSpPr>
          <p:cNvPr id="8" name="Text 6"/>
          <p:cNvSpPr txBox="1"/>
          <p:nvPr/>
        </p:nvSpPr>
        <p:spPr>
          <a:xfrm>
            <a:off x="640080" y="1828800"/>
            <a:ext cx="2606040" cy="36576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Trigger</a:t>
            </a:r>
            <a:endParaRPr lang="en-US" sz="1100" dirty="0"/>
          </a:p>
        </p:txBody>
      </p:sp>
      <p:sp>
        <p:nvSpPr>
          <p:cNvPr id="9" name="Text 7"/>
          <p:cNvSpPr txBox="1"/>
          <p:nvPr/>
        </p:nvSpPr>
        <p:spPr>
          <a:xfrm>
            <a:off x="3246120" y="1828800"/>
            <a:ext cx="2606040" cy="36576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Action</a:t>
            </a:r>
            <a:endParaRPr lang="en-US" sz="1100" dirty="0"/>
          </a:p>
        </p:txBody>
      </p:sp>
      <p:sp>
        <p:nvSpPr>
          <p:cNvPr id="10" name="Shape 8"/>
          <p:cNvSpPr/>
          <p:nvPr/>
        </p:nvSpPr>
        <p:spPr>
          <a:xfrm>
            <a:off x="640080" y="2194560"/>
            <a:ext cx="2606040" cy="365760"/>
          </a:xfrm>
          <a:prstGeom prst="rect">
            <a:avLst/>
          </a:prstGeom>
          <a:solidFill>
            <a:srgbClr val="FFFFFF"/>
          </a:solidFill>
          <a:ln w="9525">
            <a:solidFill>
              <a:srgbClr val="EEF2F7"/>
            </a:solidFill>
            <a:prstDash val="solid"/>
          </a:ln>
        </p:spPr>
        <p:txBody>
          <a:bodyPr/>
          <a:p/>
        </p:txBody>
      </p:sp>
      <p:sp>
        <p:nvSpPr>
          <p:cNvPr id="11" name="Shape 9"/>
          <p:cNvSpPr/>
          <p:nvPr/>
        </p:nvSpPr>
        <p:spPr>
          <a:xfrm>
            <a:off x="3246120" y="2194560"/>
            <a:ext cx="2606040" cy="365760"/>
          </a:xfrm>
          <a:prstGeom prst="rect">
            <a:avLst/>
          </a:prstGeom>
          <a:solidFill>
            <a:srgbClr val="FFFFFF"/>
          </a:solidFill>
          <a:ln w="9525">
            <a:solidFill>
              <a:srgbClr val="EEF2F7"/>
            </a:solidFill>
            <a:prstDash val="solid"/>
          </a:ln>
        </p:spPr>
        <p:txBody>
          <a:bodyPr/>
          <a:p/>
        </p:txBody>
      </p:sp>
      <p:sp>
        <p:nvSpPr>
          <p:cNvPr id="12" name="Text 10"/>
          <p:cNvSpPr txBox="1"/>
          <p:nvPr/>
        </p:nvSpPr>
        <p:spPr>
          <a:xfrm>
            <a:off x="640080" y="2194560"/>
            <a:ext cx="2606040" cy="365760"/>
          </a:xfrm>
          <a:prstGeom prst="rect">
            <a:avLst/>
          </a:prstGeom>
          <a:noFill/>
        </p:spPr>
        <p:txBody>
          <a:bodyPr wrap="square" lIns="0" tIns="0" rIns="0" bIns="0" rtlCol="0" anchor="ctr"/>
          <a:lstStyle/>
          <a:p>
            <a:pPr marL="0" indent="0" algn="ctr">
              <a:buNone/>
            </a:pPr>
            <a:r>
              <a:rPr lang="en-US" sz="1100" dirty="0">
                <a:solidFill>
                  <a:srgbClr val="5B6B82"/>
                </a:solidFill>
                <a:latin typeface="Calibri" panose="020F0502020204030204" pitchFamily="34" charset="0"/>
                <a:ea typeface="Calibri" panose="020F0502020204030204" pitchFamily="34" charset="-122"/>
                <a:cs typeface="Calibri" panose="020F0502020204030204" pitchFamily="34" charset="-120"/>
              </a:rPr>
              <a:t>Risk = Severe</a:t>
            </a:r>
            <a:endParaRPr lang="en-US" sz="1100" dirty="0"/>
          </a:p>
        </p:txBody>
      </p:sp>
      <p:sp>
        <p:nvSpPr>
          <p:cNvPr id="13" name="Text 11"/>
          <p:cNvSpPr txBox="1"/>
          <p:nvPr/>
        </p:nvSpPr>
        <p:spPr>
          <a:xfrm>
            <a:off x="3246120" y="2194560"/>
            <a:ext cx="2606040" cy="365760"/>
          </a:xfrm>
          <a:prstGeom prst="rect">
            <a:avLst/>
          </a:prstGeom>
          <a:noFill/>
        </p:spPr>
        <p:txBody>
          <a:bodyPr wrap="square" lIns="0" tIns="0" rIns="0" bIns="0" rtlCol="0" anchor="ctr"/>
          <a:lstStyle/>
          <a:p>
            <a:pPr marL="0" indent="0" algn="ctr">
              <a:buNone/>
            </a:pPr>
            <a:r>
              <a:rPr lang="en-US" sz="1100" dirty="0">
                <a:solidFill>
                  <a:srgbClr val="5B6B82"/>
                </a:solidFill>
                <a:latin typeface="Calibri" panose="020F0502020204030204" pitchFamily="34" charset="0"/>
                <a:ea typeface="Calibri" panose="020F0502020204030204" pitchFamily="34" charset="-122"/>
                <a:cs typeface="Calibri" panose="020F0502020204030204" pitchFamily="34" charset="-120"/>
              </a:rPr>
              <a:t>Auto-alert only</a:t>
            </a:r>
            <a:endParaRPr lang="en-US" sz="1100" dirty="0"/>
          </a:p>
        </p:txBody>
      </p:sp>
      <p:sp>
        <p:nvSpPr>
          <p:cNvPr id="14" name="Shape 12"/>
          <p:cNvSpPr/>
          <p:nvPr/>
        </p:nvSpPr>
        <p:spPr>
          <a:xfrm>
            <a:off x="640080" y="2560320"/>
            <a:ext cx="2606040" cy="365760"/>
          </a:xfrm>
          <a:prstGeom prst="rect">
            <a:avLst/>
          </a:prstGeom>
          <a:solidFill>
            <a:srgbClr val="FFFFFF"/>
          </a:solidFill>
          <a:ln w="9525">
            <a:solidFill>
              <a:srgbClr val="EEF2F7"/>
            </a:solidFill>
            <a:prstDash val="solid"/>
          </a:ln>
        </p:spPr>
        <p:txBody>
          <a:bodyPr/>
          <a:p/>
        </p:txBody>
      </p:sp>
      <p:sp>
        <p:nvSpPr>
          <p:cNvPr id="15" name="Shape 13"/>
          <p:cNvSpPr/>
          <p:nvPr/>
        </p:nvSpPr>
        <p:spPr>
          <a:xfrm>
            <a:off x="3246120" y="2560320"/>
            <a:ext cx="2606040" cy="365760"/>
          </a:xfrm>
          <a:prstGeom prst="rect">
            <a:avLst/>
          </a:prstGeom>
          <a:solidFill>
            <a:srgbClr val="FFFFFF"/>
          </a:solidFill>
          <a:ln w="9525">
            <a:solidFill>
              <a:srgbClr val="EEF2F7"/>
            </a:solidFill>
            <a:prstDash val="solid"/>
          </a:ln>
        </p:spPr>
        <p:txBody>
          <a:bodyPr/>
          <a:p/>
        </p:txBody>
      </p:sp>
      <p:sp>
        <p:nvSpPr>
          <p:cNvPr id="16" name="Text 14"/>
          <p:cNvSpPr txBox="1"/>
          <p:nvPr/>
        </p:nvSpPr>
        <p:spPr>
          <a:xfrm>
            <a:off x="640080" y="2560320"/>
            <a:ext cx="2606040" cy="365760"/>
          </a:xfrm>
          <a:prstGeom prst="rect">
            <a:avLst/>
          </a:prstGeom>
          <a:noFill/>
        </p:spPr>
        <p:txBody>
          <a:bodyPr wrap="square" lIns="0" tIns="0" rIns="0" bIns="0" rtlCol="0" anchor="ctr"/>
          <a:lstStyle/>
          <a:p>
            <a:pPr marL="0" indent="0" algn="ctr">
              <a:buNone/>
            </a:pPr>
            <a:r>
              <a:rPr lang="en-US" sz="1100" dirty="0">
                <a:solidFill>
                  <a:srgbClr val="5B6B82"/>
                </a:solidFill>
                <a:latin typeface="Calibri" panose="020F0502020204030204" pitchFamily="34" charset="0"/>
                <a:ea typeface="Calibri" panose="020F0502020204030204" pitchFamily="34" charset="-122"/>
                <a:cs typeface="Calibri" panose="020F0502020204030204" pitchFamily="34" charset="-120"/>
              </a:rPr>
              <a:t>ctDNA &gt; threshold</a:t>
            </a:r>
            <a:endParaRPr lang="en-US" sz="1100" dirty="0"/>
          </a:p>
        </p:txBody>
      </p:sp>
      <p:sp>
        <p:nvSpPr>
          <p:cNvPr id="17" name="Text 15"/>
          <p:cNvSpPr txBox="1"/>
          <p:nvPr/>
        </p:nvSpPr>
        <p:spPr>
          <a:xfrm>
            <a:off x="3246120" y="2560320"/>
            <a:ext cx="2606040" cy="365760"/>
          </a:xfrm>
          <a:prstGeom prst="rect">
            <a:avLst/>
          </a:prstGeom>
          <a:noFill/>
        </p:spPr>
        <p:txBody>
          <a:bodyPr wrap="square" lIns="0" tIns="0" rIns="0" bIns="0" rtlCol="0" anchor="ctr"/>
          <a:lstStyle/>
          <a:p>
            <a:pPr marL="0" indent="0" algn="ctr">
              <a:buNone/>
            </a:pPr>
            <a:r>
              <a:rPr lang="en-US" sz="1100" dirty="0">
                <a:solidFill>
                  <a:srgbClr val="5B6B82"/>
                </a:solidFill>
                <a:latin typeface="Calibri" panose="020F0502020204030204" pitchFamily="34" charset="0"/>
                <a:ea typeface="Calibri" panose="020F0502020204030204" pitchFamily="34" charset="-122"/>
                <a:cs typeface="Calibri" panose="020F0502020204030204" pitchFamily="34" charset="-120"/>
              </a:rPr>
              <a:t>Auto-alert only</a:t>
            </a:r>
            <a:endParaRPr lang="en-US" sz="1100" dirty="0"/>
          </a:p>
        </p:txBody>
      </p:sp>
      <p:sp>
        <p:nvSpPr>
          <p:cNvPr id="18" name="Shape 16"/>
          <p:cNvSpPr/>
          <p:nvPr/>
        </p:nvSpPr>
        <p:spPr>
          <a:xfrm>
            <a:off x="640080" y="2926080"/>
            <a:ext cx="2606040" cy="365760"/>
          </a:xfrm>
          <a:prstGeom prst="rect">
            <a:avLst/>
          </a:prstGeom>
          <a:solidFill>
            <a:srgbClr val="FFFFFF"/>
          </a:solidFill>
          <a:ln w="9525">
            <a:solidFill>
              <a:srgbClr val="EEF2F7"/>
            </a:solidFill>
            <a:prstDash val="solid"/>
          </a:ln>
        </p:spPr>
        <p:txBody>
          <a:bodyPr/>
          <a:p/>
        </p:txBody>
      </p:sp>
      <p:sp>
        <p:nvSpPr>
          <p:cNvPr id="19" name="Shape 17"/>
          <p:cNvSpPr/>
          <p:nvPr/>
        </p:nvSpPr>
        <p:spPr>
          <a:xfrm>
            <a:off x="3246120" y="2926080"/>
            <a:ext cx="2606040" cy="365760"/>
          </a:xfrm>
          <a:prstGeom prst="rect">
            <a:avLst/>
          </a:prstGeom>
          <a:solidFill>
            <a:srgbClr val="FFFFFF"/>
          </a:solidFill>
          <a:ln w="9525">
            <a:solidFill>
              <a:srgbClr val="EEF2F7"/>
            </a:solidFill>
            <a:prstDash val="solid"/>
          </a:ln>
        </p:spPr>
        <p:txBody>
          <a:bodyPr/>
          <a:p/>
        </p:txBody>
      </p:sp>
      <p:sp>
        <p:nvSpPr>
          <p:cNvPr id="20" name="Text 18"/>
          <p:cNvSpPr txBox="1"/>
          <p:nvPr/>
        </p:nvSpPr>
        <p:spPr>
          <a:xfrm>
            <a:off x="640080" y="2926080"/>
            <a:ext cx="2606040" cy="365760"/>
          </a:xfrm>
          <a:prstGeom prst="rect">
            <a:avLst/>
          </a:prstGeom>
          <a:noFill/>
        </p:spPr>
        <p:txBody>
          <a:bodyPr wrap="square" lIns="0" tIns="0" rIns="0" bIns="0" rtlCol="0" anchor="ctr"/>
          <a:lstStyle/>
          <a:p>
            <a:pPr marL="0" indent="0" algn="ctr">
              <a:buNone/>
            </a:pPr>
            <a:r>
              <a:rPr lang="en-US" sz="1100" dirty="0">
                <a:solidFill>
                  <a:srgbClr val="5B6B82"/>
                </a:solidFill>
                <a:latin typeface="Calibri" panose="020F0502020204030204" pitchFamily="34" charset="0"/>
                <a:ea typeface="Calibri" panose="020F0502020204030204" pitchFamily="34" charset="-122"/>
                <a:cs typeface="Calibri" panose="020F0502020204030204" pitchFamily="34" charset="-120"/>
              </a:rPr>
              <a:t>Toxicity grade ≥ 3</a:t>
            </a:r>
            <a:endParaRPr lang="en-US" sz="1100" dirty="0"/>
          </a:p>
        </p:txBody>
      </p:sp>
      <p:sp>
        <p:nvSpPr>
          <p:cNvPr id="21" name="Text 19"/>
          <p:cNvSpPr txBox="1"/>
          <p:nvPr/>
        </p:nvSpPr>
        <p:spPr>
          <a:xfrm>
            <a:off x="3246120" y="2926080"/>
            <a:ext cx="2606040" cy="365760"/>
          </a:xfrm>
          <a:prstGeom prst="rect">
            <a:avLst/>
          </a:prstGeom>
          <a:noFill/>
        </p:spPr>
        <p:txBody>
          <a:bodyPr wrap="square" lIns="0" tIns="0" rIns="0" bIns="0" rtlCol="0" anchor="ctr"/>
          <a:lstStyle/>
          <a:p>
            <a:pPr marL="0" indent="0" algn="ctr">
              <a:buNone/>
            </a:pPr>
            <a:r>
              <a:rPr lang="en-US" sz="1100" dirty="0">
                <a:solidFill>
                  <a:srgbClr val="5B6B82"/>
                </a:solidFill>
                <a:latin typeface="Calibri" panose="020F0502020204030204" pitchFamily="34" charset="0"/>
                <a:ea typeface="Calibri" panose="020F0502020204030204" pitchFamily="34" charset="-122"/>
                <a:cs typeface="Calibri" panose="020F0502020204030204" pitchFamily="34" charset="-120"/>
              </a:rPr>
              <a:t>Auto-alert only</a:t>
            </a:r>
            <a:endParaRPr lang="en-US" sz="1100" dirty="0"/>
          </a:p>
        </p:txBody>
      </p:sp>
      <p:sp>
        <p:nvSpPr>
          <p:cNvPr id="22" name="Text 20"/>
          <p:cNvSpPr txBox="1"/>
          <p:nvPr/>
        </p:nvSpPr>
        <p:spPr>
          <a:xfrm>
            <a:off x="640080" y="3429000"/>
            <a:ext cx="5212080" cy="274320"/>
          </a:xfrm>
          <a:prstGeom prst="rect">
            <a:avLst/>
          </a:prstGeom>
          <a:noFill/>
        </p:spPr>
        <p:txBody>
          <a:bodyPr wrap="square" lIns="0" tIns="0" rIns="0" bIns="0" rtlCol="0" anchor="ctr"/>
          <a:lstStyle/>
          <a:p>
            <a:pPr marL="0" indent="0" algn="ctr">
              <a:buNone/>
            </a:pPr>
            <a:r>
              <a:rPr lang="en-US" sz="1000" b="1" dirty="0">
                <a:solidFill>
                  <a:srgbClr val="5B6B82"/>
                </a:solidFill>
                <a:latin typeface="Calibri" panose="020F0502020204030204" pitchFamily="34" charset="0"/>
                <a:ea typeface="Calibri" panose="020F0502020204030204" pitchFamily="34" charset="-122"/>
                <a:cs typeface="Calibri" panose="020F0502020204030204" pitchFamily="34" charset="-120"/>
              </a:rPr>
              <a:t>TRIGGER → FIXED ACTION</a:t>
            </a:r>
            <a:endParaRPr lang="en-US" sz="1000" dirty="0"/>
          </a:p>
        </p:txBody>
      </p:sp>
      <p:sp>
        <p:nvSpPr>
          <p:cNvPr id="23" name="Text 21"/>
          <p:cNvSpPr txBox="1"/>
          <p:nvPr/>
        </p:nvSpPr>
        <p:spPr>
          <a:xfrm>
            <a:off x="640080" y="3703320"/>
            <a:ext cx="5212080" cy="548640"/>
          </a:xfrm>
          <a:prstGeom prst="rect">
            <a:avLst/>
          </a:prstGeom>
          <a:noFill/>
        </p:spPr>
        <p:txBody>
          <a:bodyPr wrap="square" lIns="0" tIns="0" rIns="0" bIns="0" rtlCol="0" anchor="ctr"/>
          <a:lstStyle/>
          <a:p>
            <a:pPr marL="0" indent="0" algn="ctr">
              <a:buNone/>
            </a:pPr>
            <a:r>
              <a:rPr lang="en-US" sz="1050" dirty="0">
                <a:solidFill>
                  <a:srgbClr val="5B6B82"/>
                </a:solidFill>
                <a:latin typeface="Calibri" panose="020F0502020204030204" pitchFamily="34" charset="0"/>
                <a:ea typeface="Calibri" panose="020F0502020204030204" pitchFamily="34" charset="-122"/>
                <a:cs typeface="Calibri" panose="020F0502020204030204" pitchFamily="34" charset="-120"/>
              </a:rPr>
              <a:t>No reasoning. The same trigger always produces the same action.</a:t>
            </a:r>
            <a:endParaRPr lang="en-US" sz="1050" dirty="0"/>
          </a:p>
        </p:txBody>
      </p:sp>
      <p:sp>
        <p:nvSpPr>
          <p:cNvPr id="24" name="Shape 22"/>
          <p:cNvSpPr/>
          <p:nvPr/>
        </p:nvSpPr>
        <p:spPr>
          <a:xfrm>
            <a:off x="6309360" y="1280160"/>
            <a:ext cx="5212080" cy="411480"/>
          </a:xfrm>
          <a:prstGeom prst="roundRect">
            <a:avLst>
              <a:gd name="adj" fmla="val 48889"/>
            </a:avLst>
          </a:prstGeom>
          <a:solidFill>
            <a:srgbClr val="2A9D8F"/>
          </a:solidFill>
        </p:spPr>
        <p:txBody>
          <a:bodyPr/>
          <a:p/>
        </p:txBody>
      </p:sp>
      <p:sp>
        <p:nvSpPr>
          <p:cNvPr id="25" name="Text 23"/>
          <p:cNvSpPr txBox="1"/>
          <p:nvPr/>
        </p:nvSpPr>
        <p:spPr>
          <a:xfrm>
            <a:off x="6309360" y="1280160"/>
            <a:ext cx="5212080" cy="41148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 DELIBERATIVE AGENT</a:t>
            </a:r>
            <a:endParaRPr lang="en-US" sz="1300" dirty="0"/>
          </a:p>
        </p:txBody>
      </p:sp>
      <p:sp>
        <p:nvSpPr>
          <p:cNvPr id="26" name="Shape 24"/>
          <p:cNvSpPr/>
          <p:nvPr/>
        </p:nvSpPr>
        <p:spPr>
          <a:xfrm>
            <a:off x="6309360" y="1828800"/>
            <a:ext cx="2606040" cy="365760"/>
          </a:xfrm>
          <a:prstGeom prst="rect">
            <a:avLst/>
          </a:prstGeom>
          <a:solidFill>
            <a:srgbClr val="0F2843"/>
          </a:solidFill>
          <a:ln w="9525">
            <a:solidFill>
              <a:srgbClr val="EEF2F7"/>
            </a:solidFill>
            <a:prstDash val="solid"/>
          </a:ln>
        </p:spPr>
        <p:txBody>
          <a:bodyPr/>
          <a:p/>
        </p:txBody>
      </p:sp>
      <p:sp>
        <p:nvSpPr>
          <p:cNvPr id="27" name="Shape 25"/>
          <p:cNvSpPr/>
          <p:nvPr/>
        </p:nvSpPr>
        <p:spPr>
          <a:xfrm>
            <a:off x="8915400" y="1828800"/>
            <a:ext cx="2606040" cy="365760"/>
          </a:xfrm>
          <a:prstGeom prst="rect">
            <a:avLst/>
          </a:prstGeom>
          <a:solidFill>
            <a:srgbClr val="0F2843"/>
          </a:solidFill>
          <a:ln w="9525">
            <a:solidFill>
              <a:srgbClr val="EEF2F7"/>
            </a:solidFill>
            <a:prstDash val="solid"/>
          </a:ln>
        </p:spPr>
        <p:txBody>
          <a:bodyPr/>
          <a:p/>
        </p:txBody>
      </p:sp>
      <p:sp>
        <p:nvSpPr>
          <p:cNvPr id="28" name="Text 26"/>
          <p:cNvSpPr txBox="1"/>
          <p:nvPr/>
        </p:nvSpPr>
        <p:spPr>
          <a:xfrm>
            <a:off x="6309360" y="1828800"/>
            <a:ext cx="2606040" cy="365760"/>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Goal</a:t>
            </a:r>
            <a:endParaRPr lang="en-US" sz="1050" dirty="0"/>
          </a:p>
        </p:txBody>
      </p:sp>
      <p:sp>
        <p:nvSpPr>
          <p:cNvPr id="29" name="Text 27"/>
          <p:cNvSpPr txBox="1"/>
          <p:nvPr/>
        </p:nvSpPr>
        <p:spPr>
          <a:xfrm>
            <a:off x="8915400" y="1828800"/>
            <a:ext cx="2606040" cy="365760"/>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Reasoning step</a:t>
            </a:r>
            <a:endParaRPr lang="en-US" sz="1050" dirty="0"/>
          </a:p>
        </p:txBody>
      </p:sp>
      <p:sp>
        <p:nvSpPr>
          <p:cNvPr id="30" name="Shape 28"/>
          <p:cNvSpPr/>
          <p:nvPr/>
        </p:nvSpPr>
        <p:spPr>
          <a:xfrm>
            <a:off x="6309360" y="2194560"/>
            <a:ext cx="2606040" cy="365760"/>
          </a:xfrm>
          <a:prstGeom prst="rect">
            <a:avLst/>
          </a:prstGeom>
          <a:solidFill>
            <a:srgbClr val="FFFFFF"/>
          </a:solidFill>
          <a:ln w="9525">
            <a:solidFill>
              <a:srgbClr val="EEF2F7"/>
            </a:solidFill>
            <a:prstDash val="solid"/>
          </a:ln>
        </p:spPr>
        <p:txBody>
          <a:bodyPr/>
          <a:p/>
        </p:txBody>
      </p:sp>
      <p:sp>
        <p:nvSpPr>
          <p:cNvPr id="31" name="Shape 29"/>
          <p:cNvSpPr/>
          <p:nvPr/>
        </p:nvSpPr>
        <p:spPr>
          <a:xfrm>
            <a:off x="8915400" y="2194560"/>
            <a:ext cx="2606040" cy="365760"/>
          </a:xfrm>
          <a:prstGeom prst="rect">
            <a:avLst/>
          </a:prstGeom>
          <a:solidFill>
            <a:srgbClr val="FFFFFF"/>
          </a:solidFill>
          <a:ln w="9525">
            <a:solidFill>
              <a:srgbClr val="EEF2F7"/>
            </a:solidFill>
            <a:prstDash val="solid"/>
          </a:ln>
        </p:spPr>
        <p:txBody>
          <a:bodyPr/>
          <a:p/>
        </p:txBody>
      </p:sp>
      <p:sp>
        <p:nvSpPr>
          <p:cNvPr id="32" name="Text 30"/>
          <p:cNvSpPr txBox="1"/>
          <p:nvPr/>
        </p:nvSpPr>
        <p:spPr>
          <a:xfrm>
            <a:off x="6309360" y="2194560"/>
            <a:ext cx="2606040" cy="365760"/>
          </a:xfrm>
          <a:prstGeom prst="rect">
            <a:avLst/>
          </a:prstGeom>
          <a:noFill/>
        </p:spPr>
        <p:txBody>
          <a:bodyPr wrap="square" lIns="0" tIns="0" rIns="0" bIns="0" rtlCol="0" anchor="ctr"/>
          <a:lstStyle/>
          <a:p>
            <a:pPr marL="0" indent="0" algn="ctr">
              <a:buNone/>
            </a:pPr>
            <a:r>
              <a:rPr lang="en-US" sz="1050" dirty="0">
                <a:solidFill>
                  <a:srgbClr val="5B6B82"/>
                </a:solidFill>
                <a:latin typeface="Calibri" panose="020F0502020204030204" pitchFamily="34" charset="0"/>
                <a:ea typeface="Calibri" panose="020F0502020204030204" pitchFamily="34" charset="-122"/>
                <a:cs typeface="Calibri" panose="020F0502020204030204" pitchFamily="34" charset="-120"/>
              </a:rPr>
              <a:t>Treat Patient A</a:t>
            </a:r>
            <a:endParaRPr lang="en-US" sz="1050" dirty="0"/>
          </a:p>
        </p:txBody>
      </p:sp>
      <p:sp>
        <p:nvSpPr>
          <p:cNvPr id="33" name="Text 31"/>
          <p:cNvSpPr txBox="1"/>
          <p:nvPr/>
        </p:nvSpPr>
        <p:spPr>
          <a:xfrm>
            <a:off x="8915400" y="2194560"/>
            <a:ext cx="2606040" cy="365760"/>
          </a:xfrm>
          <a:prstGeom prst="rect">
            <a:avLst/>
          </a:prstGeom>
          <a:noFill/>
        </p:spPr>
        <p:txBody>
          <a:bodyPr wrap="square" lIns="0" tIns="0" rIns="0" bIns="0" rtlCol="0" anchor="ctr"/>
          <a:lstStyle/>
          <a:p>
            <a:pPr marL="0" indent="0" algn="ctr">
              <a:buNone/>
            </a:pPr>
            <a:r>
              <a:rPr lang="en-US" sz="1050" dirty="0">
                <a:solidFill>
                  <a:srgbClr val="5B6B82"/>
                </a:solidFill>
                <a:latin typeface="Calibri" panose="020F0502020204030204" pitchFamily="34" charset="0"/>
                <a:ea typeface="Calibri" panose="020F0502020204030204" pitchFamily="34" charset="-122"/>
                <a:cs typeface="Calibri" panose="020F0502020204030204" pitchFamily="34" charset="-120"/>
              </a:rPr>
              <a:t>Check trial slot availability</a:t>
            </a:r>
            <a:endParaRPr lang="en-US" sz="1050" dirty="0"/>
          </a:p>
        </p:txBody>
      </p:sp>
      <p:sp>
        <p:nvSpPr>
          <p:cNvPr id="34" name="Shape 32"/>
          <p:cNvSpPr/>
          <p:nvPr/>
        </p:nvSpPr>
        <p:spPr>
          <a:xfrm>
            <a:off x="6309360" y="2560320"/>
            <a:ext cx="2606040" cy="365760"/>
          </a:xfrm>
          <a:prstGeom prst="rect">
            <a:avLst/>
          </a:prstGeom>
          <a:solidFill>
            <a:srgbClr val="FFFFFF"/>
          </a:solidFill>
          <a:ln w="9525">
            <a:solidFill>
              <a:srgbClr val="EEF2F7"/>
            </a:solidFill>
            <a:prstDash val="solid"/>
          </a:ln>
        </p:spPr>
        <p:txBody>
          <a:bodyPr/>
          <a:p/>
        </p:txBody>
      </p:sp>
      <p:sp>
        <p:nvSpPr>
          <p:cNvPr id="35" name="Shape 33"/>
          <p:cNvSpPr/>
          <p:nvPr/>
        </p:nvSpPr>
        <p:spPr>
          <a:xfrm>
            <a:off x="8915400" y="2560320"/>
            <a:ext cx="2606040" cy="365760"/>
          </a:xfrm>
          <a:prstGeom prst="rect">
            <a:avLst/>
          </a:prstGeom>
          <a:solidFill>
            <a:srgbClr val="FFFFFF"/>
          </a:solidFill>
          <a:ln w="9525">
            <a:solidFill>
              <a:srgbClr val="EEF2F7"/>
            </a:solidFill>
            <a:prstDash val="solid"/>
          </a:ln>
        </p:spPr>
        <p:txBody>
          <a:bodyPr/>
          <a:p/>
        </p:txBody>
      </p:sp>
      <p:sp>
        <p:nvSpPr>
          <p:cNvPr id="36" name="Text 34"/>
          <p:cNvSpPr txBox="1"/>
          <p:nvPr/>
        </p:nvSpPr>
        <p:spPr>
          <a:xfrm>
            <a:off x="6309360" y="2560320"/>
            <a:ext cx="2606040" cy="365760"/>
          </a:xfrm>
          <a:prstGeom prst="rect">
            <a:avLst/>
          </a:prstGeom>
          <a:noFill/>
        </p:spPr>
        <p:txBody>
          <a:bodyPr wrap="square" lIns="0" tIns="0" rIns="0" bIns="0" rtlCol="0" anchor="ctr"/>
          <a:lstStyle/>
          <a:p>
            <a:pPr marL="0" indent="0" algn="ctr">
              <a:buNone/>
            </a:pPr>
            <a:r>
              <a:rPr lang="en-US" sz="1050" dirty="0">
                <a:solidFill>
                  <a:srgbClr val="5B6B82"/>
                </a:solidFill>
                <a:latin typeface="Calibri" panose="020F0502020204030204" pitchFamily="34" charset="0"/>
                <a:ea typeface="Calibri" panose="020F0502020204030204" pitchFamily="34" charset="-122"/>
                <a:cs typeface="Calibri" panose="020F0502020204030204" pitchFamily="34" charset="-120"/>
              </a:rPr>
              <a:t>1 slot, 2 patients</a:t>
            </a:r>
            <a:endParaRPr lang="en-US" sz="1050" dirty="0"/>
          </a:p>
        </p:txBody>
      </p:sp>
      <p:sp>
        <p:nvSpPr>
          <p:cNvPr id="37" name="Text 35"/>
          <p:cNvSpPr txBox="1"/>
          <p:nvPr/>
        </p:nvSpPr>
        <p:spPr>
          <a:xfrm>
            <a:off x="8915400" y="2560320"/>
            <a:ext cx="2606040" cy="365760"/>
          </a:xfrm>
          <a:prstGeom prst="rect">
            <a:avLst/>
          </a:prstGeom>
          <a:noFill/>
        </p:spPr>
        <p:txBody>
          <a:bodyPr wrap="square" lIns="0" tIns="0" rIns="0" bIns="0" rtlCol="0" anchor="ctr"/>
          <a:lstStyle/>
          <a:p>
            <a:pPr marL="0" indent="0" algn="ctr">
              <a:buNone/>
            </a:pPr>
            <a:r>
              <a:rPr lang="en-US" sz="1050" dirty="0">
                <a:solidFill>
                  <a:srgbClr val="5B6B82"/>
                </a:solidFill>
                <a:latin typeface="Calibri" panose="020F0502020204030204" pitchFamily="34" charset="0"/>
                <a:ea typeface="Calibri" panose="020F0502020204030204" pitchFamily="34" charset="-122"/>
                <a:cs typeface="Calibri" panose="020F0502020204030204" pitchFamily="34" charset="-120"/>
              </a:rPr>
              <a:t>Compare ctDNA trend: 6 vs 2 readings</a:t>
            </a:r>
            <a:endParaRPr lang="en-US" sz="1050" dirty="0"/>
          </a:p>
        </p:txBody>
      </p:sp>
      <p:sp>
        <p:nvSpPr>
          <p:cNvPr id="38" name="Shape 36"/>
          <p:cNvSpPr/>
          <p:nvPr/>
        </p:nvSpPr>
        <p:spPr>
          <a:xfrm>
            <a:off x="6309360" y="2926080"/>
            <a:ext cx="2606040" cy="365760"/>
          </a:xfrm>
          <a:prstGeom prst="rect">
            <a:avLst/>
          </a:prstGeom>
          <a:solidFill>
            <a:srgbClr val="FFFFFF"/>
          </a:solidFill>
          <a:ln w="9525">
            <a:solidFill>
              <a:srgbClr val="EEF2F7"/>
            </a:solidFill>
            <a:prstDash val="solid"/>
          </a:ln>
        </p:spPr>
        <p:txBody>
          <a:bodyPr/>
          <a:p/>
        </p:txBody>
      </p:sp>
      <p:sp>
        <p:nvSpPr>
          <p:cNvPr id="39" name="Shape 37"/>
          <p:cNvSpPr/>
          <p:nvPr/>
        </p:nvSpPr>
        <p:spPr>
          <a:xfrm>
            <a:off x="8915400" y="2926080"/>
            <a:ext cx="2606040" cy="365760"/>
          </a:xfrm>
          <a:prstGeom prst="rect">
            <a:avLst/>
          </a:prstGeom>
          <a:solidFill>
            <a:srgbClr val="FFFFFF"/>
          </a:solidFill>
          <a:ln w="9525">
            <a:solidFill>
              <a:srgbClr val="EEF2F7"/>
            </a:solidFill>
            <a:prstDash val="solid"/>
          </a:ln>
        </p:spPr>
        <p:txBody>
          <a:bodyPr/>
          <a:p/>
        </p:txBody>
      </p:sp>
      <p:sp>
        <p:nvSpPr>
          <p:cNvPr id="40" name="Text 38"/>
          <p:cNvSpPr txBox="1"/>
          <p:nvPr/>
        </p:nvSpPr>
        <p:spPr>
          <a:xfrm>
            <a:off x="6309360" y="2926080"/>
            <a:ext cx="2606040" cy="365760"/>
          </a:xfrm>
          <a:prstGeom prst="rect">
            <a:avLst/>
          </a:prstGeom>
          <a:noFill/>
        </p:spPr>
        <p:txBody>
          <a:bodyPr wrap="square" lIns="0" tIns="0" rIns="0" bIns="0" rtlCol="0" anchor="ctr"/>
          <a:lstStyle/>
          <a:p>
            <a:pPr marL="0" indent="0" algn="ctr">
              <a:buNone/>
            </a:pPr>
            <a:r>
              <a:rPr lang="en-US" sz="1050" dirty="0">
                <a:solidFill>
                  <a:srgbClr val="5B6B82"/>
                </a:solidFill>
                <a:latin typeface="Calibri" panose="020F0502020204030204" pitchFamily="34" charset="0"/>
                <a:ea typeface="Calibri" panose="020F0502020204030204" pitchFamily="34" charset="-122"/>
                <a:cs typeface="Calibri" panose="020F0502020204030204" pitchFamily="34" charset="-120"/>
              </a:rPr>
              <a:t>Patient A higher</a:t>
            </a:r>
            <a:endParaRPr lang="en-US" sz="1050" dirty="0"/>
          </a:p>
        </p:txBody>
      </p:sp>
      <p:sp>
        <p:nvSpPr>
          <p:cNvPr id="41" name="Text 39"/>
          <p:cNvSpPr txBox="1"/>
          <p:nvPr/>
        </p:nvSpPr>
        <p:spPr>
          <a:xfrm>
            <a:off x="8915400" y="2926080"/>
            <a:ext cx="2606040" cy="365760"/>
          </a:xfrm>
          <a:prstGeom prst="rect">
            <a:avLst/>
          </a:prstGeom>
          <a:noFill/>
        </p:spPr>
        <p:txBody>
          <a:bodyPr wrap="square" lIns="0" tIns="0" rIns="0" bIns="0" rtlCol="0" anchor="ctr"/>
          <a:lstStyle/>
          <a:p>
            <a:pPr marL="0" indent="0" algn="ctr">
              <a:buNone/>
            </a:pPr>
            <a:r>
              <a:rPr lang="en-US" sz="1050" dirty="0">
                <a:solidFill>
                  <a:srgbClr val="5B6B82"/>
                </a:solidFill>
                <a:latin typeface="Calibri" panose="020F0502020204030204" pitchFamily="34" charset="0"/>
                <a:ea typeface="Calibri" panose="020F0502020204030204" pitchFamily="34" charset="-122"/>
                <a:cs typeface="Calibri" panose="020F0502020204030204" pitchFamily="34" charset="-120"/>
              </a:rPr>
              <a:t>Enroll + reroute Patient B to standard of care</a:t>
            </a:r>
            <a:endParaRPr lang="en-US" sz="1050" dirty="0"/>
          </a:p>
        </p:txBody>
      </p:sp>
      <p:sp>
        <p:nvSpPr>
          <p:cNvPr id="42" name="Text 40"/>
          <p:cNvSpPr txBox="1"/>
          <p:nvPr/>
        </p:nvSpPr>
        <p:spPr>
          <a:xfrm>
            <a:off x="6309360" y="3429000"/>
            <a:ext cx="5212080" cy="274320"/>
          </a:xfrm>
          <a:prstGeom prst="rect">
            <a:avLst/>
          </a:prstGeom>
          <a:noFill/>
        </p:spPr>
        <p:txBody>
          <a:bodyPr wrap="square" lIns="0" tIns="0" rIns="0" bIns="0" rtlCol="0" anchor="ctr"/>
          <a:lstStyle/>
          <a:p>
            <a:pPr marL="0" indent="0" algn="ctr">
              <a:buNone/>
            </a:pPr>
            <a:r>
              <a:rPr lang="en-US" sz="1000" b="1" dirty="0">
                <a:solidFill>
                  <a:srgbClr val="2A9D8F"/>
                </a:solidFill>
                <a:latin typeface="Calibri" panose="020F0502020204030204" pitchFamily="34" charset="0"/>
                <a:ea typeface="Calibri" panose="020F0502020204030204" pitchFamily="34" charset="-122"/>
                <a:cs typeface="Calibri" panose="020F0502020204030204" pitchFamily="34" charset="-120"/>
              </a:rPr>
              <a:t>GOAL → REASON → ACT</a:t>
            </a:r>
            <a:endParaRPr lang="en-US" sz="1000" dirty="0"/>
          </a:p>
        </p:txBody>
      </p:sp>
      <p:sp>
        <p:nvSpPr>
          <p:cNvPr id="43" name="Text 41"/>
          <p:cNvSpPr txBox="1"/>
          <p:nvPr/>
        </p:nvSpPr>
        <p:spPr>
          <a:xfrm>
            <a:off x="6309360" y="3703320"/>
            <a:ext cx="5212080" cy="548640"/>
          </a:xfrm>
          <a:prstGeom prst="rect">
            <a:avLst/>
          </a:prstGeom>
          <a:noFill/>
        </p:spPr>
        <p:txBody>
          <a:bodyPr wrap="square" lIns="0" tIns="0" rIns="0" bIns="0" rtlCol="0" anchor="ctr"/>
          <a:lstStyle/>
          <a:p>
            <a:pPr marL="0" indent="0" algn="ctr">
              <a:buNone/>
            </a:pPr>
            <a:r>
              <a:rPr lang="en-US" sz="1050" dirty="0">
                <a:solidFill>
                  <a:srgbClr val="5B6B82"/>
                </a:solidFill>
                <a:latin typeface="Calibri" panose="020F0502020204030204" pitchFamily="34" charset="0"/>
                <a:ea typeface="Calibri" panose="020F0502020204030204" pitchFamily="34" charset="-122"/>
                <a:cs typeface="Calibri" panose="020F0502020204030204" pitchFamily="34" charset="-120"/>
              </a:rPr>
              <a:t>No fixed rule is given. The agent reasons step by step to reach a decision.</a:t>
            </a:r>
            <a:endParaRPr lang="en-US" sz="1050" dirty="0"/>
          </a:p>
        </p:txBody>
      </p:sp>
      <p:sp>
        <p:nvSpPr>
          <p:cNvPr id="44" name="Shape 42"/>
          <p:cNvSpPr/>
          <p:nvPr/>
        </p:nvSpPr>
        <p:spPr>
          <a:xfrm>
            <a:off x="640080" y="4434840"/>
            <a:ext cx="10881360" cy="777240"/>
          </a:xfrm>
          <a:prstGeom prst="roundRect">
            <a:avLst>
              <a:gd name="adj" fmla="val 8235"/>
            </a:avLst>
          </a:prstGeom>
          <a:solidFill>
            <a:srgbClr val="0F2843"/>
          </a:solidFill>
        </p:spPr>
        <p:txBody>
          <a:bodyPr/>
          <a:p/>
        </p:txBody>
      </p:sp>
      <p:sp>
        <p:nvSpPr>
          <p:cNvPr id="45" name="Text 43"/>
          <p:cNvSpPr txBox="1"/>
          <p:nvPr/>
        </p:nvSpPr>
        <p:spPr>
          <a:xfrm>
            <a:off x="914400" y="4572000"/>
            <a:ext cx="10332720" cy="274320"/>
          </a:xfrm>
          <a:prstGeom prst="rect">
            <a:avLst/>
          </a:prstGeom>
          <a:noFill/>
        </p:spPr>
        <p:txBody>
          <a:bodyPr wrap="square" lIns="0" tIns="0" rIns="0" bIns="0" rtlCol="0" anchor="ctr"/>
          <a:lstStyle/>
          <a:p>
            <a:pPr marL="0" indent="0">
              <a:buNone/>
            </a:pPr>
            <a:r>
              <a:rPr lang="en-US" sz="1100" dirty="0">
                <a:solidFill>
                  <a:srgbClr val="E3E9F2"/>
                </a:solidFill>
                <a:latin typeface="Calibri" panose="020F0502020204030204" pitchFamily="34" charset="0"/>
                <a:ea typeface="Calibri" panose="020F0502020204030204" pitchFamily="34" charset="-122"/>
                <a:cs typeface="Calibri" panose="020F0502020204030204" pitchFamily="34" charset="-120"/>
              </a:rPr>
              <a:t>NEW CASE: Patient A (6 rising readings) + Patient B (2 rising readings), 1 trial slot</a:t>
            </a:r>
            <a:endParaRPr lang="en-US" sz="1100" dirty="0"/>
          </a:p>
        </p:txBody>
      </p:sp>
      <p:sp>
        <p:nvSpPr>
          <p:cNvPr id="46" name="Text 44"/>
          <p:cNvSpPr txBox="1"/>
          <p:nvPr/>
        </p:nvSpPr>
        <p:spPr>
          <a:xfrm>
            <a:off x="914400" y="4846320"/>
            <a:ext cx="10332720" cy="320040"/>
          </a:xfrm>
          <a:prstGeom prst="rect">
            <a:avLst/>
          </a:prstGeom>
          <a:noFill/>
        </p:spPr>
        <p:txBody>
          <a:bodyPr wrap="square" lIns="0" tIns="0" rIns="0" bIns="0" rtlCol="0" anchor="ctr"/>
          <a:lstStyle/>
          <a:p>
            <a:pPr marL="0" indent="0">
              <a:buNone/>
            </a:pPr>
            <a:r>
              <a:rPr lang="en-US" sz="1300" b="1" dirty="0">
                <a:solidFill>
                  <a:srgbClr val="FFB627"/>
                </a:solidFill>
                <a:latin typeface="Calibri" panose="020F0502020204030204" pitchFamily="34" charset="0"/>
                <a:ea typeface="Calibri" panose="020F0502020204030204" pitchFamily="34" charset="-122"/>
                <a:cs typeface="Calibri" panose="020F0502020204030204" pitchFamily="34" charset="-120"/>
              </a:rPr>
              <a:t>→ Deliberative agent decides: ENROLL PATIENT A, reroute Patient B to standard-of-care regimen</a:t>
            </a:r>
            <a:endParaRPr lang="en-US" sz="1300" dirty="0"/>
          </a:p>
        </p:txBody>
      </p:sp>
      <p:sp>
        <p:nvSpPr>
          <p:cNvPr id="47" name="Shape 45"/>
          <p:cNvSpPr/>
          <p:nvPr/>
        </p:nvSpPr>
        <p:spPr>
          <a:xfrm>
            <a:off x="640080" y="5394960"/>
            <a:ext cx="10881360" cy="411480"/>
          </a:xfrm>
          <a:prstGeom prst="roundRect">
            <a:avLst>
              <a:gd name="adj" fmla="val 11111"/>
            </a:avLst>
          </a:prstGeom>
          <a:solidFill>
            <a:srgbClr val="EEF2F7"/>
          </a:solidFill>
        </p:spPr>
        <p:txBody>
          <a:bodyPr/>
          <a:p/>
        </p:txBody>
      </p:sp>
      <p:sp>
        <p:nvSpPr>
          <p:cNvPr id="48" name="Text 46"/>
          <p:cNvSpPr txBox="1"/>
          <p:nvPr/>
        </p:nvSpPr>
        <p:spPr>
          <a:xfrm>
            <a:off x="640080" y="5394960"/>
            <a:ext cx="10881360" cy="411480"/>
          </a:xfrm>
          <a:prstGeom prst="rect">
            <a:avLst/>
          </a:prstGeom>
          <a:noFill/>
        </p:spPr>
        <p:txBody>
          <a:bodyPr wrap="square" lIns="0" tIns="0" rIns="0" bIns="0" rtlCol="0" anchor="ctr"/>
          <a:lstStyle/>
          <a:p>
            <a:pPr marL="0" indent="0" algn="ctr">
              <a:buNone/>
            </a:pPr>
            <a:r>
              <a:rPr lang="en-US" sz="1100" b="1" dirty="0">
                <a:solidFill>
                  <a:srgbClr val="5B6B82"/>
                </a:solidFill>
                <a:latin typeface="Calibri" panose="020F0502020204030204" pitchFamily="34" charset="0"/>
                <a:ea typeface="Calibri" panose="020F0502020204030204" pitchFamily="34" charset="-122"/>
                <a:cs typeface="Calibri" panose="020F0502020204030204" pitchFamily="34" charset="-120"/>
              </a:rPr>
              <a:t>REACTIVE = FIXED RULES   |   DELIBERATIVE = REASON THEN ACT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502920"/>
          </a:xfrm>
          <a:prstGeom prst="rect">
            <a:avLst/>
          </a:prstGeom>
          <a:noFill/>
        </p:spPr>
        <p:txBody>
          <a:bodyPr wrap="square" lIns="0" tIns="0" rIns="0" bIns="0" rtlCol="0" anchor="ctr"/>
          <a:lstStyle/>
          <a:p>
            <a:pPr marL="0" indent="0">
              <a:buNone/>
            </a:pPr>
            <a:r>
              <a:rPr lang="en-US" sz="2600" b="1" dirty="0">
                <a:solidFill>
                  <a:srgbClr val="0F2843"/>
                </a:solidFill>
                <a:latin typeface="Cambria" panose="02040503050406030204" pitchFamily="34" charset="0"/>
                <a:ea typeface="Cambria" panose="02040503050406030204" pitchFamily="34" charset="-122"/>
                <a:cs typeface="Cambria" panose="02040503050406030204" pitchFamily="34" charset="-120"/>
              </a:rPr>
              <a:t>Do We Already Know What To Do?</a:t>
            </a:r>
            <a:endParaRPr lang="en-US" sz="2600" dirty="0"/>
          </a:p>
        </p:txBody>
      </p:sp>
      <p:sp>
        <p:nvSpPr>
          <p:cNvPr id="3" name="Shape 1"/>
          <p:cNvSpPr/>
          <p:nvPr/>
        </p:nvSpPr>
        <p:spPr>
          <a:xfrm>
            <a:off x="640080" y="1188720"/>
            <a:ext cx="6126480" cy="2377440"/>
          </a:xfrm>
          <a:prstGeom prst="roundRect">
            <a:avLst>
              <a:gd name="adj" fmla="val 2692"/>
            </a:avLst>
          </a:prstGeom>
          <a:solidFill>
            <a:srgbClr val="FFFFFF"/>
          </a:solidFill>
          <a:ln w="12700">
            <a:solidFill>
              <a:srgbClr val="EEF2F7"/>
            </a:solidFill>
            <a:prstDash val="solid"/>
          </a:ln>
        </p:spPr>
        <p:txBody>
          <a:bodyPr/>
          <a:p/>
        </p:txBody>
      </p:sp>
      <p:sp>
        <p:nvSpPr>
          <p:cNvPr id="4" name="Text 2"/>
          <p:cNvSpPr txBox="1"/>
          <p:nvPr/>
        </p:nvSpPr>
        <p:spPr>
          <a:xfrm>
            <a:off x="914400" y="1371600"/>
            <a:ext cx="2743200" cy="320040"/>
          </a:xfrm>
          <a:prstGeom prst="rect">
            <a:avLst/>
          </a:prstGeom>
          <a:noFill/>
        </p:spPr>
        <p:txBody>
          <a:bodyPr wrap="square" lIns="0" tIns="0" rIns="0" bIns="0" rtlCol="0" anchor="ctr"/>
          <a:lstStyle/>
          <a:p>
            <a:pPr marL="0" indent="0">
              <a:buNone/>
            </a:pPr>
            <a:r>
              <a:rPr lang="en-US" sz="1100" b="1" dirty="0">
                <a:solidFill>
                  <a:srgbClr val="5B6B82"/>
                </a:solidFill>
                <a:latin typeface="Calibri" panose="020F0502020204030204" pitchFamily="34" charset="0"/>
                <a:ea typeface="Calibri" panose="020F0502020204030204" pitchFamily="34" charset="-122"/>
                <a:cs typeface="Calibri" panose="020F0502020204030204" pitchFamily="34" charset="-120"/>
              </a:rPr>
              <a:t>Situation</a:t>
            </a:r>
            <a:endParaRPr lang="en-US" sz="1100" dirty="0"/>
          </a:p>
        </p:txBody>
      </p:sp>
      <p:sp>
        <p:nvSpPr>
          <p:cNvPr id="5" name="Text 3"/>
          <p:cNvSpPr txBox="1"/>
          <p:nvPr/>
        </p:nvSpPr>
        <p:spPr>
          <a:xfrm>
            <a:off x="3840480" y="1371600"/>
            <a:ext cx="2743200" cy="320040"/>
          </a:xfrm>
          <a:prstGeom prst="rect">
            <a:avLst/>
          </a:prstGeom>
          <a:noFill/>
        </p:spPr>
        <p:txBody>
          <a:bodyPr wrap="square" lIns="0" tIns="0" rIns="0" bIns="0" rtlCol="0" anchor="ctr"/>
          <a:lstStyle/>
          <a:p>
            <a:pPr marL="0" indent="0">
              <a:buNone/>
            </a:pPr>
            <a:r>
              <a:rPr lang="en-US" sz="1100" b="1" dirty="0">
                <a:solidFill>
                  <a:srgbClr val="5B6B82"/>
                </a:solidFill>
                <a:latin typeface="Calibri" panose="020F0502020204030204" pitchFamily="34" charset="0"/>
                <a:ea typeface="Calibri" panose="020F0502020204030204" pitchFamily="34" charset="-122"/>
                <a:cs typeface="Calibri" panose="020F0502020204030204" pitchFamily="34" charset="-120"/>
              </a:rPr>
              <a:t>SOP Coverage</a:t>
            </a:r>
            <a:endParaRPr lang="en-US" sz="1100" dirty="0"/>
          </a:p>
        </p:txBody>
      </p:sp>
      <p:sp>
        <p:nvSpPr>
          <p:cNvPr id="6" name="Text 4"/>
          <p:cNvSpPr txBox="1"/>
          <p:nvPr/>
        </p:nvSpPr>
        <p:spPr>
          <a:xfrm>
            <a:off x="914400" y="1737360"/>
            <a:ext cx="2743200" cy="365760"/>
          </a:xfrm>
          <a:prstGeom prst="rect">
            <a:avLst/>
          </a:prstGeom>
          <a:noFill/>
        </p:spPr>
        <p:txBody>
          <a:bodyPr wrap="square" lIns="0" tIns="0" rIns="0" bIns="0" rtlCol="0" anchor="ctr"/>
          <a:lstStyle/>
          <a:p>
            <a:pPr marL="0" indent="0">
              <a:buNone/>
            </a:pPr>
            <a:r>
              <a:rPr lang="en-US" sz="1200" dirty="0">
                <a:solidFill>
                  <a:srgbClr val="0F2843"/>
                </a:solidFill>
                <a:latin typeface="Calibri" panose="020F0502020204030204" pitchFamily="34" charset="0"/>
                <a:ea typeface="Calibri" panose="020F0502020204030204" pitchFamily="34" charset="-122"/>
                <a:cs typeface="Calibri" panose="020F0502020204030204" pitchFamily="34" charset="-120"/>
              </a:rPr>
              <a:t>Rapid progression, high toxicity risk</a:t>
            </a:r>
            <a:endParaRPr lang="en-US" sz="1200" dirty="0"/>
          </a:p>
        </p:txBody>
      </p:sp>
      <p:sp>
        <p:nvSpPr>
          <p:cNvPr id="7" name="Text 5"/>
          <p:cNvSpPr txBox="1"/>
          <p:nvPr/>
        </p:nvSpPr>
        <p:spPr>
          <a:xfrm>
            <a:off x="3840480" y="1737360"/>
            <a:ext cx="2743200" cy="365760"/>
          </a:xfrm>
          <a:prstGeom prst="rect">
            <a:avLst/>
          </a:prstGeom>
          <a:noFill/>
        </p:spPr>
        <p:txBody>
          <a:bodyPr wrap="square" lIns="0" tIns="0" rIns="0" bIns="0" rtlCol="0" anchor="ctr"/>
          <a:lstStyle/>
          <a:p>
            <a:pPr marL="0" indent="0">
              <a:buNone/>
            </a:pPr>
            <a:r>
              <a:rPr lang="en-US" sz="1200" b="1" dirty="0">
                <a:solidFill>
                  <a:srgbClr val="2A9D8F"/>
                </a:solidFill>
                <a:latin typeface="Calibri" panose="020F0502020204030204" pitchFamily="34" charset="0"/>
                <a:ea typeface="Calibri" panose="020F0502020204030204" pitchFamily="34" charset="-122"/>
                <a:cs typeface="Calibri" panose="020F0502020204030204" pitchFamily="34" charset="-120"/>
              </a:rPr>
              <a:t>✅ NCCN Guideline §3</a:t>
            </a:r>
            <a:endParaRPr lang="en-US" sz="1200" dirty="0"/>
          </a:p>
        </p:txBody>
      </p:sp>
      <p:sp>
        <p:nvSpPr>
          <p:cNvPr id="8" name="Text 6"/>
          <p:cNvSpPr txBox="1"/>
          <p:nvPr/>
        </p:nvSpPr>
        <p:spPr>
          <a:xfrm>
            <a:off x="914400" y="2194560"/>
            <a:ext cx="2743200" cy="365760"/>
          </a:xfrm>
          <a:prstGeom prst="rect">
            <a:avLst/>
          </a:prstGeom>
          <a:noFill/>
        </p:spPr>
        <p:txBody>
          <a:bodyPr wrap="square" lIns="0" tIns="0" rIns="0" bIns="0" rtlCol="0" anchor="ctr"/>
          <a:lstStyle/>
          <a:p>
            <a:pPr marL="0" indent="0">
              <a:buNone/>
            </a:pPr>
            <a:r>
              <a:rPr lang="en-US" sz="1200" dirty="0">
                <a:solidFill>
                  <a:srgbClr val="0F2843"/>
                </a:solidFill>
                <a:latin typeface="Calibri" panose="020F0502020204030204" pitchFamily="34" charset="0"/>
                <a:ea typeface="Calibri" panose="020F0502020204030204" pitchFamily="34" charset="-122"/>
                <a:cs typeface="Calibri" panose="020F0502020204030204" pitchFamily="34" charset="-120"/>
              </a:rPr>
              <a:t>Two patients, one trial slot</a:t>
            </a:r>
            <a:endParaRPr lang="en-US" sz="1200" dirty="0"/>
          </a:p>
        </p:txBody>
      </p:sp>
      <p:sp>
        <p:nvSpPr>
          <p:cNvPr id="9" name="Text 7"/>
          <p:cNvSpPr txBox="1"/>
          <p:nvPr/>
        </p:nvSpPr>
        <p:spPr>
          <a:xfrm>
            <a:off x="3840480" y="2194560"/>
            <a:ext cx="2743200" cy="365760"/>
          </a:xfrm>
          <a:prstGeom prst="rect">
            <a:avLst/>
          </a:prstGeom>
          <a:noFill/>
        </p:spPr>
        <p:txBody>
          <a:bodyPr wrap="square" lIns="0" tIns="0" rIns="0" bIns="0" rtlCol="0" anchor="ctr"/>
          <a:lstStyle/>
          <a:p>
            <a:pPr marL="0" indent="0">
              <a:buNone/>
            </a:pPr>
            <a:r>
              <a:rPr lang="en-US" sz="1200" b="1" dirty="0">
                <a:solidFill>
                  <a:srgbClr val="2A9D8F"/>
                </a:solidFill>
                <a:latin typeface="Calibri" panose="020F0502020204030204" pitchFamily="34" charset="0"/>
                <a:ea typeface="Calibri" panose="020F0502020204030204" pitchFamily="34" charset="-122"/>
                <a:cs typeface="Calibri" panose="020F0502020204030204" pitchFamily="34" charset="-120"/>
              </a:rPr>
              <a:t>✅ NCCN Guideline §7</a:t>
            </a:r>
            <a:endParaRPr lang="en-US" sz="1200" dirty="0"/>
          </a:p>
        </p:txBody>
      </p:sp>
      <p:sp>
        <p:nvSpPr>
          <p:cNvPr id="10" name="Text 8"/>
          <p:cNvSpPr txBox="1"/>
          <p:nvPr/>
        </p:nvSpPr>
        <p:spPr>
          <a:xfrm>
            <a:off x="914400" y="2651760"/>
            <a:ext cx="2743200" cy="365760"/>
          </a:xfrm>
          <a:prstGeom prst="rect">
            <a:avLst/>
          </a:prstGeom>
          <a:noFill/>
        </p:spPr>
        <p:txBody>
          <a:bodyPr wrap="square" lIns="0" tIns="0" rIns="0" bIns="0" rtlCol="0" anchor="ctr"/>
          <a:lstStyle/>
          <a:p>
            <a:pPr marL="0" indent="0">
              <a:buNone/>
            </a:pPr>
            <a:r>
              <a:rPr lang="en-US" sz="1200" dirty="0">
                <a:solidFill>
                  <a:srgbClr val="0F2843"/>
                </a:solidFill>
                <a:latin typeface="Calibri" panose="020F0502020204030204" pitchFamily="34" charset="0"/>
                <a:ea typeface="Calibri" panose="020F0502020204030204" pitchFamily="34" charset="-122"/>
                <a:cs typeface="Calibri" panose="020F0502020204030204" pitchFamily="34" charset="-120"/>
              </a:rPr>
              <a:t>Compound organ toxicity</a:t>
            </a:r>
            <a:endParaRPr lang="en-US" sz="1200" dirty="0"/>
          </a:p>
        </p:txBody>
      </p:sp>
      <p:sp>
        <p:nvSpPr>
          <p:cNvPr id="11" name="Text 9"/>
          <p:cNvSpPr txBox="1"/>
          <p:nvPr/>
        </p:nvSpPr>
        <p:spPr>
          <a:xfrm>
            <a:off x="3840480" y="2651760"/>
            <a:ext cx="2743200" cy="365760"/>
          </a:xfrm>
          <a:prstGeom prst="rect">
            <a:avLst/>
          </a:prstGeom>
          <a:noFill/>
        </p:spPr>
        <p:txBody>
          <a:bodyPr wrap="square" lIns="0" tIns="0" rIns="0" bIns="0" rtlCol="0" anchor="ctr"/>
          <a:lstStyle/>
          <a:p>
            <a:pPr marL="0" indent="0">
              <a:buNone/>
            </a:pPr>
            <a:r>
              <a:rPr lang="en-US" sz="1200" b="1" dirty="0">
                <a:solidFill>
                  <a:srgbClr val="2A9D8F"/>
                </a:solidFill>
                <a:latin typeface="Calibri" panose="020F0502020204030204" pitchFamily="34" charset="0"/>
                <a:ea typeface="Calibri" panose="020F0502020204030204" pitchFamily="34" charset="-122"/>
                <a:cs typeface="Calibri" panose="020F0502020204030204" pitchFamily="34" charset="-120"/>
              </a:rPr>
              <a:t>✅ NCCN Guideline §12</a:t>
            </a:r>
            <a:endParaRPr lang="en-US" sz="1200" dirty="0"/>
          </a:p>
        </p:txBody>
      </p:sp>
      <p:sp>
        <p:nvSpPr>
          <p:cNvPr id="12" name="Shape 10"/>
          <p:cNvSpPr/>
          <p:nvPr/>
        </p:nvSpPr>
        <p:spPr>
          <a:xfrm>
            <a:off x="7040880" y="1188720"/>
            <a:ext cx="4480560" cy="1097280"/>
          </a:xfrm>
          <a:prstGeom prst="roundRect">
            <a:avLst>
              <a:gd name="adj" fmla="val 5833"/>
            </a:avLst>
          </a:prstGeom>
          <a:solidFill>
            <a:srgbClr val="0F2843"/>
          </a:solidFill>
        </p:spPr>
        <p:txBody>
          <a:bodyPr/>
          <a:p/>
        </p:txBody>
      </p:sp>
      <p:sp>
        <p:nvSpPr>
          <p:cNvPr id="13" name="Text 11"/>
          <p:cNvSpPr txBox="1"/>
          <p:nvPr/>
        </p:nvSpPr>
        <p:spPr>
          <a:xfrm>
            <a:off x="7269480" y="1280160"/>
            <a:ext cx="4023360" cy="594360"/>
          </a:xfrm>
          <a:prstGeom prst="rect">
            <a:avLst/>
          </a:prstGeom>
          <a:noFill/>
        </p:spPr>
        <p:txBody>
          <a:bodyPr wrap="square" lIns="0" tIns="0" rIns="0" bIns="0" rtlCol="0" anchor="ctr"/>
          <a:lstStyle/>
          <a:p>
            <a:pPr marL="0" indent="0">
              <a:buNone/>
            </a:pPr>
            <a:r>
              <a:rPr lang="en-US" sz="1200" dirty="0">
                <a:solidFill>
                  <a:srgbClr val="E3E9F2"/>
                </a:solidFill>
                <a:latin typeface="Calibri" panose="020F0502020204030204" pitchFamily="34" charset="0"/>
                <a:ea typeface="Calibri" panose="020F0502020204030204" pitchFamily="34" charset="-122"/>
                <a:cs typeface="Calibri" panose="020F0502020204030204" pitchFamily="34" charset="-120"/>
              </a:rPr>
              <a:t>Do we already have SOPs covering</a:t>
            </a:r>
            <a:endParaRPr lang="en-US" sz="1200" dirty="0"/>
          </a:p>
          <a:p>
            <a:pPr marL="0" indent="0">
              <a:buNone/>
            </a:pPr>
            <a:r>
              <a:rPr lang="en-US" sz="1200" dirty="0">
                <a:solidFill>
                  <a:srgbClr val="E3E9F2"/>
                </a:solidFill>
                <a:latin typeface="Calibri" panose="020F0502020204030204" pitchFamily="34" charset="0"/>
                <a:ea typeface="Calibri" panose="020F0502020204030204" pitchFamily="34" charset="-122"/>
                <a:cs typeface="Calibri" panose="020F0502020204030204" pitchFamily="34" charset="-120"/>
              </a:rPr>
              <a:t>this kind of situation?</a:t>
            </a:r>
            <a:endParaRPr lang="en-US" sz="1200" dirty="0"/>
          </a:p>
        </p:txBody>
      </p:sp>
      <p:sp>
        <p:nvSpPr>
          <p:cNvPr id="14" name="Text 12"/>
          <p:cNvSpPr txBox="1"/>
          <p:nvPr/>
        </p:nvSpPr>
        <p:spPr>
          <a:xfrm>
            <a:off x="7269480" y="1828800"/>
            <a:ext cx="4023360" cy="411480"/>
          </a:xfrm>
          <a:prstGeom prst="rect">
            <a:avLst/>
          </a:prstGeom>
          <a:noFill/>
        </p:spPr>
        <p:txBody>
          <a:bodyPr wrap="square" lIns="0" tIns="0" rIns="0" bIns="0" rtlCol="0" anchor="ctr"/>
          <a:lstStyle/>
          <a:p>
            <a:pPr marL="0" indent="0">
              <a:buNone/>
            </a:pPr>
            <a:r>
              <a:rPr lang="en-US" sz="2200" b="1" dirty="0">
                <a:solidFill>
                  <a:srgbClr val="FFB627"/>
                </a:solidFill>
                <a:latin typeface="Cambria" panose="02040503050406030204" pitchFamily="34" charset="0"/>
                <a:ea typeface="Cambria" panose="02040503050406030204" pitchFamily="34" charset="-122"/>
                <a:cs typeface="Cambria" panose="02040503050406030204" pitchFamily="34" charset="-120"/>
              </a:rPr>
              <a:t>YES.</a:t>
            </a:r>
            <a:endParaRPr lang="en-US" sz="2200" dirty="0"/>
          </a:p>
        </p:txBody>
      </p:sp>
      <p:sp>
        <p:nvSpPr>
          <p:cNvPr id="15" name="Shape 13"/>
          <p:cNvSpPr/>
          <p:nvPr/>
        </p:nvSpPr>
        <p:spPr>
          <a:xfrm>
            <a:off x="640080" y="3749040"/>
            <a:ext cx="6035040" cy="2194560"/>
          </a:xfrm>
          <a:prstGeom prst="roundRect">
            <a:avLst>
              <a:gd name="adj" fmla="val 3333"/>
            </a:avLst>
          </a:prstGeom>
          <a:solidFill>
            <a:srgbClr val="2A9D8F"/>
          </a:solidFill>
        </p:spPr>
        <p:txBody>
          <a:bodyPr/>
          <a:p/>
        </p:txBody>
      </p:sp>
      <p:sp>
        <p:nvSpPr>
          <p:cNvPr id="16" name="Text 14"/>
          <p:cNvSpPr txBox="1"/>
          <p:nvPr/>
        </p:nvSpPr>
        <p:spPr>
          <a:xfrm>
            <a:off x="914400" y="3931920"/>
            <a:ext cx="640080" cy="548640"/>
          </a:xfrm>
          <a:prstGeom prst="rect">
            <a:avLst/>
          </a:prstGeom>
          <a:noFill/>
        </p:spPr>
        <p:txBody>
          <a:bodyPr wrap="square" lIns="0" tIns="0" rIns="0" bIns="0" rtlCol="0" anchor="ctr"/>
          <a:lstStyle/>
          <a:p>
            <a:pPr marL="0" indent="0">
              <a:buNone/>
            </a:pPr>
            <a:r>
              <a:rPr lang="en-US" sz="2600" dirty="0">
                <a:solidFill>
                  <a:srgbClr val="000000"/>
                </a:solidFill>
              </a:rPr>
              <a:t>📘</a:t>
            </a:r>
            <a:endParaRPr lang="en-US" sz="2600" dirty="0"/>
          </a:p>
        </p:txBody>
      </p:sp>
      <p:sp>
        <p:nvSpPr>
          <p:cNvPr id="17" name="Text 15"/>
          <p:cNvSpPr txBox="1"/>
          <p:nvPr/>
        </p:nvSpPr>
        <p:spPr>
          <a:xfrm>
            <a:off x="914400" y="4434840"/>
            <a:ext cx="5486400" cy="365760"/>
          </a:xfrm>
          <a:prstGeom prst="rect">
            <a:avLst/>
          </a:prstGeom>
          <a:noFill/>
        </p:spPr>
        <p:txBody>
          <a:bodyPr wrap="square" lIns="0" tIns="0" rIns="0" bIns="0"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DELIBERATIVE (PLANNING) AGENT</a:t>
            </a:r>
            <a:endParaRPr lang="en-US" sz="1400" dirty="0"/>
          </a:p>
        </p:txBody>
      </p:sp>
      <p:sp>
        <p:nvSpPr>
          <p:cNvPr id="18" name="Text 16"/>
          <p:cNvSpPr txBox="1"/>
          <p:nvPr/>
        </p:nvSpPr>
        <p:spPr>
          <a:xfrm>
            <a:off x="914400" y="4800600"/>
            <a:ext cx="5394960" cy="1005840"/>
          </a:xfrm>
          <a:prstGeom prst="rect">
            <a:avLst/>
          </a:prstGeom>
          <a:noFill/>
        </p:spPr>
        <p:txBody>
          <a:bodyPr wrap="square" lIns="0" tIns="0" rIns="0" bIns="0" rtlCol="0" anchor="ctr"/>
          <a:lstStyle/>
          <a:p>
            <a:pPr marL="0" indent="0">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We already have SOPs and past cases as a knowledge base. The agent reasons over them to choose actions.</a:t>
            </a:r>
            <a:endParaRPr lang="en-US" sz="1200" dirty="0"/>
          </a:p>
        </p:txBody>
      </p:sp>
      <p:sp>
        <p:nvSpPr>
          <p:cNvPr id="19" name="Text 17"/>
          <p:cNvSpPr txBox="1"/>
          <p:nvPr/>
        </p:nvSpPr>
        <p:spPr>
          <a:xfrm>
            <a:off x="7040880" y="3886200"/>
            <a:ext cx="4572000" cy="457200"/>
          </a:xfrm>
          <a:prstGeom prst="rect">
            <a:avLst/>
          </a:prstGeom>
          <a:noFill/>
        </p:spPr>
        <p:txBody>
          <a:bodyPr wrap="square" lIns="0" tIns="0" rIns="0" bIns="0" rtlCol="0" anchor="ctr"/>
          <a:lstStyle/>
          <a:p>
            <a:pPr marL="0" indent="0">
              <a:buNone/>
            </a:pPr>
            <a:r>
              <a:rPr lang="en-US" sz="1100" dirty="0">
                <a:solidFill>
                  <a:srgbClr val="5B6B82"/>
                </a:solidFill>
                <a:latin typeface="Calibri" panose="020F0502020204030204" pitchFamily="34" charset="0"/>
                <a:ea typeface="Calibri" panose="020F0502020204030204" pitchFamily="34" charset="-122"/>
                <a:cs typeface="Calibri" panose="020F0502020204030204" pitchFamily="34" charset="-120"/>
              </a:rPr>
              <a:t>Reactive:  No SOP lookup — fixed trigger → action, no reasoning</a:t>
            </a:r>
            <a:endParaRPr lang="en-US" sz="1100" dirty="0"/>
          </a:p>
        </p:txBody>
      </p:sp>
      <p:sp>
        <p:nvSpPr>
          <p:cNvPr id="20" name="Text 18"/>
          <p:cNvSpPr txBox="1"/>
          <p:nvPr/>
        </p:nvSpPr>
        <p:spPr>
          <a:xfrm>
            <a:off x="7040880" y="4343400"/>
            <a:ext cx="4572000" cy="457200"/>
          </a:xfrm>
          <a:prstGeom prst="rect">
            <a:avLst/>
          </a:prstGeom>
          <a:noFill/>
        </p:spPr>
        <p:txBody>
          <a:bodyPr wrap="square" lIns="0" tIns="0" rIns="0" bIns="0" rtlCol="0" anchor="ctr"/>
          <a:lstStyle/>
          <a:p>
            <a:pPr marL="0" indent="0">
              <a:buNone/>
            </a:pPr>
            <a:r>
              <a:rPr lang="en-US" sz="1100" dirty="0">
                <a:solidFill>
                  <a:srgbClr val="5B6B82"/>
                </a:solidFill>
                <a:latin typeface="Calibri" panose="020F0502020204030204" pitchFamily="34" charset="0"/>
                <a:ea typeface="Calibri" panose="020F0502020204030204" pitchFamily="34" charset="-122"/>
                <a:cs typeface="Calibri" panose="020F0502020204030204" pitchFamily="34" charset="-120"/>
              </a:rPr>
              <a:t>Multi-Agent:  Needs negotiation across trial &amp; pharmacy systems</a:t>
            </a:r>
            <a:endParaRPr lang="en-US" sz="1100" dirty="0"/>
          </a:p>
        </p:txBody>
      </p:sp>
      <p:sp>
        <p:nvSpPr>
          <p:cNvPr id="21" name="Shape 19"/>
          <p:cNvSpPr/>
          <p:nvPr/>
        </p:nvSpPr>
        <p:spPr>
          <a:xfrm>
            <a:off x="7040880" y="4937760"/>
            <a:ext cx="4572000" cy="457200"/>
          </a:xfrm>
          <a:prstGeom prst="roundRect">
            <a:avLst>
              <a:gd name="adj" fmla="val 10000"/>
            </a:avLst>
          </a:prstGeom>
          <a:solidFill>
            <a:srgbClr val="FFB627"/>
          </a:solidFill>
        </p:spPr>
        <p:txBody>
          <a:bodyPr/>
          <a:p/>
        </p:txBody>
      </p:sp>
      <p:sp>
        <p:nvSpPr>
          <p:cNvPr id="22" name="Text 20"/>
          <p:cNvSpPr txBox="1"/>
          <p:nvPr/>
        </p:nvSpPr>
        <p:spPr>
          <a:xfrm>
            <a:off x="7040880" y="4937760"/>
            <a:ext cx="4572000" cy="457200"/>
          </a:xfrm>
          <a:prstGeom prst="rect">
            <a:avLst/>
          </a:prstGeom>
          <a:noFill/>
        </p:spPr>
        <p:txBody>
          <a:bodyPr wrap="square" lIns="0" tIns="0" rIns="0" bIns="0" rtlCol="0" anchor="ctr"/>
          <a:lstStyle/>
          <a:p>
            <a:pPr marL="0" indent="0" algn="ctr">
              <a:buNone/>
            </a:pPr>
            <a:r>
              <a:rPr lang="en-US" sz="1150" b="1" dirty="0">
                <a:solidFill>
                  <a:srgbClr val="081527"/>
                </a:solidFill>
                <a:latin typeface="Calibri" panose="020F0502020204030204" pitchFamily="34" charset="0"/>
                <a:ea typeface="Calibri" panose="020F0502020204030204" pitchFamily="34" charset="-122"/>
                <a:cs typeface="Calibri" panose="020F0502020204030204" pitchFamily="34" charset="-120"/>
              </a:rPr>
              <a:t>Our treatment engine uses a Deliberative Agent.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320040"/>
            <a:ext cx="10058400" cy="457200"/>
          </a:xfrm>
          <a:prstGeom prst="rect">
            <a:avLst/>
          </a:prstGeom>
          <a:noFill/>
        </p:spPr>
        <p:txBody>
          <a:bodyPr wrap="square" lIns="0" tIns="0" rIns="0" bIns="0" rtlCol="0" anchor="ctr"/>
          <a:lstStyle/>
          <a:p>
            <a:pPr marL="0" indent="0">
              <a:buNone/>
            </a:pPr>
            <a:r>
              <a:rPr lang="en-US" sz="2400" b="1" dirty="0">
                <a:solidFill>
                  <a:srgbClr val="0F2843"/>
                </a:solidFill>
                <a:latin typeface="Cambria" panose="02040503050406030204" pitchFamily="34" charset="0"/>
                <a:ea typeface="Cambria" panose="02040503050406030204" pitchFamily="34" charset="-122"/>
                <a:cs typeface="Cambria" panose="02040503050406030204" pitchFamily="34" charset="-120"/>
              </a:rPr>
              <a:t>Agentic AI — Reasoning Patterns</a:t>
            </a:r>
            <a:endParaRPr lang="en-US" sz="2400" dirty="0"/>
          </a:p>
        </p:txBody>
      </p:sp>
      <p:sp>
        <p:nvSpPr>
          <p:cNvPr id="3" name="Text 1"/>
          <p:cNvSpPr txBox="1"/>
          <p:nvPr/>
        </p:nvSpPr>
        <p:spPr>
          <a:xfrm>
            <a:off x="640080" y="749808"/>
            <a:ext cx="10515600" cy="274320"/>
          </a:xfrm>
          <a:prstGeom prst="rect">
            <a:avLst/>
          </a:prstGeom>
          <a:noFill/>
        </p:spPr>
        <p:txBody>
          <a:bodyPr wrap="square" lIns="0" tIns="0" rIns="0" bIns="0" rtlCol="0" anchor="ctr"/>
          <a:lstStyle/>
          <a:p>
            <a:pPr marL="0" indent="0">
              <a:buNone/>
            </a:pPr>
            <a:r>
              <a:rPr lang="en-US" sz="1100" dirty="0">
                <a:solidFill>
                  <a:srgbClr val="5B6B82"/>
                </a:solidFill>
                <a:latin typeface="Calibri" panose="020F0502020204030204" pitchFamily="34" charset="0"/>
                <a:ea typeface="Calibri" panose="020F0502020204030204" pitchFamily="34" charset="-122"/>
                <a:cs typeface="Calibri" panose="020F0502020204030204" pitchFamily="34" charset="-120"/>
              </a:rPr>
              <a:t>Same treatment goal • Known tools • Different strategies for reaching a decision</a:t>
            </a:r>
            <a:endParaRPr lang="en-US" sz="1100" dirty="0"/>
          </a:p>
        </p:txBody>
      </p:sp>
      <p:sp>
        <p:nvSpPr>
          <p:cNvPr id="4" name="Shape 2"/>
          <p:cNvSpPr/>
          <p:nvPr/>
        </p:nvSpPr>
        <p:spPr>
          <a:xfrm>
            <a:off x="640080" y="1078992"/>
            <a:ext cx="10881360" cy="384048"/>
          </a:xfrm>
          <a:prstGeom prst="roundRect">
            <a:avLst>
              <a:gd name="adj" fmla="val 11905"/>
            </a:avLst>
          </a:prstGeom>
          <a:solidFill>
            <a:srgbClr val="0F2843"/>
          </a:solidFill>
        </p:spPr>
        <p:txBody>
          <a:bodyPr/>
          <a:p/>
        </p:txBody>
      </p:sp>
      <p:sp>
        <p:nvSpPr>
          <p:cNvPr id="5" name="Text 3"/>
          <p:cNvSpPr txBox="1"/>
          <p:nvPr/>
        </p:nvSpPr>
        <p:spPr>
          <a:xfrm>
            <a:off x="822960" y="1078992"/>
            <a:ext cx="10515600" cy="384048"/>
          </a:xfrm>
          <a:prstGeom prst="rect">
            <a:avLst/>
          </a:prstGeom>
          <a:noFill/>
        </p:spPr>
        <p:txBody>
          <a:bodyPr wrap="square" lIns="0" tIns="0" rIns="0" bIns="0" rtlCol="0" anchor="ctr"/>
          <a:lstStyle/>
          <a:p>
            <a:pPr marL="0" indent="0">
              <a:buNone/>
            </a:pPr>
            <a:r>
              <a:rPr lang="en-US" sz="1100" b="1" dirty="0">
                <a:solidFill>
                  <a:srgbClr val="E3E9F2"/>
                </a:solidFill>
                <a:latin typeface="Calibri" panose="020F0502020204030204" pitchFamily="34" charset="0"/>
                <a:ea typeface="Calibri" panose="020F0502020204030204" pitchFamily="34" charset="-122"/>
                <a:cs typeface="Calibri" panose="020F0502020204030204" pitchFamily="34" charset="-120"/>
              </a:rPr>
              <a:t>🧬  SAME TREATMENT GOAL:   Toxicity Risk  •  Pathology Alerts  •  Trial Inventory   →   Decide &amp; Act</a:t>
            </a:r>
            <a:endParaRPr lang="en-US" sz="1100" dirty="0"/>
          </a:p>
        </p:txBody>
      </p:sp>
      <p:sp>
        <p:nvSpPr>
          <p:cNvPr id="6" name="Shape 4"/>
          <p:cNvSpPr/>
          <p:nvPr/>
        </p:nvSpPr>
        <p:spPr>
          <a:xfrm>
            <a:off x="640080" y="1600200"/>
            <a:ext cx="2606040" cy="1417320"/>
          </a:xfrm>
          <a:prstGeom prst="roundRect">
            <a:avLst>
              <a:gd name="adj" fmla="val 3871"/>
            </a:avLst>
          </a:prstGeom>
          <a:solidFill>
            <a:srgbClr val="FFFFFF"/>
          </a:solidFill>
          <a:ln w="25400">
            <a:solidFill>
              <a:srgbClr val="FFB627"/>
            </a:solidFill>
            <a:prstDash val="solid"/>
          </a:ln>
        </p:spPr>
        <p:txBody>
          <a:bodyPr/>
          <a:p/>
        </p:txBody>
      </p:sp>
      <p:sp>
        <p:nvSpPr>
          <p:cNvPr id="7" name="Shape 5"/>
          <p:cNvSpPr/>
          <p:nvPr/>
        </p:nvSpPr>
        <p:spPr>
          <a:xfrm>
            <a:off x="777240" y="1709928"/>
            <a:ext cx="292608" cy="292608"/>
          </a:xfrm>
          <a:prstGeom prst="ellipse">
            <a:avLst/>
          </a:prstGeom>
          <a:solidFill>
            <a:srgbClr val="FFB627"/>
          </a:solidFill>
        </p:spPr>
        <p:txBody>
          <a:bodyPr/>
          <a:p/>
        </p:txBody>
      </p:sp>
      <p:sp>
        <p:nvSpPr>
          <p:cNvPr id="8" name="Text 6"/>
          <p:cNvSpPr txBox="1"/>
          <p:nvPr/>
        </p:nvSpPr>
        <p:spPr>
          <a:xfrm>
            <a:off x="777240" y="1709928"/>
            <a:ext cx="292608" cy="292608"/>
          </a:xfrm>
          <a:prstGeom prst="rect">
            <a:avLst/>
          </a:prstGeom>
          <a:noFill/>
        </p:spPr>
        <p:txBody>
          <a:bodyPr wrap="square" lIns="0" tIns="0" rIns="0" bIns="0" rtlCol="0" anchor="ctr"/>
          <a:lstStyle/>
          <a:p>
            <a:pPr marL="0" indent="0" algn="ctr">
              <a:buNone/>
            </a:pPr>
            <a:r>
              <a:rPr lang="en-US" sz="1100" b="1" dirty="0">
                <a:solidFill>
                  <a:srgbClr val="081527"/>
                </a:solidFill>
                <a:latin typeface="Calibri" panose="020F0502020204030204" pitchFamily="34" charset="0"/>
                <a:ea typeface="Calibri" panose="020F0502020204030204" pitchFamily="34" charset="-122"/>
                <a:cs typeface="Calibri" panose="020F0502020204030204" pitchFamily="34" charset="-120"/>
              </a:rPr>
              <a:t>1</a:t>
            </a:r>
            <a:endParaRPr lang="en-US" sz="1100" dirty="0"/>
          </a:p>
        </p:txBody>
      </p:sp>
      <p:sp>
        <p:nvSpPr>
          <p:cNvPr id="9" name="Text 7"/>
          <p:cNvSpPr txBox="1"/>
          <p:nvPr/>
        </p:nvSpPr>
        <p:spPr>
          <a:xfrm>
            <a:off x="2011680" y="1709928"/>
            <a:ext cx="1143000" cy="256032"/>
          </a:xfrm>
          <a:prstGeom prst="rect">
            <a:avLst/>
          </a:prstGeom>
          <a:noFill/>
        </p:spPr>
        <p:txBody>
          <a:bodyPr wrap="square" lIns="0" tIns="0" rIns="0" bIns="0" rtlCol="0" anchor="ctr"/>
          <a:lstStyle/>
          <a:p>
            <a:pPr marL="0" indent="0" algn="r">
              <a:buNone/>
            </a:pPr>
            <a:r>
              <a:rPr lang="en-US" sz="800" b="1" dirty="0">
                <a:solidFill>
                  <a:srgbClr val="F4A300"/>
                </a:solidFill>
                <a:latin typeface="Calibri" panose="020F0502020204030204" pitchFamily="34" charset="0"/>
                <a:ea typeface="Calibri" panose="020F0502020204030204" pitchFamily="34" charset="-122"/>
                <a:cs typeface="Calibri" panose="020F0502020204030204" pitchFamily="34" charset="-120"/>
              </a:rPr>
              <a:t>USED NEXT →</a:t>
            </a:r>
            <a:endParaRPr lang="en-US" sz="800" dirty="0"/>
          </a:p>
        </p:txBody>
      </p:sp>
      <p:sp>
        <p:nvSpPr>
          <p:cNvPr id="10" name="Text 8"/>
          <p:cNvSpPr txBox="1"/>
          <p:nvPr/>
        </p:nvSpPr>
        <p:spPr>
          <a:xfrm>
            <a:off x="777240" y="2020824"/>
            <a:ext cx="2331720" cy="274320"/>
          </a:xfrm>
          <a:prstGeom prst="rect">
            <a:avLst/>
          </a:prstGeom>
          <a:noFill/>
        </p:spPr>
        <p:txBody>
          <a:bodyPr wrap="square" lIns="0" tIns="0" rIns="0" bIns="0" rtlCol="0" anchor="ctr"/>
          <a:lstStyle/>
          <a:p>
            <a:pPr marL="0" indent="0">
              <a:buNone/>
            </a:pPr>
            <a:r>
              <a:rPr lang="en-US" sz="1150" b="1" dirty="0">
                <a:solidFill>
                  <a:srgbClr val="0F2843"/>
                </a:solidFill>
                <a:latin typeface="Calibri" panose="020F0502020204030204" pitchFamily="34" charset="0"/>
                <a:ea typeface="Calibri" panose="020F0502020204030204" pitchFamily="34" charset="-122"/>
                <a:cs typeface="Calibri" panose="020F0502020204030204" pitchFamily="34" charset="-120"/>
              </a:rPr>
              <a:t>ReAct</a:t>
            </a:r>
            <a:endParaRPr lang="en-US" sz="1150" dirty="0"/>
          </a:p>
        </p:txBody>
      </p:sp>
      <p:sp>
        <p:nvSpPr>
          <p:cNvPr id="11" name="Text 9"/>
          <p:cNvSpPr txBox="1"/>
          <p:nvPr/>
        </p:nvSpPr>
        <p:spPr>
          <a:xfrm>
            <a:off x="777240" y="2267712"/>
            <a:ext cx="2331720" cy="228600"/>
          </a:xfrm>
          <a:prstGeom prst="rect">
            <a:avLst/>
          </a:prstGeom>
          <a:noFill/>
        </p:spPr>
        <p:txBody>
          <a:bodyPr wrap="square" lIns="0" tIns="0" rIns="0" bIns="0" rtlCol="0" anchor="ctr"/>
          <a:lstStyle/>
          <a:p>
            <a:pPr marL="0" indent="0">
              <a:buNone/>
            </a:pPr>
            <a:r>
              <a:rPr lang="en-US" sz="850" b="1" dirty="0">
                <a:solidFill>
                  <a:srgbClr val="2A9D8F"/>
                </a:solidFill>
                <a:latin typeface="Calibri" panose="020F0502020204030204" pitchFamily="34" charset="0"/>
                <a:ea typeface="Calibri" panose="020F0502020204030204" pitchFamily="34" charset="-122"/>
                <a:cs typeface="Calibri" panose="020F0502020204030204" pitchFamily="34" charset="-120"/>
              </a:rPr>
              <a:t>INTERLEAVE THINK &amp; ACT</a:t>
            </a:r>
            <a:endParaRPr lang="en-US" sz="850" dirty="0"/>
          </a:p>
        </p:txBody>
      </p:sp>
      <p:sp>
        <p:nvSpPr>
          <p:cNvPr id="12" name="Text 10"/>
          <p:cNvSpPr txBox="1"/>
          <p:nvPr/>
        </p:nvSpPr>
        <p:spPr>
          <a:xfrm>
            <a:off x="777240" y="2487168"/>
            <a:ext cx="2331720" cy="320040"/>
          </a:xfrm>
          <a:prstGeom prst="rect">
            <a:avLst/>
          </a:prstGeom>
          <a:noFill/>
        </p:spPr>
        <p:txBody>
          <a:bodyPr wrap="square" lIns="0" tIns="0" rIns="0" bIns="0" rtlCol="0" anchor="ctr"/>
          <a:lstStyle/>
          <a:p>
            <a:pPr marL="0" indent="0">
              <a:buNone/>
            </a:pPr>
            <a:r>
              <a:rPr lang="en-US" sz="8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"What should I check, then do, next?"</a:t>
            </a:r>
            <a:endParaRPr lang="en-US" sz="850" dirty="0"/>
          </a:p>
        </p:txBody>
      </p:sp>
      <p:sp>
        <p:nvSpPr>
          <p:cNvPr id="13" name="Text 11"/>
          <p:cNvSpPr txBox="1"/>
          <p:nvPr/>
        </p:nvSpPr>
        <p:spPr>
          <a:xfrm>
            <a:off x="777240" y="2770632"/>
            <a:ext cx="2331720" cy="228600"/>
          </a:xfrm>
          <a:prstGeom prst="rect">
            <a:avLst/>
          </a:prstGeom>
          <a:noFill/>
        </p:spPr>
        <p:txBody>
          <a:bodyPr wrap="square" lIns="0" tIns="0" rIns="0" bIns="0" rtlCol="0" anchor="ctr"/>
          <a:lstStyle/>
          <a:p>
            <a:pPr marL="0" indent="0">
              <a:buNone/>
            </a:pPr>
            <a:r>
              <a:rPr lang="en-US" sz="800" b="1" dirty="0">
                <a:solidFill>
                  <a:srgbClr val="0F2843"/>
                </a:solidFill>
                <a:latin typeface="Calibri" panose="020F0502020204030204" pitchFamily="34" charset="0"/>
                <a:ea typeface="Calibri" panose="020F0502020204030204" pitchFamily="34" charset="-122"/>
                <a:cs typeface="Calibri" panose="020F0502020204030204" pitchFamily="34" charset="-120"/>
              </a:rPr>
              <a:t>OUTPUT → Tool call decided</a:t>
            </a:r>
            <a:endParaRPr lang="en-US" sz="800" dirty="0"/>
          </a:p>
        </p:txBody>
      </p:sp>
      <p:sp>
        <p:nvSpPr>
          <p:cNvPr id="14" name="Shape 12"/>
          <p:cNvSpPr/>
          <p:nvPr/>
        </p:nvSpPr>
        <p:spPr>
          <a:xfrm>
            <a:off x="3383280" y="1600200"/>
            <a:ext cx="2606040" cy="1417320"/>
          </a:xfrm>
          <a:prstGeom prst="roundRect">
            <a:avLst>
              <a:gd name="adj" fmla="val 3871"/>
            </a:avLst>
          </a:prstGeom>
          <a:solidFill>
            <a:srgbClr val="FFFFFF"/>
          </a:solidFill>
          <a:ln w="12700">
            <a:solidFill>
              <a:srgbClr val="EEF2F7"/>
            </a:solidFill>
            <a:prstDash val="solid"/>
          </a:ln>
        </p:spPr>
        <p:txBody>
          <a:bodyPr/>
          <a:p/>
        </p:txBody>
      </p:sp>
      <p:sp>
        <p:nvSpPr>
          <p:cNvPr id="15" name="Shape 13"/>
          <p:cNvSpPr/>
          <p:nvPr/>
        </p:nvSpPr>
        <p:spPr>
          <a:xfrm>
            <a:off x="3520440" y="1709928"/>
            <a:ext cx="292608" cy="292608"/>
          </a:xfrm>
          <a:prstGeom prst="ellipse">
            <a:avLst/>
          </a:prstGeom>
          <a:solidFill>
            <a:srgbClr val="0F2843"/>
          </a:solidFill>
        </p:spPr>
        <p:txBody>
          <a:bodyPr/>
          <a:p/>
        </p:txBody>
      </p:sp>
      <p:sp>
        <p:nvSpPr>
          <p:cNvPr id="16" name="Text 14"/>
          <p:cNvSpPr txBox="1"/>
          <p:nvPr/>
        </p:nvSpPr>
        <p:spPr>
          <a:xfrm>
            <a:off x="3520440" y="1709928"/>
            <a:ext cx="292608" cy="292608"/>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100" dirty="0"/>
          </a:p>
        </p:txBody>
      </p:sp>
      <p:sp>
        <p:nvSpPr>
          <p:cNvPr id="17" name="Text 15"/>
          <p:cNvSpPr txBox="1"/>
          <p:nvPr/>
        </p:nvSpPr>
        <p:spPr>
          <a:xfrm>
            <a:off x="3520440" y="2020824"/>
            <a:ext cx="2331720" cy="274320"/>
          </a:xfrm>
          <a:prstGeom prst="rect">
            <a:avLst/>
          </a:prstGeom>
          <a:noFill/>
        </p:spPr>
        <p:txBody>
          <a:bodyPr wrap="square" lIns="0" tIns="0" rIns="0" bIns="0" rtlCol="0" anchor="ctr"/>
          <a:lstStyle/>
          <a:p>
            <a:pPr marL="0" indent="0">
              <a:buNone/>
            </a:pPr>
            <a:r>
              <a:rPr lang="en-US" sz="1150" b="1" dirty="0">
                <a:solidFill>
                  <a:srgbClr val="0F2843"/>
                </a:solidFill>
                <a:latin typeface="Calibri" panose="020F0502020204030204" pitchFamily="34" charset="0"/>
                <a:ea typeface="Calibri" panose="020F0502020204030204" pitchFamily="34" charset="-122"/>
                <a:cs typeface="Calibri" panose="020F0502020204030204" pitchFamily="34" charset="-120"/>
              </a:rPr>
              <a:t>Plan-and-Execute</a:t>
            </a:r>
            <a:endParaRPr lang="en-US" sz="1150" dirty="0"/>
          </a:p>
        </p:txBody>
      </p:sp>
      <p:sp>
        <p:nvSpPr>
          <p:cNvPr id="18" name="Text 16"/>
          <p:cNvSpPr txBox="1"/>
          <p:nvPr/>
        </p:nvSpPr>
        <p:spPr>
          <a:xfrm>
            <a:off x="3520440" y="2267712"/>
            <a:ext cx="2331720" cy="228600"/>
          </a:xfrm>
          <a:prstGeom prst="rect">
            <a:avLst/>
          </a:prstGeom>
          <a:noFill/>
        </p:spPr>
        <p:txBody>
          <a:bodyPr wrap="square" lIns="0" tIns="0" rIns="0" bIns="0" rtlCol="0" anchor="ctr"/>
          <a:lstStyle/>
          <a:p>
            <a:pPr marL="0" indent="0">
              <a:buNone/>
            </a:pPr>
            <a:r>
              <a:rPr lang="en-US" sz="850" b="1" dirty="0">
                <a:solidFill>
                  <a:srgbClr val="2A9D8F"/>
                </a:solidFill>
                <a:latin typeface="Calibri" panose="020F0502020204030204" pitchFamily="34" charset="0"/>
                <a:ea typeface="Calibri" panose="020F0502020204030204" pitchFamily="34" charset="-122"/>
                <a:cs typeface="Calibri" panose="020F0502020204030204" pitchFamily="34" charset="-120"/>
              </a:rPr>
              <a:t>MAKE A FULL PLAN FIRST</a:t>
            </a:r>
            <a:endParaRPr lang="en-US" sz="850" dirty="0"/>
          </a:p>
        </p:txBody>
      </p:sp>
      <p:sp>
        <p:nvSpPr>
          <p:cNvPr id="19" name="Text 17"/>
          <p:cNvSpPr txBox="1"/>
          <p:nvPr/>
        </p:nvSpPr>
        <p:spPr>
          <a:xfrm>
            <a:off x="3520440" y="2487168"/>
            <a:ext cx="2331720" cy="320040"/>
          </a:xfrm>
          <a:prstGeom prst="rect">
            <a:avLst/>
          </a:prstGeom>
          <a:noFill/>
        </p:spPr>
        <p:txBody>
          <a:bodyPr wrap="square" lIns="0" tIns="0" rIns="0" bIns="0" rtlCol="0" anchor="ctr"/>
          <a:lstStyle/>
          <a:p>
            <a:pPr marL="0" indent="0">
              <a:buNone/>
            </a:pPr>
            <a:r>
              <a:rPr lang="en-US" sz="8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"What's the complete sequence of steps?"</a:t>
            </a:r>
            <a:endParaRPr lang="en-US" sz="850" dirty="0"/>
          </a:p>
        </p:txBody>
      </p:sp>
      <p:sp>
        <p:nvSpPr>
          <p:cNvPr id="20" name="Text 18"/>
          <p:cNvSpPr txBox="1"/>
          <p:nvPr/>
        </p:nvSpPr>
        <p:spPr>
          <a:xfrm>
            <a:off x="3520440" y="2770632"/>
            <a:ext cx="2331720" cy="228600"/>
          </a:xfrm>
          <a:prstGeom prst="rect">
            <a:avLst/>
          </a:prstGeom>
          <a:noFill/>
        </p:spPr>
        <p:txBody>
          <a:bodyPr wrap="square" lIns="0" tIns="0" rIns="0" bIns="0" rtlCol="0" anchor="ctr"/>
          <a:lstStyle/>
          <a:p>
            <a:pPr marL="0" indent="0">
              <a:buNone/>
            </a:pPr>
            <a:r>
              <a:rPr lang="en-US" sz="800" b="1" dirty="0">
                <a:solidFill>
                  <a:srgbClr val="0F2843"/>
                </a:solidFill>
                <a:latin typeface="Calibri" panose="020F0502020204030204" pitchFamily="34" charset="0"/>
                <a:ea typeface="Calibri" panose="020F0502020204030204" pitchFamily="34" charset="-122"/>
                <a:cs typeface="Calibri" panose="020F0502020204030204" pitchFamily="34" charset="-120"/>
              </a:rPr>
              <a:t>OUTPUT → Multi-step plan</a:t>
            </a:r>
            <a:endParaRPr lang="en-US" sz="800" dirty="0"/>
          </a:p>
        </p:txBody>
      </p:sp>
      <p:sp>
        <p:nvSpPr>
          <p:cNvPr id="21" name="Shape 19"/>
          <p:cNvSpPr/>
          <p:nvPr/>
        </p:nvSpPr>
        <p:spPr>
          <a:xfrm>
            <a:off x="6126480" y="1600200"/>
            <a:ext cx="2606040" cy="1417320"/>
          </a:xfrm>
          <a:prstGeom prst="roundRect">
            <a:avLst>
              <a:gd name="adj" fmla="val 3871"/>
            </a:avLst>
          </a:prstGeom>
          <a:solidFill>
            <a:srgbClr val="FFFFFF"/>
          </a:solidFill>
          <a:ln w="12700">
            <a:solidFill>
              <a:srgbClr val="EEF2F7"/>
            </a:solidFill>
            <a:prstDash val="solid"/>
          </a:ln>
        </p:spPr>
        <p:txBody>
          <a:bodyPr/>
          <a:p/>
        </p:txBody>
      </p:sp>
      <p:sp>
        <p:nvSpPr>
          <p:cNvPr id="22" name="Shape 20"/>
          <p:cNvSpPr/>
          <p:nvPr/>
        </p:nvSpPr>
        <p:spPr>
          <a:xfrm>
            <a:off x="6263640" y="1709928"/>
            <a:ext cx="292608" cy="292608"/>
          </a:xfrm>
          <a:prstGeom prst="ellipse">
            <a:avLst/>
          </a:prstGeom>
          <a:solidFill>
            <a:srgbClr val="0F2843"/>
          </a:solidFill>
        </p:spPr>
        <p:txBody>
          <a:bodyPr/>
          <a:p/>
        </p:txBody>
      </p:sp>
      <p:sp>
        <p:nvSpPr>
          <p:cNvPr id="23" name="Text 21"/>
          <p:cNvSpPr txBox="1"/>
          <p:nvPr/>
        </p:nvSpPr>
        <p:spPr>
          <a:xfrm>
            <a:off x="6263640" y="1709928"/>
            <a:ext cx="292608" cy="292608"/>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100" dirty="0"/>
          </a:p>
        </p:txBody>
      </p:sp>
      <p:sp>
        <p:nvSpPr>
          <p:cNvPr id="24" name="Text 22"/>
          <p:cNvSpPr txBox="1"/>
          <p:nvPr/>
        </p:nvSpPr>
        <p:spPr>
          <a:xfrm>
            <a:off x="6263640" y="2020824"/>
            <a:ext cx="2331720" cy="274320"/>
          </a:xfrm>
          <a:prstGeom prst="rect">
            <a:avLst/>
          </a:prstGeom>
          <a:noFill/>
        </p:spPr>
        <p:txBody>
          <a:bodyPr wrap="square" lIns="0" tIns="0" rIns="0" bIns="0" rtlCol="0" anchor="ctr"/>
          <a:lstStyle/>
          <a:p>
            <a:pPr marL="0" indent="0">
              <a:buNone/>
            </a:pPr>
            <a:r>
              <a:rPr lang="en-US" sz="1150" b="1" dirty="0">
                <a:solidFill>
                  <a:srgbClr val="0F2843"/>
                </a:solidFill>
                <a:latin typeface="Calibri" panose="020F0502020204030204" pitchFamily="34" charset="0"/>
                <a:ea typeface="Calibri" panose="020F0502020204030204" pitchFamily="34" charset="-122"/>
                <a:cs typeface="Calibri" panose="020F0502020204030204" pitchFamily="34" charset="-120"/>
              </a:rPr>
              <a:t>Reflexion</a:t>
            </a:r>
            <a:endParaRPr lang="en-US" sz="1150" dirty="0"/>
          </a:p>
        </p:txBody>
      </p:sp>
      <p:sp>
        <p:nvSpPr>
          <p:cNvPr id="25" name="Text 23"/>
          <p:cNvSpPr txBox="1"/>
          <p:nvPr/>
        </p:nvSpPr>
        <p:spPr>
          <a:xfrm>
            <a:off x="6263640" y="2267712"/>
            <a:ext cx="2331720" cy="228600"/>
          </a:xfrm>
          <a:prstGeom prst="rect">
            <a:avLst/>
          </a:prstGeom>
          <a:noFill/>
        </p:spPr>
        <p:txBody>
          <a:bodyPr wrap="square" lIns="0" tIns="0" rIns="0" bIns="0" rtlCol="0" anchor="ctr"/>
          <a:lstStyle/>
          <a:p>
            <a:pPr marL="0" indent="0">
              <a:buNone/>
            </a:pPr>
            <a:r>
              <a:rPr lang="en-US" sz="850" b="1" dirty="0">
                <a:solidFill>
                  <a:srgbClr val="2A9D8F"/>
                </a:solidFill>
                <a:latin typeface="Calibri" panose="020F0502020204030204" pitchFamily="34" charset="0"/>
                <a:ea typeface="Calibri" panose="020F0502020204030204" pitchFamily="34" charset="-122"/>
                <a:cs typeface="Calibri" panose="020F0502020204030204" pitchFamily="34" charset="-120"/>
              </a:rPr>
              <a:t>LEARN FROM ITS MISTAKES</a:t>
            </a:r>
            <a:endParaRPr lang="en-US" sz="850" dirty="0"/>
          </a:p>
        </p:txBody>
      </p:sp>
      <p:sp>
        <p:nvSpPr>
          <p:cNvPr id="26" name="Text 24"/>
          <p:cNvSpPr txBox="1"/>
          <p:nvPr/>
        </p:nvSpPr>
        <p:spPr>
          <a:xfrm>
            <a:off x="6263640" y="2487168"/>
            <a:ext cx="2331720" cy="320040"/>
          </a:xfrm>
          <a:prstGeom prst="rect">
            <a:avLst/>
          </a:prstGeom>
          <a:noFill/>
        </p:spPr>
        <p:txBody>
          <a:bodyPr wrap="square" lIns="0" tIns="0" rIns="0" bIns="0" rtlCol="0" anchor="ctr"/>
          <a:lstStyle/>
          <a:p>
            <a:pPr marL="0" indent="0">
              <a:buNone/>
            </a:pPr>
            <a:r>
              <a:rPr lang="en-US" sz="8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"What went wrong last attempt?"</a:t>
            </a:r>
            <a:endParaRPr lang="en-US" sz="850" dirty="0"/>
          </a:p>
        </p:txBody>
      </p:sp>
      <p:sp>
        <p:nvSpPr>
          <p:cNvPr id="27" name="Text 25"/>
          <p:cNvSpPr txBox="1"/>
          <p:nvPr/>
        </p:nvSpPr>
        <p:spPr>
          <a:xfrm>
            <a:off x="6263640" y="2770632"/>
            <a:ext cx="2331720" cy="228600"/>
          </a:xfrm>
          <a:prstGeom prst="rect">
            <a:avLst/>
          </a:prstGeom>
          <a:noFill/>
        </p:spPr>
        <p:txBody>
          <a:bodyPr wrap="square" lIns="0" tIns="0" rIns="0" bIns="0" rtlCol="0" anchor="ctr"/>
          <a:lstStyle/>
          <a:p>
            <a:pPr marL="0" indent="0">
              <a:buNone/>
            </a:pPr>
            <a:r>
              <a:rPr lang="en-US" sz="800" b="1" dirty="0">
                <a:solidFill>
                  <a:srgbClr val="0F2843"/>
                </a:solidFill>
                <a:latin typeface="Calibri" panose="020F0502020204030204" pitchFamily="34" charset="0"/>
                <a:ea typeface="Calibri" panose="020F0502020204030204" pitchFamily="34" charset="-122"/>
                <a:cs typeface="Calibri" panose="020F0502020204030204" pitchFamily="34" charset="-120"/>
              </a:rPr>
              <a:t>OUTPUT → Revised action</a:t>
            </a:r>
            <a:endParaRPr lang="en-US" sz="800" dirty="0"/>
          </a:p>
        </p:txBody>
      </p:sp>
      <p:sp>
        <p:nvSpPr>
          <p:cNvPr id="28" name="Shape 26"/>
          <p:cNvSpPr/>
          <p:nvPr/>
        </p:nvSpPr>
        <p:spPr>
          <a:xfrm>
            <a:off x="8869680" y="1600200"/>
            <a:ext cx="2606040" cy="1417320"/>
          </a:xfrm>
          <a:prstGeom prst="roundRect">
            <a:avLst>
              <a:gd name="adj" fmla="val 3871"/>
            </a:avLst>
          </a:prstGeom>
          <a:solidFill>
            <a:srgbClr val="FFFFFF"/>
          </a:solidFill>
          <a:ln w="12700">
            <a:solidFill>
              <a:srgbClr val="EEF2F7"/>
            </a:solidFill>
            <a:prstDash val="solid"/>
          </a:ln>
        </p:spPr>
        <p:txBody>
          <a:bodyPr/>
          <a:p/>
        </p:txBody>
      </p:sp>
      <p:sp>
        <p:nvSpPr>
          <p:cNvPr id="29" name="Shape 27"/>
          <p:cNvSpPr/>
          <p:nvPr/>
        </p:nvSpPr>
        <p:spPr>
          <a:xfrm>
            <a:off x="9006840" y="1709928"/>
            <a:ext cx="292608" cy="292608"/>
          </a:xfrm>
          <a:prstGeom prst="ellipse">
            <a:avLst/>
          </a:prstGeom>
          <a:solidFill>
            <a:srgbClr val="0F2843"/>
          </a:solidFill>
        </p:spPr>
        <p:txBody>
          <a:bodyPr/>
          <a:p/>
        </p:txBody>
      </p:sp>
      <p:sp>
        <p:nvSpPr>
          <p:cNvPr id="30" name="Text 28"/>
          <p:cNvSpPr txBox="1"/>
          <p:nvPr/>
        </p:nvSpPr>
        <p:spPr>
          <a:xfrm>
            <a:off x="9006840" y="1709928"/>
            <a:ext cx="292608" cy="292608"/>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100" dirty="0"/>
          </a:p>
        </p:txBody>
      </p:sp>
      <p:sp>
        <p:nvSpPr>
          <p:cNvPr id="31" name="Text 29"/>
          <p:cNvSpPr txBox="1"/>
          <p:nvPr/>
        </p:nvSpPr>
        <p:spPr>
          <a:xfrm>
            <a:off x="9006840" y="2020824"/>
            <a:ext cx="2331720" cy="274320"/>
          </a:xfrm>
          <a:prstGeom prst="rect">
            <a:avLst/>
          </a:prstGeom>
          <a:noFill/>
        </p:spPr>
        <p:txBody>
          <a:bodyPr wrap="square" lIns="0" tIns="0" rIns="0" bIns="0" rtlCol="0" anchor="ctr"/>
          <a:lstStyle/>
          <a:p>
            <a:pPr marL="0" indent="0">
              <a:buNone/>
            </a:pPr>
            <a:r>
              <a:rPr lang="en-US" sz="1150" b="1" dirty="0">
                <a:solidFill>
                  <a:srgbClr val="0F2843"/>
                </a:solidFill>
                <a:latin typeface="Calibri" panose="020F0502020204030204" pitchFamily="34" charset="0"/>
                <a:ea typeface="Calibri" panose="020F0502020204030204" pitchFamily="34" charset="-122"/>
                <a:cs typeface="Calibri" panose="020F0502020204030204" pitchFamily="34" charset="-120"/>
              </a:rPr>
              <a:t>Tree of Thoughts</a:t>
            </a:r>
            <a:endParaRPr lang="en-US" sz="1150" dirty="0"/>
          </a:p>
        </p:txBody>
      </p:sp>
      <p:sp>
        <p:nvSpPr>
          <p:cNvPr id="32" name="Text 30"/>
          <p:cNvSpPr txBox="1"/>
          <p:nvPr/>
        </p:nvSpPr>
        <p:spPr>
          <a:xfrm>
            <a:off x="9006840" y="2267712"/>
            <a:ext cx="2331720" cy="228600"/>
          </a:xfrm>
          <a:prstGeom prst="rect">
            <a:avLst/>
          </a:prstGeom>
          <a:noFill/>
        </p:spPr>
        <p:txBody>
          <a:bodyPr wrap="square" lIns="0" tIns="0" rIns="0" bIns="0" rtlCol="0" anchor="ctr"/>
          <a:lstStyle/>
          <a:p>
            <a:pPr marL="0" indent="0">
              <a:buNone/>
            </a:pPr>
            <a:r>
              <a:rPr lang="en-US" sz="850" b="1" dirty="0">
                <a:solidFill>
                  <a:srgbClr val="2A9D8F"/>
                </a:solidFill>
                <a:latin typeface="Calibri" panose="020F0502020204030204" pitchFamily="34" charset="0"/>
                <a:ea typeface="Calibri" panose="020F0502020204030204" pitchFamily="34" charset="-122"/>
                <a:cs typeface="Calibri" panose="020F0502020204030204" pitchFamily="34" charset="-120"/>
              </a:rPr>
              <a:t>EXPLORE MULTIPLE PATHS</a:t>
            </a:r>
            <a:endParaRPr lang="en-US" sz="850" dirty="0"/>
          </a:p>
        </p:txBody>
      </p:sp>
      <p:sp>
        <p:nvSpPr>
          <p:cNvPr id="33" name="Text 31"/>
          <p:cNvSpPr txBox="1"/>
          <p:nvPr/>
        </p:nvSpPr>
        <p:spPr>
          <a:xfrm>
            <a:off x="9006840" y="2487168"/>
            <a:ext cx="2331720" cy="320040"/>
          </a:xfrm>
          <a:prstGeom prst="rect">
            <a:avLst/>
          </a:prstGeom>
          <a:noFill/>
        </p:spPr>
        <p:txBody>
          <a:bodyPr wrap="square" lIns="0" tIns="0" rIns="0" bIns="0" rtlCol="0" anchor="ctr"/>
          <a:lstStyle/>
          <a:p>
            <a:pPr marL="0" indent="0">
              <a:buNone/>
            </a:pPr>
            <a:r>
              <a:rPr lang="en-US" sz="8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"Which branch of options is best?"</a:t>
            </a:r>
            <a:endParaRPr lang="en-US" sz="850" dirty="0"/>
          </a:p>
        </p:txBody>
      </p:sp>
      <p:sp>
        <p:nvSpPr>
          <p:cNvPr id="34" name="Text 32"/>
          <p:cNvSpPr txBox="1"/>
          <p:nvPr/>
        </p:nvSpPr>
        <p:spPr>
          <a:xfrm>
            <a:off x="9006840" y="2770632"/>
            <a:ext cx="2331720" cy="228600"/>
          </a:xfrm>
          <a:prstGeom prst="rect">
            <a:avLst/>
          </a:prstGeom>
          <a:noFill/>
        </p:spPr>
        <p:txBody>
          <a:bodyPr wrap="square" lIns="0" tIns="0" rIns="0" bIns="0" rtlCol="0" anchor="ctr"/>
          <a:lstStyle/>
          <a:p>
            <a:pPr marL="0" indent="0">
              <a:buNone/>
            </a:pPr>
            <a:r>
              <a:rPr lang="en-US" sz="800" b="1" dirty="0">
                <a:solidFill>
                  <a:srgbClr val="0F2843"/>
                </a:solidFill>
                <a:latin typeface="Calibri" panose="020F0502020204030204" pitchFamily="34" charset="0"/>
                <a:ea typeface="Calibri" panose="020F0502020204030204" pitchFamily="34" charset="-122"/>
                <a:cs typeface="Calibri" panose="020F0502020204030204" pitchFamily="34" charset="-120"/>
              </a:rPr>
              <a:t>OUTPUT → Best path chosen</a:t>
            </a:r>
            <a:endParaRPr lang="en-US" sz="800" dirty="0"/>
          </a:p>
        </p:txBody>
      </p:sp>
      <p:sp>
        <p:nvSpPr>
          <p:cNvPr id="35" name="Shape 33"/>
          <p:cNvSpPr/>
          <p:nvPr/>
        </p:nvSpPr>
        <p:spPr>
          <a:xfrm>
            <a:off x="640080" y="3154680"/>
            <a:ext cx="2606040" cy="1417320"/>
          </a:xfrm>
          <a:prstGeom prst="roundRect">
            <a:avLst>
              <a:gd name="adj" fmla="val 3871"/>
            </a:avLst>
          </a:prstGeom>
          <a:solidFill>
            <a:srgbClr val="FFFFFF"/>
          </a:solidFill>
          <a:ln w="12700">
            <a:solidFill>
              <a:srgbClr val="EEF2F7"/>
            </a:solidFill>
            <a:prstDash val="solid"/>
          </a:ln>
        </p:spPr>
        <p:txBody>
          <a:bodyPr/>
          <a:p/>
        </p:txBody>
      </p:sp>
      <p:sp>
        <p:nvSpPr>
          <p:cNvPr id="36" name="Shape 34"/>
          <p:cNvSpPr/>
          <p:nvPr/>
        </p:nvSpPr>
        <p:spPr>
          <a:xfrm>
            <a:off x="777240" y="3264408"/>
            <a:ext cx="292608" cy="292608"/>
          </a:xfrm>
          <a:prstGeom prst="ellipse">
            <a:avLst/>
          </a:prstGeom>
          <a:solidFill>
            <a:srgbClr val="0F2843"/>
          </a:solidFill>
        </p:spPr>
        <p:txBody>
          <a:bodyPr/>
          <a:p/>
        </p:txBody>
      </p:sp>
      <p:sp>
        <p:nvSpPr>
          <p:cNvPr id="37" name="Text 35"/>
          <p:cNvSpPr txBox="1"/>
          <p:nvPr/>
        </p:nvSpPr>
        <p:spPr>
          <a:xfrm>
            <a:off x="777240" y="3264408"/>
            <a:ext cx="292608" cy="292608"/>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100" dirty="0"/>
          </a:p>
        </p:txBody>
      </p:sp>
      <p:sp>
        <p:nvSpPr>
          <p:cNvPr id="38" name="Text 36"/>
          <p:cNvSpPr txBox="1"/>
          <p:nvPr/>
        </p:nvSpPr>
        <p:spPr>
          <a:xfrm>
            <a:off x="777240" y="3575304"/>
            <a:ext cx="2331720" cy="274320"/>
          </a:xfrm>
          <a:prstGeom prst="rect">
            <a:avLst/>
          </a:prstGeom>
          <a:noFill/>
        </p:spPr>
        <p:txBody>
          <a:bodyPr wrap="square" lIns="0" tIns="0" rIns="0" bIns="0" rtlCol="0" anchor="ctr"/>
          <a:lstStyle/>
          <a:p>
            <a:pPr marL="0" indent="0">
              <a:buNone/>
            </a:pPr>
            <a:r>
              <a:rPr lang="en-US" sz="1150" b="1" dirty="0">
                <a:solidFill>
                  <a:srgbClr val="0F2843"/>
                </a:solidFill>
                <a:latin typeface="Calibri" panose="020F0502020204030204" pitchFamily="34" charset="0"/>
                <a:ea typeface="Calibri" panose="020F0502020204030204" pitchFamily="34" charset="-122"/>
                <a:cs typeface="Calibri" panose="020F0502020204030204" pitchFamily="34" charset="-120"/>
              </a:rPr>
              <a:t>Function / Tool Calling</a:t>
            </a:r>
            <a:endParaRPr lang="en-US" sz="1150" dirty="0"/>
          </a:p>
        </p:txBody>
      </p:sp>
      <p:sp>
        <p:nvSpPr>
          <p:cNvPr id="39" name="Text 37"/>
          <p:cNvSpPr txBox="1"/>
          <p:nvPr/>
        </p:nvSpPr>
        <p:spPr>
          <a:xfrm>
            <a:off x="777240" y="3822192"/>
            <a:ext cx="2331720" cy="228600"/>
          </a:xfrm>
          <a:prstGeom prst="rect">
            <a:avLst/>
          </a:prstGeom>
          <a:noFill/>
        </p:spPr>
        <p:txBody>
          <a:bodyPr wrap="square" lIns="0" tIns="0" rIns="0" bIns="0" rtlCol="0" anchor="ctr"/>
          <a:lstStyle/>
          <a:p>
            <a:pPr marL="0" indent="0">
              <a:buNone/>
            </a:pPr>
            <a:r>
              <a:rPr lang="en-US" sz="850" b="1" dirty="0">
                <a:solidFill>
                  <a:srgbClr val="2A9D8F"/>
                </a:solidFill>
                <a:latin typeface="Calibri" panose="020F0502020204030204" pitchFamily="34" charset="0"/>
                <a:ea typeface="Calibri" panose="020F0502020204030204" pitchFamily="34" charset="-122"/>
                <a:cs typeface="Calibri" panose="020F0502020204030204" pitchFamily="34" charset="-120"/>
              </a:rPr>
              <a:t>INVOKE EXTERNAL TOOLS</a:t>
            </a:r>
            <a:endParaRPr lang="en-US" sz="850" dirty="0"/>
          </a:p>
        </p:txBody>
      </p:sp>
      <p:sp>
        <p:nvSpPr>
          <p:cNvPr id="40" name="Text 38"/>
          <p:cNvSpPr txBox="1"/>
          <p:nvPr/>
        </p:nvSpPr>
        <p:spPr>
          <a:xfrm>
            <a:off x="777240" y="4041648"/>
            <a:ext cx="2331720" cy="320040"/>
          </a:xfrm>
          <a:prstGeom prst="rect">
            <a:avLst/>
          </a:prstGeom>
          <a:noFill/>
        </p:spPr>
        <p:txBody>
          <a:bodyPr wrap="square" lIns="0" tIns="0" rIns="0" bIns="0" rtlCol="0" anchor="ctr"/>
          <a:lstStyle/>
          <a:p>
            <a:pPr marL="0" indent="0">
              <a:buNone/>
            </a:pPr>
            <a:r>
              <a:rPr lang="en-US" sz="8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"Which API do I need right now?"</a:t>
            </a:r>
            <a:endParaRPr lang="en-US" sz="850" dirty="0"/>
          </a:p>
        </p:txBody>
      </p:sp>
      <p:sp>
        <p:nvSpPr>
          <p:cNvPr id="41" name="Text 39"/>
          <p:cNvSpPr txBox="1"/>
          <p:nvPr/>
        </p:nvSpPr>
        <p:spPr>
          <a:xfrm>
            <a:off x="777240" y="4325112"/>
            <a:ext cx="2331720" cy="228600"/>
          </a:xfrm>
          <a:prstGeom prst="rect">
            <a:avLst/>
          </a:prstGeom>
          <a:noFill/>
        </p:spPr>
        <p:txBody>
          <a:bodyPr wrap="square" lIns="0" tIns="0" rIns="0" bIns="0" rtlCol="0" anchor="ctr"/>
          <a:lstStyle/>
          <a:p>
            <a:pPr marL="0" indent="0">
              <a:buNone/>
            </a:pPr>
            <a:r>
              <a:rPr lang="en-US" sz="800" b="1" dirty="0">
                <a:solidFill>
                  <a:srgbClr val="0F2843"/>
                </a:solidFill>
                <a:latin typeface="Calibri" panose="020F0502020204030204" pitchFamily="34" charset="0"/>
                <a:ea typeface="Calibri" panose="020F0502020204030204" pitchFamily="34" charset="-122"/>
                <a:cs typeface="Calibri" panose="020F0502020204030204" pitchFamily="34" charset="-120"/>
              </a:rPr>
              <a:t>OUTPUT → Tool executed</a:t>
            </a:r>
            <a:endParaRPr lang="en-US" sz="800" dirty="0"/>
          </a:p>
        </p:txBody>
      </p:sp>
      <p:sp>
        <p:nvSpPr>
          <p:cNvPr id="42" name="Shape 40"/>
          <p:cNvSpPr/>
          <p:nvPr/>
        </p:nvSpPr>
        <p:spPr>
          <a:xfrm>
            <a:off x="3383280" y="3154680"/>
            <a:ext cx="2606040" cy="1417320"/>
          </a:xfrm>
          <a:prstGeom prst="roundRect">
            <a:avLst>
              <a:gd name="adj" fmla="val 3871"/>
            </a:avLst>
          </a:prstGeom>
          <a:solidFill>
            <a:srgbClr val="FFFFFF"/>
          </a:solidFill>
          <a:ln w="12700">
            <a:solidFill>
              <a:srgbClr val="EEF2F7"/>
            </a:solidFill>
            <a:prstDash val="solid"/>
          </a:ln>
        </p:spPr>
        <p:txBody>
          <a:bodyPr/>
          <a:p/>
        </p:txBody>
      </p:sp>
      <p:sp>
        <p:nvSpPr>
          <p:cNvPr id="43" name="Shape 41"/>
          <p:cNvSpPr/>
          <p:nvPr/>
        </p:nvSpPr>
        <p:spPr>
          <a:xfrm>
            <a:off x="3520440" y="3264408"/>
            <a:ext cx="292608" cy="292608"/>
          </a:xfrm>
          <a:prstGeom prst="ellipse">
            <a:avLst/>
          </a:prstGeom>
          <a:solidFill>
            <a:srgbClr val="0F2843"/>
          </a:solidFill>
        </p:spPr>
        <p:txBody>
          <a:bodyPr/>
          <a:p/>
        </p:txBody>
      </p:sp>
      <p:sp>
        <p:nvSpPr>
          <p:cNvPr id="44" name="Text 42"/>
          <p:cNvSpPr txBox="1"/>
          <p:nvPr/>
        </p:nvSpPr>
        <p:spPr>
          <a:xfrm>
            <a:off x="3520440" y="3264408"/>
            <a:ext cx="292608" cy="292608"/>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100" dirty="0"/>
          </a:p>
        </p:txBody>
      </p:sp>
      <p:sp>
        <p:nvSpPr>
          <p:cNvPr id="45" name="Text 43"/>
          <p:cNvSpPr txBox="1"/>
          <p:nvPr/>
        </p:nvSpPr>
        <p:spPr>
          <a:xfrm>
            <a:off x="3520440" y="3575304"/>
            <a:ext cx="2331720" cy="274320"/>
          </a:xfrm>
          <a:prstGeom prst="rect">
            <a:avLst/>
          </a:prstGeom>
          <a:noFill/>
        </p:spPr>
        <p:txBody>
          <a:bodyPr wrap="square" lIns="0" tIns="0" rIns="0" bIns="0" rtlCol="0" anchor="ctr"/>
          <a:lstStyle/>
          <a:p>
            <a:pPr marL="0" indent="0">
              <a:buNone/>
            </a:pPr>
            <a:r>
              <a:rPr lang="en-US" sz="1150" b="1" dirty="0">
                <a:solidFill>
                  <a:srgbClr val="0F2843"/>
                </a:solidFill>
                <a:latin typeface="Calibri" panose="020F0502020204030204" pitchFamily="34" charset="0"/>
                <a:ea typeface="Calibri" panose="020F0502020204030204" pitchFamily="34" charset="-122"/>
                <a:cs typeface="Calibri" panose="020F0502020204030204" pitchFamily="34" charset="-120"/>
              </a:rPr>
              <a:t>Memory-Augmented Agent</a:t>
            </a:r>
            <a:endParaRPr lang="en-US" sz="1150" dirty="0"/>
          </a:p>
        </p:txBody>
      </p:sp>
      <p:sp>
        <p:nvSpPr>
          <p:cNvPr id="46" name="Text 44"/>
          <p:cNvSpPr txBox="1"/>
          <p:nvPr/>
        </p:nvSpPr>
        <p:spPr>
          <a:xfrm>
            <a:off x="3520440" y="3822192"/>
            <a:ext cx="2331720" cy="228600"/>
          </a:xfrm>
          <a:prstGeom prst="rect">
            <a:avLst/>
          </a:prstGeom>
          <a:noFill/>
        </p:spPr>
        <p:txBody>
          <a:bodyPr wrap="square" lIns="0" tIns="0" rIns="0" bIns="0" rtlCol="0" anchor="ctr"/>
          <a:lstStyle/>
          <a:p>
            <a:pPr marL="0" indent="0">
              <a:buNone/>
            </a:pPr>
            <a:r>
              <a:rPr lang="en-US" sz="850" b="1" dirty="0">
                <a:solidFill>
                  <a:srgbClr val="2A9D8F"/>
                </a:solidFill>
                <a:latin typeface="Calibri" panose="020F0502020204030204" pitchFamily="34" charset="0"/>
                <a:ea typeface="Calibri" panose="020F0502020204030204" pitchFamily="34" charset="-122"/>
                <a:cs typeface="Calibri" panose="020F0502020204030204" pitchFamily="34" charset="-120"/>
              </a:rPr>
              <a:t>RECALL PAST CONTEXT</a:t>
            </a:r>
            <a:endParaRPr lang="en-US" sz="850" dirty="0"/>
          </a:p>
        </p:txBody>
      </p:sp>
      <p:sp>
        <p:nvSpPr>
          <p:cNvPr id="47" name="Text 45"/>
          <p:cNvSpPr txBox="1"/>
          <p:nvPr/>
        </p:nvSpPr>
        <p:spPr>
          <a:xfrm>
            <a:off x="3520440" y="4041648"/>
            <a:ext cx="2331720" cy="320040"/>
          </a:xfrm>
          <a:prstGeom prst="rect">
            <a:avLst/>
          </a:prstGeom>
          <a:noFill/>
        </p:spPr>
        <p:txBody>
          <a:bodyPr wrap="square" lIns="0" tIns="0" rIns="0" bIns="0" rtlCol="0" anchor="ctr"/>
          <a:lstStyle/>
          <a:p>
            <a:pPr marL="0" indent="0">
              <a:buNone/>
            </a:pPr>
            <a:r>
              <a:rPr lang="en-US" sz="8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"What happened in similar past cases?"</a:t>
            </a:r>
            <a:endParaRPr lang="en-US" sz="850" dirty="0"/>
          </a:p>
        </p:txBody>
      </p:sp>
      <p:sp>
        <p:nvSpPr>
          <p:cNvPr id="48" name="Text 46"/>
          <p:cNvSpPr txBox="1"/>
          <p:nvPr/>
        </p:nvSpPr>
        <p:spPr>
          <a:xfrm>
            <a:off x="3520440" y="4325112"/>
            <a:ext cx="2331720" cy="228600"/>
          </a:xfrm>
          <a:prstGeom prst="rect">
            <a:avLst/>
          </a:prstGeom>
          <a:noFill/>
        </p:spPr>
        <p:txBody>
          <a:bodyPr wrap="square" lIns="0" tIns="0" rIns="0" bIns="0" rtlCol="0" anchor="ctr"/>
          <a:lstStyle/>
          <a:p>
            <a:pPr marL="0" indent="0">
              <a:buNone/>
            </a:pPr>
            <a:r>
              <a:rPr lang="en-US" sz="800" b="1" dirty="0">
                <a:solidFill>
                  <a:srgbClr val="0F2843"/>
                </a:solidFill>
                <a:latin typeface="Calibri" panose="020F0502020204030204" pitchFamily="34" charset="0"/>
                <a:ea typeface="Calibri" panose="020F0502020204030204" pitchFamily="34" charset="-122"/>
                <a:cs typeface="Calibri" panose="020F0502020204030204" pitchFamily="34" charset="-120"/>
              </a:rPr>
              <a:t>OUTPUT → Precedent retrieved</a:t>
            </a:r>
            <a:endParaRPr lang="en-US" sz="800" dirty="0"/>
          </a:p>
        </p:txBody>
      </p:sp>
      <p:sp>
        <p:nvSpPr>
          <p:cNvPr id="49" name="Shape 47"/>
          <p:cNvSpPr/>
          <p:nvPr/>
        </p:nvSpPr>
        <p:spPr>
          <a:xfrm>
            <a:off x="6126480" y="3154680"/>
            <a:ext cx="2606040" cy="1417320"/>
          </a:xfrm>
          <a:prstGeom prst="roundRect">
            <a:avLst>
              <a:gd name="adj" fmla="val 3871"/>
            </a:avLst>
          </a:prstGeom>
          <a:solidFill>
            <a:srgbClr val="FFFFFF"/>
          </a:solidFill>
          <a:ln w="12700">
            <a:solidFill>
              <a:srgbClr val="EEF2F7"/>
            </a:solidFill>
            <a:prstDash val="solid"/>
          </a:ln>
        </p:spPr>
        <p:txBody>
          <a:bodyPr/>
          <a:p/>
        </p:txBody>
      </p:sp>
      <p:sp>
        <p:nvSpPr>
          <p:cNvPr id="50" name="Shape 48"/>
          <p:cNvSpPr/>
          <p:nvPr/>
        </p:nvSpPr>
        <p:spPr>
          <a:xfrm>
            <a:off x="6263640" y="3264408"/>
            <a:ext cx="292608" cy="292608"/>
          </a:xfrm>
          <a:prstGeom prst="ellipse">
            <a:avLst/>
          </a:prstGeom>
          <a:solidFill>
            <a:srgbClr val="0F2843"/>
          </a:solidFill>
        </p:spPr>
        <p:txBody>
          <a:bodyPr/>
          <a:p/>
        </p:txBody>
      </p:sp>
      <p:sp>
        <p:nvSpPr>
          <p:cNvPr id="51" name="Text 49"/>
          <p:cNvSpPr txBox="1"/>
          <p:nvPr/>
        </p:nvSpPr>
        <p:spPr>
          <a:xfrm>
            <a:off x="6263640" y="3264408"/>
            <a:ext cx="292608" cy="292608"/>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7</a:t>
            </a:r>
            <a:endParaRPr lang="en-US" sz="1100" dirty="0"/>
          </a:p>
        </p:txBody>
      </p:sp>
      <p:sp>
        <p:nvSpPr>
          <p:cNvPr id="52" name="Text 50"/>
          <p:cNvSpPr txBox="1"/>
          <p:nvPr/>
        </p:nvSpPr>
        <p:spPr>
          <a:xfrm>
            <a:off x="6263640" y="3575304"/>
            <a:ext cx="2331720" cy="274320"/>
          </a:xfrm>
          <a:prstGeom prst="rect">
            <a:avLst/>
          </a:prstGeom>
          <a:noFill/>
        </p:spPr>
        <p:txBody>
          <a:bodyPr wrap="square" lIns="0" tIns="0" rIns="0" bIns="0" rtlCol="0" anchor="ctr"/>
          <a:lstStyle/>
          <a:p>
            <a:pPr marL="0" indent="0">
              <a:buNone/>
            </a:pPr>
            <a:r>
              <a:rPr lang="en-US" sz="1150" b="1" dirty="0">
                <a:solidFill>
                  <a:srgbClr val="0F2843"/>
                </a:solidFill>
                <a:latin typeface="Calibri" panose="020F0502020204030204" pitchFamily="34" charset="0"/>
                <a:ea typeface="Calibri" panose="020F0502020204030204" pitchFamily="34" charset="-122"/>
                <a:cs typeface="Calibri" panose="020F0502020204030204" pitchFamily="34" charset="-120"/>
              </a:rPr>
              <a:t>Multi-Agent Debate</a:t>
            </a:r>
            <a:endParaRPr lang="en-US" sz="1150" dirty="0"/>
          </a:p>
        </p:txBody>
      </p:sp>
      <p:sp>
        <p:nvSpPr>
          <p:cNvPr id="53" name="Text 51"/>
          <p:cNvSpPr txBox="1"/>
          <p:nvPr/>
        </p:nvSpPr>
        <p:spPr>
          <a:xfrm>
            <a:off x="6263640" y="3822192"/>
            <a:ext cx="2331720" cy="228600"/>
          </a:xfrm>
          <a:prstGeom prst="rect">
            <a:avLst/>
          </a:prstGeom>
          <a:noFill/>
        </p:spPr>
        <p:txBody>
          <a:bodyPr wrap="square" lIns="0" tIns="0" rIns="0" bIns="0" rtlCol="0" anchor="ctr"/>
          <a:lstStyle/>
          <a:p>
            <a:pPr marL="0" indent="0">
              <a:buNone/>
            </a:pPr>
            <a:r>
              <a:rPr lang="en-US" sz="850" b="1" dirty="0">
                <a:solidFill>
                  <a:srgbClr val="2A9D8F"/>
                </a:solidFill>
                <a:latin typeface="Calibri" panose="020F0502020204030204" pitchFamily="34" charset="0"/>
                <a:ea typeface="Calibri" panose="020F0502020204030204" pitchFamily="34" charset="-122"/>
                <a:cs typeface="Calibri" panose="020F0502020204030204" pitchFamily="34" charset="-120"/>
              </a:rPr>
              <a:t>AGENTS CHALLENGE EACH OTHER</a:t>
            </a:r>
            <a:endParaRPr lang="en-US" sz="850" dirty="0"/>
          </a:p>
        </p:txBody>
      </p:sp>
      <p:sp>
        <p:nvSpPr>
          <p:cNvPr id="54" name="Text 52"/>
          <p:cNvSpPr txBox="1"/>
          <p:nvPr/>
        </p:nvSpPr>
        <p:spPr>
          <a:xfrm>
            <a:off x="6263640" y="4041648"/>
            <a:ext cx="2331720" cy="320040"/>
          </a:xfrm>
          <a:prstGeom prst="rect">
            <a:avLst/>
          </a:prstGeom>
          <a:noFill/>
        </p:spPr>
        <p:txBody>
          <a:bodyPr wrap="square" lIns="0" tIns="0" rIns="0" bIns="0" rtlCol="0" anchor="ctr"/>
          <a:lstStyle/>
          <a:p>
            <a:pPr marL="0" indent="0">
              <a:buNone/>
            </a:pPr>
            <a:r>
              <a:rPr lang="en-US" sz="850" i="1" dirty="0">
                <a:solidFill>
                  <a:srgbClr val="5B6B82"/>
                </a:solidFill>
                <a:latin typeface="Calibri" panose="020F0502020204030204" pitchFamily="34" charset="0"/>
                <a:ea typeface="Calibri" panose="020F0502020204030204" pitchFamily="34" charset="-122"/>
                <a:cs typeface="Calibri" panose="020F0502020204030204" pitchFamily="34" charset="-120"/>
              </a:rPr>
              <a:t>"Do the agents agree on the plan?"</a:t>
            </a:r>
            <a:endParaRPr lang="en-US" sz="850" dirty="0"/>
          </a:p>
        </p:txBody>
      </p:sp>
      <p:sp>
        <p:nvSpPr>
          <p:cNvPr id="55" name="Text 53"/>
          <p:cNvSpPr txBox="1"/>
          <p:nvPr/>
        </p:nvSpPr>
        <p:spPr>
          <a:xfrm>
            <a:off x="6263640" y="4325112"/>
            <a:ext cx="2331720" cy="228600"/>
          </a:xfrm>
          <a:prstGeom prst="rect">
            <a:avLst/>
          </a:prstGeom>
          <a:noFill/>
        </p:spPr>
        <p:txBody>
          <a:bodyPr wrap="square" lIns="0" tIns="0" rIns="0" bIns="0" rtlCol="0" anchor="ctr"/>
          <a:lstStyle/>
          <a:p>
            <a:pPr marL="0" indent="0">
              <a:buNone/>
            </a:pPr>
            <a:r>
              <a:rPr lang="en-US" sz="800" b="1" dirty="0">
                <a:solidFill>
                  <a:srgbClr val="0F2843"/>
                </a:solidFill>
                <a:latin typeface="Calibri" panose="020F0502020204030204" pitchFamily="34" charset="0"/>
                <a:ea typeface="Calibri" panose="020F0502020204030204" pitchFamily="34" charset="-122"/>
                <a:cs typeface="Calibri" panose="020F0502020204030204" pitchFamily="34" charset="-120"/>
              </a:rPr>
              <a:t>OUTPUT → Consensus plan</a:t>
            </a:r>
            <a:endParaRPr lang="en-US" sz="800" dirty="0"/>
          </a:p>
        </p:txBody>
      </p:sp>
      <p:sp>
        <p:nvSpPr>
          <p:cNvPr id="56" name="Shape 54"/>
          <p:cNvSpPr/>
          <p:nvPr/>
        </p:nvSpPr>
        <p:spPr>
          <a:xfrm>
            <a:off x="8869680" y="3154680"/>
            <a:ext cx="2606040" cy="1417320"/>
          </a:xfrm>
          <a:prstGeom prst="roundRect">
            <a:avLst>
              <a:gd name="adj" fmla="val 3871"/>
            </a:avLst>
          </a:prstGeom>
          <a:solidFill>
            <a:srgbClr val="FFFFFF"/>
          </a:solidFill>
          <a:ln w="12700">
            <a:solidFill>
              <a:srgbClr val="EEF2F7"/>
            </a:solidFill>
            <a:prstDash val="solid"/>
          </a:ln>
        </p:spPr>
        <p:txBody>
          <a:bodyPr/>
          <a:p/>
        </p:txBody>
      </p:sp>
      <p:sp>
        <p:nvSpPr>
          <p:cNvPr id="57" name="Shape 55"/>
          <p:cNvSpPr/>
          <p:nvPr/>
        </p:nvSpPr>
        <p:spPr>
          <a:xfrm>
            <a:off x="9006840" y="3264408"/>
            <a:ext cx="292608" cy="292608"/>
          </a:xfrm>
          <a:prstGeom prst="ellipse">
            <a:avLst/>
          </a:prstGeom>
          <a:solidFill>
            <a:srgbClr val="0F2843"/>
          </a:solidFill>
        </p:spPr>
        <p:txBody>
          <a:bodyPr/>
          <a:p/>
        </p:txBody>
      </p:sp>
      <p:sp>
        <p:nvSpPr>
          <p:cNvPr id="58" name="Text 56"/>
          <p:cNvSpPr txBox="1"/>
          <p:nvPr/>
        </p:nvSpPr>
        <p:spPr>
          <a:xfrm>
            <a:off x="9006840" y="3264408"/>
            <a:ext cx="292608" cy="292608"/>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8</a:t>
            </a:r>
            <a:endParaRPr lang="en-US" sz="1100" dirty="0"/>
          </a:p>
        </p:txBody>
      </p:sp>
      <p:sp>
        <p:nvSpPr>
          <p:cNvPr id="59" name="Text 57"/>
          <p:cNvSpPr txBox="1"/>
          <p:nvPr/>
        </p:nvSpPr>
        <p:spPr>
          <a:xfrm>
            <a:off x="9006840" y="3575304"/>
            <a:ext cx="2331720" cy="274320"/>
          </a:xfrm>
          <a:prstGeom prst="rect">
            <a:avLst/>
          </a:prstGeom>
          <a:noFill/>
        </p:spPr>
        <p:txBody>
          <a:bodyPr wrap="square" lIns="0" tIns="0" rIns="0" bIns="0" rtlCol="0" anchor="ctr"/>
          <a:lstStyle/>
          <a:p>
            <a:pPr marL="0" indent="0">
              <a:buNone/>
            </a:pPr>
            <a:r>
              <a:rPr lang="en-US" sz="1150" b="1" dirty="0">
                <a:solidFill>
                  <a:srgbClr val="0F2843"/>
                </a:solidFill>
                <a:latin typeface="Calibri" panose="020F0502020204030204" pitchFamily="34" charset="0"/>
                <a:ea typeface="Calibri" panose="020F0502020204030204" pitchFamily="34" charset="-122"/>
                <a:cs typeface="Calibri" panose="020F0502020204030204" pitchFamily="34" charset="-120"/>
              </a:rPr>
              <a:t>Human-in-the-Loop</a:t>
            </a:r>
            <a:endParaRPr lang="en-US" sz="1150" dirty="0"/>
          </a:p>
        </p:txBody>
      </p:sp>
      <p:sp>
        <p:nvSpPr>
          <p:cNvPr id="60" name="Text 58"/>
          <p:cNvSpPr txBox="1"/>
          <p:nvPr/>
        </p:nvSpPr>
        <p:spPr>
          <a:xfrm>
            <a:off x="9006840" y="3822192"/>
            <a:ext cx="2331720" cy="228600"/>
          </a:xfrm>
          <a:prstGeom prst="rect">
            <a:avLst/>
          </a:prstGeom>
          <a:noFill/>
        </p:spPr>
        <p:txBody>
          <a:bodyPr wrap="square" lIns="0" tIns="0" rIns="0" bIns="0" rtlCol="0" anchor="ctr"/>
          <a:lstStyle/>
          <a:p>
            <a:pPr marL="0" indent="0">
              <a:buNone/>
            </a:pPr>
            <a:r>
              <a:rPr lang="en-US" sz="850" b="1" dirty="0">
                <a:solidFill>
                  <a:srgbClr val="2A9D8F"/>
                </a:solidFill>
                <a:latin typeface="Calibri" panose="020F0502020204030204" pitchFamily="34" charset="0"/>
                <a:ea typeface="Calibri" panose="020F0502020204030204" pitchFamily="34" charset="-122"/>
                <a:cs typeface="Calibri" panose="020F0502020204030204" pitchFamily="34" charset="-120"/>
              </a:rPr>
              <a:t>PAUSE FOR APPROVAL</a:t>
            </a:r>
            <a:endParaRPr lang="en-US" sz="850" dirty="0"/>
          </a:p>
        </p:txBody>
      </p:sp>
      <p:sp>
        <p:nvSpPr>
          <p:cNvPr id="61" name="Text 59"/>
          <p:cNvSpPr txBox="1"/>
          <p:nvPr/>
        </p:nvSpPr>
        <p:spPr>
          <a:xfrm>
            <a:off x="9006840" y="4041648"/>
            <a:ext cx="2331720" cy="320040"/>
          </a:xfrm>
          <a:prstGeom prst="rect">
            <a:avLst/>
          </a:prstGeom>
          <a:noFill/>
        </p:spPr>
        <p:txBody>
          <a:bodyPr wrap="square" lIns="0" tIns="0" rIns="0" bIns="0" rtlCol="0" anchor="ctr"/>
          <a:lstStyle/>
          <a:p>
            <a:pPr marL="0" indent="0">
              <a:buNone/>
            </a:pPr>
            <a:r>
              <a:rPr lang="en-US" sz="850" i="1" dirty="0">
                <a:solidFill>
                  <a:srgbClr val="5B6B82"/>
                </a:solidFill>
                <a:latin typeface="Calibri" panose="020F0502020204030204" pitchFamily="34" charset="0"/>
                <a:ea typeface="Calibri" panose="020F0502020204030204" pitchFamily="34" charset="-122"/>
                <a:cs typeface="Calibri" panose="020F0502020204030204" pitchFamily="34" charset="-120"/>
              </a:rPr>
              <a:t>"Does a human need to confirm this?"</a:t>
            </a:r>
            <a:endParaRPr lang="en-US" sz="850" dirty="0"/>
          </a:p>
        </p:txBody>
      </p:sp>
      <p:sp>
        <p:nvSpPr>
          <p:cNvPr id="62" name="Text 60"/>
          <p:cNvSpPr txBox="1"/>
          <p:nvPr/>
        </p:nvSpPr>
        <p:spPr>
          <a:xfrm>
            <a:off x="9006840" y="4325112"/>
            <a:ext cx="2331720" cy="228600"/>
          </a:xfrm>
          <a:prstGeom prst="rect">
            <a:avLst/>
          </a:prstGeom>
          <a:noFill/>
        </p:spPr>
        <p:txBody>
          <a:bodyPr wrap="square" lIns="0" tIns="0" rIns="0" bIns="0" rtlCol="0" anchor="ctr"/>
          <a:lstStyle/>
          <a:p>
            <a:pPr marL="0" indent="0">
              <a:buNone/>
            </a:pPr>
            <a:r>
              <a:rPr lang="en-US" sz="800" b="1" dirty="0">
                <a:solidFill>
                  <a:srgbClr val="0F2843"/>
                </a:solidFill>
                <a:latin typeface="Calibri" panose="020F0502020204030204" pitchFamily="34" charset="0"/>
                <a:ea typeface="Calibri" panose="020F0502020204030204" pitchFamily="34" charset="-122"/>
                <a:cs typeface="Calibri" panose="020F0502020204030204" pitchFamily="34" charset="-120"/>
              </a:rPr>
              <a:t>OUTPUT → Approved / overridden</a:t>
            </a:r>
            <a:endParaRPr lang="en-US" sz="800" dirty="0"/>
          </a:p>
        </p:txBody>
      </p:sp>
      <p:sp>
        <p:nvSpPr>
          <p:cNvPr id="63" name="Shape 61"/>
          <p:cNvSpPr/>
          <p:nvPr/>
        </p:nvSpPr>
        <p:spPr>
          <a:xfrm>
            <a:off x="640080" y="4754880"/>
            <a:ext cx="10881360" cy="384048"/>
          </a:xfrm>
          <a:prstGeom prst="roundRect">
            <a:avLst>
              <a:gd name="adj" fmla="val 11905"/>
            </a:avLst>
          </a:prstGeom>
          <a:solidFill>
            <a:srgbClr val="FFB627"/>
          </a:solidFill>
        </p:spPr>
        <p:txBody>
          <a:bodyPr/>
          <a:p/>
        </p:txBody>
      </p:sp>
      <p:sp>
        <p:nvSpPr>
          <p:cNvPr id="64" name="Text 62"/>
          <p:cNvSpPr txBox="1"/>
          <p:nvPr/>
        </p:nvSpPr>
        <p:spPr>
          <a:xfrm>
            <a:off x="822960" y="4754880"/>
            <a:ext cx="10515600" cy="384048"/>
          </a:xfrm>
          <a:prstGeom prst="rect">
            <a:avLst/>
          </a:prstGeom>
          <a:noFill/>
        </p:spPr>
        <p:txBody>
          <a:bodyPr wrap="square" lIns="0" tIns="0" rIns="0" bIns="0" rtlCol="0" anchor="ctr"/>
          <a:lstStyle/>
          <a:p>
            <a:pPr marL="0" indent="0">
              <a:buNone/>
            </a:pPr>
            <a:r>
              <a:rPr lang="en-US" sz="1050" b="1" dirty="0">
                <a:solidFill>
                  <a:srgbClr val="081527"/>
                </a:solidFill>
                <a:latin typeface="Calibri" panose="020F0502020204030204" pitchFamily="34" charset="0"/>
                <a:ea typeface="Calibri" panose="020F0502020204030204" pitchFamily="34" charset="-122"/>
                <a:cs typeface="Calibri" panose="020F0502020204030204" pitchFamily="34" charset="-120"/>
              </a:rPr>
              <a:t>REMEMBER:  REASON • PLAN • REFLECT • EXPLORE • INVOKE • RECALL • DEBATE • APPROVE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320040"/>
            <a:ext cx="10515600" cy="457200"/>
          </a:xfrm>
          <a:prstGeom prst="rect">
            <a:avLst/>
          </a:prstGeom>
          <a:noFill/>
        </p:spPr>
        <p:txBody>
          <a:bodyPr wrap="square" lIns="0" tIns="0" rIns="0" bIns="0" rtlCol="0" anchor="ctr"/>
          <a:lstStyle/>
          <a:p>
            <a:pPr marL="0" indent="0">
              <a:buNone/>
            </a:pPr>
            <a:r>
              <a:rPr lang="en-US" sz="2200" b="1" dirty="0">
                <a:solidFill>
                  <a:srgbClr val="0F2843"/>
                </a:solidFill>
                <a:latin typeface="Cambria" panose="02040503050406030204" pitchFamily="34" charset="0"/>
                <a:ea typeface="Cambria" panose="02040503050406030204" pitchFamily="34" charset="-122"/>
                <a:cs typeface="Cambria" panose="02040503050406030204" pitchFamily="34" charset="-120"/>
              </a:rPr>
              <a:t>Multi-Agent Systems — Coordination Patterns</a:t>
            </a:r>
            <a:endParaRPr lang="en-US" sz="2200" dirty="0"/>
          </a:p>
        </p:txBody>
      </p:sp>
      <p:sp>
        <p:nvSpPr>
          <p:cNvPr id="3" name="Text 1"/>
          <p:cNvSpPr txBox="1"/>
          <p:nvPr/>
        </p:nvSpPr>
        <p:spPr>
          <a:xfrm>
            <a:off x="640080" y="749808"/>
            <a:ext cx="10058400" cy="274320"/>
          </a:xfrm>
          <a:prstGeom prst="rect">
            <a:avLst/>
          </a:prstGeom>
          <a:noFill/>
        </p:spPr>
        <p:txBody>
          <a:bodyPr wrap="square" lIns="0" tIns="0" rIns="0" bIns="0" rtlCol="0" anchor="ctr"/>
          <a:lstStyle/>
          <a:p>
            <a:pPr marL="0" indent="0">
              <a:buNone/>
            </a:pPr>
            <a:r>
              <a:rPr lang="en-US" sz="1100" dirty="0">
                <a:solidFill>
                  <a:srgbClr val="5B6B82"/>
                </a:solidFill>
                <a:latin typeface="Calibri" panose="020F0502020204030204" pitchFamily="34" charset="0"/>
                <a:ea typeface="Calibri" panose="020F0502020204030204" pitchFamily="34" charset="-122"/>
                <a:cs typeface="Calibri" panose="020F0502020204030204" pitchFamily="34" charset="-120"/>
              </a:rPr>
              <a:t>No single controller • Agents coordinate to reach a shared outcome</a:t>
            </a:r>
            <a:endParaRPr lang="en-US" sz="1100" dirty="0"/>
          </a:p>
        </p:txBody>
      </p:sp>
      <p:sp>
        <p:nvSpPr>
          <p:cNvPr id="4" name="Shape 2"/>
          <p:cNvSpPr/>
          <p:nvPr/>
        </p:nvSpPr>
        <p:spPr>
          <a:xfrm>
            <a:off x="640080" y="1078992"/>
            <a:ext cx="10881360" cy="384048"/>
          </a:xfrm>
          <a:prstGeom prst="roundRect">
            <a:avLst>
              <a:gd name="adj" fmla="val 11905"/>
            </a:avLst>
          </a:prstGeom>
          <a:solidFill>
            <a:srgbClr val="0F2843"/>
          </a:solidFill>
        </p:spPr>
        <p:txBody>
          <a:bodyPr/>
          <a:p/>
        </p:txBody>
      </p:sp>
      <p:sp>
        <p:nvSpPr>
          <p:cNvPr id="5" name="Text 3"/>
          <p:cNvSpPr txBox="1"/>
          <p:nvPr/>
        </p:nvSpPr>
        <p:spPr>
          <a:xfrm>
            <a:off x="822960" y="1078992"/>
            <a:ext cx="10515600" cy="384048"/>
          </a:xfrm>
          <a:prstGeom prst="rect">
            <a:avLst/>
          </a:prstGeom>
          <a:noFill/>
        </p:spPr>
        <p:txBody>
          <a:bodyPr wrap="square" lIns="0" tIns="0" rIns="0" bIns="0" rtlCol="0" anchor="ctr"/>
          <a:lstStyle/>
          <a:p>
            <a:pPr marL="0" indent="0">
              <a:buNone/>
            </a:pPr>
            <a:r>
              <a:rPr lang="en-US" sz="1100" b="1" dirty="0">
                <a:solidFill>
                  <a:srgbClr val="E3E9F2"/>
                </a:solidFill>
                <a:latin typeface="Calibri" panose="020F0502020204030204" pitchFamily="34" charset="0"/>
                <a:ea typeface="Calibri" panose="020F0502020204030204" pitchFamily="34" charset="-122"/>
                <a:cs typeface="Calibri" panose="020F0502020204030204" pitchFamily="34" charset="-120"/>
              </a:rPr>
              <a:t>🧬  SHARED RESOURCES:   Trial Slots  •  Drug Inventory  •  Specialist Time   →   NO SINGLE CONTROLLER</a:t>
            </a:r>
            <a:endParaRPr lang="en-US" sz="1100" dirty="0"/>
          </a:p>
        </p:txBody>
      </p:sp>
      <p:sp>
        <p:nvSpPr>
          <p:cNvPr id="6" name="Shape 4"/>
          <p:cNvSpPr/>
          <p:nvPr/>
        </p:nvSpPr>
        <p:spPr>
          <a:xfrm>
            <a:off x="640080" y="1600200"/>
            <a:ext cx="2606040" cy="1417320"/>
          </a:xfrm>
          <a:prstGeom prst="roundRect">
            <a:avLst>
              <a:gd name="adj" fmla="val 3871"/>
            </a:avLst>
          </a:prstGeom>
          <a:solidFill>
            <a:srgbClr val="FFFFFF"/>
          </a:solidFill>
          <a:ln w="12700">
            <a:solidFill>
              <a:srgbClr val="EEF2F7"/>
            </a:solidFill>
            <a:prstDash val="solid"/>
          </a:ln>
        </p:spPr>
        <p:txBody>
          <a:bodyPr/>
          <a:p/>
        </p:txBody>
      </p:sp>
      <p:sp>
        <p:nvSpPr>
          <p:cNvPr id="7" name="Shape 5"/>
          <p:cNvSpPr/>
          <p:nvPr/>
        </p:nvSpPr>
        <p:spPr>
          <a:xfrm>
            <a:off x="777240" y="1709928"/>
            <a:ext cx="292608" cy="292608"/>
          </a:xfrm>
          <a:prstGeom prst="ellipse">
            <a:avLst/>
          </a:prstGeom>
          <a:solidFill>
            <a:srgbClr val="0F2843"/>
          </a:solidFill>
        </p:spPr>
        <p:txBody>
          <a:bodyPr/>
          <a:p/>
        </p:txBody>
      </p:sp>
      <p:sp>
        <p:nvSpPr>
          <p:cNvPr id="8" name="Text 6"/>
          <p:cNvSpPr txBox="1"/>
          <p:nvPr/>
        </p:nvSpPr>
        <p:spPr>
          <a:xfrm>
            <a:off x="777240" y="1709928"/>
            <a:ext cx="292608" cy="292608"/>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100" dirty="0"/>
          </a:p>
        </p:txBody>
      </p:sp>
      <p:sp>
        <p:nvSpPr>
          <p:cNvPr id="9" name="Text 7"/>
          <p:cNvSpPr txBox="1"/>
          <p:nvPr/>
        </p:nvSpPr>
        <p:spPr>
          <a:xfrm>
            <a:off x="777240" y="2057400"/>
            <a:ext cx="2331720" cy="365760"/>
          </a:xfrm>
          <a:prstGeom prst="rect">
            <a:avLst/>
          </a:prstGeom>
          <a:noFill/>
        </p:spPr>
        <p:txBody>
          <a:bodyPr wrap="square" lIns="0" tIns="0" rIns="0" bIns="0" rtlCol="0" anchor="ctr"/>
          <a:lstStyle/>
          <a:p>
            <a:pPr marL="0" indent="0">
              <a:buNone/>
            </a:pPr>
            <a:r>
              <a:rPr lang="en-US" sz="1150" b="1" dirty="0">
                <a:solidFill>
                  <a:srgbClr val="0F2843"/>
                </a:solidFill>
                <a:latin typeface="Calibri" panose="020F0502020204030204" pitchFamily="34" charset="0"/>
                <a:ea typeface="Calibri" panose="020F0502020204030204" pitchFamily="34" charset="-122"/>
                <a:cs typeface="Calibri" panose="020F0502020204030204" pitchFamily="34" charset="-120"/>
              </a:rPr>
              <a:t>Orchestrator-Worker</a:t>
            </a:r>
            <a:endParaRPr lang="en-US" sz="1150" dirty="0"/>
          </a:p>
        </p:txBody>
      </p:sp>
      <p:sp>
        <p:nvSpPr>
          <p:cNvPr id="10" name="Text 8"/>
          <p:cNvSpPr txBox="1"/>
          <p:nvPr/>
        </p:nvSpPr>
        <p:spPr>
          <a:xfrm>
            <a:off x="777240" y="2377440"/>
            <a:ext cx="2331720" cy="228600"/>
          </a:xfrm>
          <a:prstGeom prst="rect">
            <a:avLst/>
          </a:prstGeom>
          <a:noFill/>
        </p:spPr>
        <p:txBody>
          <a:bodyPr wrap="square" lIns="0" tIns="0" rIns="0" bIns="0" rtlCol="0" anchor="ctr"/>
          <a:lstStyle/>
          <a:p>
            <a:pPr marL="0" indent="0">
              <a:buNone/>
            </a:pPr>
            <a:r>
              <a:rPr lang="en-US" sz="850" b="1" dirty="0">
                <a:solidFill>
                  <a:srgbClr val="2A9D8F"/>
                </a:solidFill>
                <a:latin typeface="Calibri" panose="020F0502020204030204" pitchFamily="34" charset="0"/>
                <a:ea typeface="Calibri" panose="020F0502020204030204" pitchFamily="34" charset="-122"/>
                <a:cs typeface="Calibri" panose="020F0502020204030204" pitchFamily="34" charset="-120"/>
              </a:rPr>
              <a:t>CENTRAL AGENT DELEGATES</a:t>
            </a:r>
            <a:endParaRPr lang="en-US" sz="850" dirty="0"/>
          </a:p>
        </p:txBody>
      </p:sp>
      <p:sp>
        <p:nvSpPr>
          <p:cNvPr id="11" name="Text 9"/>
          <p:cNvSpPr txBox="1"/>
          <p:nvPr/>
        </p:nvSpPr>
        <p:spPr>
          <a:xfrm>
            <a:off x="777240" y="2587752"/>
            <a:ext cx="2331720" cy="228600"/>
          </a:xfrm>
          <a:prstGeom prst="rect">
            <a:avLst/>
          </a:prstGeom>
          <a:noFill/>
        </p:spPr>
        <p:txBody>
          <a:bodyPr wrap="square" lIns="0" tIns="0" rIns="0" bIns="0" rtlCol="0" anchor="ctr"/>
          <a:lstStyle/>
          <a:p>
            <a:pPr marL="0" indent="0">
              <a:buNone/>
            </a:pPr>
            <a:r>
              <a:rPr lang="en-US" sz="8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"Who does what?"</a:t>
            </a:r>
            <a:endParaRPr lang="en-US" sz="850" dirty="0"/>
          </a:p>
        </p:txBody>
      </p:sp>
      <p:sp>
        <p:nvSpPr>
          <p:cNvPr id="12" name="Text 10"/>
          <p:cNvSpPr txBox="1"/>
          <p:nvPr/>
        </p:nvSpPr>
        <p:spPr>
          <a:xfrm>
            <a:off x="777240" y="2807208"/>
            <a:ext cx="2331720" cy="228600"/>
          </a:xfrm>
          <a:prstGeom prst="rect">
            <a:avLst/>
          </a:prstGeom>
          <a:noFill/>
        </p:spPr>
        <p:txBody>
          <a:bodyPr wrap="square" lIns="0" tIns="0" rIns="0" bIns="0" rtlCol="0" anchor="ctr"/>
          <a:lstStyle/>
          <a:p>
            <a:pPr marL="0" indent="0">
              <a:buNone/>
            </a:pPr>
            <a:r>
              <a:rPr lang="en-US" sz="750" b="1" dirty="0">
                <a:solidFill>
                  <a:srgbClr val="0F2843"/>
                </a:solidFill>
                <a:latin typeface="Calibri" panose="020F0502020204030204" pitchFamily="34" charset="0"/>
                <a:ea typeface="Calibri" panose="020F0502020204030204" pitchFamily="34" charset="-122"/>
                <a:cs typeface="Calibri" panose="020F0502020204030204" pitchFamily="34" charset="-120"/>
              </a:rPr>
              <a:t>DISCOVERS → Assigns subtasks to specialist agents</a:t>
            </a:r>
            <a:endParaRPr lang="en-US" sz="750" dirty="0"/>
          </a:p>
        </p:txBody>
      </p:sp>
      <p:sp>
        <p:nvSpPr>
          <p:cNvPr id="13" name="Shape 11"/>
          <p:cNvSpPr/>
          <p:nvPr/>
        </p:nvSpPr>
        <p:spPr>
          <a:xfrm>
            <a:off x="3383280" y="1600200"/>
            <a:ext cx="2606040" cy="1417320"/>
          </a:xfrm>
          <a:prstGeom prst="roundRect">
            <a:avLst>
              <a:gd name="adj" fmla="val 3871"/>
            </a:avLst>
          </a:prstGeom>
          <a:solidFill>
            <a:srgbClr val="FFFFFF"/>
          </a:solidFill>
          <a:ln w="12700">
            <a:solidFill>
              <a:srgbClr val="EEF2F7"/>
            </a:solidFill>
            <a:prstDash val="solid"/>
          </a:ln>
        </p:spPr>
        <p:txBody>
          <a:bodyPr/>
          <a:p/>
        </p:txBody>
      </p:sp>
      <p:sp>
        <p:nvSpPr>
          <p:cNvPr id="14" name="Shape 12"/>
          <p:cNvSpPr/>
          <p:nvPr/>
        </p:nvSpPr>
        <p:spPr>
          <a:xfrm>
            <a:off x="3520440" y="1709928"/>
            <a:ext cx="292608" cy="292608"/>
          </a:xfrm>
          <a:prstGeom prst="ellipse">
            <a:avLst/>
          </a:prstGeom>
          <a:solidFill>
            <a:srgbClr val="0F2843"/>
          </a:solidFill>
        </p:spPr>
        <p:txBody>
          <a:bodyPr/>
          <a:p/>
        </p:txBody>
      </p:sp>
      <p:sp>
        <p:nvSpPr>
          <p:cNvPr id="15" name="Text 13"/>
          <p:cNvSpPr txBox="1"/>
          <p:nvPr/>
        </p:nvSpPr>
        <p:spPr>
          <a:xfrm>
            <a:off x="3520440" y="1709928"/>
            <a:ext cx="292608" cy="292608"/>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100" dirty="0"/>
          </a:p>
        </p:txBody>
      </p:sp>
      <p:sp>
        <p:nvSpPr>
          <p:cNvPr id="16" name="Text 14"/>
          <p:cNvSpPr txBox="1"/>
          <p:nvPr/>
        </p:nvSpPr>
        <p:spPr>
          <a:xfrm>
            <a:off x="3520440" y="2057400"/>
            <a:ext cx="2331720" cy="365760"/>
          </a:xfrm>
          <a:prstGeom prst="rect">
            <a:avLst/>
          </a:prstGeom>
          <a:noFill/>
        </p:spPr>
        <p:txBody>
          <a:bodyPr wrap="square" lIns="0" tIns="0" rIns="0" bIns="0" rtlCol="0" anchor="ctr"/>
          <a:lstStyle/>
          <a:p>
            <a:pPr marL="0" indent="0">
              <a:buNone/>
            </a:pPr>
            <a:r>
              <a:rPr lang="en-US" sz="1150" b="1" dirty="0">
                <a:solidFill>
                  <a:srgbClr val="0F2843"/>
                </a:solidFill>
                <a:latin typeface="Calibri" panose="020F0502020204030204" pitchFamily="34" charset="0"/>
                <a:ea typeface="Calibri" panose="020F0502020204030204" pitchFamily="34" charset="-122"/>
                <a:cs typeface="Calibri" panose="020F0502020204030204" pitchFamily="34" charset="-120"/>
              </a:rPr>
              <a:t>Peer-to-Peer Negotiation</a:t>
            </a:r>
            <a:endParaRPr lang="en-US" sz="1150" dirty="0"/>
          </a:p>
        </p:txBody>
      </p:sp>
      <p:sp>
        <p:nvSpPr>
          <p:cNvPr id="17" name="Text 15"/>
          <p:cNvSpPr txBox="1"/>
          <p:nvPr/>
        </p:nvSpPr>
        <p:spPr>
          <a:xfrm>
            <a:off x="3520440" y="2377440"/>
            <a:ext cx="2331720" cy="228600"/>
          </a:xfrm>
          <a:prstGeom prst="rect">
            <a:avLst/>
          </a:prstGeom>
          <a:noFill/>
        </p:spPr>
        <p:txBody>
          <a:bodyPr wrap="square" lIns="0" tIns="0" rIns="0" bIns="0" rtlCol="0" anchor="ctr"/>
          <a:lstStyle/>
          <a:p>
            <a:pPr marL="0" indent="0">
              <a:buNone/>
            </a:pPr>
            <a:r>
              <a:rPr lang="en-US" sz="850" b="1" dirty="0">
                <a:solidFill>
                  <a:srgbClr val="2A9D8F"/>
                </a:solidFill>
                <a:latin typeface="Calibri" panose="020F0502020204030204" pitchFamily="34" charset="0"/>
                <a:ea typeface="Calibri" panose="020F0502020204030204" pitchFamily="34" charset="-122"/>
                <a:cs typeface="Calibri" panose="020F0502020204030204" pitchFamily="34" charset="-120"/>
              </a:rPr>
              <a:t>AGENTS BARGAIN DIRECTLY</a:t>
            </a:r>
            <a:endParaRPr lang="en-US" sz="850" dirty="0"/>
          </a:p>
        </p:txBody>
      </p:sp>
      <p:sp>
        <p:nvSpPr>
          <p:cNvPr id="18" name="Text 16"/>
          <p:cNvSpPr txBox="1"/>
          <p:nvPr/>
        </p:nvSpPr>
        <p:spPr>
          <a:xfrm>
            <a:off x="3520440" y="2587752"/>
            <a:ext cx="2331720" cy="228600"/>
          </a:xfrm>
          <a:prstGeom prst="rect">
            <a:avLst/>
          </a:prstGeom>
          <a:noFill/>
        </p:spPr>
        <p:txBody>
          <a:bodyPr wrap="square" lIns="0" tIns="0" rIns="0" bIns="0" rtlCol="0" anchor="ctr"/>
          <a:lstStyle/>
          <a:p>
            <a:pPr marL="0" indent="0">
              <a:buNone/>
            </a:pPr>
            <a:r>
              <a:rPr lang="en-US" sz="8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"Who gets the resource?"</a:t>
            </a:r>
            <a:endParaRPr lang="en-US" sz="850" dirty="0"/>
          </a:p>
        </p:txBody>
      </p:sp>
      <p:sp>
        <p:nvSpPr>
          <p:cNvPr id="19" name="Text 17"/>
          <p:cNvSpPr txBox="1"/>
          <p:nvPr/>
        </p:nvSpPr>
        <p:spPr>
          <a:xfrm>
            <a:off x="3520440" y="2807208"/>
            <a:ext cx="2331720" cy="228600"/>
          </a:xfrm>
          <a:prstGeom prst="rect">
            <a:avLst/>
          </a:prstGeom>
          <a:noFill/>
        </p:spPr>
        <p:txBody>
          <a:bodyPr wrap="square" lIns="0" tIns="0" rIns="0" bIns="0" rtlCol="0" anchor="ctr"/>
          <a:lstStyle/>
          <a:p>
            <a:pPr marL="0" indent="0">
              <a:buNone/>
            </a:pPr>
            <a:r>
              <a:rPr lang="en-US" sz="750" b="1" dirty="0">
                <a:solidFill>
                  <a:srgbClr val="0F2843"/>
                </a:solidFill>
                <a:latin typeface="Calibri" panose="020F0502020204030204" pitchFamily="34" charset="0"/>
                <a:ea typeface="Calibri" panose="020F0502020204030204" pitchFamily="34" charset="-122"/>
                <a:cs typeface="Calibri" panose="020F0502020204030204" pitchFamily="34" charset="-120"/>
              </a:rPr>
              <a:t>DISCOVERS → Resource allocation agreement</a:t>
            </a:r>
            <a:endParaRPr lang="en-US" sz="750" dirty="0"/>
          </a:p>
        </p:txBody>
      </p:sp>
      <p:sp>
        <p:nvSpPr>
          <p:cNvPr id="20" name="Shape 18"/>
          <p:cNvSpPr/>
          <p:nvPr/>
        </p:nvSpPr>
        <p:spPr>
          <a:xfrm>
            <a:off x="6126480" y="1600200"/>
            <a:ext cx="2606040" cy="1417320"/>
          </a:xfrm>
          <a:prstGeom prst="roundRect">
            <a:avLst>
              <a:gd name="adj" fmla="val 3871"/>
            </a:avLst>
          </a:prstGeom>
          <a:solidFill>
            <a:srgbClr val="FFFFFF"/>
          </a:solidFill>
          <a:ln w="12700">
            <a:solidFill>
              <a:srgbClr val="EEF2F7"/>
            </a:solidFill>
            <a:prstDash val="solid"/>
          </a:ln>
        </p:spPr>
        <p:txBody>
          <a:bodyPr/>
          <a:p/>
        </p:txBody>
      </p:sp>
      <p:sp>
        <p:nvSpPr>
          <p:cNvPr id="21" name="Shape 19"/>
          <p:cNvSpPr/>
          <p:nvPr/>
        </p:nvSpPr>
        <p:spPr>
          <a:xfrm>
            <a:off x="6263640" y="1709928"/>
            <a:ext cx="292608" cy="292608"/>
          </a:xfrm>
          <a:prstGeom prst="ellipse">
            <a:avLst/>
          </a:prstGeom>
          <a:solidFill>
            <a:srgbClr val="0F2843"/>
          </a:solidFill>
        </p:spPr>
        <p:txBody>
          <a:bodyPr/>
          <a:p/>
        </p:txBody>
      </p:sp>
      <p:sp>
        <p:nvSpPr>
          <p:cNvPr id="22" name="Text 20"/>
          <p:cNvSpPr txBox="1"/>
          <p:nvPr/>
        </p:nvSpPr>
        <p:spPr>
          <a:xfrm>
            <a:off x="6263640" y="1709928"/>
            <a:ext cx="292608" cy="292608"/>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100" dirty="0"/>
          </a:p>
        </p:txBody>
      </p:sp>
      <p:sp>
        <p:nvSpPr>
          <p:cNvPr id="23" name="Text 21"/>
          <p:cNvSpPr txBox="1"/>
          <p:nvPr/>
        </p:nvSpPr>
        <p:spPr>
          <a:xfrm>
            <a:off x="6263640" y="2057400"/>
            <a:ext cx="2331720" cy="365760"/>
          </a:xfrm>
          <a:prstGeom prst="rect">
            <a:avLst/>
          </a:prstGeom>
          <a:noFill/>
        </p:spPr>
        <p:txBody>
          <a:bodyPr wrap="square" lIns="0" tIns="0" rIns="0" bIns="0" rtlCol="0" anchor="ctr"/>
          <a:lstStyle/>
          <a:p>
            <a:pPr marL="0" indent="0">
              <a:buNone/>
            </a:pPr>
            <a:r>
              <a:rPr lang="en-US" sz="1150" b="1" dirty="0">
                <a:solidFill>
                  <a:srgbClr val="0F2843"/>
                </a:solidFill>
                <a:latin typeface="Calibri" panose="020F0502020204030204" pitchFamily="34" charset="0"/>
                <a:ea typeface="Calibri" panose="020F0502020204030204" pitchFamily="34" charset="-122"/>
                <a:cs typeface="Calibri" panose="020F0502020204030204" pitchFamily="34" charset="-120"/>
              </a:rPr>
              <a:t>Blackboard / Shared Memory</a:t>
            </a:r>
            <a:endParaRPr lang="en-US" sz="1150" dirty="0"/>
          </a:p>
        </p:txBody>
      </p:sp>
      <p:sp>
        <p:nvSpPr>
          <p:cNvPr id="24" name="Text 22"/>
          <p:cNvSpPr txBox="1"/>
          <p:nvPr/>
        </p:nvSpPr>
        <p:spPr>
          <a:xfrm>
            <a:off x="6263640" y="2377440"/>
            <a:ext cx="2331720" cy="228600"/>
          </a:xfrm>
          <a:prstGeom prst="rect">
            <a:avLst/>
          </a:prstGeom>
          <a:noFill/>
        </p:spPr>
        <p:txBody>
          <a:bodyPr wrap="square" lIns="0" tIns="0" rIns="0" bIns="0" rtlCol="0" anchor="ctr"/>
          <a:lstStyle/>
          <a:p>
            <a:pPr marL="0" indent="0">
              <a:buNone/>
            </a:pPr>
            <a:r>
              <a:rPr lang="en-US" sz="850" b="1" dirty="0">
                <a:solidFill>
                  <a:srgbClr val="2A9D8F"/>
                </a:solidFill>
                <a:latin typeface="Calibri" panose="020F0502020204030204" pitchFamily="34" charset="0"/>
                <a:ea typeface="Calibri" panose="020F0502020204030204" pitchFamily="34" charset="-122"/>
                <a:cs typeface="Calibri" panose="020F0502020204030204" pitchFamily="34" charset="-120"/>
              </a:rPr>
              <a:t>AGENTS SHARE ONE WORKSPACE</a:t>
            </a:r>
            <a:endParaRPr lang="en-US" sz="850" dirty="0"/>
          </a:p>
        </p:txBody>
      </p:sp>
      <p:sp>
        <p:nvSpPr>
          <p:cNvPr id="25" name="Text 23"/>
          <p:cNvSpPr txBox="1"/>
          <p:nvPr/>
        </p:nvSpPr>
        <p:spPr>
          <a:xfrm>
            <a:off x="6263640" y="2587752"/>
            <a:ext cx="2331720" cy="228600"/>
          </a:xfrm>
          <a:prstGeom prst="rect">
            <a:avLst/>
          </a:prstGeom>
          <a:noFill/>
        </p:spPr>
        <p:txBody>
          <a:bodyPr wrap="square" lIns="0" tIns="0" rIns="0" bIns="0" rtlCol="0" anchor="ctr"/>
          <a:lstStyle/>
          <a:p>
            <a:pPr marL="0" indent="0">
              <a:buNone/>
            </a:pPr>
            <a:r>
              <a:rPr lang="en-US" sz="8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"What has been decided so far?"</a:t>
            </a:r>
            <a:endParaRPr lang="en-US" sz="850" dirty="0"/>
          </a:p>
        </p:txBody>
      </p:sp>
      <p:sp>
        <p:nvSpPr>
          <p:cNvPr id="26" name="Text 24"/>
          <p:cNvSpPr txBox="1"/>
          <p:nvPr/>
        </p:nvSpPr>
        <p:spPr>
          <a:xfrm>
            <a:off x="6263640" y="2807208"/>
            <a:ext cx="2331720" cy="228600"/>
          </a:xfrm>
          <a:prstGeom prst="rect">
            <a:avLst/>
          </a:prstGeom>
          <a:noFill/>
        </p:spPr>
        <p:txBody>
          <a:bodyPr wrap="square" lIns="0" tIns="0" rIns="0" bIns="0" rtlCol="0" anchor="ctr"/>
          <a:lstStyle/>
          <a:p>
            <a:pPr marL="0" indent="0">
              <a:buNone/>
            </a:pPr>
            <a:r>
              <a:rPr lang="en-US" sz="750" b="1" dirty="0">
                <a:solidFill>
                  <a:srgbClr val="0F2843"/>
                </a:solidFill>
                <a:latin typeface="Calibri" panose="020F0502020204030204" pitchFamily="34" charset="0"/>
                <a:ea typeface="Calibri" panose="020F0502020204030204" pitchFamily="34" charset="-122"/>
                <a:cs typeface="Calibri" panose="020F0502020204030204" pitchFamily="34" charset="-120"/>
              </a:rPr>
              <a:t>DISCOVERS → Shared state updated</a:t>
            </a:r>
            <a:endParaRPr lang="en-US" sz="750" dirty="0"/>
          </a:p>
        </p:txBody>
      </p:sp>
      <p:sp>
        <p:nvSpPr>
          <p:cNvPr id="27" name="Shape 25"/>
          <p:cNvSpPr/>
          <p:nvPr/>
        </p:nvSpPr>
        <p:spPr>
          <a:xfrm>
            <a:off x="8869680" y="1600200"/>
            <a:ext cx="2606040" cy="1417320"/>
          </a:xfrm>
          <a:prstGeom prst="roundRect">
            <a:avLst>
              <a:gd name="adj" fmla="val 3871"/>
            </a:avLst>
          </a:prstGeom>
          <a:solidFill>
            <a:srgbClr val="FFFFFF"/>
          </a:solidFill>
          <a:ln w="12700">
            <a:solidFill>
              <a:srgbClr val="EEF2F7"/>
            </a:solidFill>
            <a:prstDash val="solid"/>
          </a:ln>
        </p:spPr>
        <p:txBody>
          <a:bodyPr/>
          <a:p/>
        </p:txBody>
      </p:sp>
      <p:sp>
        <p:nvSpPr>
          <p:cNvPr id="28" name="Shape 26"/>
          <p:cNvSpPr/>
          <p:nvPr/>
        </p:nvSpPr>
        <p:spPr>
          <a:xfrm>
            <a:off x="9006840" y="1709928"/>
            <a:ext cx="292608" cy="292608"/>
          </a:xfrm>
          <a:prstGeom prst="ellipse">
            <a:avLst/>
          </a:prstGeom>
          <a:solidFill>
            <a:srgbClr val="0F2843"/>
          </a:solidFill>
        </p:spPr>
        <p:txBody>
          <a:bodyPr/>
          <a:p/>
        </p:txBody>
      </p:sp>
      <p:sp>
        <p:nvSpPr>
          <p:cNvPr id="29" name="Text 27"/>
          <p:cNvSpPr txBox="1"/>
          <p:nvPr/>
        </p:nvSpPr>
        <p:spPr>
          <a:xfrm>
            <a:off x="9006840" y="1709928"/>
            <a:ext cx="292608" cy="292608"/>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100" dirty="0"/>
          </a:p>
        </p:txBody>
      </p:sp>
      <p:sp>
        <p:nvSpPr>
          <p:cNvPr id="30" name="Text 28"/>
          <p:cNvSpPr txBox="1"/>
          <p:nvPr/>
        </p:nvSpPr>
        <p:spPr>
          <a:xfrm>
            <a:off x="9006840" y="2057400"/>
            <a:ext cx="2331720" cy="365760"/>
          </a:xfrm>
          <a:prstGeom prst="rect">
            <a:avLst/>
          </a:prstGeom>
          <a:noFill/>
        </p:spPr>
        <p:txBody>
          <a:bodyPr wrap="square" lIns="0" tIns="0" rIns="0" bIns="0" rtlCol="0" anchor="ctr"/>
          <a:lstStyle/>
          <a:p>
            <a:pPr marL="0" indent="0">
              <a:buNone/>
            </a:pPr>
            <a:r>
              <a:rPr lang="en-US" sz="1150" b="1" dirty="0">
                <a:solidFill>
                  <a:srgbClr val="0F2843"/>
                </a:solidFill>
                <a:latin typeface="Calibri" panose="020F0502020204030204" pitchFamily="34" charset="0"/>
                <a:ea typeface="Calibri" panose="020F0502020204030204" pitchFamily="34" charset="-122"/>
                <a:cs typeface="Calibri" panose="020F0502020204030204" pitchFamily="34" charset="-120"/>
              </a:rPr>
              <a:t>Hierarchical Agents</a:t>
            </a:r>
            <a:endParaRPr lang="en-US" sz="1150" dirty="0"/>
          </a:p>
        </p:txBody>
      </p:sp>
      <p:sp>
        <p:nvSpPr>
          <p:cNvPr id="31" name="Text 29"/>
          <p:cNvSpPr txBox="1"/>
          <p:nvPr/>
        </p:nvSpPr>
        <p:spPr>
          <a:xfrm>
            <a:off x="9006840" y="2377440"/>
            <a:ext cx="2331720" cy="228600"/>
          </a:xfrm>
          <a:prstGeom prst="rect">
            <a:avLst/>
          </a:prstGeom>
          <a:noFill/>
        </p:spPr>
        <p:txBody>
          <a:bodyPr wrap="square" lIns="0" tIns="0" rIns="0" bIns="0" rtlCol="0" anchor="ctr"/>
          <a:lstStyle/>
          <a:p>
            <a:pPr marL="0" indent="0">
              <a:buNone/>
            </a:pPr>
            <a:r>
              <a:rPr lang="en-US" sz="850" b="1" dirty="0">
                <a:solidFill>
                  <a:srgbClr val="2A9D8F"/>
                </a:solidFill>
                <a:latin typeface="Calibri" panose="020F0502020204030204" pitchFamily="34" charset="0"/>
                <a:ea typeface="Calibri" panose="020F0502020204030204" pitchFamily="34" charset="-122"/>
                <a:cs typeface="Calibri" panose="020F0502020204030204" pitchFamily="34" charset="-120"/>
              </a:rPr>
              <a:t>CHAIN OF COMMAND</a:t>
            </a:r>
            <a:endParaRPr lang="en-US" sz="850" dirty="0"/>
          </a:p>
        </p:txBody>
      </p:sp>
      <p:sp>
        <p:nvSpPr>
          <p:cNvPr id="32" name="Text 30"/>
          <p:cNvSpPr txBox="1"/>
          <p:nvPr/>
        </p:nvSpPr>
        <p:spPr>
          <a:xfrm>
            <a:off x="9006840" y="2587752"/>
            <a:ext cx="2331720" cy="228600"/>
          </a:xfrm>
          <a:prstGeom prst="rect">
            <a:avLst/>
          </a:prstGeom>
          <a:noFill/>
        </p:spPr>
        <p:txBody>
          <a:bodyPr wrap="square" lIns="0" tIns="0" rIns="0" bIns="0" rtlCol="0" anchor="ctr"/>
          <a:lstStyle/>
          <a:p>
            <a:pPr marL="0" indent="0">
              <a:buNone/>
            </a:pPr>
            <a:r>
              <a:rPr lang="en-US" sz="8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"Who approves this decision?"</a:t>
            </a:r>
            <a:endParaRPr lang="en-US" sz="850" dirty="0"/>
          </a:p>
        </p:txBody>
      </p:sp>
      <p:sp>
        <p:nvSpPr>
          <p:cNvPr id="33" name="Text 31"/>
          <p:cNvSpPr txBox="1"/>
          <p:nvPr/>
        </p:nvSpPr>
        <p:spPr>
          <a:xfrm>
            <a:off x="9006840" y="2807208"/>
            <a:ext cx="2331720" cy="228600"/>
          </a:xfrm>
          <a:prstGeom prst="rect">
            <a:avLst/>
          </a:prstGeom>
          <a:noFill/>
        </p:spPr>
        <p:txBody>
          <a:bodyPr wrap="square" lIns="0" tIns="0" rIns="0" bIns="0" rtlCol="0" anchor="ctr"/>
          <a:lstStyle/>
          <a:p>
            <a:pPr marL="0" indent="0">
              <a:buNone/>
            </a:pPr>
            <a:r>
              <a:rPr lang="en-US" sz="750" b="1" dirty="0">
                <a:solidFill>
                  <a:srgbClr val="0F2843"/>
                </a:solidFill>
                <a:latin typeface="Calibri" panose="020F0502020204030204" pitchFamily="34" charset="0"/>
                <a:ea typeface="Calibri" panose="020F0502020204030204" pitchFamily="34" charset="-122"/>
                <a:cs typeface="Calibri" panose="020F0502020204030204" pitchFamily="34" charset="-120"/>
              </a:rPr>
              <a:t>DISCOVERS → Escalation path</a:t>
            </a:r>
            <a:endParaRPr lang="en-US" sz="750" dirty="0"/>
          </a:p>
        </p:txBody>
      </p:sp>
      <p:sp>
        <p:nvSpPr>
          <p:cNvPr id="34" name="Shape 32"/>
          <p:cNvSpPr/>
          <p:nvPr/>
        </p:nvSpPr>
        <p:spPr>
          <a:xfrm>
            <a:off x="640080" y="3154680"/>
            <a:ext cx="2606040" cy="960120"/>
          </a:xfrm>
          <a:prstGeom prst="roundRect">
            <a:avLst>
              <a:gd name="adj" fmla="val 5714"/>
            </a:avLst>
          </a:prstGeom>
          <a:solidFill>
            <a:srgbClr val="FFFFFF"/>
          </a:solidFill>
          <a:ln w="12700">
            <a:solidFill>
              <a:srgbClr val="EEF2F7"/>
            </a:solidFill>
            <a:prstDash val="solid"/>
          </a:ln>
        </p:spPr>
        <p:txBody>
          <a:bodyPr/>
          <a:p/>
        </p:txBody>
      </p:sp>
      <p:sp>
        <p:nvSpPr>
          <p:cNvPr id="35" name="Shape 33"/>
          <p:cNvSpPr/>
          <p:nvPr/>
        </p:nvSpPr>
        <p:spPr>
          <a:xfrm>
            <a:off x="777240" y="3264408"/>
            <a:ext cx="292608" cy="292608"/>
          </a:xfrm>
          <a:prstGeom prst="ellipse">
            <a:avLst/>
          </a:prstGeom>
          <a:solidFill>
            <a:srgbClr val="0F2843"/>
          </a:solidFill>
        </p:spPr>
        <p:txBody>
          <a:bodyPr/>
          <a:p/>
        </p:txBody>
      </p:sp>
      <p:sp>
        <p:nvSpPr>
          <p:cNvPr id="36" name="Text 34"/>
          <p:cNvSpPr txBox="1"/>
          <p:nvPr/>
        </p:nvSpPr>
        <p:spPr>
          <a:xfrm>
            <a:off x="777240" y="3264408"/>
            <a:ext cx="292608" cy="292608"/>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100" dirty="0"/>
          </a:p>
        </p:txBody>
      </p:sp>
      <p:sp>
        <p:nvSpPr>
          <p:cNvPr id="37" name="Text 35"/>
          <p:cNvSpPr txBox="1"/>
          <p:nvPr/>
        </p:nvSpPr>
        <p:spPr>
          <a:xfrm>
            <a:off x="777240" y="3611880"/>
            <a:ext cx="2331720" cy="274320"/>
          </a:xfrm>
          <a:prstGeom prst="rect">
            <a:avLst/>
          </a:prstGeom>
          <a:noFill/>
        </p:spPr>
        <p:txBody>
          <a:bodyPr wrap="square" lIns="0" tIns="0" rIns="0" bIns="0" rtlCol="0" anchor="ctr"/>
          <a:lstStyle/>
          <a:p>
            <a:pPr marL="0" indent="0">
              <a:buNone/>
            </a:pPr>
            <a:r>
              <a:rPr lang="en-US" sz="1150" b="1" dirty="0">
                <a:solidFill>
                  <a:srgbClr val="0F2843"/>
                </a:solidFill>
                <a:latin typeface="Calibri" panose="020F0502020204030204" pitchFamily="34" charset="0"/>
                <a:ea typeface="Calibri" panose="020F0502020204030204" pitchFamily="34" charset="-122"/>
                <a:cs typeface="Calibri" panose="020F0502020204030204" pitchFamily="34" charset="-120"/>
              </a:rPr>
              <a:t>Swarm Coordination</a:t>
            </a:r>
            <a:endParaRPr lang="en-US" sz="1150" dirty="0"/>
          </a:p>
        </p:txBody>
      </p:sp>
      <p:sp>
        <p:nvSpPr>
          <p:cNvPr id="38" name="Text 36"/>
          <p:cNvSpPr txBox="1"/>
          <p:nvPr/>
        </p:nvSpPr>
        <p:spPr>
          <a:xfrm>
            <a:off x="777240" y="3867912"/>
            <a:ext cx="2331720" cy="201168"/>
          </a:xfrm>
          <a:prstGeom prst="rect">
            <a:avLst/>
          </a:prstGeom>
          <a:noFill/>
        </p:spPr>
        <p:txBody>
          <a:bodyPr wrap="square" lIns="0" tIns="0" rIns="0" bIns="0" rtlCol="0" anchor="ctr"/>
          <a:lstStyle/>
          <a:p>
            <a:pPr marL="0" indent="0">
              <a:buNone/>
            </a:pPr>
            <a:r>
              <a:rPr lang="en-US" sz="850" b="1" dirty="0">
                <a:solidFill>
                  <a:srgbClr val="2A9D8F"/>
                </a:solidFill>
                <a:latin typeface="Calibri" panose="020F0502020204030204" pitchFamily="34" charset="0"/>
                <a:ea typeface="Calibri" panose="020F0502020204030204" pitchFamily="34" charset="-122"/>
                <a:cs typeface="Calibri" panose="020F0502020204030204" pitchFamily="34" charset="-120"/>
              </a:rPr>
              <a:t>MANY SIMPLE AGENTS TOGETHER</a:t>
            </a:r>
            <a:endParaRPr lang="en-US" sz="850" dirty="0"/>
          </a:p>
        </p:txBody>
      </p:sp>
      <p:sp>
        <p:nvSpPr>
          <p:cNvPr id="39" name="Shape 37"/>
          <p:cNvSpPr/>
          <p:nvPr/>
        </p:nvSpPr>
        <p:spPr>
          <a:xfrm>
            <a:off x="3383280" y="3154680"/>
            <a:ext cx="8138160" cy="960120"/>
          </a:xfrm>
          <a:prstGeom prst="roundRect">
            <a:avLst>
              <a:gd name="adj" fmla="val 5714"/>
            </a:avLst>
          </a:prstGeom>
          <a:solidFill>
            <a:srgbClr val="E7F5F3"/>
          </a:solidFill>
        </p:spPr>
        <p:txBody>
          <a:bodyPr/>
          <a:p/>
        </p:txBody>
      </p:sp>
      <p:sp>
        <p:nvSpPr>
          <p:cNvPr id="40" name="Text 38"/>
          <p:cNvSpPr txBox="1"/>
          <p:nvPr/>
        </p:nvSpPr>
        <p:spPr>
          <a:xfrm>
            <a:off x="3611880" y="3154680"/>
            <a:ext cx="7680960" cy="960120"/>
          </a:xfrm>
          <a:prstGeom prst="rect">
            <a:avLst/>
          </a:prstGeom>
          <a:noFill/>
        </p:spPr>
        <p:txBody>
          <a:bodyPr wrap="square" lIns="0" tIns="0" rIns="0" bIns="0" rtlCol="0" anchor="ctr"/>
          <a:lstStyle/>
          <a:p>
            <a:pPr marL="0" indent="0">
              <a:buNone/>
            </a:pPr>
            <a:r>
              <a:rPr lang="en-US" sz="1100" i="1" dirty="0">
                <a:solidFill>
                  <a:srgbClr val="0F2843"/>
                </a:solidFill>
                <a:latin typeface="Calibri" panose="020F0502020204030204" pitchFamily="34" charset="0"/>
                <a:ea typeface="Calibri" panose="020F0502020204030204" pitchFamily="34" charset="-122"/>
                <a:cs typeface="Calibri" panose="020F0502020204030204" pitchFamily="34" charset="-120"/>
              </a:rPr>
              <a:t>"What's the collective pattern?"  →  DISCOVERS → Emergent coordinated behavior</a:t>
            </a:r>
            <a:endParaRPr lang="en-US" sz="1100" dirty="0"/>
          </a:p>
        </p:txBody>
      </p:sp>
      <p:sp>
        <p:nvSpPr>
          <p:cNvPr id="41" name="Shape 39"/>
          <p:cNvSpPr/>
          <p:nvPr/>
        </p:nvSpPr>
        <p:spPr>
          <a:xfrm>
            <a:off x="640080" y="4297680"/>
            <a:ext cx="10881360" cy="384048"/>
          </a:xfrm>
          <a:prstGeom prst="roundRect">
            <a:avLst>
              <a:gd name="adj" fmla="val 11905"/>
            </a:avLst>
          </a:prstGeom>
          <a:solidFill>
            <a:srgbClr val="FFB627"/>
          </a:solidFill>
        </p:spPr>
        <p:txBody>
          <a:bodyPr/>
          <a:p/>
        </p:txBody>
      </p:sp>
      <p:sp>
        <p:nvSpPr>
          <p:cNvPr id="42" name="Text 40"/>
          <p:cNvSpPr txBox="1"/>
          <p:nvPr/>
        </p:nvSpPr>
        <p:spPr>
          <a:xfrm>
            <a:off x="822960" y="4297680"/>
            <a:ext cx="10515600" cy="384048"/>
          </a:xfrm>
          <a:prstGeom prst="rect">
            <a:avLst/>
          </a:prstGeom>
          <a:noFill/>
        </p:spPr>
        <p:txBody>
          <a:bodyPr wrap="square" lIns="0" tIns="0" rIns="0" bIns="0" rtlCol="0" anchor="ctr"/>
          <a:lstStyle/>
          <a:p>
            <a:pPr marL="0" indent="0">
              <a:buNone/>
            </a:pPr>
            <a:r>
              <a:rPr lang="en-US" sz="1100" b="1" dirty="0">
                <a:solidFill>
                  <a:srgbClr val="081527"/>
                </a:solidFill>
                <a:latin typeface="Calibri" panose="020F0502020204030204" pitchFamily="34" charset="0"/>
                <a:ea typeface="Calibri" panose="020F0502020204030204" pitchFamily="34" charset="-122"/>
                <a:cs typeface="Calibri" panose="020F0502020204030204" pitchFamily="34" charset="-120"/>
              </a:rPr>
              <a:t>🧠 REMEMBER:  DELEGATE • NEGOTIATE • SHARE • ESCALATE • SWARM</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320040"/>
            <a:ext cx="10515600" cy="457200"/>
          </a:xfrm>
          <a:prstGeom prst="rect">
            <a:avLst/>
          </a:prstGeom>
          <a:noFill/>
        </p:spPr>
        <p:txBody>
          <a:bodyPr wrap="square" lIns="0" tIns="0" rIns="0" bIns="0" rtlCol="0" anchor="ctr"/>
          <a:lstStyle/>
          <a:p>
            <a:pPr marL="0" indent="0">
              <a:buNone/>
            </a:pPr>
            <a:r>
              <a:rPr lang="en-US" sz="2400" b="1" dirty="0">
                <a:solidFill>
                  <a:srgbClr val="0F2843"/>
                </a:solidFill>
                <a:latin typeface="Cambria" panose="02040503050406030204" pitchFamily="34" charset="0"/>
                <a:ea typeface="Cambria" panose="02040503050406030204" pitchFamily="34" charset="-122"/>
                <a:cs typeface="Cambria" panose="02040503050406030204" pitchFamily="34" charset="-120"/>
              </a:rPr>
              <a:t>Keeping Humans in Control</a:t>
            </a:r>
            <a:endParaRPr lang="en-US" sz="2400" dirty="0"/>
          </a:p>
        </p:txBody>
      </p:sp>
      <p:sp>
        <p:nvSpPr>
          <p:cNvPr id="3" name="Text 1"/>
          <p:cNvSpPr txBox="1"/>
          <p:nvPr/>
        </p:nvSpPr>
        <p:spPr>
          <a:xfrm>
            <a:off x="640080" y="749808"/>
            <a:ext cx="10515600" cy="274320"/>
          </a:xfrm>
          <a:prstGeom prst="rect">
            <a:avLst/>
          </a:prstGeom>
          <a:noFill/>
        </p:spPr>
        <p:txBody>
          <a:bodyPr wrap="square" lIns="0" tIns="0" rIns="0" bIns="0" rtlCol="0" anchor="ctr"/>
          <a:lstStyle/>
          <a:p>
            <a:pPr marL="0" indent="0">
              <a:buNone/>
            </a:pPr>
            <a:r>
              <a:rPr lang="en-US" sz="1100" dirty="0">
                <a:solidFill>
                  <a:srgbClr val="5B6B82"/>
                </a:solidFill>
                <a:latin typeface="Calibri" panose="020F0502020204030204" pitchFamily="34" charset="0"/>
                <a:ea typeface="Calibri" panose="020F0502020204030204" pitchFamily="34" charset="-122"/>
                <a:cs typeface="Calibri" panose="020F0502020204030204" pitchFamily="34" charset="-120"/>
              </a:rPr>
              <a:t>No fixed answers here either — the agent acts, but a human can always intervene</a:t>
            </a:r>
            <a:endParaRPr lang="en-US" sz="1100" dirty="0"/>
          </a:p>
        </p:txBody>
      </p:sp>
      <p:sp>
        <p:nvSpPr>
          <p:cNvPr id="4" name="Shape 2"/>
          <p:cNvSpPr/>
          <p:nvPr/>
        </p:nvSpPr>
        <p:spPr>
          <a:xfrm>
            <a:off x="640080" y="1078992"/>
            <a:ext cx="10881360" cy="384048"/>
          </a:xfrm>
          <a:prstGeom prst="roundRect">
            <a:avLst>
              <a:gd name="adj" fmla="val 11905"/>
            </a:avLst>
          </a:prstGeom>
          <a:solidFill>
            <a:srgbClr val="E63946"/>
          </a:solidFill>
        </p:spPr>
        <p:txBody>
          <a:bodyPr/>
          <a:p/>
        </p:txBody>
      </p:sp>
      <p:sp>
        <p:nvSpPr>
          <p:cNvPr id="5" name="Text 3"/>
          <p:cNvSpPr txBox="1"/>
          <p:nvPr/>
        </p:nvSpPr>
        <p:spPr>
          <a:xfrm>
            <a:off x="822960" y="1078992"/>
            <a:ext cx="10515600" cy="384048"/>
          </a:xfrm>
          <a:prstGeom prst="rect">
            <a:avLst/>
          </a:prstGeom>
          <a:noFill/>
        </p:spPr>
        <p:txBody>
          <a:bodyPr wrap="square" lIns="0" tIns="0" rIns="0" bIns="0" rtlCol="0" anchor="ctr"/>
          <a:lstStyle/>
          <a:p>
            <a:pPr marL="0" indent="0">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  AUTONOMOUS TREATMENT:   Confidence  •  Stakes  •  Policy Limits   →  NO ACTION WITHOUT A SAFETY CHECK</a:t>
            </a:r>
            <a:endParaRPr lang="en-US" sz="1050" dirty="0"/>
          </a:p>
        </p:txBody>
      </p:sp>
      <p:sp>
        <p:nvSpPr>
          <p:cNvPr id="6" name="Shape 4"/>
          <p:cNvSpPr/>
          <p:nvPr/>
        </p:nvSpPr>
        <p:spPr>
          <a:xfrm>
            <a:off x="640080" y="1600200"/>
            <a:ext cx="2606040" cy="1417320"/>
          </a:xfrm>
          <a:prstGeom prst="roundRect">
            <a:avLst>
              <a:gd name="adj" fmla="val 3871"/>
            </a:avLst>
          </a:prstGeom>
          <a:solidFill>
            <a:srgbClr val="FFFFFF"/>
          </a:solidFill>
          <a:ln w="12700">
            <a:solidFill>
              <a:srgbClr val="EEF2F7"/>
            </a:solidFill>
            <a:prstDash val="solid"/>
          </a:ln>
        </p:spPr>
        <p:txBody>
          <a:bodyPr/>
          <a:p/>
        </p:txBody>
      </p:sp>
      <p:sp>
        <p:nvSpPr>
          <p:cNvPr id="7" name="Shape 5"/>
          <p:cNvSpPr/>
          <p:nvPr/>
        </p:nvSpPr>
        <p:spPr>
          <a:xfrm>
            <a:off x="777240" y="1709928"/>
            <a:ext cx="292608" cy="292608"/>
          </a:xfrm>
          <a:prstGeom prst="ellipse">
            <a:avLst/>
          </a:prstGeom>
          <a:solidFill>
            <a:srgbClr val="E63946"/>
          </a:solidFill>
        </p:spPr>
        <p:txBody>
          <a:bodyPr/>
          <a:p/>
        </p:txBody>
      </p:sp>
      <p:sp>
        <p:nvSpPr>
          <p:cNvPr id="8" name="Text 6"/>
          <p:cNvSpPr txBox="1"/>
          <p:nvPr/>
        </p:nvSpPr>
        <p:spPr>
          <a:xfrm>
            <a:off x="777240" y="1709928"/>
            <a:ext cx="292608" cy="292608"/>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100" dirty="0"/>
          </a:p>
        </p:txBody>
      </p:sp>
      <p:sp>
        <p:nvSpPr>
          <p:cNvPr id="9" name="Text 7"/>
          <p:cNvSpPr txBox="1"/>
          <p:nvPr/>
        </p:nvSpPr>
        <p:spPr>
          <a:xfrm>
            <a:off x="777240" y="2057400"/>
            <a:ext cx="2331720" cy="365760"/>
          </a:xfrm>
          <a:prstGeom prst="rect">
            <a:avLst/>
          </a:prstGeom>
          <a:noFill/>
        </p:spPr>
        <p:txBody>
          <a:bodyPr wrap="square" lIns="0" tIns="0" rIns="0" bIns="0" rtlCol="0" anchor="ctr"/>
          <a:lstStyle/>
          <a:p>
            <a:pPr marL="0" indent="0">
              <a:buNone/>
            </a:pPr>
            <a:r>
              <a:rPr lang="en-US" sz="1100" b="1" dirty="0">
                <a:solidFill>
                  <a:srgbClr val="0F2843"/>
                </a:solidFill>
                <a:latin typeface="Calibri" panose="020F0502020204030204" pitchFamily="34" charset="0"/>
                <a:ea typeface="Calibri" panose="020F0502020204030204" pitchFamily="34" charset="-122"/>
                <a:cs typeface="Calibri" panose="020F0502020204030204" pitchFamily="34" charset="-120"/>
              </a:rPr>
              <a:t>Approval Gate</a:t>
            </a:r>
            <a:endParaRPr lang="en-US" sz="1100" dirty="0"/>
          </a:p>
        </p:txBody>
      </p:sp>
      <p:sp>
        <p:nvSpPr>
          <p:cNvPr id="10" name="Text 8"/>
          <p:cNvSpPr txBox="1"/>
          <p:nvPr/>
        </p:nvSpPr>
        <p:spPr>
          <a:xfrm>
            <a:off x="777240" y="2377440"/>
            <a:ext cx="2331720" cy="228600"/>
          </a:xfrm>
          <a:prstGeom prst="rect">
            <a:avLst/>
          </a:prstGeom>
          <a:noFill/>
        </p:spPr>
        <p:txBody>
          <a:bodyPr wrap="square" lIns="0" tIns="0" rIns="0" bIns="0" rtlCol="0" anchor="ctr"/>
          <a:lstStyle/>
          <a:p>
            <a:pPr marL="0" indent="0">
              <a:buNone/>
            </a:pPr>
            <a:r>
              <a:rPr lang="en-US" sz="800" b="1" dirty="0">
                <a:solidFill>
                  <a:srgbClr val="E63946"/>
                </a:solidFill>
                <a:latin typeface="Calibri" panose="020F0502020204030204" pitchFamily="34" charset="0"/>
                <a:ea typeface="Calibri" panose="020F0502020204030204" pitchFamily="34" charset="-122"/>
                <a:cs typeface="Calibri" panose="020F0502020204030204" pitchFamily="34" charset="-120"/>
              </a:rPr>
              <a:t>PAUSE BEFORE HIGH-STAKES ACTIONS</a:t>
            </a:r>
            <a:endParaRPr lang="en-US" sz="800" dirty="0"/>
          </a:p>
        </p:txBody>
      </p:sp>
      <p:sp>
        <p:nvSpPr>
          <p:cNvPr id="11" name="Text 9"/>
          <p:cNvSpPr txBox="1"/>
          <p:nvPr/>
        </p:nvSpPr>
        <p:spPr>
          <a:xfrm>
            <a:off x="777240" y="2587752"/>
            <a:ext cx="2331720" cy="228600"/>
          </a:xfrm>
          <a:prstGeom prst="rect">
            <a:avLst/>
          </a:prstGeom>
          <a:noFill/>
        </p:spPr>
        <p:txBody>
          <a:bodyPr wrap="square" lIns="0" tIns="0" rIns="0" bIns="0" rtlCol="0" anchor="ctr"/>
          <a:lstStyle/>
          <a:p>
            <a:pPr marL="0" indent="0">
              <a:buNone/>
            </a:pPr>
            <a:r>
              <a:rPr lang="en-US" sz="800" i="1" dirty="0">
                <a:solidFill>
                  <a:srgbClr val="5B6B82"/>
                </a:solidFill>
                <a:latin typeface="Calibri" panose="020F0502020204030204" pitchFamily="34" charset="0"/>
                <a:ea typeface="Calibri" panose="020F0502020204030204" pitchFamily="34" charset="-122"/>
                <a:cs typeface="Calibri" panose="020F0502020204030204" pitchFamily="34" charset="-120"/>
              </a:rPr>
              <a:t>"Should a human confirm this regimen?"</a:t>
            </a:r>
            <a:endParaRPr lang="en-US" sz="800" dirty="0"/>
          </a:p>
        </p:txBody>
      </p:sp>
      <p:sp>
        <p:nvSpPr>
          <p:cNvPr id="12" name="Text 10"/>
          <p:cNvSpPr txBox="1"/>
          <p:nvPr/>
        </p:nvSpPr>
        <p:spPr>
          <a:xfrm>
            <a:off x="777240" y="2807208"/>
            <a:ext cx="2331720" cy="228600"/>
          </a:xfrm>
          <a:prstGeom prst="rect">
            <a:avLst/>
          </a:prstGeom>
          <a:noFill/>
        </p:spPr>
        <p:txBody>
          <a:bodyPr wrap="square" lIns="0" tIns="0" rIns="0" bIns="0" rtlCol="0" anchor="ctr"/>
          <a:lstStyle/>
          <a:p>
            <a:pPr marL="0" indent="0">
              <a:buNone/>
            </a:pPr>
            <a:r>
              <a:rPr lang="en-US" sz="750" b="1" dirty="0">
                <a:solidFill>
                  <a:srgbClr val="0F2843"/>
                </a:solidFill>
                <a:latin typeface="Calibri" panose="020F0502020204030204" pitchFamily="34" charset="0"/>
                <a:ea typeface="Calibri" panose="020F0502020204030204" pitchFamily="34" charset="-122"/>
                <a:cs typeface="Calibri" panose="020F0502020204030204" pitchFamily="34" charset="-120"/>
              </a:rPr>
              <a:t>LEARNS → Requires explicit sign-off</a:t>
            </a:r>
            <a:endParaRPr lang="en-US" sz="750" dirty="0"/>
          </a:p>
        </p:txBody>
      </p:sp>
      <p:sp>
        <p:nvSpPr>
          <p:cNvPr id="13" name="Shape 11"/>
          <p:cNvSpPr/>
          <p:nvPr/>
        </p:nvSpPr>
        <p:spPr>
          <a:xfrm>
            <a:off x="3383280" y="1600200"/>
            <a:ext cx="2606040" cy="1417320"/>
          </a:xfrm>
          <a:prstGeom prst="roundRect">
            <a:avLst>
              <a:gd name="adj" fmla="val 3871"/>
            </a:avLst>
          </a:prstGeom>
          <a:solidFill>
            <a:srgbClr val="FFFFFF"/>
          </a:solidFill>
          <a:ln w="12700">
            <a:solidFill>
              <a:srgbClr val="EEF2F7"/>
            </a:solidFill>
            <a:prstDash val="solid"/>
          </a:ln>
        </p:spPr>
        <p:txBody>
          <a:bodyPr/>
          <a:p/>
        </p:txBody>
      </p:sp>
      <p:sp>
        <p:nvSpPr>
          <p:cNvPr id="14" name="Shape 12"/>
          <p:cNvSpPr/>
          <p:nvPr/>
        </p:nvSpPr>
        <p:spPr>
          <a:xfrm>
            <a:off x="3520440" y="1709928"/>
            <a:ext cx="292608" cy="292608"/>
          </a:xfrm>
          <a:prstGeom prst="ellipse">
            <a:avLst/>
          </a:prstGeom>
          <a:solidFill>
            <a:srgbClr val="E63946"/>
          </a:solidFill>
        </p:spPr>
        <p:txBody>
          <a:bodyPr/>
          <a:p/>
        </p:txBody>
      </p:sp>
      <p:sp>
        <p:nvSpPr>
          <p:cNvPr id="15" name="Text 13"/>
          <p:cNvSpPr txBox="1"/>
          <p:nvPr/>
        </p:nvSpPr>
        <p:spPr>
          <a:xfrm>
            <a:off x="3520440" y="1709928"/>
            <a:ext cx="292608" cy="292608"/>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100" dirty="0"/>
          </a:p>
        </p:txBody>
      </p:sp>
      <p:sp>
        <p:nvSpPr>
          <p:cNvPr id="16" name="Text 14"/>
          <p:cNvSpPr txBox="1"/>
          <p:nvPr/>
        </p:nvSpPr>
        <p:spPr>
          <a:xfrm>
            <a:off x="3520440" y="2057400"/>
            <a:ext cx="2331720" cy="365760"/>
          </a:xfrm>
          <a:prstGeom prst="rect">
            <a:avLst/>
          </a:prstGeom>
          <a:noFill/>
        </p:spPr>
        <p:txBody>
          <a:bodyPr wrap="square" lIns="0" tIns="0" rIns="0" bIns="0" rtlCol="0" anchor="ctr"/>
          <a:lstStyle/>
          <a:p>
            <a:pPr marL="0" indent="0">
              <a:buNone/>
            </a:pPr>
            <a:r>
              <a:rPr lang="en-US" sz="1100" b="1" dirty="0">
                <a:solidFill>
                  <a:srgbClr val="0F2843"/>
                </a:solidFill>
                <a:latin typeface="Calibri" panose="020F0502020204030204" pitchFamily="34" charset="0"/>
                <a:ea typeface="Calibri" panose="020F0502020204030204" pitchFamily="34" charset="-122"/>
                <a:cs typeface="Calibri" panose="020F0502020204030204" pitchFamily="34" charset="-120"/>
              </a:rPr>
              <a:t>Emergency Override</a:t>
            </a:r>
            <a:endParaRPr lang="en-US" sz="1100" dirty="0"/>
          </a:p>
        </p:txBody>
      </p:sp>
      <p:sp>
        <p:nvSpPr>
          <p:cNvPr id="17" name="Text 15"/>
          <p:cNvSpPr txBox="1"/>
          <p:nvPr/>
        </p:nvSpPr>
        <p:spPr>
          <a:xfrm>
            <a:off x="3520440" y="2377440"/>
            <a:ext cx="2331720" cy="228600"/>
          </a:xfrm>
          <a:prstGeom prst="rect">
            <a:avLst/>
          </a:prstGeom>
          <a:noFill/>
        </p:spPr>
        <p:txBody>
          <a:bodyPr wrap="square" lIns="0" tIns="0" rIns="0" bIns="0" rtlCol="0" anchor="ctr"/>
          <a:lstStyle/>
          <a:p>
            <a:pPr marL="0" indent="0">
              <a:buNone/>
            </a:pPr>
            <a:r>
              <a:rPr lang="en-US" sz="800" b="1" dirty="0">
                <a:solidFill>
                  <a:srgbClr val="E63946"/>
                </a:solidFill>
                <a:latin typeface="Calibri" panose="020F0502020204030204" pitchFamily="34" charset="0"/>
                <a:ea typeface="Calibri" panose="020F0502020204030204" pitchFamily="34" charset="-122"/>
                <a:cs typeface="Calibri" panose="020F0502020204030204" pitchFamily="34" charset="-120"/>
              </a:rPr>
              <a:t>HUMAN CAN STOP IT ANYTIME</a:t>
            </a:r>
            <a:endParaRPr lang="en-US" sz="800" dirty="0"/>
          </a:p>
        </p:txBody>
      </p:sp>
      <p:sp>
        <p:nvSpPr>
          <p:cNvPr id="18" name="Text 16"/>
          <p:cNvSpPr txBox="1"/>
          <p:nvPr/>
        </p:nvSpPr>
        <p:spPr>
          <a:xfrm>
            <a:off x="3520440" y="2587752"/>
            <a:ext cx="2331720" cy="228600"/>
          </a:xfrm>
          <a:prstGeom prst="rect">
            <a:avLst/>
          </a:prstGeom>
          <a:noFill/>
        </p:spPr>
        <p:txBody>
          <a:bodyPr wrap="square" lIns="0" tIns="0" rIns="0" bIns="0" rtlCol="0" anchor="ctr"/>
          <a:lstStyle/>
          <a:p>
            <a:pPr marL="0" indent="0">
              <a:buNone/>
            </a:pPr>
            <a:r>
              <a:rPr lang="en-US" sz="800" i="1" dirty="0">
                <a:solidFill>
                  <a:srgbClr val="5B6B82"/>
                </a:solidFill>
                <a:latin typeface="Calibri" panose="020F0502020204030204" pitchFamily="34" charset="0"/>
                <a:ea typeface="Calibri" panose="020F0502020204030204" pitchFamily="34" charset="-122"/>
                <a:cs typeface="Calibri" panose="020F0502020204030204" pitchFamily="34" charset="-120"/>
              </a:rPr>
              <a:t>"Can the oncologist cancel now?"</a:t>
            </a:r>
            <a:endParaRPr lang="en-US" sz="800" dirty="0"/>
          </a:p>
        </p:txBody>
      </p:sp>
      <p:sp>
        <p:nvSpPr>
          <p:cNvPr id="19" name="Text 17"/>
          <p:cNvSpPr txBox="1"/>
          <p:nvPr/>
        </p:nvSpPr>
        <p:spPr>
          <a:xfrm>
            <a:off x="3520440" y="2807208"/>
            <a:ext cx="2331720" cy="228600"/>
          </a:xfrm>
          <a:prstGeom prst="rect">
            <a:avLst/>
          </a:prstGeom>
          <a:noFill/>
        </p:spPr>
        <p:txBody>
          <a:bodyPr wrap="square" lIns="0" tIns="0" rIns="0" bIns="0" rtlCol="0" anchor="ctr"/>
          <a:lstStyle/>
          <a:p>
            <a:pPr marL="0" indent="0">
              <a:buNone/>
            </a:pPr>
            <a:r>
              <a:rPr lang="en-US" sz="750" b="1" dirty="0">
                <a:solidFill>
                  <a:srgbClr val="0F2843"/>
                </a:solidFill>
                <a:latin typeface="Calibri" panose="020F0502020204030204" pitchFamily="34" charset="0"/>
                <a:ea typeface="Calibri" panose="020F0502020204030204" pitchFamily="34" charset="-122"/>
                <a:cs typeface="Calibri" panose="020F0502020204030204" pitchFamily="34" charset="-120"/>
              </a:rPr>
              <a:t>LEARNS → Immediate halt &amp; manual control</a:t>
            </a:r>
            <a:endParaRPr lang="en-US" sz="750" dirty="0"/>
          </a:p>
        </p:txBody>
      </p:sp>
      <p:sp>
        <p:nvSpPr>
          <p:cNvPr id="20" name="Shape 18"/>
          <p:cNvSpPr/>
          <p:nvPr/>
        </p:nvSpPr>
        <p:spPr>
          <a:xfrm>
            <a:off x="6126480" y="1600200"/>
            <a:ext cx="2606040" cy="1417320"/>
          </a:xfrm>
          <a:prstGeom prst="roundRect">
            <a:avLst>
              <a:gd name="adj" fmla="val 3871"/>
            </a:avLst>
          </a:prstGeom>
          <a:solidFill>
            <a:srgbClr val="FFFFFF"/>
          </a:solidFill>
          <a:ln w="12700">
            <a:solidFill>
              <a:srgbClr val="EEF2F7"/>
            </a:solidFill>
            <a:prstDash val="solid"/>
          </a:ln>
        </p:spPr>
        <p:txBody>
          <a:bodyPr/>
          <a:p/>
        </p:txBody>
      </p:sp>
      <p:sp>
        <p:nvSpPr>
          <p:cNvPr id="21" name="Shape 19"/>
          <p:cNvSpPr/>
          <p:nvPr/>
        </p:nvSpPr>
        <p:spPr>
          <a:xfrm>
            <a:off x="6263640" y="1709928"/>
            <a:ext cx="292608" cy="292608"/>
          </a:xfrm>
          <a:prstGeom prst="ellipse">
            <a:avLst/>
          </a:prstGeom>
          <a:solidFill>
            <a:srgbClr val="E63946"/>
          </a:solidFill>
        </p:spPr>
        <p:txBody>
          <a:bodyPr/>
          <a:p/>
        </p:txBody>
      </p:sp>
      <p:sp>
        <p:nvSpPr>
          <p:cNvPr id="22" name="Text 20"/>
          <p:cNvSpPr txBox="1"/>
          <p:nvPr/>
        </p:nvSpPr>
        <p:spPr>
          <a:xfrm>
            <a:off x="6263640" y="1709928"/>
            <a:ext cx="292608" cy="292608"/>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100" dirty="0"/>
          </a:p>
        </p:txBody>
      </p:sp>
      <p:sp>
        <p:nvSpPr>
          <p:cNvPr id="23" name="Text 21"/>
          <p:cNvSpPr txBox="1"/>
          <p:nvPr/>
        </p:nvSpPr>
        <p:spPr>
          <a:xfrm>
            <a:off x="6263640" y="2057400"/>
            <a:ext cx="2331720" cy="365760"/>
          </a:xfrm>
          <a:prstGeom prst="rect">
            <a:avLst/>
          </a:prstGeom>
          <a:noFill/>
        </p:spPr>
        <p:txBody>
          <a:bodyPr wrap="square" lIns="0" tIns="0" rIns="0" bIns="0" rtlCol="0" anchor="ctr"/>
          <a:lstStyle/>
          <a:p>
            <a:pPr marL="0" indent="0">
              <a:buNone/>
            </a:pPr>
            <a:r>
              <a:rPr lang="en-US" sz="1100" b="1" dirty="0">
                <a:solidFill>
                  <a:srgbClr val="0F2843"/>
                </a:solidFill>
                <a:latin typeface="Calibri" panose="020F0502020204030204" pitchFamily="34" charset="0"/>
                <a:ea typeface="Calibri" panose="020F0502020204030204" pitchFamily="34" charset="-122"/>
                <a:cs typeface="Calibri" panose="020F0502020204030204" pitchFamily="34" charset="-120"/>
              </a:rPr>
              <a:t>Confidence Threshold</a:t>
            </a:r>
            <a:endParaRPr lang="en-US" sz="1100" dirty="0"/>
          </a:p>
        </p:txBody>
      </p:sp>
      <p:sp>
        <p:nvSpPr>
          <p:cNvPr id="24" name="Text 22"/>
          <p:cNvSpPr txBox="1"/>
          <p:nvPr/>
        </p:nvSpPr>
        <p:spPr>
          <a:xfrm>
            <a:off x="6263640" y="2377440"/>
            <a:ext cx="2331720" cy="228600"/>
          </a:xfrm>
          <a:prstGeom prst="rect">
            <a:avLst/>
          </a:prstGeom>
          <a:noFill/>
        </p:spPr>
        <p:txBody>
          <a:bodyPr wrap="square" lIns="0" tIns="0" rIns="0" bIns="0" rtlCol="0" anchor="ctr"/>
          <a:lstStyle/>
          <a:p>
            <a:pPr marL="0" indent="0">
              <a:buNone/>
            </a:pPr>
            <a:r>
              <a:rPr lang="en-US" sz="800" b="1" dirty="0">
                <a:solidFill>
                  <a:srgbClr val="E63946"/>
                </a:solidFill>
                <a:latin typeface="Calibri" panose="020F0502020204030204" pitchFamily="34" charset="0"/>
                <a:ea typeface="Calibri" panose="020F0502020204030204" pitchFamily="34" charset="-122"/>
                <a:cs typeface="Calibri" panose="020F0502020204030204" pitchFamily="34" charset="-120"/>
              </a:rPr>
              <a:t>ESCALATE WHEN UNSURE</a:t>
            </a:r>
            <a:endParaRPr lang="en-US" sz="800" dirty="0"/>
          </a:p>
        </p:txBody>
      </p:sp>
      <p:sp>
        <p:nvSpPr>
          <p:cNvPr id="25" name="Text 23"/>
          <p:cNvSpPr txBox="1"/>
          <p:nvPr/>
        </p:nvSpPr>
        <p:spPr>
          <a:xfrm>
            <a:off x="6263640" y="2587752"/>
            <a:ext cx="2331720" cy="228600"/>
          </a:xfrm>
          <a:prstGeom prst="rect">
            <a:avLst/>
          </a:prstGeom>
          <a:noFill/>
        </p:spPr>
        <p:txBody>
          <a:bodyPr wrap="square" lIns="0" tIns="0" rIns="0" bIns="0" rtlCol="0" anchor="ctr"/>
          <a:lstStyle/>
          <a:p>
            <a:pPr marL="0" indent="0">
              <a:buNone/>
            </a:pPr>
            <a:r>
              <a:rPr lang="en-US" sz="800" i="1" dirty="0">
                <a:solidFill>
                  <a:srgbClr val="5B6B82"/>
                </a:solidFill>
                <a:latin typeface="Calibri" panose="020F0502020204030204" pitchFamily="34" charset="0"/>
                <a:ea typeface="Calibri" panose="020F0502020204030204" pitchFamily="34" charset="-122"/>
                <a:cs typeface="Calibri" panose="020F0502020204030204" pitchFamily="34" charset="-120"/>
              </a:rPr>
              <a:t>"Is the agent confident enough to act alone?"</a:t>
            </a:r>
            <a:endParaRPr lang="en-US" sz="800" dirty="0"/>
          </a:p>
        </p:txBody>
      </p:sp>
      <p:sp>
        <p:nvSpPr>
          <p:cNvPr id="26" name="Text 24"/>
          <p:cNvSpPr txBox="1"/>
          <p:nvPr/>
        </p:nvSpPr>
        <p:spPr>
          <a:xfrm>
            <a:off x="6263640" y="2807208"/>
            <a:ext cx="2331720" cy="228600"/>
          </a:xfrm>
          <a:prstGeom prst="rect">
            <a:avLst/>
          </a:prstGeom>
          <a:noFill/>
        </p:spPr>
        <p:txBody>
          <a:bodyPr wrap="square" lIns="0" tIns="0" rIns="0" bIns="0" rtlCol="0" anchor="ctr"/>
          <a:lstStyle/>
          <a:p>
            <a:pPr marL="0" indent="0">
              <a:buNone/>
            </a:pPr>
            <a:r>
              <a:rPr lang="en-US" sz="750" b="1" dirty="0">
                <a:solidFill>
                  <a:srgbClr val="0F2843"/>
                </a:solidFill>
                <a:latin typeface="Calibri" panose="020F0502020204030204" pitchFamily="34" charset="0"/>
                <a:ea typeface="Calibri" panose="020F0502020204030204" pitchFamily="34" charset="-122"/>
                <a:cs typeface="Calibri" panose="020F0502020204030204" pitchFamily="34" charset="-120"/>
              </a:rPr>
              <a:t>LEARNS → Routes to human if below threshold</a:t>
            </a:r>
            <a:endParaRPr lang="en-US" sz="750" dirty="0"/>
          </a:p>
        </p:txBody>
      </p:sp>
      <p:sp>
        <p:nvSpPr>
          <p:cNvPr id="27" name="Shape 25"/>
          <p:cNvSpPr/>
          <p:nvPr/>
        </p:nvSpPr>
        <p:spPr>
          <a:xfrm>
            <a:off x="8869680" y="1600200"/>
            <a:ext cx="2606040" cy="1417320"/>
          </a:xfrm>
          <a:prstGeom prst="roundRect">
            <a:avLst>
              <a:gd name="adj" fmla="val 3871"/>
            </a:avLst>
          </a:prstGeom>
          <a:solidFill>
            <a:srgbClr val="FFFFFF"/>
          </a:solidFill>
          <a:ln w="12700">
            <a:solidFill>
              <a:srgbClr val="EEF2F7"/>
            </a:solidFill>
            <a:prstDash val="solid"/>
          </a:ln>
        </p:spPr>
        <p:txBody>
          <a:bodyPr/>
          <a:p/>
        </p:txBody>
      </p:sp>
      <p:sp>
        <p:nvSpPr>
          <p:cNvPr id="28" name="Shape 26"/>
          <p:cNvSpPr/>
          <p:nvPr/>
        </p:nvSpPr>
        <p:spPr>
          <a:xfrm>
            <a:off x="9006840" y="1709928"/>
            <a:ext cx="292608" cy="292608"/>
          </a:xfrm>
          <a:prstGeom prst="ellipse">
            <a:avLst/>
          </a:prstGeom>
          <a:solidFill>
            <a:srgbClr val="E63946"/>
          </a:solidFill>
        </p:spPr>
        <p:txBody>
          <a:bodyPr/>
          <a:p/>
        </p:txBody>
      </p:sp>
      <p:sp>
        <p:nvSpPr>
          <p:cNvPr id="29" name="Text 27"/>
          <p:cNvSpPr txBox="1"/>
          <p:nvPr/>
        </p:nvSpPr>
        <p:spPr>
          <a:xfrm>
            <a:off x="9006840" y="1709928"/>
            <a:ext cx="292608" cy="292608"/>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100" dirty="0"/>
          </a:p>
        </p:txBody>
      </p:sp>
      <p:sp>
        <p:nvSpPr>
          <p:cNvPr id="30" name="Text 28"/>
          <p:cNvSpPr txBox="1"/>
          <p:nvPr/>
        </p:nvSpPr>
        <p:spPr>
          <a:xfrm>
            <a:off x="9006840" y="2057400"/>
            <a:ext cx="2331720" cy="365760"/>
          </a:xfrm>
          <a:prstGeom prst="rect">
            <a:avLst/>
          </a:prstGeom>
          <a:noFill/>
        </p:spPr>
        <p:txBody>
          <a:bodyPr wrap="square" lIns="0" tIns="0" rIns="0" bIns="0" rtlCol="0" anchor="ctr"/>
          <a:lstStyle/>
          <a:p>
            <a:pPr marL="0" indent="0">
              <a:buNone/>
            </a:pPr>
            <a:r>
              <a:rPr lang="en-US" sz="1100" b="1" dirty="0">
                <a:solidFill>
                  <a:srgbClr val="0F2843"/>
                </a:solidFill>
                <a:latin typeface="Calibri" panose="020F0502020204030204" pitchFamily="34" charset="0"/>
                <a:ea typeface="Calibri" panose="020F0502020204030204" pitchFamily="34" charset="-122"/>
                <a:cs typeface="Calibri" panose="020F0502020204030204" pitchFamily="34" charset="-120"/>
              </a:rPr>
              <a:t>Audit Trail</a:t>
            </a:r>
            <a:endParaRPr lang="en-US" sz="1100" dirty="0"/>
          </a:p>
        </p:txBody>
      </p:sp>
      <p:sp>
        <p:nvSpPr>
          <p:cNvPr id="31" name="Text 29"/>
          <p:cNvSpPr txBox="1"/>
          <p:nvPr/>
        </p:nvSpPr>
        <p:spPr>
          <a:xfrm>
            <a:off x="9006840" y="2377440"/>
            <a:ext cx="2331720" cy="228600"/>
          </a:xfrm>
          <a:prstGeom prst="rect">
            <a:avLst/>
          </a:prstGeom>
          <a:noFill/>
        </p:spPr>
        <p:txBody>
          <a:bodyPr wrap="square" lIns="0" tIns="0" rIns="0" bIns="0" rtlCol="0" anchor="ctr"/>
          <a:lstStyle/>
          <a:p>
            <a:pPr marL="0" indent="0">
              <a:buNone/>
            </a:pPr>
            <a:r>
              <a:rPr lang="en-US" sz="800" b="1" dirty="0">
                <a:solidFill>
                  <a:srgbClr val="E63946"/>
                </a:solidFill>
                <a:latin typeface="Calibri" panose="020F0502020204030204" pitchFamily="34" charset="0"/>
                <a:ea typeface="Calibri" panose="020F0502020204030204" pitchFamily="34" charset="-122"/>
                <a:cs typeface="Calibri" panose="020F0502020204030204" pitchFamily="34" charset="-120"/>
              </a:rPr>
              <a:t>EVERY DECISION IS LOGGED</a:t>
            </a:r>
            <a:endParaRPr lang="en-US" sz="800" dirty="0"/>
          </a:p>
        </p:txBody>
      </p:sp>
      <p:sp>
        <p:nvSpPr>
          <p:cNvPr id="32" name="Text 30"/>
          <p:cNvSpPr txBox="1"/>
          <p:nvPr/>
        </p:nvSpPr>
        <p:spPr>
          <a:xfrm>
            <a:off x="9006840" y="2587752"/>
            <a:ext cx="2331720" cy="228600"/>
          </a:xfrm>
          <a:prstGeom prst="rect">
            <a:avLst/>
          </a:prstGeom>
          <a:noFill/>
        </p:spPr>
        <p:txBody>
          <a:bodyPr wrap="square" lIns="0" tIns="0" rIns="0" bIns="0" rtlCol="0" anchor="ctr"/>
          <a:lstStyle/>
          <a:p>
            <a:pPr marL="0" indent="0">
              <a:buNone/>
            </a:pPr>
            <a:r>
              <a:rPr lang="en-US" sz="800" i="1" dirty="0">
                <a:solidFill>
                  <a:srgbClr val="5B6B82"/>
                </a:solidFill>
                <a:latin typeface="Calibri" panose="020F0502020204030204" pitchFamily="34" charset="0"/>
                <a:ea typeface="Calibri" panose="020F0502020204030204" pitchFamily="34" charset="-122"/>
                <a:cs typeface="Calibri" panose="020F0502020204030204" pitchFamily="34" charset="-120"/>
              </a:rPr>
              <a:t>"Why did the agent choose this?"</a:t>
            </a:r>
            <a:endParaRPr lang="en-US" sz="800" dirty="0"/>
          </a:p>
        </p:txBody>
      </p:sp>
      <p:sp>
        <p:nvSpPr>
          <p:cNvPr id="33" name="Text 31"/>
          <p:cNvSpPr txBox="1"/>
          <p:nvPr/>
        </p:nvSpPr>
        <p:spPr>
          <a:xfrm>
            <a:off x="9006840" y="2807208"/>
            <a:ext cx="2331720" cy="228600"/>
          </a:xfrm>
          <a:prstGeom prst="rect">
            <a:avLst/>
          </a:prstGeom>
          <a:noFill/>
        </p:spPr>
        <p:txBody>
          <a:bodyPr wrap="square" lIns="0" tIns="0" rIns="0" bIns="0" rtlCol="0" anchor="ctr"/>
          <a:lstStyle/>
          <a:p>
            <a:pPr marL="0" indent="0">
              <a:buNone/>
            </a:pPr>
            <a:r>
              <a:rPr lang="en-US" sz="750" b="1" dirty="0">
                <a:solidFill>
                  <a:srgbClr val="0F2843"/>
                </a:solidFill>
                <a:latin typeface="Calibri" panose="020F0502020204030204" pitchFamily="34" charset="0"/>
                <a:ea typeface="Calibri" panose="020F0502020204030204" pitchFamily="34" charset="-122"/>
                <a:cs typeface="Calibri" panose="020F0502020204030204" pitchFamily="34" charset="-120"/>
              </a:rPr>
              <a:t>LEARNS → Transparent reasoning trace</a:t>
            </a:r>
            <a:endParaRPr lang="en-US" sz="750" dirty="0"/>
          </a:p>
        </p:txBody>
      </p:sp>
      <p:sp>
        <p:nvSpPr>
          <p:cNvPr id="34" name="Shape 32"/>
          <p:cNvSpPr/>
          <p:nvPr/>
        </p:nvSpPr>
        <p:spPr>
          <a:xfrm>
            <a:off x="640080" y="3154680"/>
            <a:ext cx="2606040" cy="960120"/>
          </a:xfrm>
          <a:prstGeom prst="roundRect">
            <a:avLst>
              <a:gd name="adj" fmla="val 5714"/>
            </a:avLst>
          </a:prstGeom>
          <a:solidFill>
            <a:srgbClr val="FFFFFF"/>
          </a:solidFill>
          <a:ln w="12700">
            <a:solidFill>
              <a:srgbClr val="EEF2F7"/>
            </a:solidFill>
            <a:prstDash val="solid"/>
          </a:ln>
        </p:spPr>
        <p:txBody>
          <a:bodyPr/>
          <a:p/>
        </p:txBody>
      </p:sp>
      <p:sp>
        <p:nvSpPr>
          <p:cNvPr id="35" name="Shape 33"/>
          <p:cNvSpPr/>
          <p:nvPr/>
        </p:nvSpPr>
        <p:spPr>
          <a:xfrm>
            <a:off x="777240" y="3264408"/>
            <a:ext cx="292608" cy="292608"/>
          </a:xfrm>
          <a:prstGeom prst="ellipse">
            <a:avLst/>
          </a:prstGeom>
          <a:solidFill>
            <a:srgbClr val="E63946"/>
          </a:solidFill>
        </p:spPr>
        <p:txBody>
          <a:bodyPr/>
          <a:p/>
        </p:txBody>
      </p:sp>
      <p:sp>
        <p:nvSpPr>
          <p:cNvPr id="36" name="Text 34"/>
          <p:cNvSpPr txBox="1"/>
          <p:nvPr/>
        </p:nvSpPr>
        <p:spPr>
          <a:xfrm>
            <a:off x="777240" y="3264408"/>
            <a:ext cx="292608" cy="292608"/>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100" dirty="0"/>
          </a:p>
        </p:txBody>
      </p:sp>
      <p:sp>
        <p:nvSpPr>
          <p:cNvPr id="37" name="Text 35"/>
          <p:cNvSpPr txBox="1"/>
          <p:nvPr/>
        </p:nvSpPr>
        <p:spPr>
          <a:xfrm>
            <a:off x="777240" y="3611880"/>
            <a:ext cx="2331720" cy="457200"/>
          </a:xfrm>
          <a:prstGeom prst="rect">
            <a:avLst/>
          </a:prstGeom>
          <a:noFill/>
        </p:spPr>
        <p:txBody>
          <a:bodyPr wrap="square" lIns="0" tIns="0" rIns="0" bIns="0" rtlCol="0" anchor="ctr"/>
          <a:lstStyle/>
          <a:p>
            <a:pPr marL="0" indent="0">
              <a:buNone/>
            </a:pPr>
            <a:r>
              <a:rPr lang="en-US" sz="1050" b="1" dirty="0">
                <a:solidFill>
                  <a:srgbClr val="0F2843"/>
                </a:solidFill>
                <a:latin typeface="Calibri" panose="020F0502020204030204" pitchFamily="34" charset="0"/>
                <a:ea typeface="Calibri" panose="020F0502020204030204" pitchFamily="34" charset="-122"/>
                <a:cs typeface="Calibri" panose="020F0502020204030204" pitchFamily="34" charset="-120"/>
              </a:rPr>
              <a:t>Guardrails / Policy Constraints</a:t>
            </a:r>
            <a:endParaRPr lang="en-US" sz="1050" dirty="0"/>
          </a:p>
        </p:txBody>
      </p:sp>
      <p:sp>
        <p:nvSpPr>
          <p:cNvPr id="38" name="Shape 36"/>
          <p:cNvSpPr/>
          <p:nvPr/>
        </p:nvSpPr>
        <p:spPr>
          <a:xfrm>
            <a:off x="3383280" y="3154680"/>
            <a:ext cx="8138160" cy="960120"/>
          </a:xfrm>
          <a:prstGeom prst="roundRect">
            <a:avLst>
              <a:gd name="adj" fmla="val 5714"/>
            </a:avLst>
          </a:prstGeom>
          <a:solidFill>
            <a:srgbClr val="FFE3E4"/>
          </a:solidFill>
        </p:spPr>
        <p:txBody>
          <a:bodyPr/>
          <a:p/>
        </p:txBody>
      </p:sp>
      <p:sp>
        <p:nvSpPr>
          <p:cNvPr id="39" name="Text 37"/>
          <p:cNvSpPr txBox="1"/>
          <p:nvPr/>
        </p:nvSpPr>
        <p:spPr>
          <a:xfrm>
            <a:off x="3611880" y="3154680"/>
            <a:ext cx="7680960" cy="960120"/>
          </a:xfrm>
          <a:prstGeom prst="rect">
            <a:avLst/>
          </a:prstGeom>
          <a:noFill/>
        </p:spPr>
        <p:txBody>
          <a:bodyPr wrap="square" lIns="0" tIns="0" rIns="0" bIns="0" rtlCol="0" anchor="ctr"/>
          <a:lstStyle/>
          <a:p>
            <a:pPr marL="0" indent="0">
              <a:buNone/>
            </a:pPr>
            <a:r>
              <a:rPr lang="en-US" sz="1100" i="1" dirty="0">
                <a:solidFill>
                  <a:srgbClr val="0F2843"/>
                </a:solidFill>
                <a:latin typeface="Calibri" panose="020F0502020204030204" pitchFamily="34" charset="0"/>
                <a:ea typeface="Calibri" panose="020F0502020204030204" pitchFamily="34" charset="-122"/>
                <a:cs typeface="Calibri" panose="020F0502020204030204" pitchFamily="34" charset="-120"/>
              </a:rPr>
              <a:t>"What is the agent never allowed to do?"  →  Blocked / re-routed action</a:t>
            </a:r>
            <a:endParaRPr lang="en-US" sz="1100" dirty="0"/>
          </a:p>
        </p:txBody>
      </p:sp>
      <p:sp>
        <p:nvSpPr>
          <p:cNvPr id="40" name="Shape 38"/>
          <p:cNvSpPr/>
          <p:nvPr/>
        </p:nvSpPr>
        <p:spPr>
          <a:xfrm>
            <a:off x="640080" y="4297680"/>
            <a:ext cx="10881360" cy="384048"/>
          </a:xfrm>
          <a:prstGeom prst="roundRect">
            <a:avLst>
              <a:gd name="adj" fmla="val 11905"/>
            </a:avLst>
          </a:prstGeom>
          <a:solidFill>
            <a:srgbClr val="FFB627"/>
          </a:solidFill>
        </p:spPr>
        <p:txBody>
          <a:bodyPr/>
          <a:p/>
        </p:txBody>
      </p:sp>
      <p:sp>
        <p:nvSpPr>
          <p:cNvPr id="41" name="Text 39"/>
          <p:cNvSpPr txBox="1"/>
          <p:nvPr/>
        </p:nvSpPr>
        <p:spPr>
          <a:xfrm>
            <a:off x="822960" y="4297680"/>
            <a:ext cx="10515600" cy="384048"/>
          </a:xfrm>
          <a:prstGeom prst="rect">
            <a:avLst/>
          </a:prstGeom>
          <a:noFill/>
        </p:spPr>
        <p:txBody>
          <a:bodyPr wrap="square" lIns="0" tIns="0" rIns="0" bIns="0" rtlCol="0" anchor="ctr"/>
          <a:lstStyle/>
          <a:p>
            <a:pPr marL="0" indent="0">
              <a:buNone/>
            </a:pPr>
            <a:r>
              <a:rPr lang="en-US" sz="1100" b="1" dirty="0">
                <a:solidFill>
                  <a:srgbClr val="081527"/>
                </a:solidFill>
                <a:latin typeface="Calibri" panose="020F0502020204030204" pitchFamily="34" charset="0"/>
                <a:ea typeface="Calibri" panose="020F0502020204030204" pitchFamily="34" charset="-122"/>
                <a:cs typeface="Calibri" panose="020F0502020204030204" pitchFamily="34" charset="-120"/>
              </a:rPr>
              <a:t>🎯 REMEMBER:  PAUSE • STOP • ESCALATE • LOG • CONSTRAIN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502920"/>
          </a:xfrm>
          <a:prstGeom prst="rect">
            <a:avLst/>
          </a:prstGeom>
          <a:noFill/>
        </p:spPr>
        <p:txBody>
          <a:bodyPr wrap="square" lIns="0" tIns="0" rIns="0" bIns="0" rtlCol="0" anchor="ctr"/>
          <a:lstStyle/>
          <a:p>
            <a:pPr marL="0" indent="0">
              <a:buNone/>
            </a:pPr>
            <a:r>
              <a:rPr lang="en-US" sz="2700" b="1" dirty="0">
                <a:solidFill>
                  <a:srgbClr val="0F2843"/>
                </a:solidFill>
                <a:latin typeface="Cambria" panose="02040503050406030204" pitchFamily="34" charset="0"/>
                <a:ea typeface="Cambria" panose="02040503050406030204" pitchFamily="34" charset="-122"/>
                <a:cs typeface="Cambria" panose="02040503050406030204" pitchFamily="34" charset="-120"/>
              </a:rPr>
              <a:t>How Should the Agent Decide?</a:t>
            </a:r>
            <a:endParaRPr lang="en-US" sz="2700" dirty="0"/>
          </a:p>
        </p:txBody>
      </p:sp>
      <p:sp>
        <p:nvSpPr>
          <p:cNvPr id="3" name="Text 1"/>
          <p:cNvSpPr txBox="1"/>
          <p:nvPr/>
        </p:nvSpPr>
        <p:spPr>
          <a:xfrm>
            <a:off x="640080" y="960120"/>
            <a:ext cx="10515600" cy="36576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Two patients need therapy. Only one trial slot is available. What should the agent check first?</a:t>
            </a:r>
            <a:endParaRPr lang="en-US" sz="1200" dirty="0"/>
          </a:p>
        </p:txBody>
      </p:sp>
      <p:sp>
        <p:nvSpPr>
          <p:cNvPr id="4" name="Shape 2"/>
          <p:cNvSpPr/>
          <p:nvPr/>
        </p:nvSpPr>
        <p:spPr>
          <a:xfrm>
            <a:off x="640080" y="1508760"/>
            <a:ext cx="6217920" cy="502920"/>
          </a:xfrm>
          <a:prstGeom prst="roundRect">
            <a:avLst>
              <a:gd name="adj" fmla="val 10909"/>
            </a:avLst>
          </a:prstGeom>
          <a:solidFill>
            <a:srgbClr val="FFFFFF"/>
          </a:solidFill>
          <a:ln w="12700">
            <a:solidFill>
              <a:srgbClr val="EEF2F7"/>
            </a:solidFill>
            <a:prstDash val="solid"/>
          </a:ln>
        </p:spPr>
        <p:txBody>
          <a:bodyPr/>
          <a:p/>
        </p:txBody>
      </p:sp>
      <p:sp>
        <p:nvSpPr>
          <p:cNvPr id="5" name="Text 3"/>
          <p:cNvSpPr txBox="1"/>
          <p:nvPr/>
        </p:nvSpPr>
        <p:spPr>
          <a:xfrm>
            <a:off x="868680" y="1508760"/>
            <a:ext cx="5760720" cy="502920"/>
          </a:xfrm>
          <a:prstGeom prst="rect">
            <a:avLst/>
          </a:prstGeom>
          <a:noFill/>
        </p:spPr>
        <p:txBody>
          <a:bodyPr wrap="square" lIns="0" tIns="0" rIns="0" bIns="0" rtlCol="0" anchor="ctr"/>
          <a:lstStyle/>
          <a:p>
            <a:pPr marL="0" indent="0">
              <a:buNone/>
            </a:pPr>
            <a:r>
              <a:rPr lang="en-US" sz="1300" b="1" dirty="0">
                <a:solidFill>
                  <a:srgbClr val="0F2843"/>
                </a:solidFill>
                <a:latin typeface="Calibri" panose="020F0502020204030204" pitchFamily="34" charset="0"/>
                <a:ea typeface="Calibri" panose="020F0502020204030204" pitchFamily="34" charset="-122"/>
                <a:cs typeface="Calibri" panose="020F0502020204030204" pitchFamily="34" charset="-120"/>
              </a:rPr>
              <a:t>Patient A risk = Severe?</a:t>
            </a:r>
            <a:endParaRPr lang="en-US" sz="1300" dirty="0"/>
          </a:p>
        </p:txBody>
      </p:sp>
      <p:sp>
        <p:nvSpPr>
          <p:cNvPr id="6" name="Text 4"/>
          <p:cNvSpPr txBox="1"/>
          <p:nvPr/>
        </p:nvSpPr>
        <p:spPr>
          <a:xfrm>
            <a:off x="868680" y="2011680"/>
            <a:ext cx="2743200" cy="274320"/>
          </a:xfrm>
          <a:prstGeom prst="rect">
            <a:avLst/>
          </a:prstGeom>
          <a:noFill/>
        </p:spPr>
        <p:txBody>
          <a:bodyPr wrap="square" lIns="0" tIns="0" rIns="0" bIns="0" rtlCol="0" anchor="ctr"/>
          <a:lstStyle/>
          <a:p>
            <a:pPr marL="0" indent="0">
              <a:buNone/>
            </a:pPr>
            <a:r>
              <a:rPr lang="en-US" sz="1100" b="1" dirty="0">
                <a:solidFill>
                  <a:srgbClr val="2A9D8F"/>
                </a:solidFill>
                <a:latin typeface="Calibri" panose="020F0502020204030204" pitchFamily="34" charset="0"/>
                <a:ea typeface="Calibri" panose="020F0502020204030204" pitchFamily="34" charset="-122"/>
                <a:cs typeface="Calibri" panose="020F0502020204030204" pitchFamily="34" charset="-120"/>
              </a:rPr>
              <a:t>↓ YES</a:t>
            </a:r>
            <a:endParaRPr lang="en-US" sz="1100" dirty="0"/>
          </a:p>
        </p:txBody>
      </p:sp>
      <p:sp>
        <p:nvSpPr>
          <p:cNvPr id="7" name="Shape 5"/>
          <p:cNvSpPr/>
          <p:nvPr/>
        </p:nvSpPr>
        <p:spPr>
          <a:xfrm>
            <a:off x="640080" y="2286000"/>
            <a:ext cx="6217920" cy="502920"/>
          </a:xfrm>
          <a:prstGeom prst="roundRect">
            <a:avLst>
              <a:gd name="adj" fmla="val 10909"/>
            </a:avLst>
          </a:prstGeom>
          <a:solidFill>
            <a:srgbClr val="FFFFFF"/>
          </a:solidFill>
          <a:ln w="12700">
            <a:solidFill>
              <a:srgbClr val="EEF2F7"/>
            </a:solidFill>
            <a:prstDash val="solid"/>
          </a:ln>
        </p:spPr>
        <p:txBody>
          <a:bodyPr/>
          <a:p/>
        </p:txBody>
      </p:sp>
      <p:sp>
        <p:nvSpPr>
          <p:cNvPr id="8" name="Text 6"/>
          <p:cNvSpPr txBox="1"/>
          <p:nvPr/>
        </p:nvSpPr>
        <p:spPr>
          <a:xfrm>
            <a:off x="868680" y="2286000"/>
            <a:ext cx="5760720" cy="502920"/>
          </a:xfrm>
          <a:prstGeom prst="rect">
            <a:avLst/>
          </a:prstGeom>
          <a:noFill/>
        </p:spPr>
        <p:txBody>
          <a:bodyPr wrap="square" lIns="0" tIns="0" rIns="0" bIns="0" rtlCol="0" anchor="ctr"/>
          <a:lstStyle/>
          <a:p>
            <a:pPr marL="0" indent="0">
              <a:buNone/>
            </a:pPr>
            <a:r>
              <a:rPr lang="en-US" sz="1300" b="1" dirty="0">
                <a:solidFill>
                  <a:srgbClr val="0F2843"/>
                </a:solidFill>
                <a:latin typeface="Calibri" panose="020F0502020204030204" pitchFamily="34" charset="0"/>
                <a:ea typeface="Calibri" panose="020F0502020204030204" pitchFamily="34" charset="-122"/>
                <a:cs typeface="Calibri" panose="020F0502020204030204" pitchFamily="34" charset="-120"/>
              </a:rPr>
              <a:t>Patient B risk = Severe?</a:t>
            </a:r>
            <a:endParaRPr lang="en-US" sz="1300" dirty="0"/>
          </a:p>
        </p:txBody>
      </p:sp>
      <p:sp>
        <p:nvSpPr>
          <p:cNvPr id="9" name="Text 7"/>
          <p:cNvSpPr txBox="1"/>
          <p:nvPr/>
        </p:nvSpPr>
        <p:spPr>
          <a:xfrm>
            <a:off x="868680" y="2788920"/>
            <a:ext cx="2743200" cy="274320"/>
          </a:xfrm>
          <a:prstGeom prst="rect">
            <a:avLst/>
          </a:prstGeom>
          <a:noFill/>
        </p:spPr>
        <p:txBody>
          <a:bodyPr wrap="square" lIns="0" tIns="0" rIns="0" bIns="0" rtlCol="0" anchor="ctr"/>
          <a:lstStyle/>
          <a:p>
            <a:pPr marL="0" indent="0">
              <a:buNone/>
            </a:pPr>
            <a:r>
              <a:rPr lang="en-US" sz="1100" b="1" dirty="0">
                <a:solidFill>
                  <a:srgbClr val="2A9D8F"/>
                </a:solidFill>
                <a:latin typeface="Calibri" panose="020F0502020204030204" pitchFamily="34" charset="0"/>
                <a:ea typeface="Calibri" panose="020F0502020204030204" pitchFamily="34" charset="-122"/>
                <a:cs typeface="Calibri" panose="020F0502020204030204" pitchFamily="34" charset="-120"/>
              </a:rPr>
              <a:t>↓ YES</a:t>
            </a:r>
            <a:endParaRPr lang="en-US" sz="1100" dirty="0"/>
          </a:p>
        </p:txBody>
      </p:sp>
      <p:sp>
        <p:nvSpPr>
          <p:cNvPr id="10" name="Shape 8"/>
          <p:cNvSpPr/>
          <p:nvPr/>
        </p:nvSpPr>
        <p:spPr>
          <a:xfrm>
            <a:off x="640080" y="3063240"/>
            <a:ext cx="6217920" cy="502920"/>
          </a:xfrm>
          <a:prstGeom prst="roundRect">
            <a:avLst>
              <a:gd name="adj" fmla="val 10909"/>
            </a:avLst>
          </a:prstGeom>
          <a:solidFill>
            <a:srgbClr val="FFFFFF"/>
          </a:solidFill>
          <a:ln w="12700">
            <a:solidFill>
              <a:srgbClr val="EEF2F7"/>
            </a:solidFill>
            <a:prstDash val="solid"/>
          </a:ln>
        </p:spPr>
        <p:txBody>
          <a:bodyPr/>
          <a:p/>
        </p:txBody>
      </p:sp>
      <p:sp>
        <p:nvSpPr>
          <p:cNvPr id="11" name="Text 9"/>
          <p:cNvSpPr txBox="1"/>
          <p:nvPr/>
        </p:nvSpPr>
        <p:spPr>
          <a:xfrm>
            <a:off x="868680" y="3063240"/>
            <a:ext cx="5760720" cy="502920"/>
          </a:xfrm>
          <a:prstGeom prst="rect">
            <a:avLst/>
          </a:prstGeom>
          <a:noFill/>
        </p:spPr>
        <p:txBody>
          <a:bodyPr wrap="square" lIns="0" tIns="0" rIns="0" bIns="0" rtlCol="0" anchor="ctr"/>
          <a:lstStyle/>
          <a:p>
            <a:pPr marL="0" indent="0">
              <a:buNone/>
            </a:pPr>
            <a:r>
              <a:rPr lang="en-US" sz="1300" b="1" dirty="0">
                <a:solidFill>
                  <a:srgbClr val="0F2843"/>
                </a:solidFill>
                <a:latin typeface="Calibri" panose="020F0502020204030204" pitchFamily="34" charset="0"/>
                <a:ea typeface="Calibri" panose="020F0502020204030204" pitchFamily="34" charset="-122"/>
                <a:cs typeface="Calibri" panose="020F0502020204030204" pitchFamily="34" charset="-120"/>
              </a:rPr>
              <a:t>Compare ctDNA trend: 6 vs 2 readings</a:t>
            </a:r>
            <a:endParaRPr lang="en-US" sz="1300" dirty="0"/>
          </a:p>
        </p:txBody>
      </p:sp>
      <p:sp>
        <p:nvSpPr>
          <p:cNvPr id="12" name="Text 10"/>
          <p:cNvSpPr txBox="1"/>
          <p:nvPr/>
        </p:nvSpPr>
        <p:spPr>
          <a:xfrm>
            <a:off x="868680" y="3566160"/>
            <a:ext cx="2743200" cy="274320"/>
          </a:xfrm>
          <a:prstGeom prst="rect">
            <a:avLst/>
          </a:prstGeom>
          <a:noFill/>
        </p:spPr>
        <p:txBody>
          <a:bodyPr wrap="square" lIns="0" tIns="0" rIns="0" bIns="0" rtlCol="0" anchor="ctr"/>
          <a:lstStyle/>
          <a:p>
            <a:pPr marL="0" indent="0">
              <a:buNone/>
            </a:pPr>
            <a:r>
              <a:rPr lang="en-US" sz="1100" b="1" dirty="0">
                <a:solidFill>
                  <a:srgbClr val="2A9D8F"/>
                </a:solidFill>
                <a:latin typeface="Calibri" panose="020F0502020204030204" pitchFamily="34" charset="0"/>
                <a:ea typeface="Calibri" panose="020F0502020204030204" pitchFamily="34" charset="-122"/>
                <a:cs typeface="Calibri" panose="020F0502020204030204" pitchFamily="34" charset="-120"/>
              </a:rPr>
              <a:t>↓ YES</a:t>
            </a:r>
            <a:endParaRPr lang="en-US" sz="1100" dirty="0"/>
          </a:p>
        </p:txBody>
      </p:sp>
      <p:sp>
        <p:nvSpPr>
          <p:cNvPr id="13" name="Shape 11"/>
          <p:cNvSpPr/>
          <p:nvPr/>
        </p:nvSpPr>
        <p:spPr>
          <a:xfrm>
            <a:off x="640080" y="3840480"/>
            <a:ext cx="6217920" cy="548640"/>
          </a:xfrm>
          <a:prstGeom prst="roundRect">
            <a:avLst>
              <a:gd name="adj" fmla="val 10000"/>
            </a:avLst>
          </a:prstGeom>
          <a:solidFill>
            <a:srgbClr val="E63946"/>
          </a:solidFill>
        </p:spPr>
        <p:txBody>
          <a:bodyPr/>
          <a:p/>
        </p:txBody>
      </p:sp>
      <p:sp>
        <p:nvSpPr>
          <p:cNvPr id="14" name="Text 12"/>
          <p:cNvSpPr txBox="1"/>
          <p:nvPr/>
        </p:nvSpPr>
        <p:spPr>
          <a:xfrm>
            <a:off x="868680" y="3840480"/>
            <a:ext cx="5760720" cy="548640"/>
          </a:xfrm>
          <a:prstGeom prst="rect">
            <a:avLst/>
          </a:prstGeom>
          <a:noFill/>
        </p:spPr>
        <p:txBody>
          <a:bodyPr wrap="square" lIns="0" tIns="0" rIns="0" bIns="0"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 ENROLL PATIENT A — reroute Patient B</a:t>
            </a:r>
            <a:endParaRPr lang="en-US" sz="1400" dirty="0"/>
          </a:p>
        </p:txBody>
      </p:sp>
      <p:sp>
        <p:nvSpPr>
          <p:cNvPr id="15" name="Shape 13"/>
          <p:cNvSpPr/>
          <p:nvPr/>
        </p:nvSpPr>
        <p:spPr>
          <a:xfrm>
            <a:off x="7178040" y="1508760"/>
            <a:ext cx="4343400" cy="1828800"/>
          </a:xfrm>
          <a:prstGeom prst="roundRect">
            <a:avLst>
              <a:gd name="adj" fmla="val 4000"/>
            </a:avLst>
          </a:prstGeom>
          <a:solidFill>
            <a:srgbClr val="0F2843"/>
          </a:solidFill>
        </p:spPr>
        <p:txBody>
          <a:bodyPr/>
          <a:p/>
        </p:txBody>
      </p:sp>
      <p:sp>
        <p:nvSpPr>
          <p:cNvPr id="16" name="Text 14"/>
          <p:cNvSpPr txBox="1"/>
          <p:nvPr/>
        </p:nvSpPr>
        <p:spPr>
          <a:xfrm>
            <a:off x="7406640" y="1691640"/>
            <a:ext cx="3886200" cy="457200"/>
          </a:xfrm>
          <a:prstGeom prst="rect">
            <a:avLst/>
          </a:prstGeom>
          <a:noFill/>
        </p:spPr>
        <p:txBody>
          <a:bodyPr wrap="square" lIns="0" tIns="0" rIns="0" bIns="0" rtlCol="0" anchor="ctr"/>
          <a:lstStyle/>
          <a:p>
            <a:pPr marL="0" indent="0">
              <a:buNone/>
            </a:pPr>
            <a:r>
              <a:rPr lang="en-US" sz="1600" b="1" dirty="0">
                <a:solidFill>
                  <a:srgbClr val="FFB627"/>
                </a:solidFill>
                <a:latin typeface="Calibri" panose="020F0502020204030204" pitchFamily="34" charset="0"/>
                <a:ea typeface="Calibri" panose="020F0502020204030204" pitchFamily="34" charset="-122"/>
                <a:cs typeface="Calibri" panose="020F0502020204030204" pitchFamily="34" charset="-120"/>
              </a:rPr>
              <a:t>You just built a ReAct reasoning loop.</a:t>
            </a:r>
            <a:endParaRPr lang="en-US" sz="1600" dirty="0"/>
          </a:p>
        </p:txBody>
      </p:sp>
      <p:sp>
        <p:nvSpPr>
          <p:cNvPr id="17" name="Text 15"/>
          <p:cNvSpPr txBox="1"/>
          <p:nvPr/>
        </p:nvSpPr>
        <p:spPr>
          <a:xfrm>
            <a:off x="7406640" y="2194560"/>
            <a:ext cx="3886200" cy="1051560"/>
          </a:xfrm>
          <a:prstGeom prst="rect">
            <a:avLst/>
          </a:prstGeom>
          <a:noFill/>
        </p:spPr>
        <p:txBody>
          <a:bodyPr wrap="square" lIns="0" tIns="0" rIns="0" bIns="0" rtlCol="0" anchor="ctr"/>
          <a:lstStyle/>
          <a:p>
            <a:pPr marL="0" indent="0">
              <a:lnSpc>
                <a:spcPct val="120000"/>
              </a:lnSpc>
              <a:buNone/>
            </a:pPr>
            <a:r>
              <a:rPr lang="en-US" sz="1200" dirty="0">
                <a:solidFill>
                  <a:srgbClr val="E3E9F2"/>
                </a:solidFill>
                <a:latin typeface="Calibri" panose="020F0502020204030204" pitchFamily="34" charset="0"/>
                <a:ea typeface="Calibri" panose="020F0502020204030204" pitchFamily="34" charset="-122"/>
                <a:cs typeface="Calibri" panose="020F0502020204030204" pitchFamily="34" charset="-120"/>
              </a:rPr>
              <a:t>An agent using ReAct makes a decision by reasoning through a series of checks — one step at a time — until it reaches an action.</a:t>
            </a:r>
            <a:endParaRPr lang="en-US" sz="1200" dirty="0"/>
          </a:p>
        </p:txBody>
      </p:sp>
      <p:sp>
        <p:nvSpPr>
          <p:cNvPr id="18" name="Shape 16"/>
          <p:cNvSpPr/>
          <p:nvPr/>
        </p:nvSpPr>
        <p:spPr>
          <a:xfrm>
            <a:off x="640080" y="5257800"/>
            <a:ext cx="10881360" cy="594360"/>
          </a:xfrm>
          <a:prstGeom prst="roundRect">
            <a:avLst>
              <a:gd name="adj" fmla="val 9231"/>
            </a:avLst>
          </a:prstGeom>
          <a:solidFill>
            <a:srgbClr val="FFB627"/>
          </a:solidFill>
        </p:spPr>
        <p:txBody>
          <a:bodyPr/>
          <a:p/>
        </p:txBody>
      </p:sp>
      <p:sp>
        <p:nvSpPr>
          <p:cNvPr id="19" name="Text 17"/>
          <p:cNvSpPr txBox="1"/>
          <p:nvPr/>
        </p:nvSpPr>
        <p:spPr>
          <a:xfrm>
            <a:off x="914400" y="5257800"/>
            <a:ext cx="10332720" cy="594360"/>
          </a:xfrm>
          <a:prstGeom prst="rect">
            <a:avLst/>
          </a:prstGeom>
          <a:noFill/>
        </p:spPr>
        <p:txBody>
          <a:bodyPr wrap="square" lIns="0" tIns="0" rIns="0" bIns="0" rtlCol="0" anchor="ctr"/>
          <a:lstStyle/>
          <a:p>
            <a:pPr marL="0" indent="0">
              <a:buNone/>
            </a:pPr>
            <a:r>
              <a:rPr lang="en-US" sz="1200" b="1" dirty="0">
                <a:solidFill>
                  <a:srgbClr val="081527"/>
                </a:solidFill>
                <a:latin typeface="Calibri" panose="020F0502020204030204" pitchFamily="34" charset="0"/>
                <a:ea typeface="Calibri" panose="020F0502020204030204" pitchFamily="34" charset="-122"/>
                <a:cs typeface="Calibri" panose="020F0502020204030204" pitchFamily="34" charset="-120"/>
              </a:rPr>
              <a:t>For this project, we use REACT (REASON + ACT) — transparent, step-by-step, and easy to audit in a tumor board.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p:spPr>
        <p:txBody>
          <a:bodyPr wrap="square" lIns="0" tIns="0" rIns="0" bIns="0" rtlCol="0" anchor="ctr"/>
          <a:lstStyle/>
          <a:p>
            <a:pPr marL="0" indent="0">
              <a:buNone/>
            </a:pPr>
            <a:r>
              <a:rPr lang="en-US" sz="1200" b="1" kern="0" spc="200" dirty="0">
                <a:solidFill>
                  <a:srgbClr val="F4A300"/>
                </a:solidFill>
                <a:latin typeface="Calibri" panose="020F0502020204030204" pitchFamily="34" charset="0"/>
                <a:ea typeface="Calibri" panose="020F0502020204030204" pitchFamily="34" charset="-122"/>
                <a:cs typeface="Calibri" panose="020F0502020204030204" pitchFamily="34" charset="-120"/>
              </a:rPr>
              <a:t>NEW PROBLEM</a:t>
            </a:r>
            <a:endParaRPr lang="en-US" sz="1200" dirty="0"/>
          </a:p>
        </p:txBody>
      </p:sp>
      <p:sp>
        <p:nvSpPr>
          <p:cNvPr id="3" name="Text 1"/>
          <p:cNvSpPr txBox="1"/>
          <p:nvPr/>
        </p:nvSpPr>
        <p:spPr>
          <a:xfrm>
            <a:off x="640080" y="777240"/>
            <a:ext cx="9601200" cy="548640"/>
          </a:xfrm>
          <a:prstGeom prst="rect">
            <a:avLst/>
          </a:prstGeom>
          <a:noFill/>
        </p:spPr>
        <p:txBody>
          <a:bodyPr wrap="square" lIns="0" tIns="0" rIns="0" bIns="0" rtlCol="0" anchor="ctr"/>
          <a:lstStyle/>
          <a:p>
            <a:pPr marL="0" indent="0">
              <a:buNone/>
            </a:pPr>
            <a:r>
              <a:rPr lang="en-US" sz="2700" b="1" dirty="0">
                <a:solidFill>
                  <a:srgbClr val="0F2843"/>
                </a:solidFill>
                <a:latin typeface="Cambria" panose="02040503050406030204" pitchFamily="34" charset="0"/>
                <a:ea typeface="Cambria" panose="02040503050406030204" pitchFamily="34" charset="-122"/>
                <a:cs typeface="Cambria" panose="02040503050406030204" pitchFamily="34" charset="-120"/>
              </a:rPr>
              <a:t>Can We Give the Agent Every Tool at Once?</a:t>
            </a:r>
            <a:endParaRPr lang="en-US" sz="2700" dirty="0"/>
          </a:p>
        </p:txBody>
      </p:sp>
      <p:sp>
        <p:nvSpPr>
          <p:cNvPr id="4" name="Shape 2"/>
          <p:cNvSpPr/>
          <p:nvPr/>
        </p:nvSpPr>
        <p:spPr>
          <a:xfrm>
            <a:off x="640080" y="1554480"/>
            <a:ext cx="6309360" cy="2377440"/>
          </a:xfrm>
          <a:prstGeom prst="roundRect">
            <a:avLst>
              <a:gd name="adj" fmla="val 2692"/>
            </a:avLst>
          </a:prstGeom>
          <a:solidFill>
            <a:srgbClr val="FFFFFF"/>
          </a:solidFill>
          <a:ln w="12700">
            <a:solidFill>
              <a:srgbClr val="EEF2F7"/>
            </a:solidFill>
            <a:prstDash val="solid"/>
          </a:ln>
        </p:spPr>
        <p:txBody>
          <a:bodyPr/>
          <a:p/>
        </p:txBody>
      </p:sp>
      <p:sp>
        <p:nvSpPr>
          <p:cNvPr id="5" name="Text 3"/>
          <p:cNvSpPr txBox="1"/>
          <p:nvPr/>
        </p:nvSpPr>
        <p:spPr>
          <a:xfrm>
            <a:off x="914400" y="1737360"/>
            <a:ext cx="3108960" cy="274320"/>
          </a:xfrm>
          <a:prstGeom prst="rect">
            <a:avLst/>
          </a:prstGeom>
          <a:noFill/>
        </p:spPr>
        <p:txBody>
          <a:bodyPr wrap="square" lIns="0" tIns="0" rIns="0" bIns="0" rtlCol="0" anchor="ctr"/>
          <a:lstStyle/>
          <a:p>
            <a:pPr marL="0" indent="0">
              <a:buNone/>
            </a:pPr>
            <a:r>
              <a:rPr lang="en-US" sz="1100" b="1" dirty="0">
                <a:solidFill>
                  <a:srgbClr val="5B6B82"/>
                </a:solidFill>
                <a:latin typeface="Calibri" panose="020F0502020204030204" pitchFamily="34" charset="0"/>
                <a:ea typeface="Calibri" panose="020F0502020204030204" pitchFamily="34" charset="-122"/>
                <a:cs typeface="Calibri" panose="020F0502020204030204" pitchFamily="34" charset="-120"/>
              </a:rPr>
              <a:t>Tool / Source</a:t>
            </a:r>
            <a:endParaRPr lang="en-US" sz="1100" dirty="0"/>
          </a:p>
        </p:txBody>
      </p:sp>
      <p:sp>
        <p:nvSpPr>
          <p:cNvPr id="6" name="Text 4"/>
          <p:cNvSpPr txBox="1"/>
          <p:nvPr/>
        </p:nvSpPr>
        <p:spPr>
          <a:xfrm>
            <a:off x="4114800" y="1737360"/>
            <a:ext cx="2651760" cy="274320"/>
          </a:xfrm>
          <a:prstGeom prst="rect">
            <a:avLst/>
          </a:prstGeom>
          <a:noFill/>
        </p:spPr>
        <p:txBody>
          <a:bodyPr wrap="square" lIns="0" tIns="0" rIns="0" bIns="0" rtlCol="0" anchor="ctr"/>
          <a:lstStyle/>
          <a:p>
            <a:pPr marL="0" indent="0">
              <a:buNone/>
            </a:pPr>
            <a:r>
              <a:rPr lang="en-US" sz="1100" b="1" dirty="0">
                <a:solidFill>
                  <a:srgbClr val="5B6B82"/>
                </a:solidFill>
                <a:latin typeface="Calibri" panose="020F0502020204030204" pitchFamily="34" charset="0"/>
                <a:ea typeface="Calibri" panose="020F0502020204030204" pitchFamily="34" charset="-122"/>
                <a:cs typeface="Calibri" panose="020F0502020204030204" pitchFamily="34" charset="-120"/>
              </a:rPr>
              <a:t>Issue</a:t>
            </a:r>
            <a:endParaRPr lang="en-US" sz="1100" dirty="0"/>
          </a:p>
        </p:txBody>
      </p:sp>
      <p:sp>
        <p:nvSpPr>
          <p:cNvPr id="7" name="Text 5"/>
          <p:cNvSpPr txBox="1"/>
          <p:nvPr/>
        </p:nvSpPr>
        <p:spPr>
          <a:xfrm>
            <a:off x="914400" y="2057400"/>
            <a:ext cx="3108960" cy="365760"/>
          </a:xfrm>
          <a:prstGeom prst="rect">
            <a:avLst/>
          </a:prstGeom>
          <a:noFill/>
        </p:spPr>
        <p:txBody>
          <a:bodyPr wrap="square" lIns="0" tIns="0" rIns="0" bIns="0" rtlCol="0" anchor="ctr"/>
          <a:lstStyle/>
          <a:p>
            <a:pPr marL="0" indent="0">
              <a:buNone/>
            </a:pPr>
            <a:r>
              <a:rPr lang="en-US" sz="1100" dirty="0">
                <a:solidFill>
                  <a:srgbClr val="0F2843"/>
                </a:solidFill>
                <a:latin typeface="Calibri" panose="020F0502020204030204" pitchFamily="34" charset="0"/>
                <a:ea typeface="Calibri" panose="020F0502020204030204" pitchFamily="34" charset="-122"/>
                <a:cs typeface="Calibri" panose="020F0502020204030204" pitchFamily="34" charset="-120"/>
              </a:rPr>
              <a:t>Trial Registry API (v1)</a:t>
            </a:r>
            <a:endParaRPr lang="en-US" sz="1100" dirty="0"/>
          </a:p>
        </p:txBody>
      </p:sp>
      <p:sp>
        <p:nvSpPr>
          <p:cNvPr id="8" name="Text 6"/>
          <p:cNvSpPr txBox="1"/>
          <p:nvPr/>
        </p:nvSpPr>
        <p:spPr>
          <a:xfrm>
            <a:off x="4114800" y="2057400"/>
            <a:ext cx="2651760" cy="365760"/>
          </a:xfrm>
          <a:prstGeom prst="rect">
            <a:avLst/>
          </a:prstGeom>
          <a:noFill/>
        </p:spPr>
        <p:txBody>
          <a:bodyPr wrap="square" lIns="0" tIns="0" rIns="0" bIns="0" rtlCol="0" anchor="ctr"/>
          <a:lstStyle/>
          <a:p>
            <a:pPr marL="0" indent="0">
              <a:buNone/>
            </a:pPr>
            <a:r>
              <a:rPr lang="en-US" sz="1100" dirty="0">
                <a:solidFill>
                  <a:srgbClr val="5B6B82"/>
                </a:solidFill>
                <a:latin typeface="Calibri" panose="020F0502020204030204" pitchFamily="34" charset="0"/>
                <a:ea typeface="Calibri" panose="020F0502020204030204" pitchFamily="34" charset="-122"/>
                <a:cs typeface="Calibri" panose="020F0502020204030204" pitchFamily="34" charset="-120"/>
              </a:rPr>
              <a:t>Duplicate entry</a:t>
            </a:r>
            <a:endParaRPr lang="en-US" sz="1100" dirty="0"/>
          </a:p>
        </p:txBody>
      </p:sp>
      <p:sp>
        <p:nvSpPr>
          <p:cNvPr id="9" name="Text 7"/>
          <p:cNvSpPr txBox="1"/>
          <p:nvPr/>
        </p:nvSpPr>
        <p:spPr>
          <a:xfrm>
            <a:off x="914400" y="2468880"/>
            <a:ext cx="3108960" cy="365760"/>
          </a:xfrm>
          <a:prstGeom prst="rect">
            <a:avLst/>
          </a:prstGeom>
          <a:noFill/>
        </p:spPr>
        <p:txBody>
          <a:bodyPr wrap="square" lIns="0" tIns="0" rIns="0" bIns="0" rtlCol="0" anchor="ctr"/>
          <a:lstStyle/>
          <a:p>
            <a:pPr marL="0" indent="0">
              <a:buNone/>
            </a:pPr>
            <a:r>
              <a:rPr lang="en-US" sz="1100" dirty="0">
                <a:solidFill>
                  <a:srgbClr val="0F2843"/>
                </a:solidFill>
                <a:latin typeface="Calibri" panose="020F0502020204030204" pitchFamily="34" charset="0"/>
                <a:ea typeface="Calibri" panose="020F0502020204030204" pitchFamily="34" charset="-122"/>
                <a:cs typeface="Calibri" panose="020F0502020204030204" pitchFamily="34" charset="-120"/>
              </a:rPr>
              <a:t>Trial Registry API (v1)  ← Duplicate</a:t>
            </a:r>
            <a:endParaRPr lang="en-US" sz="1100" dirty="0"/>
          </a:p>
        </p:txBody>
      </p:sp>
      <p:sp>
        <p:nvSpPr>
          <p:cNvPr id="10" name="Text 8"/>
          <p:cNvSpPr txBox="1"/>
          <p:nvPr/>
        </p:nvSpPr>
        <p:spPr>
          <a:xfrm>
            <a:off x="4114800" y="2468880"/>
            <a:ext cx="2651760" cy="365760"/>
          </a:xfrm>
          <a:prstGeom prst="rect">
            <a:avLst/>
          </a:prstGeom>
          <a:noFill/>
        </p:spPr>
        <p:txBody>
          <a:bodyPr wrap="square" lIns="0" tIns="0" rIns="0" bIns="0" rtlCol="0" anchor="ctr"/>
          <a:lstStyle/>
          <a:p>
            <a:pPr marL="0" indent="0">
              <a:buNone/>
            </a:pPr>
            <a:r>
              <a:rPr lang="en-US" sz="1100" dirty="0">
                <a:solidFill>
                  <a:srgbClr val="5B6B82"/>
                </a:solidFill>
                <a:latin typeface="Calibri" panose="020F0502020204030204" pitchFamily="34" charset="0"/>
                <a:ea typeface="Calibri" panose="020F0502020204030204" pitchFamily="34" charset="-122"/>
                <a:cs typeface="Calibri" panose="020F0502020204030204" pitchFamily="34" charset="-120"/>
              </a:rPr>
              <a:t>Duplicate entry</a:t>
            </a:r>
            <a:endParaRPr lang="en-US" sz="1100" dirty="0"/>
          </a:p>
        </p:txBody>
      </p:sp>
      <p:sp>
        <p:nvSpPr>
          <p:cNvPr id="11" name="Text 9"/>
          <p:cNvSpPr txBox="1"/>
          <p:nvPr/>
        </p:nvSpPr>
        <p:spPr>
          <a:xfrm>
            <a:off x="914400" y="2880360"/>
            <a:ext cx="3108960" cy="365760"/>
          </a:xfrm>
          <a:prstGeom prst="rect">
            <a:avLst/>
          </a:prstGeom>
          <a:noFill/>
        </p:spPr>
        <p:txBody>
          <a:bodyPr wrap="square" lIns="0" tIns="0" rIns="0" bIns="0" rtlCol="0" anchor="ctr"/>
          <a:lstStyle/>
          <a:p>
            <a:pPr marL="0" indent="0">
              <a:buNone/>
            </a:pPr>
            <a:r>
              <a:rPr lang="en-US" sz="1100" dirty="0">
                <a:solidFill>
                  <a:srgbClr val="0F2843"/>
                </a:solidFill>
                <a:latin typeface="Calibri" panose="020F0502020204030204" pitchFamily="34" charset="0"/>
                <a:ea typeface="Calibri" panose="020F0502020204030204" pitchFamily="34" charset="-122"/>
                <a:cs typeface="Calibri" panose="020F0502020204030204" pitchFamily="34" charset="-120"/>
              </a:rPr>
              <a:t>Pharmacy Formulary</a:t>
            </a:r>
            <a:endParaRPr lang="en-US" sz="1100" dirty="0"/>
          </a:p>
        </p:txBody>
      </p:sp>
      <p:sp>
        <p:nvSpPr>
          <p:cNvPr id="12" name="Text 10"/>
          <p:cNvSpPr txBox="1"/>
          <p:nvPr/>
        </p:nvSpPr>
        <p:spPr>
          <a:xfrm>
            <a:off x="4114800" y="2880360"/>
            <a:ext cx="2651760" cy="365760"/>
          </a:xfrm>
          <a:prstGeom prst="rect">
            <a:avLst/>
          </a:prstGeom>
          <a:noFill/>
        </p:spPr>
        <p:txBody>
          <a:bodyPr wrap="square" lIns="0" tIns="0" rIns="0" bIns="0" rtlCol="0" anchor="ctr"/>
          <a:lstStyle/>
          <a:p>
            <a:pPr marL="0" indent="0">
              <a:buNone/>
            </a:pPr>
            <a:r>
              <a:rPr lang="en-US" sz="1100" dirty="0">
                <a:solidFill>
                  <a:srgbClr val="E63946"/>
                </a:solidFill>
                <a:latin typeface="Calibri" panose="020F0502020204030204" pitchFamily="34" charset="0"/>
                <a:ea typeface="Calibri" panose="020F0502020204030204" pitchFamily="34" charset="-122"/>
                <a:cs typeface="Calibri" panose="020F0502020204030204" pitchFamily="34" charset="-120"/>
              </a:rPr>
              <a:t>Conflicting versions</a:t>
            </a:r>
            <a:endParaRPr lang="en-US" sz="1100" dirty="0"/>
          </a:p>
        </p:txBody>
      </p:sp>
      <p:sp>
        <p:nvSpPr>
          <p:cNvPr id="13" name="Text 11"/>
          <p:cNvSpPr txBox="1"/>
          <p:nvPr/>
        </p:nvSpPr>
        <p:spPr>
          <a:xfrm>
            <a:off x="914400" y="3291840"/>
            <a:ext cx="3108960" cy="365760"/>
          </a:xfrm>
          <a:prstGeom prst="rect">
            <a:avLst/>
          </a:prstGeom>
          <a:noFill/>
        </p:spPr>
        <p:txBody>
          <a:bodyPr wrap="square" lIns="0" tIns="0" rIns="0" bIns="0" rtlCol="0" anchor="ctr"/>
          <a:lstStyle/>
          <a:p>
            <a:pPr marL="0" indent="0">
              <a:buNone/>
            </a:pPr>
            <a:r>
              <a:rPr lang="en-US" sz="1100" dirty="0">
                <a:solidFill>
                  <a:srgbClr val="0F2843"/>
                </a:solidFill>
                <a:latin typeface="Calibri" panose="020F0502020204030204" pitchFamily="34" charset="0"/>
                <a:ea typeface="Calibri" panose="020F0502020204030204" pitchFamily="34" charset="-122"/>
                <a:cs typeface="Calibri" panose="020F0502020204030204" pitchFamily="34" charset="-120"/>
              </a:rPr>
              <a:t>Compound-toxicity SOP</a:t>
            </a:r>
            <a:endParaRPr lang="en-US" sz="1100" dirty="0"/>
          </a:p>
        </p:txBody>
      </p:sp>
      <p:sp>
        <p:nvSpPr>
          <p:cNvPr id="14" name="Text 12"/>
          <p:cNvSpPr txBox="1"/>
          <p:nvPr/>
        </p:nvSpPr>
        <p:spPr>
          <a:xfrm>
            <a:off x="4114800" y="3291840"/>
            <a:ext cx="2651760" cy="365760"/>
          </a:xfrm>
          <a:prstGeom prst="rect">
            <a:avLst/>
          </a:prstGeom>
          <a:noFill/>
        </p:spPr>
        <p:txBody>
          <a:bodyPr wrap="square" lIns="0" tIns="0" rIns="0" bIns="0" rtlCol="0" anchor="ctr"/>
          <a:lstStyle/>
          <a:p>
            <a:pPr marL="0" indent="0">
              <a:buNone/>
            </a:pPr>
            <a:r>
              <a:rPr lang="en-US" sz="1100" dirty="0">
                <a:solidFill>
                  <a:srgbClr val="E63946"/>
                </a:solidFill>
                <a:latin typeface="Calibri" panose="020F0502020204030204" pitchFamily="34" charset="0"/>
                <a:ea typeface="Calibri" panose="020F0502020204030204" pitchFamily="34" charset="-122"/>
                <a:cs typeface="Calibri" panose="020F0502020204030204" pitchFamily="34" charset="-120"/>
              </a:rPr>
              <a:t>Missing entirely</a:t>
            </a:r>
            <a:endParaRPr lang="en-US" sz="1100" dirty="0"/>
          </a:p>
        </p:txBody>
      </p:sp>
      <p:sp>
        <p:nvSpPr>
          <p:cNvPr id="15" name="Shape 13"/>
          <p:cNvSpPr/>
          <p:nvPr/>
        </p:nvSpPr>
        <p:spPr>
          <a:xfrm>
            <a:off x="7223760" y="1554480"/>
            <a:ext cx="4297680" cy="1188720"/>
          </a:xfrm>
          <a:prstGeom prst="roundRect">
            <a:avLst>
              <a:gd name="adj" fmla="val 5385"/>
            </a:avLst>
          </a:prstGeom>
          <a:solidFill>
            <a:srgbClr val="0F2843"/>
          </a:solidFill>
        </p:spPr>
        <p:txBody>
          <a:bodyPr/>
          <a:p/>
        </p:txBody>
      </p:sp>
      <p:sp>
        <p:nvSpPr>
          <p:cNvPr id="16" name="Text 14"/>
          <p:cNvSpPr txBox="1"/>
          <p:nvPr/>
        </p:nvSpPr>
        <p:spPr>
          <a:xfrm>
            <a:off x="7452360" y="1691640"/>
            <a:ext cx="3840480" cy="685800"/>
          </a:xfrm>
          <a:prstGeom prst="rect">
            <a:avLst/>
          </a:prstGeom>
          <a:noFill/>
        </p:spPr>
        <p:txBody>
          <a:bodyPr wrap="square" lIns="0" tIns="0" rIns="0" bIns="0" rtlCol="0" anchor="ctr"/>
          <a:lstStyle/>
          <a:p>
            <a:pPr marL="0" indent="0">
              <a:buNone/>
            </a:pPr>
            <a:r>
              <a:rPr lang="en-US" sz="1200" dirty="0">
                <a:solidFill>
                  <a:srgbClr val="E3E9F2"/>
                </a:solidFill>
                <a:latin typeface="Calibri" panose="020F0502020204030204" pitchFamily="34" charset="0"/>
                <a:ea typeface="Calibri" panose="020F0502020204030204" pitchFamily="34" charset="-122"/>
                <a:cs typeface="Calibri" panose="020F0502020204030204" pitchFamily="34" charset="-120"/>
              </a:rPr>
              <a:t>Can we let the agent call any tool without a curated knowledge base?</a:t>
            </a:r>
            <a:endParaRPr lang="en-US" sz="1200" dirty="0"/>
          </a:p>
        </p:txBody>
      </p:sp>
      <p:sp>
        <p:nvSpPr>
          <p:cNvPr id="17" name="Text 15"/>
          <p:cNvSpPr txBox="1"/>
          <p:nvPr/>
        </p:nvSpPr>
        <p:spPr>
          <a:xfrm>
            <a:off x="7452360" y="2377440"/>
            <a:ext cx="3840480" cy="320040"/>
          </a:xfrm>
          <a:prstGeom prst="rect">
            <a:avLst/>
          </a:prstGeom>
          <a:noFill/>
        </p:spPr>
        <p:txBody>
          <a:bodyPr wrap="square" lIns="0" tIns="0" rIns="0" bIns="0" rtlCol="0" anchor="ctr"/>
          <a:lstStyle/>
          <a:p>
            <a:pPr marL="0" indent="0">
              <a:buNone/>
            </a:pPr>
            <a:r>
              <a:rPr lang="en-US" sz="2200" b="1" dirty="0">
                <a:solidFill>
                  <a:srgbClr val="E63946"/>
                </a:solidFill>
                <a:latin typeface="Cambria" panose="02040503050406030204" pitchFamily="34" charset="0"/>
                <a:ea typeface="Cambria" panose="02040503050406030204" pitchFamily="34" charset="-122"/>
                <a:cs typeface="Cambria" panose="02040503050406030204" pitchFamily="34" charset="-120"/>
              </a:rPr>
              <a:t>NO.</a:t>
            </a:r>
            <a:endParaRPr lang="en-US" sz="2200" dirty="0"/>
          </a:p>
        </p:txBody>
      </p:sp>
      <p:sp>
        <p:nvSpPr>
          <p:cNvPr id="18" name="Shape 16"/>
          <p:cNvSpPr/>
          <p:nvPr/>
        </p:nvSpPr>
        <p:spPr>
          <a:xfrm>
            <a:off x="640080" y="4206240"/>
            <a:ext cx="10881360" cy="594360"/>
          </a:xfrm>
          <a:prstGeom prst="roundRect">
            <a:avLst>
              <a:gd name="adj" fmla="val 9231"/>
            </a:avLst>
          </a:prstGeom>
          <a:solidFill>
            <a:srgbClr val="FFB627"/>
          </a:solidFill>
        </p:spPr>
        <p:txBody>
          <a:bodyPr/>
          <a:p/>
        </p:txBody>
      </p:sp>
      <p:sp>
        <p:nvSpPr>
          <p:cNvPr id="19" name="Text 17"/>
          <p:cNvSpPr txBox="1"/>
          <p:nvPr/>
        </p:nvSpPr>
        <p:spPr>
          <a:xfrm>
            <a:off x="914400" y="4206240"/>
            <a:ext cx="10332720" cy="594360"/>
          </a:xfrm>
          <a:prstGeom prst="rect">
            <a:avLst/>
          </a:prstGeom>
          <a:noFill/>
        </p:spPr>
        <p:txBody>
          <a:bodyPr wrap="square" lIns="0" tIns="0" rIns="0" bIns="0" rtlCol="0" anchor="ctr"/>
          <a:lstStyle/>
          <a:p>
            <a:pPr marL="0" indent="0">
              <a:buNone/>
            </a:pPr>
            <a:r>
              <a:rPr lang="en-US" sz="1300" b="1" dirty="0">
                <a:solidFill>
                  <a:srgbClr val="081527"/>
                </a:solidFill>
                <a:latin typeface="Calibri" panose="020F0502020204030204" pitchFamily="34" charset="0"/>
                <a:ea typeface="Calibri" panose="020F0502020204030204" pitchFamily="34" charset="-122"/>
                <a:cs typeface="Calibri" panose="020F0502020204030204" pitchFamily="34" charset="-120"/>
              </a:rPr>
              <a:t>Every agentic system needs someone to prepare the knowledge base and tools first.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p:spPr>
        <p:txBody>
          <a:bodyPr wrap="square" lIns="0" tIns="0" rIns="0" bIns="0" rtlCol="0" anchor="ctr"/>
          <a:lstStyle/>
          <a:p>
            <a:pPr marL="0" indent="0">
              <a:buNone/>
            </a:pPr>
            <a:r>
              <a:rPr lang="en-US" sz="1200" b="1" kern="0" spc="200" dirty="0">
                <a:solidFill>
                  <a:srgbClr val="FFB627"/>
                </a:solidFill>
                <a:latin typeface="Calibri" panose="020F0502020204030204" pitchFamily="34" charset="0"/>
                <a:ea typeface="Calibri" panose="020F0502020204030204" pitchFamily="34" charset="-122"/>
                <a:cs typeface="Calibri" panose="020F0502020204030204" pitchFamily="34" charset="-120"/>
              </a:rPr>
              <a:t>MEET THE ROLE</a:t>
            </a:r>
            <a:endParaRPr lang="en-US" sz="1200" dirty="0"/>
          </a:p>
        </p:txBody>
      </p:sp>
      <p:sp>
        <p:nvSpPr>
          <p:cNvPr id="3" name="Shape 1"/>
          <p:cNvSpPr/>
          <p:nvPr/>
        </p:nvSpPr>
        <p:spPr>
          <a:xfrm>
            <a:off x="640080" y="822960"/>
            <a:ext cx="822960" cy="822960"/>
          </a:xfrm>
          <a:prstGeom prst="ellipse">
            <a:avLst/>
          </a:prstGeom>
          <a:solidFill>
            <a:srgbClr val="17263B"/>
          </a:solidFill>
          <a:ln w="15240">
            <a:solidFill>
              <a:srgbClr val="FFB627"/>
            </a:solidFill>
            <a:prstDash val="solid"/>
          </a:ln>
        </p:spPr>
        <p:txBody>
          <a:bodyPr/>
          <a:p/>
        </p:txBody>
      </p:sp>
      <p:sp>
        <p:nvSpPr>
          <p:cNvPr id="4" name="Text 2"/>
          <p:cNvSpPr txBox="1"/>
          <p:nvPr/>
        </p:nvSpPr>
        <p:spPr>
          <a:xfrm>
            <a:off x="640080" y="822960"/>
            <a:ext cx="822960" cy="822960"/>
          </a:xfrm>
          <a:prstGeom prst="rect">
            <a:avLst/>
          </a:prstGeom>
          <a:noFill/>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5" name="Text 3"/>
          <p:cNvSpPr txBox="1"/>
          <p:nvPr/>
        </p:nvSpPr>
        <p:spPr>
          <a:xfrm>
            <a:off x="1600200" y="960120"/>
            <a:ext cx="8229600" cy="548640"/>
          </a:xfrm>
          <a:prstGeom prst="rect">
            <a:avLst/>
          </a:prstGeom>
          <a:noFill/>
        </p:spPr>
        <p:txBody>
          <a:bodyPr wrap="square" lIns="0" tIns="0" rIns="0" bIns="0" rtlCol="0" anchor="ctr"/>
          <a:lstStyle/>
          <a:p>
            <a:pPr marL="0" indent="0">
              <a:buNone/>
            </a:pPr>
            <a:r>
              <a:rPr lang="en-US" sz="2600" b="1" dirty="0">
                <a:solidFill>
                  <a:srgbClr val="FFFFFF"/>
                </a:solidFill>
                <a:latin typeface="Cambria" panose="02040503050406030204" pitchFamily="34" charset="0"/>
                <a:ea typeface="Cambria" panose="02040503050406030204" pitchFamily="34" charset="-122"/>
                <a:cs typeface="Cambria" panose="02040503050406030204" pitchFamily="34" charset="-120"/>
              </a:rPr>
              <a:t>KNOWLEDGE ENGINEER</a:t>
            </a:r>
            <a:endParaRPr lang="en-US" sz="2600" dirty="0"/>
          </a:p>
        </p:txBody>
      </p:sp>
      <p:sp>
        <p:nvSpPr>
          <p:cNvPr id="6" name="Shape 4"/>
          <p:cNvSpPr/>
          <p:nvPr/>
        </p:nvSpPr>
        <p:spPr>
          <a:xfrm>
            <a:off x="640080" y="1920240"/>
            <a:ext cx="7772400" cy="594360"/>
          </a:xfrm>
          <a:prstGeom prst="roundRect">
            <a:avLst>
              <a:gd name="adj" fmla="val 7692"/>
            </a:avLst>
          </a:prstGeom>
          <a:solidFill>
            <a:srgbClr val="17263B"/>
          </a:solidFill>
          <a:ln w="12700">
            <a:solidFill>
              <a:srgbClr val="E63946"/>
            </a:solidFill>
            <a:prstDash val="solid"/>
          </a:ln>
        </p:spPr>
        <p:txBody>
          <a:bodyPr/>
          <a:p/>
        </p:txBody>
      </p:sp>
      <p:sp>
        <p:nvSpPr>
          <p:cNvPr id="7" name="Text 5"/>
          <p:cNvSpPr txBox="1"/>
          <p:nvPr/>
        </p:nvSpPr>
        <p:spPr>
          <a:xfrm>
            <a:off x="868680" y="1920240"/>
            <a:ext cx="7315200" cy="594360"/>
          </a:xfrm>
          <a:prstGeom prst="rect">
            <a:avLst/>
          </a:prstGeom>
          <a:noFill/>
        </p:spPr>
        <p:txBody>
          <a:bodyPr wrap="square" lIns="0" tIns="0" rIns="0" bIns="0" rtlCol="0" anchor="ctr"/>
          <a:lstStyle/>
          <a:p>
            <a:pPr marL="0" indent="0">
              <a:buNone/>
            </a:pPr>
            <a:r>
              <a:rPr lang="en-US" sz="1200" b="1" dirty="0">
                <a:solidFill>
                  <a:srgbClr val="E63946"/>
                </a:solidFill>
                <a:latin typeface="Calibri" panose="020F0502020204030204" pitchFamily="34" charset="0"/>
                <a:ea typeface="Calibri" panose="020F0502020204030204" pitchFamily="34" charset="-122"/>
                <a:cs typeface="Calibri" panose="020F0502020204030204" pitchFamily="34" charset="-120"/>
              </a:rPr>
              <a:t>Problem:  </a:t>
            </a:r>
            <a:r>
              <a:rPr lang="en-US" sz="1200" dirty="0">
                <a:solidFill>
                  <a:srgbClr val="E3E9F2"/>
                </a:solidFill>
                <a:latin typeface="Calibri" panose="020F0502020204030204" pitchFamily="34" charset="0"/>
                <a:ea typeface="Calibri" panose="020F0502020204030204" pitchFamily="34" charset="-122"/>
                <a:cs typeface="Calibri" panose="020F0502020204030204" pitchFamily="34" charset="-120"/>
              </a:rPr>
              <a:t>Playbooks, SOPs, and system interfaces are scattered across many sources.</a:t>
            </a:r>
            <a:endParaRPr lang="en-US" sz="1200" dirty="0"/>
          </a:p>
        </p:txBody>
      </p:sp>
      <p:sp>
        <p:nvSpPr>
          <p:cNvPr id="8" name="Shape 6"/>
          <p:cNvSpPr/>
          <p:nvPr/>
        </p:nvSpPr>
        <p:spPr>
          <a:xfrm>
            <a:off x="640080" y="2788920"/>
            <a:ext cx="7772400" cy="457200"/>
          </a:xfrm>
          <a:prstGeom prst="roundRect">
            <a:avLst>
              <a:gd name="adj" fmla="val 50000"/>
            </a:avLst>
          </a:prstGeom>
          <a:solidFill>
            <a:srgbClr val="17263B"/>
          </a:solidFill>
        </p:spPr>
        <p:txBody>
          <a:bodyPr/>
          <a:p/>
        </p:txBody>
      </p:sp>
      <p:sp>
        <p:nvSpPr>
          <p:cNvPr id="9" name="Text 7"/>
          <p:cNvSpPr txBox="1"/>
          <p:nvPr/>
        </p:nvSpPr>
        <p:spPr>
          <a:xfrm>
            <a:off x="640080" y="2788920"/>
            <a:ext cx="7772400" cy="457200"/>
          </a:xfrm>
          <a:prstGeom prst="rect">
            <a:avLst/>
          </a:prstGeom>
          <a:noFill/>
        </p:spPr>
        <p:txBody>
          <a:bodyPr wrap="square" lIns="0" tIns="0" rIns="0" bIns="0" rtlCol="0" anchor="ctr"/>
          <a:lstStyle/>
          <a:p>
            <a:pPr marL="0" indent="0" algn="ctr">
              <a:buNone/>
            </a:pPr>
            <a:r>
              <a:rPr lang="en-US" sz="1200" b="1" dirty="0">
                <a:solidFill>
                  <a:srgbClr val="E3E9F2"/>
                </a:solidFill>
                <a:latin typeface="Calibri" panose="020F0502020204030204" pitchFamily="34" charset="0"/>
                <a:ea typeface="Calibri" panose="020F0502020204030204" pitchFamily="34" charset="-122"/>
                <a:cs typeface="Calibri" panose="020F0502020204030204" pitchFamily="34" charset="-120"/>
              </a:rPr>
              <a:t>Multiple raw SOP docs</a:t>
            </a:r>
            <a:endParaRPr lang="en-US" sz="1200" dirty="0"/>
          </a:p>
        </p:txBody>
      </p:sp>
      <p:sp>
        <p:nvSpPr>
          <p:cNvPr id="10" name="Text 8"/>
          <p:cNvSpPr txBox="1"/>
          <p:nvPr/>
        </p:nvSpPr>
        <p:spPr>
          <a:xfrm>
            <a:off x="640080" y="3227832"/>
            <a:ext cx="7772400" cy="182880"/>
          </a:xfrm>
          <a:prstGeom prst="rect">
            <a:avLst/>
          </a:prstGeom>
          <a:noFill/>
        </p:spPr>
        <p:txBody>
          <a:bodyPr wrap="square" lIns="0" tIns="0" rIns="0" bIns="0" rtlCol="0" anchor="ctr"/>
          <a:lstStyle/>
          <a:p>
            <a:pPr marL="0" indent="0" algn="ctr">
              <a:buNone/>
            </a:pPr>
            <a:r>
              <a:rPr lang="en-US" sz="1200" dirty="0">
                <a:solidFill>
                  <a:srgbClr val="9FB3CC"/>
                </a:solidFill>
              </a:rPr>
              <a:t>↓</a:t>
            </a:r>
            <a:endParaRPr lang="en-US" sz="1200" dirty="0"/>
          </a:p>
        </p:txBody>
      </p:sp>
      <p:sp>
        <p:nvSpPr>
          <p:cNvPr id="11" name="Shape 9"/>
          <p:cNvSpPr/>
          <p:nvPr/>
        </p:nvSpPr>
        <p:spPr>
          <a:xfrm>
            <a:off x="640080" y="3355848"/>
            <a:ext cx="7772400" cy="457200"/>
          </a:xfrm>
          <a:prstGeom prst="roundRect">
            <a:avLst>
              <a:gd name="adj" fmla="val 50000"/>
            </a:avLst>
          </a:prstGeom>
          <a:solidFill>
            <a:srgbClr val="17263B"/>
          </a:solidFill>
        </p:spPr>
        <p:txBody>
          <a:bodyPr/>
          <a:p/>
        </p:txBody>
      </p:sp>
      <p:sp>
        <p:nvSpPr>
          <p:cNvPr id="12" name="Text 10"/>
          <p:cNvSpPr txBox="1"/>
          <p:nvPr/>
        </p:nvSpPr>
        <p:spPr>
          <a:xfrm>
            <a:off x="640080" y="3355848"/>
            <a:ext cx="7772400" cy="457200"/>
          </a:xfrm>
          <a:prstGeom prst="rect">
            <a:avLst/>
          </a:prstGeom>
          <a:noFill/>
        </p:spPr>
        <p:txBody>
          <a:bodyPr wrap="square" lIns="0" tIns="0" rIns="0" bIns="0" rtlCol="0" anchor="ctr"/>
          <a:lstStyle/>
          <a:p>
            <a:pPr marL="0" indent="0" algn="ctr">
              <a:buNone/>
            </a:pPr>
            <a:r>
              <a:rPr lang="en-US" sz="1200" b="1" dirty="0">
                <a:solidFill>
                  <a:srgbClr val="E3E9F2"/>
                </a:solidFill>
                <a:latin typeface="Calibri" panose="020F0502020204030204" pitchFamily="34" charset="0"/>
                <a:ea typeface="Calibri" panose="020F0502020204030204" pitchFamily="34" charset="-122"/>
                <a:cs typeface="Calibri" panose="020F0502020204030204" pitchFamily="34" charset="-120"/>
              </a:rPr>
              <a:t>Structure into knowledge base</a:t>
            </a:r>
            <a:endParaRPr lang="en-US" sz="1200" dirty="0"/>
          </a:p>
        </p:txBody>
      </p:sp>
      <p:sp>
        <p:nvSpPr>
          <p:cNvPr id="13" name="Text 11"/>
          <p:cNvSpPr txBox="1"/>
          <p:nvPr/>
        </p:nvSpPr>
        <p:spPr>
          <a:xfrm>
            <a:off x="640080" y="3794760"/>
            <a:ext cx="7772400" cy="182880"/>
          </a:xfrm>
          <a:prstGeom prst="rect">
            <a:avLst/>
          </a:prstGeom>
          <a:noFill/>
        </p:spPr>
        <p:txBody>
          <a:bodyPr wrap="square" lIns="0" tIns="0" rIns="0" bIns="0" rtlCol="0" anchor="ctr"/>
          <a:lstStyle/>
          <a:p>
            <a:pPr marL="0" indent="0" algn="ctr">
              <a:buNone/>
            </a:pPr>
            <a:r>
              <a:rPr lang="en-US" sz="1200" dirty="0">
                <a:solidFill>
                  <a:srgbClr val="9FB3CC"/>
                </a:solidFill>
              </a:rPr>
              <a:t>↓</a:t>
            </a:r>
            <a:endParaRPr lang="en-US" sz="1200" dirty="0"/>
          </a:p>
        </p:txBody>
      </p:sp>
      <p:sp>
        <p:nvSpPr>
          <p:cNvPr id="14" name="Shape 12"/>
          <p:cNvSpPr/>
          <p:nvPr/>
        </p:nvSpPr>
        <p:spPr>
          <a:xfrm>
            <a:off x="640080" y="3922776"/>
            <a:ext cx="7772400" cy="457200"/>
          </a:xfrm>
          <a:prstGeom prst="roundRect">
            <a:avLst>
              <a:gd name="adj" fmla="val 50000"/>
            </a:avLst>
          </a:prstGeom>
          <a:solidFill>
            <a:srgbClr val="17263B"/>
          </a:solidFill>
        </p:spPr>
        <p:txBody>
          <a:bodyPr/>
          <a:p/>
        </p:txBody>
      </p:sp>
      <p:sp>
        <p:nvSpPr>
          <p:cNvPr id="15" name="Text 13"/>
          <p:cNvSpPr txBox="1"/>
          <p:nvPr/>
        </p:nvSpPr>
        <p:spPr>
          <a:xfrm>
            <a:off x="640080" y="3922776"/>
            <a:ext cx="7772400" cy="457200"/>
          </a:xfrm>
          <a:prstGeom prst="rect">
            <a:avLst/>
          </a:prstGeom>
          <a:noFill/>
        </p:spPr>
        <p:txBody>
          <a:bodyPr wrap="square" lIns="0" tIns="0" rIns="0" bIns="0" rtlCol="0" anchor="ctr"/>
          <a:lstStyle/>
          <a:p>
            <a:pPr marL="0" indent="0" algn="ctr">
              <a:buNone/>
            </a:pPr>
            <a:r>
              <a:rPr lang="en-US" sz="1200" b="1" dirty="0">
                <a:solidFill>
                  <a:srgbClr val="E3E9F2"/>
                </a:solidFill>
                <a:latin typeface="Calibri" panose="020F0502020204030204" pitchFamily="34" charset="0"/>
                <a:ea typeface="Calibri" panose="020F0502020204030204" pitchFamily="34" charset="-122"/>
                <a:cs typeface="Calibri" panose="020F0502020204030204" pitchFamily="34" charset="-120"/>
              </a:rPr>
              <a:t>Wire up trial registry &amp; pharmacy APIs</a:t>
            </a:r>
            <a:endParaRPr lang="en-US" sz="1200" dirty="0"/>
          </a:p>
        </p:txBody>
      </p:sp>
      <p:sp>
        <p:nvSpPr>
          <p:cNvPr id="16" name="Text 14"/>
          <p:cNvSpPr txBox="1"/>
          <p:nvPr/>
        </p:nvSpPr>
        <p:spPr>
          <a:xfrm>
            <a:off x="640080" y="4361688"/>
            <a:ext cx="7772400" cy="182880"/>
          </a:xfrm>
          <a:prstGeom prst="rect">
            <a:avLst/>
          </a:prstGeom>
          <a:noFill/>
        </p:spPr>
        <p:txBody>
          <a:bodyPr wrap="square" lIns="0" tIns="0" rIns="0" bIns="0" rtlCol="0" anchor="ctr"/>
          <a:lstStyle/>
          <a:p>
            <a:pPr marL="0" indent="0" algn="ctr">
              <a:buNone/>
            </a:pPr>
            <a:r>
              <a:rPr lang="en-US" sz="1200" dirty="0">
                <a:solidFill>
                  <a:srgbClr val="9FB3CC"/>
                </a:solidFill>
              </a:rPr>
              <a:t>↓</a:t>
            </a:r>
            <a:endParaRPr lang="en-US" sz="1200" dirty="0"/>
          </a:p>
        </p:txBody>
      </p:sp>
      <p:sp>
        <p:nvSpPr>
          <p:cNvPr id="17" name="Shape 15"/>
          <p:cNvSpPr/>
          <p:nvPr/>
        </p:nvSpPr>
        <p:spPr>
          <a:xfrm>
            <a:off x="640080" y="4489704"/>
            <a:ext cx="7772400" cy="457200"/>
          </a:xfrm>
          <a:prstGeom prst="roundRect">
            <a:avLst>
              <a:gd name="adj" fmla="val 50000"/>
            </a:avLst>
          </a:prstGeom>
          <a:solidFill>
            <a:srgbClr val="FFB627"/>
          </a:solidFill>
        </p:spPr>
        <p:txBody>
          <a:bodyPr/>
          <a:p/>
        </p:txBody>
      </p:sp>
      <p:sp>
        <p:nvSpPr>
          <p:cNvPr id="18" name="Text 16"/>
          <p:cNvSpPr txBox="1"/>
          <p:nvPr/>
        </p:nvSpPr>
        <p:spPr>
          <a:xfrm>
            <a:off x="640080" y="4489704"/>
            <a:ext cx="7772400" cy="457200"/>
          </a:xfrm>
          <a:prstGeom prst="rect">
            <a:avLst/>
          </a:prstGeom>
          <a:noFill/>
        </p:spPr>
        <p:txBody>
          <a:bodyPr wrap="square" lIns="0" tIns="0" rIns="0" bIns="0" rtlCol="0" anchor="ctr"/>
          <a:lstStyle/>
          <a:p>
            <a:pPr marL="0" indent="0" algn="ctr">
              <a:buNone/>
            </a:pPr>
            <a:r>
              <a:rPr lang="en-US" sz="1200" b="1" dirty="0">
                <a:solidFill>
                  <a:srgbClr val="081527"/>
                </a:solidFill>
                <a:latin typeface="Calibri" panose="020F0502020204030204" pitchFamily="34" charset="0"/>
                <a:ea typeface="Calibri" panose="020F0502020204030204" pitchFamily="34" charset="-122"/>
                <a:cs typeface="Calibri" panose="020F0502020204030204" pitchFamily="34" charset="-120"/>
              </a:rPr>
              <a:t>ONE UNIFIED KNOWLEDGE BASE &amp; TOOL SET</a:t>
            </a:r>
            <a:endParaRPr lang="en-US" sz="1200" dirty="0"/>
          </a:p>
        </p:txBody>
      </p:sp>
      <p:sp>
        <p:nvSpPr>
          <p:cNvPr id="19" name="Shape 17"/>
          <p:cNvSpPr/>
          <p:nvPr/>
        </p:nvSpPr>
        <p:spPr>
          <a:xfrm>
            <a:off x="640080" y="5102352"/>
            <a:ext cx="7772400" cy="640080"/>
          </a:xfrm>
          <a:prstGeom prst="roundRect">
            <a:avLst>
              <a:gd name="adj" fmla="val 8571"/>
            </a:avLst>
          </a:prstGeom>
          <a:solidFill>
            <a:srgbClr val="0F3D5C"/>
          </a:solidFill>
        </p:spPr>
        <p:txBody>
          <a:bodyPr/>
          <a:p/>
        </p:txBody>
      </p:sp>
      <p:sp>
        <p:nvSpPr>
          <p:cNvPr id="20" name="Text 18"/>
          <p:cNvSpPr txBox="1"/>
          <p:nvPr/>
        </p:nvSpPr>
        <p:spPr>
          <a:xfrm>
            <a:off x="868680" y="5102352"/>
            <a:ext cx="7315200" cy="640080"/>
          </a:xfrm>
          <a:prstGeom prst="rect">
            <a:avLst/>
          </a:prstGeom>
          <a:noFill/>
        </p:spPr>
        <p:txBody>
          <a:bodyPr wrap="square" lIns="0" tIns="0" rIns="0" bIns="0" rtlCol="0" anchor="ctr"/>
          <a:lstStyle/>
          <a:p>
            <a:pPr marL="0" indent="0">
              <a:buNone/>
            </a:pPr>
            <a:r>
              <a:rPr lang="en-US" sz="1200" i="1" dirty="0">
                <a:solidFill>
                  <a:srgbClr val="E3E9F2"/>
                </a:solidFill>
                <a:latin typeface="Calibri" panose="020F0502020204030204" pitchFamily="34" charset="0"/>
                <a:ea typeface="Calibri" panose="020F0502020204030204" pitchFamily="34" charset="-122"/>
                <a:cs typeface="Calibri" panose="020F0502020204030204" pitchFamily="34" charset="-120"/>
              </a:rPr>
              <a:t>The Knowledge Engineer builds the SOP knowledge base and tool interfaces the agent reasons over.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p:spPr>
        <p:txBody>
          <a:bodyPr wrap="square" lIns="0" tIns="0" rIns="0" bIns="0" rtlCol="0" anchor="ctr"/>
          <a:lstStyle/>
          <a:p>
            <a:pPr marL="0" indent="0">
              <a:buNone/>
            </a:pPr>
            <a:r>
              <a:rPr lang="en-US" sz="1200" b="1" kern="0" spc="200" dirty="0">
                <a:solidFill>
                  <a:srgbClr val="F4A300"/>
                </a:solidFill>
                <a:latin typeface="Calibri" panose="020F0502020204030204" pitchFamily="34" charset="0"/>
                <a:ea typeface="Calibri" panose="020F0502020204030204" pitchFamily="34" charset="-122"/>
                <a:cs typeface="Calibri" panose="020F0502020204030204" pitchFamily="34" charset="-120"/>
              </a:rPr>
              <a:t>NEW PROBLEM</a:t>
            </a:r>
            <a:endParaRPr lang="en-US" sz="1200" dirty="0"/>
          </a:p>
        </p:txBody>
      </p:sp>
      <p:sp>
        <p:nvSpPr>
          <p:cNvPr id="3" name="Text 1"/>
          <p:cNvSpPr txBox="1"/>
          <p:nvPr/>
        </p:nvSpPr>
        <p:spPr>
          <a:xfrm>
            <a:off x="640080" y="777240"/>
            <a:ext cx="9144000" cy="548640"/>
          </a:xfrm>
          <a:prstGeom prst="rect">
            <a:avLst/>
          </a:prstGeom>
          <a:noFill/>
        </p:spPr>
        <p:txBody>
          <a:bodyPr wrap="square" lIns="0" tIns="0" rIns="0" bIns="0" rtlCol="0" anchor="ctr"/>
          <a:lstStyle/>
          <a:p>
            <a:pPr marL="0" indent="0">
              <a:buNone/>
            </a:pPr>
            <a:r>
              <a:rPr lang="en-US" sz="2700" b="1" dirty="0">
                <a:solidFill>
                  <a:srgbClr val="0F2843"/>
                </a:solidFill>
                <a:latin typeface="Cambria" panose="02040503050406030204" pitchFamily="34" charset="0"/>
                <a:ea typeface="Cambria" panose="02040503050406030204" pitchFamily="34" charset="-122"/>
                <a:cs typeface="Cambria" panose="02040503050406030204" pitchFamily="34" charset="-120"/>
              </a:rPr>
              <a:t>Does the Plan Make Sense?</a:t>
            </a:r>
            <a:endParaRPr lang="en-US" sz="2700" dirty="0"/>
          </a:p>
        </p:txBody>
      </p:sp>
      <p:sp>
        <p:nvSpPr>
          <p:cNvPr id="4" name="Text 2"/>
          <p:cNvSpPr txBox="1"/>
          <p:nvPr/>
        </p:nvSpPr>
        <p:spPr>
          <a:xfrm>
            <a:off x="640080" y="1325880"/>
            <a:ext cx="9601200" cy="36576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Does this subtask breakdown look right? Or could a step be missing or redundant?</a:t>
            </a:r>
            <a:endParaRPr lang="en-US" sz="1200" dirty="0"/>
          </a:p>
        </p:txBody>
      </p:sp>
      <p:sp>
        <p:nvSpPr>
          <p:cNvPr id="5" name="Shape 3"/>
          <p:cNvSpPr/>
          <p:nvPr/>
        </p:nvSpPr>
        <p:spPr>
          <a:xfrm>
            <a:off x="640080" y="1828800"/>
            <a:ext cx="6309360" cy="2103120"/>
          </a:xfrm>
          <a:prstGeom prst="roundRect">
            <a:avLst>
              <a:gd name="adj" fmla="val 3043"/>
            </a:avLst>
          </a:prstGeom>
          <a:solidFill>
            <a:srgbClr val="FFFFFF"/>
          </a:solidFill>
          <a:ln w="12700">
            <a:solidFill>
              <a:srgbClr val="EEF2F7"/>
            </a:solidFill>
            <a:prstDash val="solid"/>
          </a:ln>
        </p:spPr>
        <p:txBody>
          <a:bodyPr/>
          <a:p/>
        </p:txBody>
      </p:sp>
      <p:sp>
        <p:nvSpPr>
          <p:cNvPr id="6" name="Text 4"/>
          <p:cNvSpPr txBox="1"/>
          <p:nvPr/>
        </p:nvSpPr>
        <p:spPr>
          <a:xfrm>
            <a:off x="914400" y="2011680"/>
            <a:ext cx="1371600" cy="365760"/>
          </a:xfrm>
          <a:prstGeom prst="rect">
            <a:avLst/>
          </a:prstGeom>
          <a:noFill/>
        </p:spPr>
        <p:txBody>
          <a:bodyPr wrap="square" lIns="0" tIns="0" rIns="0" bIns="0" rtlCol="0" anchor="ctr"/>
          <a:lstStyle/>
          <a:p>
            <a:pPr marL="0" indent="0">
              <a:buNone/>
            </a:pPr>
            <a:r>
              <a:rPr lang="en-US" sz="1100" b="1" dirty="0">
                <a:solidFill>
                  <a:srgbClr val="5B6B82"/>
                </a:solidFill>
                <a:latin typeface="Calibri" panose="020F0502020204030204" pitchFamily="34" charset="0"/>
                <a:ea typeface="Calibri" panose="020F0502020204030204" pitchFamily="34" charset="-122"/>
                <a:cs typeface="Calibri" panose="020F0502020204030204" pitchFamily="34" charset="-120"/>
              </a:rPr>
              <a:t>Goal</a:t>
            </a:r>
            <a:endParaRPr lang="en-US" sz="1100" dirty="0"/>
          </a:p>
        </p:txBody>
      </p:sp>
      <p:sp>
        <p:nvSpPr>
          <p:cNvPr id="7" name="Text 5"/>
          <p:cNvSpPr txBox="1"/>
          <p:nvPr/>
        </p:nvSpPr>
        <p:spPr>
          <a:xfrm>
            <a:off x="2377440" y="2011680"/>
            <a:ext cx="4389120" cy="365760"/>
          </a:xfrm>
          <a:prstGeom prst="rect">
            <a:avLst/>
          </a:prstGeom>
          <a:noFill/>
        </p:spPr>
        <p:txBody>
          <a:bodyPr wrap="square" lIns="0" tIns="0" rIns="0" bIns="0" rtlCol="0" anchor="ctr"/>
          <a:lstStyle/>
          <a:p>
            <a:pPr marL="0" indent="0">
              <a:buNone/>
            </a:pPr>
            <a:r>
              <a:rPr lang="en-US" sz="1150" dirty="0">
                <a:solidFill>
                  <a:srgbClr val="0F2843"/>
                </a:solidFill>
                <a:latin typeface="Calibri" panose="020F0502020204030204" pitchFamily="34" charset="0"/>
                <a:ea typeface="Calibri" panose="020F0502020204030204" pitchFamily="34" charset="-122"/>
                <a:cs typeface="Calibri" panose="020F0502020204030204" pitchFamily="34" charset="-120"/>
              </a:rPr>
              <a:t>Treat Patient A</a:t>
            </a:r>
            <a:endParaRPr lang="en-US" sz="1150" dirty="0"/>
          </a:p>
        </p:txBody>
      </p:sp>
      <p:sp>
        <p:nvSpPr>
          <p:cNvPr id="8" name="Text 6"/>
          <p:cNvSpPr txBox="1"/>
          <p:nvPr/>
        </p:nvSpPr>
        <p:spPr>
          <a:xfrm>
            <a:off x="914400" y="2468880"/>
            <a:ext cx="1371600" cy="365760"/>
          </a:xfrm>
          <a:prstGeom prst="rect">
            <a:avLst/>
          </a:prstGeom>
          <a:noFill/>
        </p:spPr>
        <p:txBody>
          <a:bodyPr wrap="square" lIns="0" tIns="0" rIns="0" bIns="0" rtlCol="0" anchor="ctr"/>
          <a:lstStyle/>
          <a:p>
            <a:pPr marL="0" indent="0">
              <a:buNone/>
            </a:pPr>
            <a:r>
              <a:rPr lang="en-US" sz="1100" b="1" dirty="0">
                <a:solidFill>
                  <a:srgbClr val="5B6B82"/>
                </a:solidFill>
                <a:latin typeface="Calibri" panose="020F0502020204030204" pitchFamily="34" charset="0"/>
                <a:ea typeface="Calibri" panose="020F0502020204030204" pitchFamily="34" charset="-122"/>
                <a:cs typeface="Calibri" panose="020F0502020204030204" pitchFamily="34" charset="-120"/>
              </a:rPr>
              <a:t>Step 1</a:t>
            </a:r>
            <a:endParaRPr lang="en-US" sz="1100" dirty="0"/>
          </a:p>
        </p:txBody>
      </p:sp>
      <p:sp>
        <p:nvSpPr>
          <p:cNvPr id="9" name="Text 7"/>
          <p:cNvSpPr txBox="1"/>
          <p:nvPr/>
        </p:nvSpPr>
        <p:spPr>
          <a:xfrm>
            <a:off x="2377440" y="2468880"/>
            <a:ext cx="4389120" cy="365760"/>
          </a:xfrm>
          <a:prstGeom prst="rect">
            <a:avLst/>
          </a:prstGeom>
          <a:noFill/>
        </p:spPr>
        <p:txBody>
          <a:bodyPr wrap="square" lIns="0" tIns="0" rIns="0" bIns="0" rtlCol="0" anchor="ctr"/>
          <a:lstStyle/>
          <a:p>
            <a:pPr marL="0" indent="0">
              <a:buNone/>
            </a:pPr>
            <a:r>
              <a:rPr lang="en-US" sz="1150" dirty="0">
                <a:solidFill>
                  <a:srgbClr val="0F2843"/>
                </a:solidFill>
                <a:latin typeface="Calibri" panose="020F0502020204030204" pitchFamily="34" charset="0"/>
                <a:ea typeface="Calibri" panose="020F0502020204030204" pitchFamily="34" charset="-122"/>
                <a:cs typeface="Calibri" panose="020F0502020204030204" pitchFamily="34" charset="-120"/>
              </a:rPr>
              <a:t>Check trial slot availability</a:t>
            </a:r>
            <a:endParaRPr lang="en-US" sz="1150" dirty="0"/>
          </a:p>
        </p:txBody>
      </p:sp>
      <p:sp>
        <p:nvSpPr>
          <p:cNvPr id="10" name="Text 8"/>
          <p:cNvSpPr txBox="1"/>
          <p:nvPr/>
        </p:nvSpPr>
        <p:spPr>
          <a:xfrm>
            <a:off x="914400" y="2926080"/>
            <a:ext cx="1371600" cy="365760"/>
          </a:xfrm>
          <a:prstGeom prst="rect">
            <a:avLst/>
          </a:prstGeom>
          <a:noFill/>
        </p:spPr>
        <p:txBody>
          <a:bodyPr wrap="square" lIns="0" tIns="0" rIns="0" bIns="0" rtlCol="0" anchor="ctr"/>
          <a:lstStyle/>
          <a:p>
            <a:pPr marL="0" indent="0">
              <a:buNone/>
            </a:pPr>
            <a:r>
              <a:rPr lang="en-US" sz="1100" b="1" dirty="0">
                <a:solidFill>
                  <a:srgbClr val="5B6B82"/>
                </a:solidFill>
                <a:latin typeface="Calibri" panose="020F0502020204030204" pitchFamily="34" charset="0"/>
                <a:ea typeface="Calibri" panose="020F0502020204030204" pitchFamily="34" charset="-122"/>
                <a:cs typeface="Calibri" panose="020F0502020204030204" pitchFamily="34" charset="-120"/>
              </a:rPr>
              <a:t>Step 2</a:t>
            </a:r>
            <a:endParaRPr lang="en-US" sz="1100" dirty="0"/>
          </a:p>
        </p:txBody>
      </p:sp>
      <p:sp>
        <p:nvSpPr>
          <p:cNvPr id="11" name="Text 9"/>
          <p:cNvSpPr txBox="1"/>
          <p:nvPr/>
        </p:nvSpPr>
        <p:spPr>
          <a:xfrm>
            <a:off x="2377440" y="2926080"/>
            <a:ext cx="4389120" cy="365760"/>
          </a:xfrm>
          <a:prstGeom prst="rect">
            <a:avLst/>
          </a:prstGeom>
          <a:noFill/>
        </p:spPr>
        <p:txBody>
          <a:bodyPr wrap="square" lIns="0" tIns="0" rIns="0" bIns="0" rtlCol="0" anchor="ctr"/>
          <a:lstStyle/>
          <a:p>
            <a:pPr marL="0" indent="0">
              <a:buNone/>
            </a:pPr>
            <a:r>
              <a:rPr lang="en-US" sz="1150" dirty="0">
                <a:solidFill>
                  <a:srgbClr val="E63946"/>
                </a:solidFill>
                <a:latin typeface="Calibri" panose="020F0502020204030204" pitchFamily="34" charset="0"/>
                <a:ea typeface="Calibri" panose="020F0502020204030204" pitchFamily="34" charset="-122"/>
                <a:cs typeface="Calibri" panose="020F0502020204030204" pitchFamily="34" charset="-120"/>
              </a:rPr>
              <a:t>Check trial slot availability  ← Duplicate</a:t>
            </a:r>
            <a:endParaRPr lang="en-US" sz="1150" dirty="0"/>
          </a:p>
        </p:txBody>
      </p:sp>
      <p:sp>
        <p:nvSpPr>
          <p:cNvPr id="12" name="Text 10"/>
          <p:cNvSpPr txBox="1"/>
          <p:nvPr/>
        </p:nvSpPr>
        <p:spPr>
          <a:xfrm>
            <a:off x="914400" y="3383280"/>
            <a:ext cx="1371600" cy="365760"/>
          </a:xfrm>
          <a:prstGeom prst="rect">
            <a:avLst/>
          </a:prstGeom>
          <a:noFill/>
        </p:spPr>
        <p:txBody>
          <a:bodyPr wrap="square" lIns="0" tIns="0" rIns="0" bIns="0" rtlCol="0" anchor="ctr"/>
          <a:lstStyle/>
          <a:p>
            <a:pPr marL="0" indent="0">
              <a:buNone/>
            </a:pPr>
            <a:r>
              <a:rPr lang="en-US" sz="1100" b="1" dirty="0">
                <a:solidFill>
                  <a:srgbClr val="5B6B82"/>
                </a:solidFill>
                <a:latin typeface="Calibri" panose="020F0502020204030204" pitchFamily="34" charset="0"/>
                <a:ea typeface="Calibri" panose="020F0502020204030204" pitchFamily="34" charset="-122"/>
                <a:cs typeface="Calibri" panose="020F0502020204030204" pitchFamily="34" charset="-120"/>
              </a:rPr>
              <a:t>Step 3</a:t>
            </a:r>
            <a:endParaRPr lang="en-US" sz="1100" dirty="0"/>
          </a:p>
        </p:txBody>
      </p:sp>
      <p:sp>
        <p:nvSpPr>
          <p:cNvPr id="13" name="Text 11"/>
          <p:cNvSpPr txBox="1"/>
          <p:nvPr/>
        </p:nvSpPr>
        <p:spPr>
          <a:xfrm>
            <a:off x="2377440" y="3383280"/>
            <a:ext cx="4389120" cy="365760"/>
          </a:xfrm>
          <a:prstGeom prst="rect">
            <a:avLst/>
          </a:prstGeom>
          <a:noFill/>
        </p:spPr>
        <p:txBody>
          <a:bodyPr wrap="square" lIns="0" tIns="0" rIns="0" bIns="0" rtlCol="0" anchor="ctr"/>
          <a:lstStyle/>
          <a:p>
            <a:pPr marL="0" indent="0">
              <a:buNone/>
            </a:pPr>
            <a:r>
              <a:rPr lang="en-US" sz="1150" dirty="0">
                <a:solidFill>
                  <a:srgbClr val="0F2843"/>
                </a:solidFill>
                <a:latin typeface="Calibri" panose="020F0502020204030204" pitchFamily="34" charset="0"/>
                <a:ea typeface="Calibri" panose="020F0502020204030204" pitchFamily="34" charset="-122"/>
                <a:cs typeface="Calibri" panose="020F0502020204030204" pitchFamily="34" charset="-120"/>
              </a:rPr>
              <a:t>Notify pharmacy of incoming regimen</a:t>
            </a:r>
            <a:endParaRPr lang="en-US" sz="1150" dirty="0"/>
          </a:p>
        </p:txBody>
      </p:sp>
      <p:sp>
        <p:nvSpPr>
          <p:cNvPr id="14" name="Shape 12"/>
          <p:cNvSpPr/>
          <p:nvPr/>
        </p:nvSpPr>
        <p:spPr>
          <a:xfrm>
            <a:off x="7315200" y="1828800"/>
            <a:ext cx="640080" cy="640080"/>
          </a:xfrm>
          <a:prstGeom prst="ellipse">
            <a:avLst/>
          </a:prstGeom>
          <a:solidFill>
            <a:srgbClr val="0F2843"/>
          </a:solidFill>
        </p:spPr>
        <p:txBody>
          <a:bodyPr/>
          <a:p/>
        </p:txBody>
      </p:sp>
      <p:sp>
        <p:nvSpPr>
          <p:cNvPr id="15" name="Text 13"/>
          <p:cNvSpPr txBox="1"/>
          <p:nvPr/>
        </p:nvSpPr>
        <p:spPr>
          <a:xfrm>
            <a:off x="7315200" y="1828800"/>
            <a:ext cx="640080" cy="64008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6" name="Text 14"/>
          <p:cNvSpPr txBox="1"/>
          <p:nvPr/>
        </p:nvSpPr>
        <p:spPr>
          <a:xfrm>
            <a:off x="8092440" y="1920240"/>
            <a:ext cx="3383280" cy="457200"/>
          </a:xfrm>
          <a:prstGeom prst="rect">
            <a:avLst/>
          </a:prstGeom>
          <a:noFill/>
        </p:spPr>
        <p:txBody>
          <a:bodyPr wrap="square" lIns="0" tIns="0" rIns="0" bIns="0" rtlCol="0" anchor="ctr"/>
          <a:lstStyle/>
          <a:p>
            <a:pPr marL="0" indent="0">
              <a:buNone/>
            </a:pPr>
            <a:r>
              <a:rPr lang="en-US" sz="1500" b="1" dirty="0">
                <a:solidFill>
                  <a:srgbClr val="0F2843"/>
                </a:solidFill>
                <a:latin typeface="Calibri" panose="020F0502020204030204" pitchFamily="34" charset="0"/>
                <a:ea typeface="Calibri" panose="020F0502020204030204" pitchFamily="34" charset="-122"/>
                <a:cs typeface="Calibri" panose="020F0502020204030204" pitchFamily="34" charset="-120"/>
              </a:rPr>
              <a:t>WORKFLOW ENGINEER</a:t>
            </a:r>
            <a:endParaRPr lang="en-US" sz="1500" dirty="0"/>
          </a:p>
        </p:txBody>
      </p:sp>
      <p:sp>
        <p:nvSpPr>
          <p:cNvPr id="17" name="Text 15"/>
          <p:cNvSpPr txBox="1"/>
          <p:nvPr/>
        </p:nvSpPr>
        <p:spPr>
          <a:xfrm>
            <a:off x="7315200" y="2423160"/>
            <a:ext cx="4114800" cy="1371600"/>
          </a:xfrm>
          <a:prstGeom prst="rect">
            <a:avLst/>
          </a:prstGeom>
          <a:noFill/>
        </p:spPr>
        <p:txBody>
          <a:bodyPr wrap="square" lIns="0" tIns="0" rIns="0" bIns="0" rtlCol="0" anchor="ctr"/>
          <a:lstStyle/>
          <a:p>
            <a:pPr marL="0" indent="0">
              <a:lnSpc>
                <a:spcPct val="120000"/>
              </a:lnSpc>
              <a:buNone/>
            </a:pPr>
            <a:r>
              <a:rPr lang="en-US" sz="1150" dirty="0">
                <a:solidFill>
                  <a:srgbClr val="5B6B82"/>
                </a:solidFill>
                <a:latin typeface="Calibri" panose="020F0502020204030204" pitchFamily="34" charset="0"/>
                <a:ea typeface="Calibri" panose="020F0502020204030204" pitchFamily="34" charset="-122"/>
                <a:cs typeface="Calibri" panose="020F0502020204030204" pitchFamily="34" charset="-120"/>
              </a:rPr>
              <a:t>Deconstructs macro goals into concrete, tool-executable subtasks and checks whether the breakdown makes sense.</a:t>
            </a:r>
            <a:endParaRPr lang="en-US" sz="1150" dirty="0"/>
          </a:p>
        </p:txBody>
      </p:sp>
      <p:sp>
        <p:nvSpPr>
          <p:cNvPr id="18" name="Shape 16"/>
          <p:cNvSpPr/>
          <p:nvPr/>
        </p:nvSpPr>
        <p:spPr>
          <a:xfrm>
            <a:off x="640080" y="4297680"/>
            <a:ext cx="2651760" cy="548640"/>
          </a:xfrm>
          <a:prstGeom prst="roundRect">
            <a:avLst>
              <a:gd name="adj" fmla="val 50000"/>
            </a:avLst>
          </a:prstGeom>
          <a:solidFill>
            <a:srgbClr val="EEF2F7"/>
          </a:solidFill>
        </p:spPr>
        <p:txBody>
          <a:bodyPr/>
          <a:p/>
        </p:txBody>
      </p:sp>
      <p:sp>
        <p:nvSpPr>
          <p:cNvPr id="19" name="Text 17"/>
          <p:cNvSpPr txBox="1"/>
          <p:nvPr/>
        </p:nvSpPr>
        <p:spPr>
          <a:xfrm>
            <a:off x="640080" y="4297680"/>
            <a:ext cx="2651760" cy="548640"/>
          </a:xfrm>
          <a:prstGeom prst="rect">
            <a:avLst/>
          </a:prstGeom>
          <a:noFill/>
        </p:spPr>
        <p:txBody>
          <a:bodyPr wrap="square" lIns="0" tIns="0" rIns="0" bIns="0" rtlCol="0" anchor="ctr"/>
          <a:lstStyle/>
          <a:p>
            <a:pPr marL="0" indent="0" algn="ctr">
              <a:buNone/>
            </a:pPr>
            <a:r>
              <a:rPr lang="en-US" sz="1050" b="1" dirty="0">
                <a:solidFill>
                  <a:srgbClr val="0F2843"/>
                </a:solidFill>
                <a:latin typeface="Calibri" panose="020F0502020204030204" pitchFamily="34" charset="0"/>
                <a:ea typeface="Calibri" panose="020F0502020204030204" pitchFamily="34" charset="-122"/>
                <a:cs typeface="Calibri" panose="020F0502020204030204" pitchFamily="34" charset="-120"/>
              </a:rPr>
              <a:t>Clean Knowledge Base</a:t>
            </a:r>
            <a:endParaRPr lang="en-US" sz="1050" dirty="0"/>
          </a:p>
        </p:txBody>
      </p:sp>
      <p:sp>
        <p:nvSpPr>
          <p:cNvPr id="20" name="Text 18"/>
          <p:cNvSpPr txBox="1"/>
          <p:nvPr/>
        </p:nvSpPr>
        <p:spPr>
          <a:xfrm>
            <a:off x="3300984" y="4297680"/>
            <a:ext cx="182880" cy="548640"/>
          </a:xfrm>
          <a:prstGeom prst="rect">
            <a:avLst/>
          </a:prstGeom>
          <a:noFill/>
        </p:spPr>
        <p:txBody>
          <a:bodyPr wrap="square" lIns="0" tIns="0" rIns="0" bIns="0" rtlCol="0" anchor="ctr"/>
          <a:lstStyle/>
          <a:p>
            <a:pPr marL="0" indent="0" algn="ctr">
              <a:buNone/>
            </a:pPr>
            <a:r>
              <a:rPr lang="en-US" sz="1400" dirty="0">
                <a:solidFill>
                  <a:srgbClr val="5B6B82"/>
                </a:solidFill>
              </a:rPr>
              <a:t>→</a:t>
            </a:r>
            <a:endParaRPr lang="en-US" sz="1400" dirty="0"/>
          </a:p>
        </p:txBody>
      </p:sp>
      <p:sp>
        <p:nvSpPr>
          <p:cNvPr id="21" name="Shape 19"/>
          <p:cNvSpPr/>
          <p:nvPr/>
        </p:nvSpPr>
        <p:spPr>
          <a:xfrm>
            <a:off x="3429000" y="4297680"/>
            <a:ext cx="2651760" cy="548640"/>
          </a:xfrm>
          <a:prstGeom prst="roundRect">
            <a:avLst>
              <a:gd name="adj" fmla="val 50000"/>
            </a:avLst>
          </a:prstGeom>
          <a:solidFill>
            <a:srgbClr val="EEF2F7"/>
          </a:solidFill>
        </p:spPr>
        <p:txBody>
          <a:bodyPr/>
          <a:p/>
        </p:txBody>
      </p:sp>
      <p:sp>
        <p:nvSpPr>
          <p:cNvPr id="22" name="Text 20"/>
          <p:cNvSpPr txBox="1"/>
          <p:nvPr/>
        </p:nvSpPr>
        <p:spPr>
          <a:xfrm>
            <a:off x="3429000" y="4297680"/>
            <a:ext cx="2651760" cy="548640"/>
          </a:xfrm>
          <a:prstGeom prst="rect">
            <a:avLst/>
          </a:prstGeom>
          <a:noFill/>
        </p:spPr>
        <p:txBody>
          <a:bodyPr wrap="square" lIns="0" tIns="0" rIns="0" bIns="0" rtlCol="0" anchor="ctr"/>
          <a:lstStyle/>
          <a:p>
            <a:pPr marL="0" indent="0" algn="ctr">
              <a:buNone/>
            </a:pPr>
            <a:r>
              <a:rPr lang="en-US" sz="1050" b="1" dirty="0">
                <a:solidFill>
                  <a:srgbClr val="0F2843"/>
                </a:solidFill>
                <a:latin typeface="Calibri" panose="020F0502020204030204" pitchFamily="34" charset="0"/>
                <a:ea typeface="Calibri" panose="020F0502020204030204" pitchFamily="34" charset="-122"/>
                <a:cs typeface="Calibri" panose="020F0502020204030204" pitchFamily="34" charset="-120"/>
              </a:rPr>
              <a:t>Break Down Goal</a:t>
            </a:r>
            <a:endParaRPr lang="en-US" sz="1050" dirty="0"/>
          </a:p>
        </p:txBody>
      </p:sp>
      <p:sp>
        <p:nvSpPr>
          <p:cNvPr id="23" name="Text 21"/>
          <p:cNvSpPr txBox="1"/>
          <p:nvPr/>
        </p:nvSpPr>
        <p:spPr>
          <a:xfrm>
            <a:off x="6089904" y="4297680"/>
            <a:ext cx="182880" cy="548640"/>
          </a:xfrm>
          <a:prstGeom prst="rect">
            <a:avLst/>
          </a:prstGeom>
          <a:noFill/>
        </p:spPr>
        <p:txBody>
          <a:bodyPr wrap="square" lIns="0" tIns="0" rIns="0" bIns="0" rtlCol="0" anchor="ctr"/>
          <a:lstStyle/>
          <a:p>
            <a:pPr marL="0" indent="0" algn="ctr">
              <a:buNone/>
            </a:pPr>
            <a:r>
              <a:rPr lang="en-US" sz="1400" dirty="0">
                <a:solidFill>
                  <a:srgbClr val="5B6B82"/>
                </a:solidFill>
              </a:rPr>
              <a:t>→</a:t>
            </a:r>
            <a:endParaRPr lang="en-US" sz="1400" dirty="0"/>
          </a:p>
        </p:txBody>
      </p:sp>
      <p:sp>
        <p:nvSpPr>
          <p:cNvPr id="24" name="Shape 22"/>
          <p:cNvSpPr/>
          <p:nvPr/>
        </p:nvSpPr>
        <p:spPr>
          <a:xfrm>
            <a:off x="6217920" y="4297680"/>
            <a:ext cx="2651760" cy="548640"/>
          </a:xfrm>
          <a:prstGeom prst="roundRect">
            <a:avLst>
              <a:gd name="adj" fmla="val 50000"/>
            </a:avLst>
          </a:prstGeom>
          <a:solidFill>
            <a:srgbClr val="EEF2F7"/>
          </a:solidFill>
        </p:spPr>
        <p:txBody>
          <a:bodyPr/>
          <a:p/>
        </p:txBody>
      </p:sp>
      <p:sp>
        <p:nvSpPr>
          <p:cNvPr id="25" name="Text 23"/>
          <p:cNvSpPr txBox="1"/>
          <p:nvPr/>
        </p:nvSpPr>
        <p:spPr>
          <a:xfrm>
            <a:off x="6217920" y="4297680"/>
            <a:ext cx="2651760" cy="548640"/>
          </a:xfrm>
          <a:prstGeom prst="rect">
            <a:avLst/>
          </a:prstGeom>
          <a:noFill/>
        </p:spPr>
        <p:txBody>
          <a:bodyPr wrap="square" lIns="0" tIns="0" rIns="0" bIns="0" rtlCol="0" anchor="ctr"/>
          <a:lstStyle/>
          <a:p>
            <a:pPr marL="0" indent="0" algn="ctr">
              <a:buNone/>
            </a:pPr>
            <a:r>
              <a:rPr lang="en-US" sz="1050" b="1" dirty="0">
                <a:solidFill>
                  <a:srgbClr val="0F2843"/>
                </a:solidFill>
                <a:latin typeface="Calibri" panose="020F0502020204030204" pitchFamily="34" charset="0"/>
                <a:ea typeface="Calibri" panose="020F0502020204030204" pitchFamily="34" charset="-122"/>
                <a:cs typeface="Calibri" panose="020F0502020204030204" pitchFamily="34" charset="-120"/>
              </a:rPr>
              <a:t>Check Subtasks</a:t>
            </a:r>
            <a:endParaRPr lang="en-US" sz="1050" dirty="0"/>
          </a:p>
        </p:txBody>
      </p:sp>
      <p:sp>
        <p:nvSpPr>
          <p:cNvPr id="26" name="Text 24"/>
          <p:cNvSpPr txBox="1"/>
          <p:nvPr/>
        </p:nvSpPr>
        <p:spPr>
          <a:xfrm>
            <a:off x="8878824" y="4297680"/>
            <a:ext cx="182880" cy="548640"/>
          </a:xfrm>
          <a:prstGeom prst="rect">
            <a:avLst/>
          </a:prstGeom>
          <a:noFill/>
        </p:spPr>
        <p:txBody>
          <a:bodyPr wrap="square" lIns="0" tIns="0" rIns="0" bIns="0" rtlCol="0" anchor="ctr"/>
          <a:lstStyle/>
          <a:p>
            <a:pPr marL="0" indent="0" algn="ctr">
              <a:buNone/>
            </a:pPr>
            <a:r>
              <a:rPr lang="en-US" sz="1400" dirty="0">
                <a:solidFill>
                  <a:srgbClr val="5B6B82"/>
                </a:solidFill>
              </a:rPr>
              <a:t>→</a:t>
            </a:r>
            <a:endParaRPr lang="en-US" sz="1400" dirty="0"/>
          </a:p>
        </p:txBody>
      </p:sp>
      <p:sp>
        <p:nvSpPr>
          <p:cNvPr id="27" name="Shape 25"/>
          <p:cNvSpPr/>
          <p:nvPr/>
        </p:nvSpPr>
        <p:spPr>
          <a:xfrm>
            <a:off x="9006840" y="4297680"/>
            <a:ext cx="2651760" cy="548640"/>
          </a:xfrm>
          <a:prstGeom prst="roundRect">
            <a:avLst>
              <a:gd name="adj" fmla="val 50000"/>
            </a:avLst>
          </a:prstGeom>
          <a:solidFill>
            <a:srgbClr val="2A9D8F"/>
          </a:solidFill>
        </p:spPr>
        <p:txBody>
          <a:bodyPr/>
          <a:p/>
        </p:txBody>
      </p:sp>
      <p:sp>
        <p:nvSpPr>
          <p:cNvPr id="28" name="Text 26"/>
          <p:cNvSpPr txBox="1"/>
          <p:nvPr/>
        </p:nvSpPr>
        <p:spPr>
          <a:xfrm>
            <a:off x="9006840" y="4297680"/>
            <a:ext cx="2651760" cy="548640"/>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Verified Task Plan</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p:spPr>
        <p:txBody>
          <a:bodyPr wrap="square" lIns="0" tIns="0" rIns="0" bIns="0" rtlCol="0" anchor="ctr"/>
          <a:lstStyle/>
          <a:p>
            <a:pPr marL="0" indent="0">
              <a:buNone/>
            </a:pPr>
            <a:r>
              <a:rPr lang="en-US" sz="1200" b="1" kern="0" spc="200" dirty="0">
                <a:solidFill>
                  <a:srgbClr val="FFB627"/>
                </a:solidFill>
                <a:latin typeface="Calibri" panose="020F0502020204030204" pitchFamily="34" charset="0"/>
                <a:ea typeface="Calibri" panose="020F0502020204030204" pitchFamily="34" charset="-122"/>
                <a:cs typeface="Calibri" panose="020F0502020204030204" pitchFamily="34" charset="-120"/>
              </a:rPr>
              <a:t>MEET THE ROLE</a:t>
            </a:r>
            <a:endParaRPr lang="en-US" sz="1200" dirty="0"/>
          </a:p>
        </p:txBody>
      </p:sp>
      <p:sp>
        <p:nvSpPr>
          <p:cNvPr id="3" name="Text 1"/>
          <p:cNvSpPr txBox="1"/>
          <p:nvPr/>
        </p:nvSpPr>
        <p:spPr>
          <a:xfrm>
            <a:off x="640080" y="731520"/>
            <a:ext cx="10058400" cy="457200"/>
          </a:xfrm>
          <a:prstGeom prst="rect">
            <a:avLst/>
          </a:prstGeom>
          <a:noFill/>
        </p:spPr>
        <p:txBody>
          <a:bodyPr wrap="square" lIns="0" tIns="0" rIns="0" bIns="0" rtlCol="0" anchor="ctr"/>
          <a:lstStyle/>
          <a:p>
            <a:pPr marL="0" indent="0">
              <a:buNone/>
            </a:pPr>
            <a:r>
              <a:rPr lang="en-US" sz="1300" i="1" dirty="0">
                <a:solidFill>
                  <a:srgbClr val="9FB3CC"/>
                </a:solidFill>
                <a:latin typeface="Calibri" panose="020F0502020204030204" pitchFamily="34" charset="0"/>
                <a:ea typeface="Calibri" panose="020F0502020204030204" pitchFamily="34" charset="-122"/>
                <a:cs typeface="Calibri" panose="020F0502020204030204" pitchFamily="34" charset="-120"/>
              </a:rPr>
              <a:t>Now our knowledge base and task plan are ready. What should we do next?</a:t>
            </a:r>
            <a:endParaRPr lang="en-US" sz="1300" dirty="0"/>
          </a:p>
        </p:txBody>
      </p:sp>
      <p:sp>
        <p:nvSpPr>
          <p:cNvPr id="4" name="Shape 2"/>
          <p:cNvSpPr/>
          <p:nvPr/>
        </p:nvSpPr>
        <p:spPr>
          <a:xfrm>
            <a:off x="640080" y="1325880"/>
            <a:ext cx="777240" cy="777240"/>
          </a:xfrm>
          <a:prstGeom prst="ellipse">
            <a:avLst/>
          </a:prstGeom>
          <a:solidFill>
            <a:srgbClr val="17263B"/>
          </a:solidFill>
          <a:ln w="15240">
            <a:solidFill>
              <a:srgbClr val="FFB627"/>
            </a:solidFill>
            <a:prstDash val="solid"/>
          </a:ln>
        </p:spPr>
        <p:txBody>
          <a:bodyPr/>
          <a:p/>
        </p:txBody>
      </p:sp>
      <p:sp>
        <p:nvSpPr>
          <p:cNvPr id="5" name="Text 3"/>
          <p:cNvSpPr txBox="1"/>
          <p:nvPr/>
        </p:nvSpPr>
        <p:spPr>
          <a:xfrm>
            <a:off x="640080" y="1325880"/>
            <a:ext cx="777240" cy="777240"/>
          </a:xfrm>
          <a:prstGeom prst="rect">
            <a:avLst/>
          </a:prstGeom>
          <a:noFill/>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6" name="Text 4"/>
          <p:cNvSpPr txBox="1"/>
          <p:nvPr/>
        </p:nvSpPr>
        <p:spPr>
          <a:xfrm>
            <a:off x="1554480" y="1463040"/>
            <a:ext cx="7315200" cy="502920"/>
          </a:xfrm>
          <a:prstGeom prst="rect">
            <a:avLst/>
          </a:prstGeom>
          <a:noFill/>
        </p:spPr>
        <p:txBody>
          <a:bodyPr wrap="square" lIns="0" tIns="0" rIns="0" bIns="0" rtlCol="0" anchor="ctr"/>
          <a:lstStyle/>
          <a:p>
            <a:pPr marL="0" indent="0">
              <a:buNone/>
            </a:pPr>
            <a:r>
              <a:rPr lang="en-US" sz="2600" b="1" dirty="0">
                <a:solidFill>
                  <a:srgbClr val="FFFFFF"/>
                </a:solidFill>
                <a:latin typeface="Cambria" panose="02040503050406030204" pitchFamily="34" charset="0"/>
                <a:ea typeface="Cambria" panose="02040503050406030204" pitchFamily="34" charset="-122"/>
                <a:cs typeface="Cambria" panose="02040503050406030204" pitchFamily="34" charset="-120"/>
              </a:rPr>
              <a:t>AGENT ENGINEER</a:t>
            </a:r>
            <a:endParaRPr lang="en-US" sz="2600" dirty="0"/>
          </a:p>
        </p:txBody>
      </p:sp>
      <p:sp>
        <p:nvSpPr>
          <p:cNvPr id="7" name="Shape 5"/>
          <p:cNvSpPr/>
          <p:nvPr/>
        </p:nvSpPr>
        <p:spPr>
          <a:xfrm>
            <a:off x="640080" y="2468880"/>
            <a:ext cx="2834640" cy="384048"/>
          </a:xfrm>
          <a:prstGeom prst="roundRect">
            <a:avLst>
              <a:gd name="adj" fmla="val 11905"/>
            </a:avLst>
          </a:prstGeom>
          <a:solidFill>
            <a:srgbClr val="17263B"/>
          </a:solidFill>
        </p:spPr>
        <p:txBody>
          <a:bodyPr/>
          <a:p/>
        </p:txBody>
      </p:sp>
      <p:sp>
        <p:nvSpPr>
          <p:cNvPr id="8" name="Text 6"/>
          <p:cNvSpPr txBox="1"/>
          <p:nvPr/>
        </p:nvSpPr>
        <p:spPr>
          <a:xfrm>
            <a:off x="822960" y="2468880"/>
            <a:ext cx="2468880" cy="384048"/>
          </a:xfrm>
          <a:prstGeom prst="rect">
            <a:avLst/>
          </a:prstGeom>
          <a:noFill/>
        </p:spPr>
        <p:txBody>
          <a:bodyPr wrap="square" lIns="0" tIns="0" rIns="0" bIns="0" rtlCol="0" anchor="ctr"/>
          <a:lstStyle/>
          <a:p>
            <a:pPr marL="0" indent="0">
              <a:buNone/>
            </a:pPr>
            <a:r>
              <a:rPr lang="en-US" sz="1100" dirty="0">
                <a:solidFill>
                  <a:srgbClr val="E3E9F2"/>
                </a:solidFill>
                <a:latin typeface="Calibri" panose="020F0502020204030204" pitchFamily="34" charset="0"/>
                <a:ea typeface="Calibri" panose="020F0502020204030204" pitchFamily="34" charset="-122"/>
                <a:cs typeface="Calibri" panose="020F0502020204030204" pitchFamily="34" charset="-120"/>
              </a:rPr>
              <a:t>Toxicity Risk Data</a:t>
            </a:r>
            <a:endParaRPr lang="en-US" sz="1100" dirty="0"/>
          </a:p>
        </p:txBody>
      </p:sp>
      <p:sp>
        <p:nvSpPr>
          <p:cNvPr id="9" name="Shape 7"/>
          <p:cNvSpPr/>
          <p:nvPr/>
        </p:nvSpPr>
        <p:spPr>
          <a:xfrm>
            <a:off x="640080" y="2971800"/>
            <a:ext cx="2834640" cy="384048"/>
          </a:xfrm>
          <a:prstGeom prst="roundRect">
            <a:avLst>
              <a:gd name="adj" fmla="val 11905"/>
            </a:avLst>
          </a:prstGeom>
          <a:solidFill>
            <a:srgbClr val="17263B"/>
          </a:solidFill>
        </p:spPr>
        <p:txBody>
          <a:bodyPr/>
          <a:p/>
        </p:txBody>
      </p:sp>
      <p:sp>
        <p:nvSpPr>
          <p:cNvPr id="10" name="Text 8"/>
          <p:cNvSpPr txBox="1"/>
          <p:nvPr/>
        </p:nvSpPr>
        <p:spPr>
          <a:xfrm>
            <a:off x="822960" y="2971800"/>
            <a:ext cx="2468880" cy="384048"/>
          </a:xfrm>
          <a:prstGeom prst="rect">
            <a:avLst/>
          </a:prstGeom>
          <a:noFill/>
        </p:spPr>
        <p:txBody>
          <a:bodyPr wrap="square" lIns="0" tIns="0" rIns="0" bIns="0" rtlCol="0" anchor="ctr"/>
          <a:lstStyle/>
          <a:p>
            <a:pPr marL="0" indent="0">
              <a:buNone/>
            </a:pPr>
            <a:r>
              <a:rPr lang="en-US" sz="1100" dirty="0">
                <a:solidFill>
                  <a:srgbClr val="E3E9F2"/>
                </a:solidFill>
                <a:latin typeface="Calibri" panose="020F0502020204030204" pitchFamily="34" charset="0"/>
                <a:ea typeface="Calibri" panose="020F0502020204030204" pitchFamily="34" charset="-122"/>
                <a:cs typeface="Calibri" panose="020F0502020204030204" pitchFamily="34" charset="-120"/>
              </a:rPr>
              <a:t>Vision Alerts</a:t>
            </a:r>
            <a:endParaRPr lang="en-US" sz="1100" dirty="0"/>
          </a:p>
        </p:txBody>
      </p:sp>
      <p:sp>
        <p:nvSpPr>
          <p:cNvPr id="11" name="Shape 9"/>
          <p:cNvSpPr/>
          <p:nvPr/>
        </p:nvSpPr>
        <p:spPr>
          <a:xfrm>
            <a:off x="640080" y="3474720"/>
            <a:ext cx="2834640" cy="384048"/>
          </a:xfrm>
          <a:prstGeom prst="roundRect">
            <a:avLst>
              <a:gd name="adj" fmla="val 11905"/>
            </a:avLst>
          </a:prstGeom>
          <a:solidFill>
            <a:srgbClr val="17263B"/>
          </a:solidFill>
        </p:spPr>
        <p:txBody>
          <a:bodyPr/>
          <a:p/>
        </p:txBody>
      </p:sp>
      <p:sp>
        <p:nvSpPr>
          <p:cNvPr id="12" name="Text 10"/>
          <p:cNvSpPr txBox="1"/>
          <p:nvPr/>
        </p:nvSpPr>
        <p:spPr>
          <a:xfrm>
            <a:off x="822960" y="3474720"/>
            <a:ext cx="2468880" cy="384048"/>
          </a:xfrm>
          <a:prstGeom prst="rect">
            <a:avLst/>
          </a:prstGeom>
          <a:noFill/>
        </p:spPr>
        <p:txBody>
          <a:bodyPr wrap="square" lIns="0" tIns="0" rIns="0" bIns="0" rtlCol="0" anchor="ctr"/>
          <a:lstStyle/>
          <a:p>
            <a:pPr marL="0" indent="0">
              <a:buNone/>
            </a:pPr>
            <a:r>
              <a:rPr lang="en-US" sz="1100" dirty="0">
                <a:solidFill>
                  <a:srgbClr val="E3E9F2"/>
                </a:solidFill>
                <a:latin typeface="Calibri" panose="020F0502020204030204" pitchFamily="34" charset="0"/>
                <a:ea typeface="Calibri" panose="020F0502020204030204" pitchFamily="34" charset="-122"/>
                <a:cs typeface="Calibri" panose="020F0502020204030204" pitchFamily="34" charset="-120"/>
              </a:rPr>
              <a:t>Text Urgency</a:t>
            </a:r>
            <a:endParaRPr lang="en-US" sz="1100" dirty="0"/>
          </a:p>
        </p:txBody>
      </p:sp>
      <p:sp>
        <p:nvSpPr>
          <p:cNvPr id="13" name="Shape 11"/>
          <p:cNvSpPr/>
          <p:nvPr/>
        </p:nvSpPr>
        <p:spPr>
          <a:xfrm>
            <a:off x="640080" y="3977640"/>
            <a:ext cx="2834640" cy="384048"/>
          </a:xfrm>
          <a:prstGeom prst="roundRect">
            <a:avLst>
              <a:gd name="adj" fmla="val 11905"/>
            </a:avLst>
          </a:prstGeom>
          <a:solidFill>
            <a:srgbClr val="17263B"/>
          </a:solidFill>
        </p:spPr>
        <p:txBody>
          <a:bodyPr/>
          <a:p/>
        </p:txBody>
      </p:sp>
      <p:sp>
        <p:nvSpPr>
          <p:cNvPr id="14" name="Text 12"/>
          <p:cNvSpPr txBox="1"/>
          <p:nvPr/>
        </p:nvSpPr>
        <p:spPr>
          <a:xfrm>
            <a:off x="822960" y="3977640"/>
            <a:ext cx="2468880" cy="384048"/>
          </a:xfrm>
          <a:prstGeom prst="rect">
            <a:avLst/>
          </a:prstGeom>
          <a:noFill/>
        </p:spPr>
        <p:txBody>
          <a:bodyPr wrap="square" lIns="0" tIns="0" rIns="0" bIns="0" rtlCol="0" anchor="ctr"/>
          <a:lstStyle/>
          <a:p>
            <a:pPr marL="0" indent="0">
              <a:buNone/>
            </a:pPr>
            <a:r>
              <a:rPr lang="en-US" sz="1100" dirty="0">
                <a:solidFill>
                  <a:srgbClr val="E3E9F2"/>
                </a:solidFill>
                <a:latin typeface="Calibri" panose="020F0502020204030204" pitchFamily="34" charset="0"/>
                <a:ea typeface="Calibri" panose="020F0502020204030204" pitchFamily="34" charset="-122"/>
                <a:cs typeface="Calibri" panose="020F0502020204030204" pitchFamily="34" charset="-120"/>
              </a:rPr>
              <a:t>Trial &amp; Drug Inventory</a:t>
            </a:r>
            <a:endParaRPr lang="en-US" sz="1100" dirty="0"/>
          </a:p>
        </p:txBody>
      </p:sp>
      <p:sp>
        <p:nvSpPr>
          <p:cNvPr id="15" name="Text 13"/>
          <p:cNvSpPr txBox="1"/>
          <p:nvPr/>
        </p:nvSpPr>
        <p:spPr>
          <a:xfrm>
            <a:off x="3611880" y="3063240"/>
            <a:ext cx="548640" cy="548640"/>
          </a:xfrm>
          <a:prstGeom prst="rect">
            <a:avLst/>
          </a:prstGeom>
          <a:noFill/>
        </p:spPr>
        <p:txBody>
          <a:bodyPr wrap="square" lIns="0" tIns="0" rIns="0" bIns="0" rtlCol="0" anchor="ctr"/>
          <a:lstStyle/>
          <a:p>
            <a:pPr marL="0" indent="0" algn="ctr">
              <a:buNone/>
            </a:pPr>
            <a:r>
              <a:rPr lang="en-US" sz="2200" dirty="0">
                <a:solidFill>
                  <a:srgbClr val="9FB3CC"/>
                </a:solidFill>
              </a:rPr>
              <a:t>→</a:t>
            </a:r>
            <a:endParaRPr lang="en-US" sz="2200" dirty="0"/>
          </a:p>
        </p:txBody>
      </p:sp>
      <p:sp>
        <p:nvSpPr>
          <p:cNvPr id="16" name="Shape 14"/>
          <p:cNvSpPr/>
          <p:nvPr/>
        </p:nvSpPr>
        <p:spPr>
          <a:xfrm>
            <a:off x="4297680" y="2651760"/>
            <a:ext cx="2834640" cy="1463040"/>
          </a:xfrm>
          <a:prstGeom prst="roundRect">
            <a:avLst>
              <a:gd name="adj" fmla="val 4375"/>
            </a:avLst>
          </a:prstGeom>
          <a:solidFill>
            <a:srgbClr val="FFB627"/>
          </a:solidFill>
        </p:spPr>
        <p:txBody>
          <a:bodyPr/>
          <a:p/>
        </p:txBody>
      </p:sp>
      <p:sp>
        <p:nvSpPr>
          <p:cNvPr id="17" name="Text 15"/>
          <p:cNvSpPr txBox="1"/>
          <p:nvPr/>
        </p:nvSpPr>
        <p:spPr>
          <a:xfrm>
            <a:off x="4297680" y="2651760"/>
            <a:ext cx="2834640" cy="1463040"/>
          </a:xfrm>
          <a:prstGeom prst="rect">
            <a:avLst/>
          </a:prstGeom>
          <a:noFill/>
        </p:spPr>
        <p:txBody>
          <a:bodyPr wrap="square" lIns="0" tIns="0" rIns="0" bIns="0" rtlCol="0" anchor="ctr"/>
          <a:lstStyle/>
          <a:p>
            <a:pPr marL="0" indent="0" algn="ctr">
              <a:buNone/>
            </a:pPr>
            <a:r>
              <a:rPr lang="en-US" sz="1500" b="1" dirty="0">
                <a:solidFill>
                  <a:srgbClr val="081527"/>
                </a:solidFill>
                <a:latin typeface="Calibri" panose="020F0502020204030204" pitchFamily="34" charset="0"/>
                <a:ea typeface="Calibri" panose="020F0502020204030204" pitchFamily="34" charset="-122"/>
                <a:cs typeface="Calibri" panose="020F0502020204030204" pitchFamily="34" charset="-120"/>
              </a:rPr>
              <a:t>AGENT</a:t>
            </a:r>
            <a:endParaRPr lang="en-US" sz="1500" dirty="0"/>
          </a:p>
          <a:p>
            <a:pPr marL="0" indent="0" algn="ctr">
              <a:buNone/>
            </a:pPr>
            <a:r>
              <a:rPr lang="en-US" sz="1500" b="1" dirty="0">
                <a:solidFill>
                  <a:srgbClr val="081527"/>
                </a:solidFill>
                <a:latin typeface="Calibri" panose="020F0502020204030204" pitchFamily="34" charset="0"/>
                <a:ea typeface="Calibri" panose="020F0502020204030204" pitchFamily="34" charset="-122"/>
                <a:cs typeface="Calibri" panose="020F0502020204030204" pitchFamily="34" charset="-120"/>
              </a:rPr>
              <a:t>(ReAct Loop)</a:t>
            </a:r>
            <a:endParaRPr lang="en-US" sz="1500" dirty="0"/>
          </a:p>
        </p:txBody>
      </p:sp>
      <p:sp>
        <p:nvSpPr>
          <p:cNvPr id="18" name="Text 16"/>
          <p:cNvSpPr txBox="1"/>
          <p:nvPr/>
        </p:nvSpPr>
        <p:spPr>
          <a:xfrm>
            <a:off x="7315200" y="3063240"/>
            <a:ext cx="548640" cy="548640"/>
          </a:xfrm>
          <a:prstGeom prst="rect">
            <a:avLst/>
          </a:prstGeom>
          <a:noFill/>
        </p:spPr>
        <p:txBody>
          <a:bodyPr wrap="square" lIns="0" tIns="0" rIns="0" bIns="0" rtlCol="0" anchor="ctr"/>
          <a:lstStyle/>
          <a:p>
            <a:pPr marL="0" indent="0" algn="ctr">
              <a:buNone/>
            </a:pPr>
            <a:r>
              <a:rPr lang="en-US" sz="2200" dirty="0">
                <a:solidFill>
                  <a:srgbClr val="9FB3CC"/>
                </a:solidFill>
              </a:rPr>
              <a:t>→</a:t>
            </a:r>
            <a:endParaRPr lang="en-US" sz="2200" dirty="0"/>
          </a:p>
        </p:txBody>
      </p:sp>
      <p:sp>
        <p:nvSpPr>
          <p:cNvPr id="19" name="Shape 17"/>
          <p:cNvSpPr/>
          <p:nvPr/>
        </p:nvSpPr>
        <p:spPr>
          <a:xfrm>
            <a:off x="8001000" y="2651760"/>
            <a:ext cx="3108960" cy="384048"/>
          </a:xfrm>
          <a:prstGeom prst="roundRect">
            <a:avLst>
              <a:gd name="adj" fmla="val 11905"/>
            </a:avLst>
          </a:prstGeom>
          <a:solidFill>
            <a:srgbClr val="2A9D8F"/>
          </a:solidFill>
        </p:spPr>
        <p:txBody>
          <a:bodyPr/>
          <a:p/>
        </p:txBody>
      </p:sp>
      <p:sp>
        <p:nvSpPr>
          <p:cNvPr id="20" name="Text 18"/>
          <p:cNvSpPr txBox="1"/>
          <p:nvPr/>
        </p:nvSpPr>
        <p:spPr>
          <a:xfrm>
            <a:off x="8183880" y="2651760"/>
            <a:ext cx="2743200" cy="384048"/>
          </a:xfrm>
          <a:prstGeom prst="rect">
            <a:avLst/>
          </a:prstGeom>
          <a:noFill/>
        </p:spPr>
        <p:txBody>
          <a:bodyPr wrap="square" lIns="0" tIns="0" rIns="0" bIns="0" rtlCol="0" anchor="ctr"/>
          <a:lstStyle/>
          <a:p>
            <a:pPr marL="0" indent="0">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Low</a:t>
            </a:r>
            <a:endParaRPr lang="en-US" sz="1100" dirty="0"/>
          </a:p>
        </p:txBody>
      </p:sp>
      <p:sp>
        <p:nvSpPr>
          <p:cNvPr id="21" name="Shape 19"/>
          <p:cNvSpPr/>
          <p:nvPr/>
        </p:nvSpPr>
        <p:spPr>
          <a:xfrm>
            <a:off x="8001000" y="3154680"/>
            <a:ext cx="3108960" cy="384048"/>
          </a:xfrm>
          <a:prstGeom prst="roundRect">
            <a:avLst>
              <a:gd name="adj" fmla="val 11905"/>
            </a:avLst>
          </a:prstGeom>
          <a:solidFill>
            <a:srgbClr val="F4A300"/>
          </a:solidFill>
        </p:spPr>
        <p:txBody>
          <a:bodyPr/>
          <a:p/>
        </p:txBody>
      </p:sp>
      <p:sp>
        <p:nvSpPr>
          <p:cNvPr id="22" name="Text 20"/>
          <p:cNvSpPr txBox="1"/>
          <p:nvPr/>
        </p:nvSpPr>
        <p:spPr>
          <a:xfrm>
            <a:off x="8183880" y="3154680"/>
            <a:ext cx="2743200" cy="384048"/>
          </a:xfrm>
          <a:prstGeom prst="rect">
            <a:avLst/>
          </a:prstGeom>
          <a:noFill/>
        </p:spPr>
        <p:txBody>
          <a:bodyPr wrap="square" lIns="0" tIns="0" rIns="0" bIns="0" rtlCol="0" anchor="ctr"/>
          <a:lstStyle/>
          <a:p>
            <a:pPr marL="0" indent="0">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Moderate</a:t>
            </a:r>
            <a:endParaRPr lang="en-US" sz="1100" dirty="0"/>
          </a:p>
        </p:txBody>
      </p:sp>
      <p:sp>
        <p:nvSpPr>
          <p:cNvPr id="23" name="Shape 21"/>
          <p:cNvSpPr/>
          <p:nvPr/>
        </p:nvSpPr>
        <p:spPr>
          <a:xfrm>
            <a:off x="8001000" y="3657600"/>
            <a:ext cx="3108960" cy="384048"/>
          </a:xfrm>
          <a:prstGeom prst="roundRect">
            <a:avLst>
              <a:gd name="adj" fmla="val 11905"/>
            </a:avLst>
          </a:prstGeom>
          <a:solidFill>
            <a:srgbClr val="E63946"/>
          </a:solidFill>
        </p:spPr>
        <p:txBody>
          <a:bodyPr/>
          <a:p/>
        </p:txBody>
      </p:sp>
      <p:sp>
        <p:nvSpPr>
          <p:cNvPr id="24" name="Text 22"/>
          <p:cNvSpPr txBox="1"/>
          <p:nvPr/>
        </p:nvSpPr>
        <p:spPr>
          <a:xfrm>
            <a:off x="8183880" y="3657600"/>
            <a:ext cx="2743200" cy="384048"/>
          </a:xfrm>
          <a:prstGeom prst="rect">
            <a:avLst/>
          </a:prstGeom>
          <a:noFill/>
        </p:spPr>
        <p:txBody>
          <a:bodyPr wrap="square" lIns="0" tIns="0" rIns="0" bIns="0" rtlCol="0" anchor="ctr"/>
          <a:lstStyle/>
          <a:p>
            <a:pPr marL="0" indent="0">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Severe → Enroll</a:t>
            </a:r>
            <a:endParaRPr lang="en-US" sz="1100" dirty="0"/>
          </a:p>
        </p:txBody>
      </p:sp>
      <p:sp>
        <p:nvSpPr>
          <p:cNvPr id="25" name="Shape 23"/>
          <p:cNvSpPr/>
          <p:nvPr/>
        </p:nvSpPr>
        <p:spPr>
          <a:xfrm>
            <a:off x="640080" y="4709160"/>
            <a:ext cx="10515600" cy="640080"/>
          </a:xfrm>
          <a:prstGeom prst="roundRect">
            <a:avLst>
              <a:gd name="adj" fmla="val 8571"/>
            </a:avLst>
          </a:prstGeom>
          <a:solidFill>
            <a:srgbClr val="0F3D5C"/>
          </a:solidFill>
        </p:spPr>
        <p:txBody>
          <a:bodyPr/>
          <a:p/>
        </p:txBody>
      </p:sp>
      <p:sp>
        <p:nvSpPr>
          <p:cNvPr id="26" name="Text 24"/>
          <p:cNvSpPr txBox="1"/>
          <p:nvPr/>
        </p:nvSpPr>
        <p:spPr>
          <a:xfrm>
            <a:off x="914400" y="4709160"/>
            <a:ext cx="9966960" cy="640080"/>
          </a:xfrm>
          <a:prstGeom prst="rect">
            <a:avLst/>
          </a:prstGeom>
          <a:noFill/>
        </p:spPr>
        <p:txBody>
          <a:bodyPr wrap="square" lIns="0" tIns="0" rIns="0" bIns="0" rtlCol="0" anchor="ctr"/>
          <a:lstStyle/>
          <a:p>
            <a:pPr marL="0" indent="0">
              <a:buNone/>
            </a:pPr>
            <a:r>
              <a:rPr lang="en-US" sz="1200" i="1" dirty="0">
                <a:solidFill>
                  <a:srgbClr val="E3E9F2"/>
                </a:solidFill>
                <a:latin typeface="Calibri" panose="020F0502020204030204" pitchFamily="34" charset="0"/>
                <a:ea typeface="Calibri" panose="020F0502020204030204" pitchFamily="34" charset="-122"/>
                <a:cs typeface="Calibri" panose="020F0502020204030204" pitchFamily="34" charset="-120"/>
              </a:rPr>
              <a:t>The Agent Engineer designs the core reasoning loop, tool-invocation logic, and decision-making process.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p:spPr>
        <p:txBody>
          <a:bodyPr wrap="square" lIns="0" tIns="0" rIns="0" bIns="0" rtlCol="0" anchor="ctr"/>
          <a:lstStyle/>
          <a:p>
            <a:pPr marL="0" indent="0">
              <a:buNone/>
            </a:pPr>
            <a:r>
              <a:rPr lang="en-US" sz="1200" b="1" kern="0" spc="200" dirty="0">
                <a:solidFill>
                  <a:srgbClr val="F4A300"/>
                </a:solidFill>
                <a:latin typeface="Calibri" panose="020F0502020204030204" pitchFamily="34" charset="0"/>
                <a:ea typeface="Calibri" panose="020F0502020204030204" pitchFamily="34" charset="-122"/>
                <a:cs typeface="Calibri" panose="020F0502020204030204" pitchFamily="34" charset="-120"/>
              </a:rPr>
              <a:t>CAN WE TRUST IT?</a:t>
            </a:r>
            <a:endParaRPr lang="en-US" sz="1200" dirty="0"/>
          </a:p>
        </p:txBody>
      </p:sp>
      <p:sp>
        <p:nvSpPr>
          <p:cNvPr id="3" name="Text 1"/>
          <p:cNvSpPr txBox="1"/>
          <p:nvPr/>
        </p:nvSpPr>
        <p:spPr>
          <a:xfrm>
            <a:off x="640080" y="777240"/>
            <a:ext cx="10332720" cy="548640"/>
          </a:xfrm>
          <a:prstGeom prst="rect">
            <a:avLst/>
          </a:prstGeom>
          <a:noFill/>
        </p:spPr>
        <p:txBody>
          <a:bodyPr wrap="square" lIns="0" tIns="0" rIns="0" bIns="0" rtlCol="0" anchor="ctr"/>
          <a:lstStyle/>
          <a:p>
            <a:pPr marL="0" indent="0">
              <a:buNone/>
            </a:pPr>
            <a:r>
              <a:rPr lang="en-US" sz="2200" b="1" dirty="0">
                <a:solidFill>
                  <a:srgbClr val="0F2843"/>
                </a:solidFill>
                <a:latin typeface="Cambria" panose="02040503050406030204" pitchFamily="34" charset="0"/>
                <a:ea typeface="Cambria" panose="02040503050406030204" pitchFamily="34" charset="-122"/>
                <a:cs typeface="Cambria" panose="02040503050406030204" pitchFamily="34" charset="-120"/>
              </a:rPr>
              <a:t>The agent's plan is perfect on the training scenarios. Should we trust it immediately?</a:t>
            </a:r>
            <a:endParaRPr lang="en-US" sz="2200" dirty="0"/>
          </a:p>
        </p:txBody>
      </p:sp>
      <p:sp>
        <p:nvSpPr>
          <p:cNvPr id="4" name="Text 2"/>
          <p:cNvSpPr txBox="1"/>
          <p:nvPr/>
        </p:nvSpPr>
        <p:spPr>
          <a:xfrm>
            <a:off x="640080" y="1371600"/>
            <a:ext cx="2743200" cy="457200"/>
          </a:xfrm>
          <a:prstGeom prst="rect">
            <a:avLst/>
          </a:prstGeom>
          <a:noFill/>
        </p:spPr>
        <p:txBody>
          <a:bodyPr wrap="square" lIns="0" tIns="0" rIns="0" bIns="0" rtlCol="0" anchor="ctr"/>
          <a:lstStyle/>
          <a:p>
            <a:pPr marL="0" indent="0">
              <a:buNone/>
            </a:pPr>
            <a:r>
              <a:rPr lang="en-US" sz="2600" b="1" dirty="0">
                <a:solidFill>
                  <a:srgbClr val="E63946"/>
                </a:solidFill>
                <a:latin typeface="Cambria" panose="02040503050406030204" pitchFamily="34" charset="0"/>
                <a:ea typeface="Cambria" panose="02040503050406030204" pitchFamily="34" charset="-122"/>
                <a:cs typeface="Cambria" panose="02040503050406030204" pitchFamily="34" charset="-120"/>
              </a:rPr>
              <a:t>NO.</a:t>
            </a:r>
            <a:endParaRPr lang="en-US" sz="2600" dirty="0"/>
          </a:p>
        </p:txBody>
      </p:sp>
      <p:sp>
        <p:nvSpPr>
          <p:cNvPr id="5" name="Shape 3"/>
          <p:cNvSpPr/>
          <p:nvPr/>
        </p:nvSpPr>
        <p:spPr>
          <a:xfrm>
            <a:off x="640080" y="1965960"/>
            <a:ext cx="5212080" cy="1097280"/>
          </a:xfrm>
          <a:prstGeom prst="roundRect">
            <a:avLst>
              <a:gd name="adj" fmla="val 5833"/>
            </a:avLst>
          </a:prstGeom>
          <a:solidFill>
            <a:srgbClr val="E7F5F3"/>
          </a:solidFill>
        </p:spPr>
        <p:txBody>
          <a:bodyPr/>
          <a:p/>
        </p:txBody>
      </p:sp>
      <p:sp>
        <p:nvSpPr>
          <p:cNvPr id="6" name="Text 4"/>
          <p:cNvSpPr txBox="1"/>
          <p:nvPr/>
        </p:nvSpPr>
        <p:spPr>
          <a:xfrm>
            <a:off x="914400" y="2103120"/>
            <a:ext cx="4663440" cy="320040"/>
          </a:xfrm>
          <a:prstGeom prst="rect">
            <a:avLst/>
          </a:prstGeom>
          <a:noFill/>
        </p:spPr>
        <p:txBody>
          <a:bodyPr wrap="square" lIns="0" tIns="0" rIns="0" bIns="0" rtlCol="0" anchor="ctr"/>
          <a:lstStyle/>
          <a:p>
            <a:pPr marL="0" indent="0">
              <a:buNone/>
            </a:pPr>
            <a:r>
              <a:rPr lang="en-US" sz="1300" b="1" dirty="0">
                <a:solidFill>
                  <a:srgbClr val="2A9D8F"/>
                </a:solidFill>
                <a:latin typeface="Calibri" panose="020F0502020204030204" pitchFamily="34" charset="0"/>
                <a:ea typeface="Calibri" panose="020F0502020204030204" pitchFamily="34" charset="-122"/>
                <a:cs typeface="Calibri" panose="020F0502020204030204" pitchFamily="34" charset="-120"/>
              </a:rPr>
              <a:t>TRAINING SCENARIOS</a:t>
            </a:r>
            <a:endParaRPr lang="en-US" sz="1300" dirty="0"/>
          </a:p>
        </p:txBody>
      </p:sp>
      <p:sp>
        <p:nvSpPr>
          <p:cNvPr id="7" name="Text 5"/>
          <p:cNvSpPr txBox="1"/>
          <p:nvPr/>
        </p:nvSpPr>
        <p:spPr>
          <a:xfrm>
            <a:off x="914400" y="2423160"/>
            <a:ext cx="4663440" cy="502920"/>
          </a:xfrm>
          <a:prstGeom prst="rect">
            <a:avLst/>
          </a:prstGeom>
          <a:noFill/>
        </p:spPr>
        <p:txBody>
          <a:bodyPr wrap="square" lIns="0" tIns="0" rIns="0" bIns="0" rtlCol="0" anchor="ctr"/>
          <a:lstStyle/>
          <a:p>
            <a:pPr marL="0" indent="0">
              <a:buNone/>
            </a:pPr>
            <a:r>
              <a:rPr lang="en-US" sz="1150" dirty="0">
                <a:solidFill>
                  <a:srgbClr val="5B6B82"/>
                </a:solidFill>
                <a:latin typeface="Calibri" panose="020F0502020204030204" pitchFamily="34" charset="0"/>
                <a:ea typeface="Calibri" panose="020F0502020204030204" pitchFamily="34" charset="-122"/>
                <a:cs typeface="Calibri" panose="020F0502020204030204" pitchFamily="34" charset="-120"/>
              </a:rPr>
              <a:t>Agent has already seen these</a:t>
            </a:r>
            <a:endParaRPr lang="en-US" sz="1150" dirty="0"/>
          </a:p>
        </p:txBody>
      </p:sp>
      <p:sp>
        <p:nvSpPr>
          <p:cNvPr id="8" name="Shape 6"/>
          <p:cNvSpPr/>
          <p:nvPr/>
        </p:nvSpPr>
        <p:spPr>
          <a:xfrm>
            <a:off x="6035040" y="1965960"/>
            <a:ext cx="5212080" cy="1097280"/>
          </a:xfrm>
          <a:prstGeom prst="roundRect">
            <a:avLst>
              <a:gd name="adj" fmla="val 5833"/>
            </a:avLst>
          </a:prstGeom>
          <a:solidFill>
            <a:srgbClr val="FFE3E4"/>
          </a:solidFill>
        </p:spPr>
        <p:txBody>
          <a:bodyPr/>
          <a:p/>
        </p:txBody>
      </p:sp>
      <p:sp>
        <p:nvSpPr>
          <p:cNvPr id="9" name="Text 7"/>
          <p:cNvSpPr txBox="1"/>
          <p:nvPr/>
        </p:nvSpPr>
        <p:spPr>
          <a:xfrm>
            <a:off x="6309360" y="2103120"/>
            <a:ext cx="4663440" cy="320040"/>
          </a:xfrm>
          <a:prstGeom prst="rect">
            <a:avLst/>
          </a:prstGeom>
          <a:noFill/>
        </p:spPr>
        <p:txBody>
          <a:bodyPr wrap="square" lIns="0" tIns="0" rIns="0" bIns="0" rtlCol="0" anchor="ctr"/>
          <a:lstStyle/>
          <a:p>
            <a:pPr marL="0" indent="0">
              <a:buNone/>
            </a:pPr>
            <a:r>
              <a:rPr lang="en-US" sz="1300" b="1" dirty="0">
                <a:solidFill>
                  <a:srgbClr val="E63946"/>
                </a:solidFill>
                <a:latin typeface="Calibri" panose="020F0502020204030204" pitchFamily="34" charset="0"/>
                <a:ea typeface="Calibri" panose="020F0502020204030204" pitchFamily="34" charset="-122"/>
                <a:cs typeface="Calibri" panose="020F0502020204030204" pitchFamily="34" charset="-120"/>
              </a:rPr>
              <a:t>LIVE UNSEEN CASES</a:t>
            </a:r>
            <a:endParaRPr lang="en-US" sz="1300" dirty="0"/>
          </a:p>
        </p:txBody>
      </p:sp>
      <p:sp>
        <p:nvSpPr>
          <p:cNvPr id="10" name="Text 8"/>
          <p:cNvSpPr txBox="1"/>
          <p:nvPr/>
        </p:nvSpPr>
        <p:spPr>
          <a:xfrm>
            <a:off x="6309360" y="2423160"/>
            <a:ext cx="4663440" cy="502920"/>
          </a:xfrm>
          <a:prstGeom prst="rect">
            <a:avLst/>
          </a:prstGeom>
          <a:noFill/>
        </p:spPr>
        <p:txBody>
          <a:bodyPr wrap="square" lIns="0" tIns="0" rIns="0" bIns="0" rtlCol="0" anchor="ctr"/>
          <a:lstStyle/>
          <a:p>
            <a:pPr marL="0" indent="0">
              <a:buNone/>
            </a:pPr>
            <a:r>
              <a:rPr lang="en-US" sz="1150" dirty="0">
                <a:solidFill>
                  <a:srgbClr val="5B6B82"/>
                </a:solidFill>
                <a:latin typeface="Calibri" panose="020F0502020204030204" pitchFamily="34" charset="0"/>
                <a:ea typeface="Calibri" panose="020F0502020204030204" pitchFamily="34" charset="-122"/>
                <a:cs typeface="Calibri" panose="020F0502020204030204" pitchFamily="34" charset="-120"/>
              </a:rPr>
              <a:t>Agent has never encountered these</a:t>
            </a:r>
            <a:endParaRPr lang="en-US" sz="1150" dirty="0"/>
          </a:p>
        </p:txBody>
      </p:sp>
      <p:sp>
        <p:nvSpPr>
          <p:cNvPr id="11" name="Shape 9"/>
          <p:cNvSpPr/>
          <p:nvPr/>
        </p:nvSpPr>
        <p:spPr>
          <a:xfrm>
            <a:off x="640080" y="3337560"/>
            <a:ext cx="548640" cy="548640"/>
          </a:xfrm>
          <a:prstGeom prst="ellipse">
            <a:avLst/>
          </a:prstGeom>
          <a:solidFill>
            <a:srgbClr val="2A9D8F"/>
          </a:solidFill>
        </p:spPr>
        <p:txBody>
          <a:bodyPr/>
          <a:p/>
        </p:txBody>
      </p:sp>
      <p:sp>
        <p:nvSpPr>
          <p:cNvPr id="12" name="Text 10"/>
          <p:cNvSpPr txBox="1"/>
          <p:nvPr/>
        </p:nvSpPr>
        <p:spPr>
          <a:xfrm>
            <a:off x="640080" y="3337560"/>
            <a:ext cx="548640" cy="548640"/>
          </a:xfrm>
          <a:prstGeom prst="rect">
            <a:avLst/>
          </a:prstGeom>
          <a:noFill/>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3" name="Text 11"/>
          <p:cNvSpPr txBox="1"/>
          <p:nvPr/>
        </p:nvSpPr>
        <p:spPr>
          <a:xfrm>
            <a:off x="1325880" y="3401568"/>
            <a:ext cx="4572000" cy="411480"/>
          </a:xfrm>
          <a:prstGeom prst="rect">
            <a:avLst/>
          </a:prstGeom>
          <a:noFill/>
        </p:spPr>
        <p:txBody>
          <a:bodyPr wrap="square" lIns="0" tIns="0" rIns="0" bIns="0" rtlCol="0" anchor="ctr"/>
          <a:lstStyle/>
          <a:p>
            <a:pPr marL="0" indent="0">
              <a:buNone/>
            </a:pPr>
            <a:r>
              <a:rPr lang="en-US" sz="1500" b="1" dirty="0">
                <a:solidFill>
                  <a:srgbClr val="0F2843"/>
                </a:solidFill>
                <a:latin typeface="Calibri" panose="020F0502020204030204" pitchFamily="34" charset="0"/>
                <a:ea typeface="Calibri" panose="020F0502020204030204" pitchFamily="34" charset="-122"/>
                <a:cs typeface="Calibri" panose="020F0502020204030204" pitchFamily="34" charset="-120"/>
              </a:rPr>
              <a:t>EVALUATION ENGINEER</a:t>
            </a:r>
            <a:endParaRPr lang="en-US" sz="1500" dirty="0"/>
          </a:p>
        </p:txBody>
      </p:sp>
      <p:sp>
        <p:nvSpPr>
          <p:cNvPr id="14" name="Text 12"/>
          <p:cNvSpPr txBox="1"/>
          <p:nvPr/>
        </p:nvSpPr>
        <p:spPr>
          <a:xfrm>
            <a:off x="640080" y="3977640"/>
            <a:ext cx="5669280" cy="1005840"/>
          </a:xfrm>
          <a:prstGeom prst="rect">
            <a:avLst/>
          </a:prstGeom>
          <a:noFill/>
        </p:spPr>
        <p:txBody>
          <a:bodyPr wrap="square" lIns="0" tIns="0" rIns="0" bIns="0" rtlCol="0" anchor="ctr"/>
          <a:lstStyle/>
          <a:p>
            <a:pPr marL="0" indent="0">
              <a:lnSpc>
                <a:spcPct val="120000"/>
              </a:lnSpc>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Executes simulated patient runs to check whether the agent really reasons well — or only memorized scripted scenarios.</a:t>
            </a:r>
            <a:endParaRPr lang="en-US" sz="1200" dirty="0"/>
          </a:p>
        </p:txBody>
      </p:sp>
      <p:sp>
        <p:nvSpPr>
          <p:cNvPr id="15" name="Text 13"/>
          <p:cNvSpPr txBox="1"/>
          <p:nvPr/>
        </p:nvSpPr>
        <p:spPr>
          <a:xfrm>
            <a:off x="640080" y="5029200"/>
            <a:ext cx="5669280" cy="365760"/>
          </a:xfrm>
          <a:prstGeom prst="rect">
            <a:avLst/>
          </a:prstGeom>
          <a:noFill/>
        </p:spPr>
        <p:txBody>
          <a:bodyPr wrap="square" lIns="0" tIns="0" rIns="0" bIns="0" rtlCol="0" anchor="ctr"/>
          <a:lstStyle/>
          <a:p>
            <a:pPr marL="0" indent="0">
              <a:buNone/>
            </a:pPr>
            <a:r>
              <a:rPr lang="en-US" sz="1100" i="1" dirty="0">
                <a:solidFill>
                  <a:srgbClr val="5B6B82"/>
                </a:solidFill>
                <a:latin typeface="Calibri" panose="020F0502020204030204" pitchFamily="34" charset="0"/>
                <a:ea typeface="Calibri" panose="020F0502020204030204" pitchFamily="34" charset="-122"/>
                <a:cs typeface="Calibri" panose="020F0502020204030204" pitchFamily="34" charset="-120"/>
              </a:rPr>
              <a:t>Predicted Action  vs  Actual Outcome</a:t>
            </a:r>
            <a:endParaRPr lang="en-US" sz="1100" dirty="0"/>
          </a:p>
        </p:txBody>
      </p:sp>
      <p:sp>
        <p:nvSpPr>
          <p:cNvPr id="16" name="Shape 14"/>
          <p:cNvSpPr/>
          <p:nvPr/>
        </p:nvSpPr>
        <p:spPr>
          <a:xfrm>
            <a:off x="6766560" y="3337560"/>
            <a:ext cx="2148840" cy="2011680"/>
          </a:xfrm>
          <a:prstGeom prst="roundRect">
            <a:avLst>
              <a:gd name="adj" fmla="val 3182"/>
            </a:avLst>
          </a:prstGeom>
          <a:solidFill>
            <a:srgbClr val="FFFFFF"/>
          </a:solidFill>
          <a:ln w="12700">
            <a:solidFill>
              <a:srgbClr val="EEF2F7"/>
            </a:solidFill>
            <a:prstDash val="solid"/>
          </a:ln>
        </p:spPr>
        <p:txBody>
          <a:bodyPr/>
          <a:p/>
        </p:txBody>
      </p:sp>
      <p:sp>
        <p:nvSpPr>
          <p:cNvPr id="17" name="Text 15"/>
          <p:cNvSpPr txBox="1"/>
          <p:nvPr/>
        </p:nvSpPr>
        <p:spPr>
          <a:xfrm>
            <a:off x="6903720" y="3520440"/>
            <a:ext cx="1874520" cy="548640"/>
          </a:xfrm>
          <a:prstGeom prst="rect">
            <a:avLst/>
          </a:prstGeom>
          <a:noFill/>
        </p:spPr>
        <p:txBody>
          <a:bodyPr wrap="square" lIns="0" tIns="0" rIns="0" bIns="0" rtlCol="0" anchor="ctr"/>
          <a:lstStyle/>
          <a:p>
            <a:pPr marL="0" indent="0">
              <a:buNone/>
            </a:pPr>
            <a:r>
              <a:rPr lang="en-US" sz="1100" b="1" dirty="0">
                <a:solidFill>
                  <a:srgbClr val="5B6B82"/>
                </a:solidFill>
                <a:latin typeface="Calibri" panose="020F0502020204030204" pitchFamily="34" charset="0"/>
                <a:ea typeface="Calibri" panose="020F0502020204030204" pitchFamily="34" charset="-122"/>
                <a:cs typeface="Calibri" panose="020F0502020204030204" pitchFamily="34" charset="-120"/>
              </a:rPr>
              <a:t>Task Success</a:t>
            </a:r>
            <a:endParaRPr lang="en-US" sz="1100" dirty="0"/>
          </a:p>
          <a:p>
            <a:pPr marL="0" indent="0">
              <a:buNone/>
            </a:pPr>
            <a:r>
              <a:rPr lang="en-US" sz="1100" b="1" dirty="0">
                <a:solidFill>
                  <a:srgbClr val="5B6B82"/>
                </a:solidFill>
                <a:latin typeface="Calibri" panose="020F0502020204030204" pitchFamily="34" charset="0"/>
                <a:ea typeface="Calibri" panose="020F0502020204030204" pitchFamily="34" charset="-122"/>
                <a:cs typeface="Calibri" panose="020F0502020204030204" pitchFamily="34" charset="-120"/>
              </a:rPr>
              <a:t>Rate</a:t>
            </a:r>
            <a:endParaRPr lang="en-US" sz="1100" dirty="0"/>
          </a:p>
        </p:txBody>
      </p:sp>
      <p:sp>
        <p:nvSpPr>
          <p:cNvPr id="18" name="Text 16"/>
          <p:cNvSpPr txBox="1"/>
          <p:nvPr/>
        </p:nvSpPr>
        <p:spPr>
          <a:xfrm>
            <a:off x="6903720" y="4206240"/>
            <a:ext cx="1874520" cy="914400"/>
          </a:xfrm>
          <a:prstGeom prst="rect">
            <a:avLst/>
          </a:prstGeom>
          <a:noFill/>
        </p:spPr>
        <p:txBody>
          <a:bodyPr wrap="square" lIns="0" tIns="0" rIns="0" bIns="0" rtlCol="0" anchor="ctr"/>
          <a:lstStyle/>
          <a:p>
            <a:pPr marL="0" indent="0">
              <a:buNone/>
            </a:pPr>
            <a:r>
              <a:rPr lang="en-US" sz="950" dirty="0">
                <a:solidFill>
                  <a:srgbClr val="5B6B82"/>
                </a:solidFill>
                <a:latin typeface="Calibri" panose="020F0502020204030204" pitchFamily="34" charset="0"/>
                <a:ea typeface="Calibri" panose="020F0502020204030204" pitchFamily="34" charset="-122"/>
                <a:cs typeface="Calibri" panose="020F0502020204030204" pitchFamily="34" charset="-120"/>
              </a:rPr>
              <a:t>How many treatment</a:t>
            </a:r>
            <a:endParaRPr lang="en-US" sz="950" dirty="0"/>
          </a:p>
          <a:p>
            <a:pPr marL="0" indent="0">
              <a:buNone/>
            </a:pPr>
            <a:r>
              <a:rPr lang="en-US" sz="950" dirty="0">
                <a:solidFill>
                  <a:srgbClr val="5B6B82"/>
                </a:solidFill>
                <a:latin typeface="Calibri" panose="020F0502020204030204" pitchFamily="34" charset="0"/>
                <a:ea typeface="Calibri" panose="020F0502020204030204" pitchFamily="34" charset="-122"/>
                <a:cs typeface="Calibri" panose="020F0502020204030204" pitchFamily="34" charset="-120"/>
              </a:rPr>
              <a:t>decisions were correct</a:t>
            </a:r>
            <a:endParaRPr lang="en-US" sz="950" dirty="0"/>
          </a:p>
        </p:txBody>
      </p:sp>
      <p:sp>
        <p:nvSpPr>
          <p:cNvPr id="19" name="Shape 17"/>
          <p:cNvSpPr/>
          <p:nvPr/>
        </p:nvSpPr>
        <p:spPr>
          <a:xfrm>
            <a:off x="9098280" y="3337560"/>
            <a:ext cx="2423160" cy="2011680"/>
          </a:xfrm>
          <a:prstGeom prst="roundRect">
            <a:avLst>
              <a:gd name="adj" fmla="val 3182"/>
            </a:avLst>
          </a:prstGeom>
          <a:solidFill>
            <a:srgbClr val="FFFFFF"/>
          </a:solidFill>
          <a:ln w="12700">
            <a:solidFill>
              <a:srgbClr val="EEF2F7"/>
            </a:solidFill>
            <a:prstDash val="solid"/>
          </a:ln>
        </p:spPr>
        <p:txBody>
          <a:bodyPr/>
          <a:p/>
        </p:txBody>
      </p:sp>
      <p:sp>
        <p:nvSpPr>
          <p:cNvPr id="20" name="Text 18"/>
          <p:cNvSpPr txBox="1"/>
          <p:nvPr/>
        </p:nvSpPr>
        <p:spPr>
          <a:xfrm>
            <a:off x="9235440" y="3520440"/>
            <a:ext cx="2148840" cy="548640"/>
          </a:xfrm>
          <a:prstGeom prst="rect">
            <a:avLst/>
          </a:prstGeom>
          <a:noFill/>
        </p:spPr>
        <p:txBody>
          <a:bodyPr wrap="square" lIns="0" tIns="0" rIns="0" bIns="0" rtlCol="0" anchor="ctr"/>
          <a:lstStyle/>
          <a:p>
            <a:pPr marL="0" indent="0">
              <a:buNone/>
            </a:pPr>
            <a:r>
              <a:rPr lang="en-US" sz="1100" b="1" dirty="0">
                <a:solidFill>
                  <a:srgbClr val="5B6B82"/>
                </a:solidFill>
                <a:latin typeface="Calibri" panose="020F0502020204030204" pitchFamily="34" charset="0"/>
                <a:ea typeface="Calibri" panose="020F0502020204030204" pitchFamily="34" charset="-122"/>
                <a:cs typeface="Calibri" panose="020F0502020204030204" pitchFamily="34" charset="-120"/>
              </a:rPr>
              <a:t>Bad Trade-off</a:t>
            </a:r>
            <a:endParaRPr lang="en-US" sz="1100" dirty="0"/>
          </a:p>
          <a:p>
            <a:pPr marL="0" indent="0">
              <a:buNone/>
            </a:pPr>
            <a:r>
              <a:rPr lang="en-US" sz="1100" b="1" dirty="0">
                <a:solidFill>
                  <a:srgbClr val="5B6B82"/>
                </a:solidFill>
                <a:latin typeface="Calibri" panose="020F0502020204030204" pitchFamily="34" charset="0"/>
                <a:ea typeface="Calibri" panose="020F0502020204030204" pitchFamily="34" charset="-122"/>
                <a:cs typeface="Calibri" panose="020F0502020204030204" pitchFamily="34" charset="-120"/>
              </a:rPr>
              <a:t>Risk</a:t>
            </a:r>
            <a:endParaRPr lang="en-US" sz="1100" dirty="0"/>
          </a:p>
        </p:txBody>
      </p:sp>
      <p:sp>
        <p:nvSpPr>
          <p:cNvPr id="21" name="Text 19"/>
          <p:cNvSpPr txBox="1"/>
          <p:nvPr/>
        </p:nvSpPr>
        <p:spPr>
          <a:xfrm>
            <a:off x="9235440" y="4206240"/>
            <a:ext cx="2148840" cy="914400"/>
          </a:xfrm>
          <a:prstGeom prst="rect">
            <a:avLst/>
          </a:prstGeom>
          <a:noFill/>
        </p:spPr>
        <p:txBody>
          <a:bodyPr wrap="square" lIns="0" tIns="0" rIns="0" bIns="0" rtlCol="0" anchor="ctr"/>
          <a:lstStyle/>
          <a:p>
            <a:pPr marL="0" indent="0">
              <a:buNone/>
            </a:pPr>
            <a:r>
              <a:rPr lang="en-US" sz="950" dirty="0">
                <a:solidFill>
                  <a:srgbClr val="5B6B82"/>
                </a:solidFill>
                <a:latin typeface="Calibri" panose="020F0502020204030204" pitchFamily="34" charset="0"/>
                <a:ea typeface="Calibri" panose="020F0502020204030204" pitchFamily="34" charset="-122"/>
                <a:cs typeface="Calibri" panose="020F0502020204030204" pitchFamily="34" charset="-120"/>
              </a:rPr>
              <a:t>Agent is confident but</a:t>
            </a:r>
            <a:endParaRPr lang="en-US" sz="950" dirty="0"/>
          </a:p>
          <a:p>
            <a:pPr marL="0" indent="0">
              <a:buNone/>
            </a:pPr>
            <a:r>
              <a:rPr lang="en-US" sz="950" dirty="0">
                <a:solidFill>
                  <a:srgbClr val="5B6B82"/>
                </a:solidFill>
                <a:latin typeface="Calibri" panose="020F0502020204030204" pitchFamily="34" charset="0"/>
                <a:ea typeface="Calibri" panose="020F0502020204030204" pitchFamily="34" charset="-122"/>
                <a:cs typeface="Calibri" panose="020F0502020204030204" pitchFamily="34" charset="-120"/>
              </a:rPr>
              <a:t>chooses the wrong patient</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p:spPr>
        <p:txBody>
          <a:bodyPr wrap="square" lIns="0" tIns="0" rIns="0" bIns="0" rtlCol="0" anchor="ctr"/>
          <a:lstStyle/>
          <a:p>
            <a:pPr marL="0" indent="0">
              <a:buNone/>
            </a:pPr>
            <a:r>
              <a:rPr lang="en-US" sz="1200" b="1" kern="0" spc="200" dirty="0">
                <a:solidFill>
                  <a:srgbClr val="FFB627"/>
                </a:solidFill>
                <a:latin typeface="Calibri" panose="020F0502020204030204" pitchFamily="34" charset="0"/>
                <a:ea typeface="Calibri" panose="020F0502020204030204" pitchFamily="34" charset="-122"/>
                <a:cs typeface="Calibri" panose="020F0502020204030204" pitchFamily="34" charset="-120"/>
              </a:rPr>
              <a:t>FINAL PROBLEM</a:t>
            </a:r>
            <a:endParaRPr lang="en-US" sz="1200" dirty="0"/>
          </a:p>
        </p:txBody>
      </p:sp>
      <p:sp>
        <p:nvSpPr>
          <p:cNvPr id="3" name="Text 1"/>
          <p:cNvSpPr txBox="1"/>
          <p:nvPr/>
        </p:nvSpPr>
        <p:spPr>
          <a:xfrm>
            <a:off x="640080" y="731520"/>
            <a:ext cx="10058400" cy="502920"/>
          </a:xfrm>
          <a:prstGeom prst="rect">
            <a:avLst/>
          </a:prstGeom>
          <a:noFill/>
        </p:spPr>
        <p:txBody>
          <a:bodyPr wrap="square" lIns="0" tIns="0" rIns="0" bIns="0" rtlCol="0" anchor="ctr"/>
          <a:lstStyle/>
          <a:p>
            <a:pPr marL="0" indent="0">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Can the oncologist read raw agent logs and JSON tool calls during tumor board?</a:t>
            </a:r>
            <a:endParaRPr lang="en-US" sz="2000" dirty="0"/>
          </a:p>
        </p:txBody>
      </p:sp>
      <p:sp>
        <p:nvSpPr>
          <p:cNvPr id="4" name="Text 2"/>
          <p:cNvSpPr txBox="1"/>
          <p:nvPr/>
        </p:nvSpPr>
        <p:spPr>
          <a:xfrm>
            <a:off x="640080" y="1280160"/>
            <a:ext cx="2743200" cy="457200"/>
          </a:xfrm>
          <a:prstGeom prst="rect">
            <a:avLst/>
          </a:prstGeom>
          <a:noFill/>
        </p:spPr>
        <p:txBody>
          <a:bodyPr wrap="square" lIns="0" tIns="0" rIns="0" bIns="0" rtlCol="0" anchor="ctr"/>
          <a:lstStyle/>
          <a:p>
            <a:pPr marL="0" indent="0">
              <a:buNone/>
            </a:pPr>
            <a:r>
              <a:rPr lang="en-US" sz="2400" b="1" dirty="0">
                <a:solidFill>
                  <a:srgbClr val="FFB627"/>
                </a:solidFill>
                <a:latin typeface="Cambria" panose="02040503050406030204" pitchFamily="34" charset="0"/>
                <a:ea typeface="Cambria" panose="02040503050406030204" pitchFamily="34" charset="-122"/>
                <a:cs typeface="Cambria" panose="02040503050406030204" pitchFamily="34" charset="-120"/>
              </a:rPr>
              <a:t>NO.</a:t>
            </a:r>
            <a:endParaRPr lang="en-US" sz="2400" dirty="0"/>
          </a:p>
        </p:txBody>
      </p:sp>
      <p:sp>
        <p:nvSpPr>
          <p:cNvPr id="5" name="Shape 3"/>
          <p:cNvSpPr/>
          <p:nvPr/>
        </p:nvSpPr>
        <p:spPr>
          <a:xfrm>
            <a:off x="640080" y="1920240"/>
            <a:ext cx="640080" cy="640080"/>
          </a:xfrm>
          <a:prstGeom prst="ellipse">
            <a:avLst/>
          </a:prstGeom>
          <a:solidFill>
            <a:srgbClr val="17263B"/>
          </a:solidFill>
          <a:ln w="15240">
            <a:solidFill>
              <a:srgbClr val="FFB627"/>
            </a:solidFill>
            <a:prstDash val="solid"/>
          </a:ln>
        </p:spPr>
        <p:txBody>
          <a:bodyPr/>
          <a:p/>
        </p:txBody>
      </p:sp>
      <p:sp>
        <p:nvSpPr>
          <p:cNvPr id="6" name="Text 4"/>
          <p:cNvSpPr txBox="1"/>
          <p:nvPr/>
        </p:nvSpPr>
        <p:spPr>
          <a:xfrm>
            <a:off x="640080" y="1920240"/>
            <a:ext cx="640080" cy="64008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7" name="Text 5"/>
          <p:cNvSpPr txBox="1"/>
          <p:nvPr/>
        </p:nvSpPr>
        <p:spPr>
          <a:xfrm>
            <a:off x="1417320" y="2011680"/>
            <a:ext cx="5486400" cy="457200"/>
          </a:xfrm>
          <a:prstGeom prst="rect">
            <a:avLst/>
          </a:prstGeom>
          <a:noFill/>
        </p:spPr>
        <p:txBody>
          <a:bodyPr wrap="square" lIns="0" tIns="0" rIns="0" bIns="0" rtlCol="0" anchor="ctr"/>
          <a:lstStyle/>
          <a:p>
            <a:pPr marL="0" indent="0">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INTEGRATION ENGINEER</a:t>
            </a:r>
            <a:endParaRPr lang="en-US" sz="2000" dirty="0"/>
          </a:p>
        </p:txBody>
      </p:sp>
      <p:sp>
        <p:nvSpPr>
          <p:cNvPr id="8" name="Shape 6"/>
          <p:cNvSpPr/>
          <p:nvPr/>
        </p:nvSpPr>
        <p:spPr>
          <a:xfrm>
            <a:off x="640080" y="2743200"/>
            <a:ext cx="5120640" cy="777240"/>
          </a:xfrm>
          <a:prstGeom prst="roundRect">
            <a:avLst>
              <a:gd name="adj" fmla="val 7059"/>
            </a:avLst>
          </a:prstGeom>
          <a:solidFill>
            <a:srgbClr val="17263B"/>
          </a:solidFill>
        </p:spPr>
        <p:txBody>
          <a:bodyPr/>
          <a:p/>
        </p:txBody>
      </p:sp>
      <p:sp>
        <p:nvSpPr>
          <p:cNvPr id="9" name="Text 7"/>
          <p:cNvSpPr txBox="1"/>
          <p:nvPr/>
        </p:nvSpPr>
        <p:spPr>
          <a:xfrm>
            <a:off x="868680" y="2816352"/>
            <a:ext cx="4663440" cy="274320"/>
          </a:xfrm>
          <a:prstGeom prst="rect">
            <a:avLst/>
          </a:prstGeom>
          <a:noFill/>
        </p:spPr>
        <p:txBody>
          <a:bodyPr wrap="square" lIns="0" tIns="0" rIns="0" bIns="0" rtlCol="0" anchor="ctr"/>
          <a:lstStyle/>
          <a:p>
            <a:pPr marL="0" indent="0">
              <a:buNone/>
            </a:pPr>
            <a:r>
              <a:rPr lang="en-US" sz="1100" dirty="0">
                <a:solidFill>
                  <a:srgbClr val="9FB3CC"/>
                </a:solidFill>
                <a:latin typeface="Calibri" panose="020F0502020204030204" pitchFamily="34" charset="0"/>
                <a:ea typeface="Calibri" panose="020F0502020204030204" pitchFamily="34" charset="-122"/>
                <a:cs typeface="Calibri" panose="020F0502020204030204" pitchFamily="34" charset="-120"/>
              </a:rPr>
              <a:t>New Patient Alert</a:t>
            </a:r>
            <a:endParaRPr lang="en-US" sz="1100" dirty="0"/>
          </a:p>
        </p:txBody>
      </p:sp>
      <p:sp>
        <p:nvSpPr>
          <p:cNvPr id="10" name="Text 8"/>
          <p:cNvSpPr txBox="1"/>
          <p:nvPr/>
        </p:nvSpPr>
        <p:spPr>
          <a:xfrm>
            <a:off x="868680" y="3090672"/>
            <a:ext cx="4663440" cy="365760"/>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 Risk: SEVERE</a:t>
            </a:r>
            <a:endParaRPr lang="en-US" sz="1300" dirty="0"/>
          </a:p>
        </p:txBody>
      </p:sp>
      <p:sp>
        <p:nvSpPr>
          <p:cNvPr id="11" name="Text 9"/>
          <p:cNvSpPr txBox="1"/>
          <p:nvPr/>
        </p:nvSpPr>
        <p:spPr>
          <a:xfrm>
            <a:off x="640080" y="3502152"/>
            <a:ext cx="5120640" cy="182880"/>
          </a:xfrm>
          <a:prstGeom prst="rect">
            <a:avLst/>
          </a:prstGeom>
          <a:noFill/>
        </p:spPr>
        <p:txBody>
          <a:bodyPr wrap="square" lIns="0" tIns="0" rIns="0" bIns="0" rtlCol="0" anchor="ctr"/>
          <a:lstStyle/>
          <a:p>
            <a:pPr marL="0" indent="0" algn="ctr">
              <a:buNone/>
            </a:pPr>
            <a:r>
              <a:rPr lang="en-US" sz="1200" dirty="0">
                <a:solidFill>
                  <a:srgbClr val="9FB3CC"/>
                </a:solidFill>
              </a:rPr>
              <a:t>↓</a:t>
            </a:r>
            <a:endParaRPr lang="en-US" sz="1200" dirty="0"/>
          </a:p>
        </p:txBody>
      </p:sp>
      <p:sp>
        <p:nvSpPr>
          <p:cNvPr id="12" name="Shape 10"/>
          <p:cNvSpPr/>
          <p:nvPr/>
        </p:nvSpPr>
        <p:spPr>
          <a:xfrm>
            <a:off x="640080" y="3639312"/>
            <a:ext cx="5120640" cy="777240"/>
          </a:xfrm>
          <a:prstGeom prst="roundRect">
            <a:avLst>
              <a:gd name="adj" fmla="val 7059"/>
            </a:avLst>
          </a:prstGeom>
          <a:solidFill>
            <a:srgbClr val="17263B"/>
          </a:solidFill>
        </p:spPr>
        <p:txBody>
          <a:bodyPr/>
          <a:p/>
        </p:txBody>
      </p:sp>
      <p:sp>
        <p:nvSpPr>
          <p:cNvPr id="13" name="Text 11"/>
          <p:cNvSpPr txBox="1"/>
          <p:nvPr/>
        </p:nvSpPr>
        <p:spPr>
          <a:xfrm>
            <a:off x="868680" y="3712464"/>
            <a:ext cx="4663440" cy="274320"/>
          </a:xfrm>
          <a:prstGeom prst="rect">
            <a:avLst/>
          </a:prstGeom>
          <a:noFill/>
        </p:spPr>
        <p:txBody>
          <a:bodyPr wrap="square" lIns="0" tIns="0" rIns="0" bIns="0" rtlCol="0" anchor="ctr"/>
          <a:lstStyle/>
          <a:p>
            <a:pPr marL="0" indent="0">
              <a:buNone/>
            </a:pPr>
            <a:r>
              <a:rPr lang="en-US" sz="1100" dirty="0">
                <a:solidFill>
                  <a:srgbClr val="9FB3CC"/>
                </a:solidFill>
                <a:latin typeface="Calibri" panose="020F0502020204030204" pitchFamily="34" charset="0"/>
                <a:ea typeface="Calibri" panose="020F0502020204030204" pitchFamily="34" charset="-122"/>
                <a:cs typeface="Calibri" panose="020F0502020204030204" pitchFamily="34" charset="-120"/>
              </a:rPr>
              <a:t>Agent Reasoning</a:t>
            </a:r>
            <a:endParaRPr lang="en-US" sz="1100" dirty="0"/>
          </a:p>
        </p:txBody>
      </p:sp>
      <p:sp>
        <p:nvSpPr>
          <p:cNvPr id="14" name="Text 12"/>
          <p:cNvSpPr txBox="1"/>
          <p:nvPr/>
        </p:nvSpPr>
        <p:spPr>
          <a:xfrm>
            <a:off x="868680" y="3986784"/>
            <a:ext cx="4663440" cy="365760"/>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Confidence: 92%</a:t>
            </a:r>
            <a:endParaRPr lang="en-US" sz="1300" dirty="0"/>
          </a:p>
        </p:txBody>
      </p:sp>
      <p:sp>
        <p:nvSpPr>
          <p:cNvPr id="15" name="Text 13"/>
          <p:cNvSpPr txBox="1"/>
          <p:nvPr/>
        </p:nvSpPr>
        <p:spPr>
          <a:xfrm>
            <a:off x="640080" y="4398264"/>
            <a:ext cx="5120640" cy="182880"/>
          </a:xfrm>
          <a:prstGeom prst="rect">
            <a:avLst/>
          </a:prstGeom>
          <a:noFill/>
        </p:spPr>
        <p:txBody>
          <a:bodyPr wrap="square" lIns="0" tIns="0" rIns="0" bIns="0" rtlCol="0" anchor="ctr"/>
          <a:lstStyle/>
          <a:p>
            <a:pPr marL="0" indent="0" algn="ctr">
              <a:buNone/>
            </a:pPr>
            <a:r>
              <a:rPr lang="en-US" sz="1200" dirty="0">
                <a:solidFill>
                  <a:srgbClr val="9FB3CC"/>
                </a:solidFill>
              </a:rPr>
              <a:t>↓</a:t>
            </a:r>
            <a:endParaRPr lang="en-US" sz="1200" dirty="0"/>
          </a:p>
        </p:txBody>
      </p:sp>
      <p:sp>
        <p:nvSpPr>
          <p:cNvPr id="16" name="Shape 14"/>
          <p:cNvSpPr/>
          <p:nvPr/>
        </p:nvSpPr>
        <p:spPr>
          <a:xfrm>
            <a:off x="640080" y="4535424"/>
            <a:ext cx="5120640" cy="777240"/>
          </a:xfrm>
          <a:prstGeom prst="roundRect">
            <a:avLst>
              <a:gd name="adj" fmla="val 7059"/>
            </a:avLst>
          </a:prstGeom>
          <a:solidFill>
            <a:srgbClr val="17263B"/>
          </a:solidFill>
        </p:spPr>
        <p:txBody>
          <a:bodyPr/>
          <a:p/>
        </p:txBody>
      </p:sp>
      <p:sp>
        <p:nvSpPr>
          <p:cNvPr id="17" name="Text 15"/>
          <p:cNvSpPr txBox="1"/>
          <p:nvPr/>
        </p:nvSpPr>
        <p:spPr>
          <a:xfrm>
            <a:off x="868680" y="4608576"/>
            <a:ext cx="4663440" cy="274320"/>
          </a:xfrm>
          <a:prstGeom prst="rect">
            <a:avLst/>
          </a:prstGeom>
          <a:noFill/>
        </p:spPr>
        <p:txBody>
          <a:bodyPr wrap="square" lIns="0" tIns="0" rIns="0" bIns="0" rtlCol="0" anchor="ctr"/>
          <a:lstStyle/>
          <a:p>
            <a:pPr marL="0" indent="0">
              <a:buNone/>
            </a:pPr>
            <a:r>
              <a:rPr lang="en-US" sz="1100" dirty="0">
                <a:solidFill>
                  <a:srgbClr val="9FB3CC"/>
                </a:solidFill>
                <a:latin typeface="Calibri" panose="020F0502020204030204" pitchFamily="34" charset="0"/>
                <a:ea typeface="Calibri" panose="020F0502020204030204" pitchFamily="34" charset="-122"/>
                <a:cs typeface="Calibri" panose="020F0502020204030204" pitchFamily="34" charset="-120"/>
              </a:rPr>
              <a:t>Recommended Action</a:t>
            </a:r>
            <a:endParaRPr lang="en-US" sz="1100" dirty="0"/>
          </a:p>
        </p:txBody>
      </p:sp>
      <p:sp>
        <p:nvSpPr>
          <p:cNvPr id="18" name="Text 16"/>
          <p:cNvSpPr txBox="1"/>
          <p:nvPr/>
        </p:nvSpPr>
        <p:spPr>
          <a:xfrm>
            <a:off x="868680" y="4882896"/>
            <a:ext cx="4663440" cy="365760"/>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Enroll Patient A in trial · Reroute Patient B to standard of care</a:t>
            </a:r>
            <a:endParaRPr lang="en-US" sz="1300" dirty="0"/>
          </a:p>
        </p:txBody>
      </p:sp>
      <p:sp>
        <p:nvSpPr>
          <p:cNvPr id="19" name="Shape 17"/>
          <p:cNvSpPr/>
          <p:nvPr/>
        </p:nvSpPr>
        <p:spPr>
          <a:xfrm>
            <a:off x="6126480" y="2743200"/>
            <a:ext cx="5394960" cy="2651760"/>
          </a:xfrm>
          <a:prstGeom prst="roundRect">
            <a:avLst>
              <a:gd name="adj" fmla="val 2759"/>
            </a:avLst>
          </a:prstGeom>
          <a:solidFill>
            <a:srgbClr val="0F3D5C"/>
          </a:solidFill>
        </p:spPr>
        <p:txBody>
          <a:bodyPr/>
          <a:p/>
        </p:txBody>
      </p:sp>
      <p:sp>
        <p:nvSpPr>
          <p:cNvPr id="20" name="Text 18"/>
          <p:cNvSpPr txBox="1"/>
          <p:nvPr/>
        </p:nvSpPr>
        <p:spPr>
          <a:xfrm>
            <a:off x="6400800" y="2926080"/>
            <a:ext cx="4846320" cy="320040"/>
          </a:xfrm>
          <a:prstGeom prst="rect">
            <a:avLst/>
          </a:prstGeom>
          <a:noFill/>
        </p:spPr>
        <p:txBody>
          <a:bodyPr wrap="square" lIns="0" tIns="0" rIns="0" bIns="0" rtlCol="0" anchor="ctr"/>
          <a:lstStyle/>
          <a:p>
            <a:pPr marL="0" indent="0">
              <a:buNone/>
            </a:pPr>
            <a:r>
              <a:rPr lang="en-US" sz="1200" b="1" dirty="0">
                <a:solidFill>
                  <a:srgbClr val="FFB627"/>
                </a:solidFill>
                <a:latin typeface="Calibri" panose="020F0502020204030204" pitchFamily="34" charset="0"/>
                <a:ea typeface="Calibri" panose="020F0502020204030204" pitchFamily="34" charset="-122"/>
                <a:cs typeface="Calibri" panose="020F0502020204030204" pitchFamily="34" charset="-120"/>
              </a:rPr>
              <a:t>🖥️ ONCOLOGY COMMAND CENTER DASHBOARD</a:t>
            </a:r>
            <a:endParaRPr lang="en-US" sz="1200" dirty="0"/>
          </a:p>
        </p:txBody>
      </p:sp>
      <p:sp>
        <p:nvSpPr>
          <p:cNvPr id="21" name="Text 19"/>
          <p:cNvSpPr txBox="1"/>
          <p:nvPr/>
        </p:nvSpPr>
        <p:spPr>
          <a:xfrm>
            <a:off x="6400800" y="3291840"/>
            <a:ext cx="4846320" cy="365760"/>
          </a:xfrm>
          <a:prstGeom prst="rect">
            <a:avLst/>
          </a:prstGeom>
          <a:noFill/>
        </p:spPr>
        <p:txBody>
          <a:bodyPr wrap="square" lIns="0" tIns="0" rIns="0" bIns="0" rtlCol="0" anchor="ctr"/>
          <a:lstStyle/>
          <a:p>
            <a:pPr marL="0" indent="0">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PATIENT A — SEVERE</a:t>
            </a:r>
            <a:endParaRPr lang="en-US" sz="1600" dirty="0"/>
          </a:p>
        </p:txBody>
      </p:sp>
      <p:sp>
        <p:nvSpPr>
          <p:cNvPr id="22" name="Text 20"/>
          <p:cNvSpPr txBox="1"/>
          <p:nvPr/>
        </p:nvSpPr>
        <p:spPr>
          <a:xfrm>
            <a:off x="6400800" y="3703320"/>
            <a:ext cx="4846320" cy="1097280"/>
          </a:xfrm>
          <a:prstGeom prst="rect">
            <a:avLst/>
          </a:prstGeom>
          <a:noFill/>
        </p:spPr>
        <p:txBody>
          <a:bodyPr wrap="square" lIns="0" tIns="0" rIns="0" bIns="0" rtlCol="0" anchor="ctr"/>
          <a:lstStyle/>
          <a:p>
            <a:pPr marL="0" indent="0">
              <a:lnSpc>
                <a:spcPct val="125000"/>
              </a:lnSpc>
              <a:buNone/>
            </a:pPr>
            <a:r>
              <a:rPr lang="en-US" sz="1100" dirty="0">
                <a:solidFill>
                  <a:srgbClr val="E3E9F2"/>
                </a:solidFill>
                <a:latin typeface="Calibri" panose="020F0502020204030204" pitchFamily="34" charset="0"/>
                <a:ea typeface="Calibri" panose="020F0502020204030204" pitchFamily="34" charset="-122"/>
                <a:cs typeface="Calibri" panose="020F0502020204030204" pitchFamily="34" charset="-120"/>
              </a:rPr>
              <a:t>Recommended Action:</a:t>
            </a:r>
            <a:endParaRPr lang="en-US" sz="1100" dirty="0"/>
          </a:p>
          <a:p>
            <a:pPr marL="0" indent="0">
              <a:lnSpc>
                <a:spcPct val="125000"/>
              </a:lnSpc>
              <a:buNone/>
            </a:pPr>
            <a:r>
              <a:rPr lang="en-US" sz="1100" dirty="0">
                <a:solidFill>
                  <a:srgbClr val="E3E9F2"/>
                </a:solidFill>
                <a:latin typeface="Calibri" panose="020F0502020204030204" pitchFamily="34" charset="0"/>
                <a:ea typeface="Calibri" panose="020F0502020204030204" pitchFamily="34" charset="-122"/>
                <a:cs typeface="Calibri" panose="020F0502020204030204" pitchFamily="34" charset="-120"/>
              </a:rPr>
              <a:t>• Enroll Patient A now</a:t>
            </a:r>
            <a:endParaRPr lang="en-US" sz="1100" dirty="0"/>
          </a:p>
          <a:p>
            <a:pPr marL="0" indent="0">
              <a:lnSpc>
                <a:spcPct val="125000"/>
              </a:lnSpc>
              <a:buNone/>
            </a:pPr>
            <a:r>
              <a:rPr lang="en-US" sz="1100" dirty="0">
                <a:solidFill>
                  <a:srgbClr val="E3E9F2"/>
                </a:solidFill>
                <a:latin typeface="Calibri" panose="020F0502020204030204" pitchFamily="34" charset="0"/>
                <a:ea typeface="Calibri" panose="020F0502020204030204" pitchFamily="34" charset="-122"/>
                <a:cs typeface="Calibri" panose="020F0502020204030204" pitchFamily="34" charset="-120"/>
              </a:rPr>
              <a:t>• Reroute Patient B to standard-of-care regimen</a:t>
            </a:r>
            <a:endParaRPr lang="en-US" sz="1100" dirty="0"/>
          </a:p>
          <a:p>
            <a:pPr marL="0" indent="0">
              <a:lnSpc>
                <a:spcPct val="125000"/>
              </a:lnSpc>
              <a:buNone/>
            </a:pPr>
            <a:r>
              <a:rPr lang="en-US" sz="1100" dirty="0">
                <a:solidFill>
                  <a:srgbClr val="E3E9F2"/>
                </a:solidFill>
                <a:latin typeface="Calibri" panose="020F0502020204030204" pitchFamily="34" charset="0"/>
                <a:ea typeface="Calibri" panose="020F0502020204030204" pitchFamily="34" charset="-122"/>
                <a:cs typeface="Calibri" panose="020F0502020204030204" pitchFamily="34" charset="-120"/>
              </a:rPr>
              <a:t>• Notify pharmacy of incoming regimen</a:t>
            </a:r>
            <a:endParaRPr lang="en-US" sz="1100" dirty="0"/>
          </a:p>
        </p:txBody>
      </p:sp>
      <p:sp>
        <p:nvSpPr>
          <p:cNvPr id="23" name="Shape 21"/>
          <p:cNvSpPr/>
          <p:nvPr/>
        </p:nvSpPr>
        <p:spPr>
          <a:xfrm>
            <a:off x="6400800" y="4892040"/>
            <a:ext cx="2194560" cy="384048"/>
          </a:xfrm>
          <a:prstGeom prst="roundRect">
            <a:avLst>
              <a:gd name="adj" fmla="val 50000"/>
            </a:avLst>
          </a:prstGeom>
          <a:solidFill>
            <a:srgbClr val="2A9D8F"/>
          </a:solidFill>
        </p:spPr>
        <p:txBody>
          <a:bodyPr/>
          <a:p/>
        </p:txBody>
      </p:sp>
      <p:sp>
        <p:nvSpPr>
          <p:cNvPr id="24" name="Text 22"/>
          <p:cNvSpPr txBox="1"/>
          <p:nvPr/>
        </p:nvSpPr>
        <p:spPr>
          <a:xfrm>
            <a:off x="6400800" y="4892040"/>
            <a:ext cx="2194560" cy="384048"/>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APPROVE</a:t>
            </a:r>
            <a:endParaRPr lang="en-US" sz="1100" dirty="0"/>
          </a:p>
        </p:txBody>
      </p:sp>
      <p:sp>
        <p:nvSpPr>
          <p:cNvPr id="25" name="Shape 23"/>
          <p:cNvSpPr/>
          <p:nvPr/>
        </p:nvSpPr>
        <p:spPr>
          <a:xfrm>
            <a:off x="8778240" y="4892040"/>
            <a:ext cx="2468880" cy="384048"/>
          </a:xfrm>
          <a:prstGeom prst="roundRect">
            <a:avLst>
              <a:gd name="adj" fmla="val 50000"/>
            </a:avLst>
          </a:prstGeom>
          <a:solidFill>
            <a:srgbClr val="E63946"/>
          </a:solidFill>
        </p:spPr>
        <p:txBody>
          <a:bodyPr/>
          <a:p/>
        </p:txBody>
      </p:sp>
      <p:sp>
        <p:nvSpPr>
          <p:cNvPr id="26" name="Text 24"/>
          <p:cNvSpPr txBox="1"/>
          <p:nvPr/>
        </p:nvSpPr>
        <p:spPr>
          <a:xfrm>
            <a:off x="8778240" y="4892040"/>
            <a:ext cx="2468880" cy="384048"/>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OVERRIDE</a:t>
            </a:r>
            <a:endParaRPr lang="en-US" sz="1100" dirty="0"/>
          </a:p>
        </p:txBody>
      </p:sp>
      <p:sp>
        <p:nvSpPr>
          <p:cNvPr id="27" name="Text 25"/>
          <p:cNvSpPr txBox="1"/>
          <p:nvPr/>
        </p:nvSpPr>
        <p:spPr>
          <a:xfrm>
            <a:off x="640080" y="5623560"/>
            <a:ext cx="10881360" cy="457200"/>
          </a:xfrm>
          <a:prstGeom prst="rect">
            <a:avLst/>
          </a:prstGeom>
          <a:noFill/>
        </p:spPr>
        <p:txBody>
          <a:bodyPr wrap="square" lIns="0" tIns="0" rIns="0" bIns="0" rtlCol="0" anchor="ctr"/>
          <a:lstStyle/>
          <a:p>
            <a:pPr marL="0" indent="0">
              <a:buNone/>
            </a:pPr>
            <a:r>
              <a:rPr lang="en-US" sz="1150" i="1" dirty="0">
                <a:solidFill>
                  <a:srgbClr val="9FB3CC"/>
                </a:solidFill>
                <a:latin typeface="Calibri" panose="020F0502020204030204" pitchFamily="34" charset="0"/>
                <a:ea typeface="Calibri" panose="020F0502020204030204" pitchFamily="34" charset="-122"/>
                <a:cs typeface="Calibri" panose="020F0502020204030204" pitchFamily="34" charset="-120"/>
              </a:rPr>
              <a:t>The Integration Engineer builds the Orchestration Command Center UI with live execution monitoring and manual override.</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p:spPr>
        <p:txBody>
          <a:bodyPr wrap="square" lIns="0" tIns="0" rIns="0" bIns="0" rtlCol="0" anchor="ctr"/>
          <a:lstStyle/>
          <a:p>
            <a:pPr marL="0" indent="0">
              <a:buNone/>
            </a:pPr>
            <a:r>
              <a:rPr lang="en-US" sz="1200" b="1" kern="0" spc="200" dirty="0">
                <a:solidFill>
                  <a:srgbClr val="F4A300"/>
                </a:solidFill>
                <a:latin typeface="Calibri" panose="020F0502020204030204" pitchFamily="34" charset="0"/>
                <a:ea typeface="Calibri" panose="020F0502020204030204" pitchFamily="34" charset="-122"/>
                <a:cs typeface="Calibri" panose="020F0502020204030204" pitchFamily="34" charset="-120"/>
              </a:rPr>
              <a:t>THE FULL JOURNEY</a:t>
            </a:r>
            <a:endParaRPr lang="en-US" sz="1200" dirty="0"/>
          </a:p>
        </p:txBody>
      </p:sp>
      <p:sp>
        <p:nvSpPr>
          <p:cNvPr id="3" name="Text 1"/>
          <p:cNvSpPr txBox="1"/>
          <p:nvPr/>
        </p:nvSpPr>
        <p:spPr>
          <a:xfrm>
            <a:off x="640080" y="777240"/>
            <a:ext cx="10058400" cy="502920"/>
          </a:xfrm>
          <a:prstGeom prst="rect">
            <a:avLst/>
          </a:prstGeom>
          <a:noFill/>
        </p:spPr>
        <p:txBody>
          <a:bodyPr wrap="square" lIns="0" tIns="0" rIns="0" bIns="0" rtlCol="0" anchor="ctr"/>
          <a:lstStyle/>
          <a:p>
            <a:pPr marL="0" indent="0">
              <a:buNone/>
            </a:pPr>
            <a:r>
              <a:rPr lang="en-US" sz="2600" b="1" dirty="0">
                <a:solidFill>
                  <a:srgbClr val="0F2843"/>
                </a:solidFill>
                <a:latin typeface="Cambria" panose="02040503050406030204" pitchFamily="34" charset="0"/>
                <a:ea typeface="Cambria" panose="02040503050406030204" pitchFamily="34" charset="-122"/>
                <a:cs typeface="Cambria" panose="02040503050406030204" pitchFamily="34" charset="-120"/>
              </a:rPr>
              <a:t>From Treatment Decision to Autonomous Agent</a:t>
            </a:r>
            <a:endParaRPr lang="en-US" sz="2600" dirty="0"/>
          </a:p>
        </p:txBody>
      </p:sp>
      <p:sp>
        <p:nvSpPr>
          <p:cNvPr id="4" name="Shape 2"/>
          <p:cNvSpPr/>
          <p:nvPr/>
        </p:nvSpPr>
        <p:spPr>
          <a:xfrm>
            <a:off x="640080" y="1508760"/>
            <a:ext cx="3383280" cy="566928"/>
          </a:xfrm>
          <a:prstGeom prst="roundRect">
            <a:avLst>
              <a:gd name="adj" fmla="val 8065"/>
            </a:avLst>
          </a:prstGeom>
          <a:solidFill>
            <a:srgbClr val="0F2843"/>
          </a:solidFill>
        </p:spPr>
        <p:txBody>
          <a:bodyPr/>
          <a:p/>
        </p:txBody>
      </p:sp>
      <p:sp>
        <p:nvSpPr>
          <p:cNvPr id="5" name="Text 3"/>
          <p:cNvSpPr txBox="1"/>
          <p:nvPr/>
        </p:nvSpPr>
        <p:spPr>
          <a:xfrm>
            <a:off x="640080" y="1508760"/>
            <a:ext cx="3383280" cy="56692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CLINICAL</a:t>
            </a:r>
            <a:endParaRPr lang="en-US" sz="1200" dirty="0"/>
          </a:p>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PROBLEM</a:t>
            </a:r>
            <a:endParaRPr lang="en-US" sz="1200" dirty="0"/>
          </a:p>
        </p:txBody>
      </p:sp>
      <p:sp>
        <p:nvSpPr>
          <p:cNvPr id="6" name="Text 4"/>
          <p:cNvSpPr txBox="1"/>
          <p:nvPr/>
        </p:nvSpPr>
        <p:spPr>
          <a:xfrm>
            <a:off x="4023360" y="1508760"/>
            <a:ext cx="320040" cy="566928"/>
          </a:xfrm>
          <a:prstGeom prst="rect">
            <a:avLst/>
          </a:prstGeom>
          <a:noFill/>
        </p:spPr>
        <p:txBody>
          <a:bodyPr wrap="square" lIns="0" tIns="0" rIns="0" bIns="0" rtlCol="0" anchor="ctr"/>
          <a:lstStyle/>
          <a:p>
            <a:pPr marL="0" indent="0" algn="ctr">
              <a:buNone/>
            </a:pPr>
            <a:r>
              <a:rPr lang="en-US" sz="1600" dirty="0">
                <a:solidFill>
                  <a:srgbClr val="5B6B82"/>
                </a:solidFill>
              </a:rPr>
              <a:t>→</a:t>
            </a:r>
            <a:endParaRPr lang="en-US" sz="1600" dirty="0"/>
          </a:p>
        </p:txBody>
      </p:sp>
      <p:sp>
        <p:nvSpPr>
          <p:cNvPr id="7" name="Shape 5"/>
          <p:cNvSpPr/>
          <p:nvPr/>
        </p:nvSpPr>
        <p:spPr>
          <a:xfrm>
            <a:off x="4343400" y="1508760"/>
            <a:ext cx="3383280" cy="566928"/>
          </a:xfrm>
          <a:prstGeom prst="roundRect">
            <a:avLst>
              <a:gd name="adj" fmla="val 8065"/>
            </a:avLst>
          </a:prstGeom>
          <a:solidFill>
            <a:srgbClr val="0F2843"/>
          </a:solidFill>
        </p:spPr>
        <p:txBody>
          <a:bodyPr/>
          <a:p/>
        </p:txBody>
      </p:sp>
      <p:sp>
        <p:nvSpPr>
          <p:cNvPr id="8" name="Text 6"/>
          <p:cNvSpPr txBox="1"/>
          <p:nvPr/>
        </p:nvSpPr>
        <p:spPr>
          <a:xfrm>
            <a:off x="4343400" y="1508760"/>
            <a:ext cx="3383280" cy="56692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GOAL &amp;</a:t>
            </a:r>
            <a:endParaRPr lang="en-US" sz="1200" dirty="0"/>
          </a:p>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CONTEXT</a:t>
            </a:r>
            <a:endParaRPr lang="en-US" sz="1200" dirty="0"/>
          </a:p>
        </p:txBody>
      </p:sp>
      <p:sp>
        <p:nvSpPr>
          <p:cNvPr id="9" name="Text 7"/>
          <p:cNvSpPr txBox="1"/>
          <p:nvPr/>
        </p:nvSpPr>
        <p:spPr>
          <a:xfrm>
            <a:off x="7726680" y="1508760"/>
            <a:ext cx="320040" cy="566928"/>
          </a:xfrm>
          <a:prstGeom prst="rect">
            <a:avLst/>
          </a:prstGeom>
          <a:noFill/>
        </p:spPr>
        <p:txBody>
          <a:bodyPr wrap="square" lIns="0" tIns="0" rIns="0" bIns="0" rtlCol="0" anchor="ctr"/>
          <a:lstStyle/>
          <a:p>
            <a:pPr marL="0" indent="0" algn="ctr">
              <a:buNone/>
            </a:pPr>
            <a:r>
              <a:rPr lang="en-US" sz="1600" dirty="0">
                <a:solidFill>
                  <a:srgbClr val="5B6B82"/>
                </a:solidFill>
              </a:rPr>
              <a:t>→</a:t>
            </a:r>
            <a:endParaRPr lang="en-US" sz="1600" dirty="0"/>
          </a:p>
        </p:txBody>
      </p:sp>
      <p:sp>
        <p:nvSpPr>
          <p:cNvPr id="10" name="Shape 8"/>
          <p:cNvSpPr/>
          <p:nvPr/>
        </p:nvSpPr>
        <p:spPr>
          <a:xfrm>
            <a:off x="8046720" y="1508760"/>
            <a:ext cx="3383280" cy="566928"/>
          </a:xfrm>
          <a:prstGeom prst="roundRect">
            <a:avLst>
              <a:gd name="adj" fmla="val 8065"/>
            </a:avLst>
          </a:prstGeom>
          <a:solidFill>
            <a:srgbClr val="0F2843"/>
          </a:solidFill>
        </p:spPr>
        <p:txBody>
          <a:bodyPr/>
          <a:p/>
        </p:txBody>
      </p:sp>
      <p:sp>
        <p:nvSpPr>
          <p:cNvPr id="11" name="Text 9"/>
          <p:cNvSpPr txBox="1"/>
          <p:nvPr/>
        </p:nvSpPr>
        <p:spPr>
          <a:xfrm>
            <a:off x="8046720" y="1508760"/>
            <a:ext cx="3383280" cy="56692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AGENTIC AI</a:t>
            </a:r>
            <a:endParaRPr lang="en-US" sz="1200" dirty="0"/>
          </a:p>
        </p:txBody>
      </p:sp>
      <p:sp>
        <p:nvSpPr>
          <p:cNvPr id="12" name="Shape 10"/>
          <p:cNvSpPr/>
          <p:nvPr/>
        </p:nvSpPr>
        <p:spPr>
          <a:xfrm>
            <a:off x="640080" y="2395728"/>
            <a:ext cx="2606040" cy="1371600"/>
          </a:xfrm>
          <a:prstGeom prst="roundRect">
            <a:avLst>
              <a:gd name="adj" fmla="val 4000"/>
            </a:avLst>
          </a:prstGeom>
          <a:solidFill>
            <a:srgbClr val="FFFFFF"/>
          </a:solidFill>
          <a:ln w="12700">
            <a:solidFill>
              <a:srgbClr val="EEF2F7"/>
            </a:solidFill>
            <a:prstDash val="solid"/>
          </a:ln>
        </p:spPr>
        <p:txBody>
          <a:bodyPr/>
          <a:p/>
        </p:txBody>
      </p:sp>
      <p:sp>
        <p:nvSpPr>
          <p:cNvPr id="13" name="Text 11"/>
          <p:cNvSpPr txBox="1"/>
          <p:nvPr/>
        </p:nvSpPr>
        <p:spPr>
          <a:xfrm>
            <a:off x="777240" y="2532888"/>
            <a:ext cx="2331720" cy="502920"/>
          </a:xfrm>
          <a:prstGeom prst="rect">
            <a:avLst/>
          </a:prstGeom>
          <a:noFill/>
        </p:spPr>
        <p:txBody>
          <a:bodyPr wrap="square" lIns="0" tIns="0" rIns="0" bIns="0" rtlCol="0" anchor="ctr"/>
          <a:lstStyle/>
          <a:p>
            <a:pPr marL="0" indent="0">
              <a:buNone/>
            </a:pPr>
            <a:r>
              <a:rPr lang="en-US" sz="1150" b="1" dirty="0">
                <a:solidFill>
                  <a:srgbClr val="0F2843"/>
                </a:solidFill>
                <a:latin typeface="Calibri" panose="020F0502020204030204" pitchFamily="34" charset="0"/>
                <a:ea typeface="Calibri" panose="020F0502020204030204" pitchFamily="34" charset="-122"/>
                <a:cs typeface="Calibri" panose="020F0502020204030204" pitchFamily="34" charset="-120"/>
              </a:rPr>
              <a:t>KNOWLEDGE</a:t>
            </a:r>
            <a:endParaRPr lang="en-US" sz="1150" dirty="0"/>
          </a:p>
          <a:p>
            <a:pPr marL="0" indent="0">
              <a:buNone/>
            </a:pPr>
            <a:r>
              <a:rPr lang="en-US" sz="1150" b="1" dirty="0">
                <a:solidFill>
                  <a:srgbClr val="0F2843"/>
                </a:solidFill>
                <a:latin typeface="Calibri" panose="020F0502020204030204" pitchFamily="34" charset="0"/>
                <a:ea typeface="Calibri" panose="020F0502020204030204" pitchFamily="34" charset="-122"/>
                <a:cs typeface="Calibri" panose="020F0502020204030204" pitchFamily="34" charset="-120"/>
              </a:rPr>
              <a:t>ENGINEER</a:t>
            </a:r>
            <a:endParaRPr lang="en-US" sz="1150" dirty="0"/>
          </a:p>
        </p:txBody>
      </p:sp>
      <p:sp>
        <p:nvSpPr>
          <p:cNvPr id="14" name="Text 12"/>
          <p:cNvSpPr txBox="1"/>
          <p:nvPr/>
        </p:nvSpPr>
        <p:spPr>
          <a:xfrm>
            <a:off x="777240" y="3081528"/>
            <a:ext cx="2331720" cy="594360"/>
          </a:xfrm>
          <a:prstGeom prst="rect">
            <a:avLst/>
          </a:prstGeom>
          <a:noFill/>
        </p:spPr>
        <p:txBody>
          <a:bodyPr wrap="square" lIns="0" tIns="0" rIns="0" bIns="0" rtlCol="0" anchor="ctr"/>
          <a:lstStyle/>
          <a:p>
            <a:pPr marL="0" indent="0">
              <a:buNone/>
            </a:pPr>
            <a:r>
              <a:rPr lang="en-US" sz="1000" i="1" dirty="0">
                <a:solidFill>
                  <a:srgbClr val="5B6B82"/>
                </a:solidFill>
                <a:latin typeface="Calibri" panose="020F0502020204030204" pitchFamily="34" charset="0"/>
                <a:ea typeface="Calibri" panose="020F0502020204030204" pitchFamily="34" charset="-122"/>
                <a:cs typeface="Calibri" panose="020F0502020204030204" pitchFamily="34" charset="-120"/>
              </a:rPr>
              <a:t>What SOPs &amp; tools</a:t>
            </a:r>
            <a:endParaRPr lang="en-US" sz="1000" dirty="0"/>
          </a:p>
          <a:p>
            <a:pPr marL="0" indent="0">
              <a:buNone/>
            </a:pPr>
            <a:r>
              <a:rPr lang="en-US" sz="1000" i="1" dirty="0">
                <a:solidFill>
                  <a:srgbClr val="5B6B82"/>
                </a:solidFill>
                <a:latin typeface="Calibri" panose="020F0502020204030204" pitchFamily="34" charset="0"/>
                <a:ea typeface="Calibri" panose="020F0502020204030204" pitchFamily="34" charset="-122"/>
                <a:cs typeface="Calibri" panose="020F0502020204030204" pitchFamily="34" charset="-120"/>
              </a:rPr>
              <a:t>do we need?</a:t>
            </a:r>
            <a:endParaRPr lang="en-US" sz="1000" dirty="0"/>
          </a:p>
        </p:txBody>
      </p:sp>
      <p:sp>
        <p:nvSpPr>
          <p:cNvPr id="15" name="Text 13"/>
          <p:cNvSpPr txBox="1"/>
          <p:nvPr/>
        </p:nvSpPr>
        <p:spPr>
          <a:xfrm>
            <a:off x="3246120" y="2761488"/>
            <a:ext cx="155448" cy="548640"/>
          </a:xfrm>
          <a:prstGeom prst="rect">
            <a:avLst/>
          </a:prstGeom>
          <a:noFill/>
        </p:spPr>
        <p:txBody>
          <a:bodyPr wrap="square" lIns="0" tIns="0" rIns="0" bIns="0" rtlCol="0" anchor="ctr"/>
          <a:lstStyle/>
          <a:p>
            <a:pPr marL="0" indent="0" algn="ctr">
              <a:buNone/>
            </a:pPr>
            <a:r>
              <a:rPr lang="en-US" sz="1200" dirty="0">
                <a:solidFill>
                  <a:srgbClr val="5B6B82"/>
                </a:solidFill>
              </a:rPr>
              <a:t>→</a:t>
            </a:r>
            <a:endParaRPr lang="en-US" sz="1200" dirty="0"/>
          </a:p>
        </p:txBody>
      </p:sp>
      <p:sp>
        <p:nvSpPr>
          <p:cNvPr id="16" name="Shape 14"/>
          <p:cNvSpPr/>
          <p:nvPr/>
        </p:nvSpPr>
        <p:spPr>
          <a:xfrm>
            <a:off x="3383280" y="2395728"/>
            <a:ext cx="2606040" cy="1371600"/>
          </a:xfrm>
          <a:prstGeom prst="roundRect">
            <a:avLst>
              <a:gd name="adj" fmla="val 4000"/>
            </a:avLst>
          </a:prstGeom>
          <a:solidFill>
            <a:srgbClr val="FFFFFF"/>
          </a:solidFill>
          <a:ln w="12700">
            <a:solidFill>
              <a:srgbClr val="EEF2F7"/>
            </a:solidFill>
            <a:prstDash val="solid"/>
          </a:ln>
        </p:spPr>
        <p:txBody>
          <a:bodyPr/>
          <a:p/>
        </p:txBody>
      </p:sp>
      <p:sp>
        <p:nvSpPr>
          <p:cNvPr id="17" name="Text 15"/>
          <p:cNvSpPr txBox="1"/>
          <p:nvPr/>
        </p:nvSpPr>
        <p:spPr>
          <a:xfrm>
            <a:off x="3520440" y="2532888"/>
            <a:ext cx="2331720" cy="502920"/>
          </a:xfrm>
          <a:prstGeom prst="rect">
            <a:avLst/>
          </a:prstGeom>
          <a:noFill/>
        </p:spPr>
        <p:txBody>
          <a:bodyPr wrap="square" lIns="0" tIns="0" rIns="0" bIns="0" rtlCol="0" anchor="ctr"/>
          <a:lstStyle/>
          <a:p>
            <a:pPr marL="0" indent="0">
              <a:buNone/>
            </a:pPr>
            <a:r>
              <a:rPr lang="en-US" sz="1150" b="1" dirty="0">
                <a:solidFill>
                  <a:srgbClr val="0F2843"/>
                </a:solidFill>
                <a:latin typeface="Calibri" panose="020F0502020204030204" pitchFamily="34" charset="0"/>
                <a:ea typeface="Calibri" panose="020F0502020204030204" pitchFamily="34" charset="-122"/>
                <a:cs typeface="Calibri" panose="020F0502020204030204" pitchFamily="34" charset="-120"/>
              </a:rPr>
              <a:t>WORKFLOW</a:t>
            </a:r>
            <a:endParaRPr lang="en-US" sz="1150" dirty="0"/>
          </a:p>
          <a:p>
            <a:pPr marL="0" indent="0">
              <a:buNone/>
            </a:pPr>
            <a:r>
              <a:rPr lang="en-US" sz="1150" b="1" dirty="0">
                <a:solidFill>
                  <a:srgbClr val="0F2843"/>
                </a:solidFill>
                <a:latin typeface="Calibri" panose="020F0502020204030204" pitchFamily="34" charset="0"/>
                <a:ea typeface="Calibri" panose="020F0502020204030204" pitchFamily="34" charset="-122"/>
                <a:cs typeface="Calibri" panose="020F0502020204030204" pitchFamily="34" charset="-120"/>
              </a:rPr>
              <a:t>ENGINEER</a:t>
            </a:r>
            <a:endParaRPr lang="en-US" sz="1150" dirty="0"/>
          </a:p>
        </p:txBody>
      </p:sp>
      <p:sp>
        <p:nvSpPr>
          <p:cNvPr id="18" name="Text 16"/>
          <p:cNvSpPr txBox="1"/>
          <p:nvPr/>
        </p:nvSpPr>
        <p:spPr>
          <a:xfrm>
            <a:off x="3520440" y="3081528"/>
            <a:ext cx="2331720" cy="594360"/>
          </a:xfrm>
          <a:prstGeom prst="rect">
            <a:avLst/>
          </a:prstGeom>
          <a:noFill/>
        </p:spPr>
        <p:txBody>
          <a:bodyPr wrap="square" lIns="0" tIns="0" rIns="0" bIns="0" rtlCol="0" anchor="ctr"/>
          <a:lstStyle/>
          <a:p>
            <a:pPr marL="0" indent="0">
              <a:buNone/>
            </a:pPr>
            <a:r>
              <a:rPr lang="en-US" sz="1000" i="1" dirty="0">
                <a:solidFill>
                  <a:srgbClr val="5B6B82"/>
                </a:solidFill>
                <a:latin typeface="Calibri" panose="020F0502020204030204" pitchFamily="34" charset="0"/>
                <a:ea typeface="Calibri" panose="020F0502020204030204" pitchFamily="34" charset="-122"/>
                <a:cs typeface="Calibri" panose="020F0502020204030204" pitchFamily="34" charset="-120"/>
              </a:rPr>
              <a:t>Can we break the</a:t>
            </a:r>
            <a:endParaRPr lang="en-US" sz="1000" dirty="0"/>
          </a:p>
          <a:p>
            <a:pPr marL="0" indent="0">
              <a:buNone/>
            </a:pPr>
            <a:r>
              <a:rPr lang="en-US" sz="1000" i="1" dirty="0">
                <a:solidFill>
                  <a:srgbClr val="5B6B82"/>
                </a:solidFill>
                <a:latin typeface="Calibri" panose="020F0502020204030204" pitchFamily="34" charset="0"/>
                <a:ea typeface="Calibri" panose="020F0502020204030204" pitchFamily="34" charset="-122"/>
                <a:cs typeface="Calibri" panose="020F0502020204030204" pitchFamily="34" charset="-120"/>
              </a:rPr>
              <a:t>goal into steps?</a:t>
            </a:r>
            <a:endParaRPr lang="en-US" sz="1000" dirty="0"/>
          </a:p>
        </p:txBody>
      </p:sp>
      <p:sp>
        <p:nvSpPr>
          <p:cNvPr id="19" name="Text 17"/>
          <p:cNvSpPr txBox="1"/>
          <p:nvPr/>
        </p:nvSpPr>
        <p:spPr>
          <a:xfrm>
            <a:off x="5989320" y="2761488"/>
            <a:ext cx="155448" cy="548640"/>
          </a:xfrm>
          <a:prstGeom prst="rect">
            <a:avLst/>
          </a:prstGeom>
          <a:noFill/>
        </p:spPr>
        <p:txBody>
          <a:bodyPr wrap="square" lIns="0" tIns="0" rIns="0" bIns="0" rtlCol="0" anchor="ctr"/>
          <a:lstStyle/>
          <a:p>
            <a:pPr marL="0" indent="0" algn="ctr">
              <a:buNone/>
            </a:pPr>
            <a:r>
              <a:rPr lang="en-US" sz="1200" dirty="0">
                <a:solidFill>
                  <a:srgbClr val="5B6B82"/>
                </a:solidFill>
              </a:rPr>
              <a:t>→</a:t>
            </a:r>
            <a:endParaRPr lang="en-US" sz="1200" dirty="0"/>
          </a:p>
        </p:txBody>
      </p:sp>
      <p:sp>
        <p:nvSpPr>
          <p:cNvPr id="20" name="Shape 18"/>
          <p:cNvSpPr/>
          <p:nvPr/>
        </p:nvSpPr>
        <p:spPr>
          <a:xfrm>
            <a:off x="6126480" y="2395728"/>
            <a:ext cx="2606040" cy="1371600"/>
          </a:xfrm>
          <a:prstGeom prst="roundRect">
            <a:avLst>
              <a:gd name="adj" fmla="val 4000"/>
            </a:avLst>
          </a:prstGeom>
          <a:solidFill>
            <a:srgbClr val="FFFFFF"/>
          </a:solidFill>
          <a:ln w="12700">
            <a:solidFill>
              <a:srgbClr val="EEF2F7"/>
            </a:solidFill>
            <a:prstDash val="solid"/>
          </a:ln>
        </p:spPr>
        <p:txBody>
          <a:bodyPr/>
          <a:p/>
        </p:txBody>
      </p:sp>
      <p:sp>
        <p:nvSpPr>
          <p:cNvPr id="21" name="Text 19"/>
          <p:cNvSpPr txBox="1"/>
          <p:nvPr/>
        </p:nvSpPr>
        <p:spPr>
          <a:xfrm>
            <a:off x="6263640" y="2532888"/>
            <a:ext cx="2331720" cy="502920"/>
          </a:xfrm>
          <a:prstGeom prst="rect">
            <a:avLst/>
          </a:prstGeom>
          <a:noFill/>
        </p:spPr>
        <p:txBody>
          <a:bodyPr wrap="square" lIns="0" tIns="0" rIns="0" bIns="0" rtlCol="0" anchor="ctr"/>
          <a:lstStyle/>
          <a:p>
            <a:pPr marL="0" indent="0">
              <a:buNone/>
            </a:pPr>
            <a:r>
              <a:rPr lang="en-US" sz="1150" b="1" dirty="0">
                <a:solidFill>
                  <a:srgbClr val="0F2843"/>
                </a:solidFill>
                <a:latin typeface="Calibri" panose="020F0502020204030204" pitchFamily="34" charset="0"/>
                <a:ea typeface="Calibri" panose="020F0502020204030204" pitchFamily="34" charset="-122"/>
                <a:cs typeface="Calibri" panose="020F0502020204030204" pitchFamily="34" charset="-120"/>
              </a:rPr>
              <a:t>AGENT</a:t>
            </a:r>
            <a:endParaRPr lang="en-US" sz="1150" dirty="0"/>
          </a:p>
          <a:p>
            <a:pPr marL="0" indent="0">
              <a:buNone/>
            </a:pPr>
            <a:r>
              <a:rPr lang="en-US" sz="1150" b="1" dirty="0">
                <a:solidFill>
                  <a:srgbClr val="0F2843"/>
                </a:solidFill>
                <a:latin typeface="Calibri" panose="020F0502020204030204" pitchFamily="34" charset="0"/>
                <a:ea typeface="Calibri" panose="020F0502020204030204" pitchFamily="34" charset="-122"/>
                <a:cs typeface="Calibri" panose="020F0502020204030204" pitchFamily="34" charset="-120"/>
              </a:rPr>
              <a:t>ENGINEER</a:t>
            </a:r>
            <a:endParaRPr lang="en-US" sz="1150" dirty="0"/>
          </a:p>
        </p:txBody>
      </p:sp>
      <p:sp>
        <p:nvSpPr>
          <p:cNvPr id="22" name="Text 20"/>
          <p:cNvSpPr txBox="1"/>
          <p:nvPr/>
        </p:nvSpPr>
        <p:spPr>
          <a:xfrm>
            <a:off x="6263640" y="3081528"/>
            <a:ext cx="2331720" cy="594360"/>
          </a:xfrm>
          <a:prstGeom prst="rect">
            <a:avLst/>
          </a:prstGeom>
          <a:noFill/>
        </p:spPr>
        <p:txBody>
          <a:bodyPr wrap="square" lIns="0" tIns="0" rIns="0" bIns="0" rtlCol="0" anchor="ctr"/>
          <a:lstStyle/>
          <a:p>
            <a:pPr marL="0" indent="0">
              <a:buNone/>
            </a:pPr>
            <a:r>
              <a:rPr lang="en-US" sz="1000" i="1" dirty="0">
                <a:solidFill>
                  <a:srgbClr val="5B6B82"/>
                </a:solidFill>
                <a:latin typeface="Calibri" panose="020F0502020204030204" pitchFamily="34" charset="0"/>
                <a:ea typeface="Calibri" panose="020F0502020204030204" pitchFamily="34" charset="-122"/>
                <a:cs typeface="Calibri" panose="020F0502020204030204" pitchFamily="34" charset="-120"/>
              </a:rPr>
              <a:t>Can the agent reason</a:t>
            </a:r>
            <a:endParaRPr lang="en-US" sz="1000" dirty="0"/>
          </a:p>
          <a:p>
            <a:pPr marL="0" indent="0">
              <a:buNone/>
            </a:pPr>
            <a:r>
              <a:rPr lang="en-US" sz="1000" i="1" dirty="0">
                <a:solidFill>
                  <a:srgbClr val="5B6B82"/>
                </a:solidFill>
                <a:latin typeface="Calibri" panose="020F0502020204030204" pitchFamily="34" charset="0"/>
                <a:ea typeface="Calibri" panose="020F0502020204030204" pitchFamily="34" charset="-122"/>
                <a:cs typeface="Calibri" panose="020F0502020204030204" pitchFamily="34" charset="-120"/>
              </a:rPr>
              <a:t>and decide?</a:t>
            </a:r>
            <a:endParaRPr lang="en-US" sz="1000" dirty="0"/>
          </a:p>
        </p:txBody>
      </p:sp>
      <p:sp>
        <p:nvSpPr>
          <p:cNvPr id="23" name="Text 21"/>
          <p:cNvSpPr txBox="1"/>
          <p:nvPr/>
        </p:nvSpPr>
        <p:spPr>
          <a:xfrm>
            <a:off x="8732520" y="2761488"/>
            <a:ext cx="155448" cy="548640"/>
          </a:xfrm>
          <a:prstGeom prst="rect">
            <a:avLst/>
          </a:prstGeom>
          <a:noFill/>
        </p:spPr>
        <p:txBody>
          <a:bodyPr wrap="square" lIns="0" tIns="0" rIns="0" bIns="0" rtlCol="0" anchor="ctr"/>
          <a:lstStyle/>
          <a:p>
            <a:pPr marL="0" indent="0" algn="ctr">
              <a:buNone/>
            </a:pPr>
            <a:r>
              <a:rPr lang="en-US" sz="1200" dirty="0">
                <a:solidFill>
                  <a:srgbClr val="5B6B82"/>
                </a:solidFill>
              </a:rPr>
              <a:t>→</a:t>
            </a:r>
            <a:endParaRPr lang="en-US" sz="1200" dirty="0"/>
          </a:p>
        </p:txBody>
      </p:sp>
      <p:sp>
        <p:nvSpPr>
          <p:cNvPr id="24" name="Shape 22"/>
          <p:cNvSpPr/>
          <p:nvPr/>
        </p:nvSpPr>
        <p:spPr>
          <a:xfrm>
            <a:off x="8869680" y="2395728"/>
            <a:ext cx="2606040" cy="1371600"/>
          </a:xfrm>
          <a:prstGeom prst="roundRect">
            <a:avLst>
              <a:gd name="adj" fmla="val 4000"/>
            </a:avLst>
          </a:prstGeom>
          <a:solidFill>
            <a:srgbClr val="FFFFFF"/>
          </a:solidFill>
          <a:ln w="12700">
            <a:solidFill>
              <a:srgbClr val="EEF2F7"/>
            </a:solidFill>
            <a:prstDash val="solid"/>
          </a:ln>
        </p:spPr>
        <p:txBody>
          <a:bodyPr/>
          <a:p/>
        </p:txBody>
      </p:sp>
      <p:sp>
        <p:nvSpPr>
          <p:cNvPr id="25" name="Text 23"/>
          <p:cNvSpPr txBox="1"/>
          <p:nvPr/>
        </p:nvSpPr>
        <p:spPr>
          <a:xfrm>
            <a:off x="9006840" y="2532888"/>
            <a:ext cx="2331720" cy="502920"/>
          </a:xfrm>
          <a:prstGeom prst="rect">
            <a:avLst/>
          </a:prstGeom>
          <a:noFill/>
        </p:spPr>
        <p:txBody>
          <a:bodyPr wrap="square" lIns="0" tIns="0" rIns="0" bIns="0" rtlCol="0" anchor="ctr"/>
          <a:lstStyle/>
          <a:p>
            <a:pPr marL="0" indent="0">
              <a:buNone/>
            </a:pPr>
            <a:r>
              <a:rPr lang="en-US" sz="1150" b="1" dirty="0">
                <a:solidFill>
                  <a:srgbClr val="0F2843"/>
                </a:solidFill>
                <a:latin typeface="Calibri" panose="020F0502020204030204" pitchFamily="34" charset="0"/>
                <a:ea typeface="Calibri" panose="020F0502020204030204" pitchFamily="34" charset="-122"/>
                <a:cs typeface="Calibri" panose="020F0502020204030204" pitchFamily="34" charset="-120"/>
              </a:rPr>
              <a:t>EVALUATION</a:t>
            </a:r>
            <a:endParaRPr lang="en-US" sz="1150" dirty="0"/>
          </a:p>
          <a:p>
            <a:pPr marL="0" indent="0">
              <a:buNone/>
            </a:pPr>
            <a:r>
              <a:rPr lang="en-US" sz="1150" b="1" dirty="0">
                <a:solidFill>
                  <a:srgbClr val="0F2843"/>
                </a:solidFill>
                <a:latin typeface="Calibri" panose="020F0502020204030204" pitchFamily="34" charset="0"/>
                <a:ea typeface="Calibri" panose="020F0502020204030204" pitchFamily="34" charset="-122"/>
                <a:cs typeface="Calibri" panose="020F0502020204030204" pitchFamily="34" charset="-120"/>
              </a:rPr>
              <a:t>ENGINEER</a:t>
            </a:r>
            <a:endParaRPr lang="en-US" sz="1150" dirty="0"/>
          </a:p>
        </p:txBody>
      </p:sp>
      <p:sp>
        <p:nvSpPr>
          <p:cNvPr id="26" name="Text 24"/>
          <p:cNvSpPr txBox="1"/>
          <p:nvPr/>
        </p:nvSpPr>
        <p:spPr>
          <a:xfrm>
            <a:off x="9006840" y="3081528"/>
            <a:ext cx="2331720" cy="594360"/>
          </a:xfrm>
          <a:prstGeom prst="rect">
            <a:avLst/>
          </a:prstGeom>
          <a:noFill/>
        </p:spPr>
        <p:txBody>
          <a:bodyPr wrap="square" lIns="0" tIns="0" rIns="0" bIns="0" rtlCol="0" anchor="ctr"/>
          <a:lstStyle/>
          <a:p>
            <a:pPr marL="0" indent="0">
              <a:buNone/>
            </a:pPr>
            <a:r>
              <a:rPr lang="en-US" sz="1000" i="1" dirty="0">
                <a:solidFill>
                  <a:srgbClr val="5B6B82"/>
                </a:solidFill>
                <a:latin typeface="Calibri" panose="020F0502020204030204" pitchFamily="34" charset="0"/>
                <a:ea typeface="Calibri" panose="020F0502020204030204" pitchFamily="34" charset="-122"/>
                <a:cs typeface="Calibri" panose="020F0502020204030204" pitchFamily="34" charset="-120"/>
              </a:rPr>
              <a:t>Can we trust the</a:t>
            </a:r>
            <a:endParaRPr lang="en-US" sz="1000" dirty="0"/>
          </a:p>
          <a:p>
            <a:pPr marL="0" indent="0">
              <a:buNone/>
            </a:pPr>
            <a:r>
              <a:rPr lang="en-US" sz="1000" i="1" dirty="0">
                <a:solidFill>
                  <a:srgbClr val="5B6B82"/>
                </a:solidFill>
                <a:latin typeface="Calibri" panose="020F0502020204030204" pitchFamily="34" charset="0"/>
                <a:ea typeface="Calibri" panose="020F0502020204030204" pitchFamily="34" charset="-122"/>
                <a:cs typeface="Calibri" panose="020F0502020204030204" pitchFamily="34" charset="-120"/>
              </a:rPr>
              <a:t>agent's plan?</a:t>
            </a:r>
            <a:endParaRPr lang="en-US" sz="1000" dirty="0"/>
          </a:p>
        </p:txBody>
      </p:sp>
      <p:sp>
        <p:nvSpPr>
          <p:cNvPr id="27" name="Shape 25"/>
          <p:cNvSpPr/>
          <p:nvPr/>
        </p:nvSpPr>
        <p:spPr>
          <a:xfrm>
            <a:off x="640080" y="4041648"/>
            <a:ext cx="10881360" cy="594360"/>
          </a:xfrm>
          <a:prstGeom prst="roundRect">
            <a:avLst>
              <a:gd name="adj" fmla="val 9231"/>
            </a:avLst>
          </a:prstGeom>
          <a:solidFill>
            <a:srgbClr val="0F2843"/>
          </a:solidFill>
        </p:spPr>
        <p:txBody>
          <a:bodyPr/>
          <a:p/>
        </p:txBody>
      </p:sp>
      <p:sp>
        <p:nvSpPr>
          <p:cNvPr id="28" name="Text 26"/>
          <p:cNvSpPr txBox="1"/>
          <p:nvPr/>
        </p:nvSpPr>
        <p:spPr>
          <a:xfrm>
            <a:off x="914400" y="4041648"/>
            <a:ext cx="10332720" cy="594360"/>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INTEGRATION ENGINEER   —   Can oncologists act on it?</a:t>
            </a:r>
            <a:endParaRPr lang="en-US" sz="1300" dirty="0"/>
          </a:p>
        </p:txBody>
      </p:sp>
      <p:sp>
        <p:nvSpPr>
          <p:cNvPr id="29" name="Shape 27"/>
          <p:cNvSpPr/>
          <p:nvPr/>
        </p:nvSpPr>
        <p:spPr>
          <a:xfrm>
            <a:off x="640080" y="4818888"/>
            <a:ext cx="10881360" cy="548640"/>
          </a:xfrm>
          <a:prstGeom prst="roundRect">
            <a:avLst>
              <a:gd name="adj" fmla="val 50000"/>
            </a:avLst>
          </a:prstGeom>
          <a:solidFill>
            <a:srgbClr val="E63946"/>
          </a:solidFill>
        </p:spPr>
        <p:txBody>
          <a:bodyPr/>
          <a:p/>
        </p:txBody>
      </p:sp>
      <p:sp>
        <p:nvSpPr>
          <p:cNvPr id="30" name="Text 28"/>
          <p:cNvSpPr txBox="1"/>
          <p:nvPr/>
        </p:nvSpPr>
        <p:spPr>
          <a:xfrm>
            <a:off x="640080" y="4818888"/>
            <a:ext cx="10881360" cy="54864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 LIVE ONCOLOGY COMMAND CENTER</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p:spPr>
        <p:txBody>
          <a:bodyPr wrap="square" lIns="0" tIns="0" rIns="0" bIns="0" rtlCol="0" anchor="ctr"/>
          <a:lstStyle/>
          <a:p>
            <a:pPr marL="0" indent="0">
              <a:buNone/>
            </a:pPr>
            <a:r>
              <a:rPr lang="en-US" sz="1200" b="1" kern="0" spc="200" dirty="0">
                <a:solidFill>
                  <a:srgbClr val="FFB627"/>
                </a:solidFill>
                <a:latin typeface="Calibri" panose="020F0502020204030204" pitchFamily="34" charset="0"/>
                <a:ea typeface="Calibri" panose="020F0502020204030204" pitchFamily="34" charset="-122"/>
                <a:cs typeface="Calibri" panose="020F0502020204030204" pitchFamily="34" charset="-120"/>
              </a:rPr>
              <a:t>LIVE CASE</a:t>
            </a:r>
            <a:endParaRPr lang="en-US" sz="1200" dirty="0"/>
          </a:p>
        </p:txBody>
      </p:sp>
      <p:sp>
        <p:nvSpPr>
          <p:cNvPr id="3" name="Text 1"/>
          <p:cNvSpPr txBox="1"/>
          <p:nvPr/>
        </p:nvSpPr>
        <p:spPr>
          <a:xfrm>
            <a:off x="640080" y="731520"/>
            <a:ext cx="8229600" cy="548640"/>
          </a:xfrm>
          <a:prstGeom prst="rect">
            <a:avLst/>
          </a:prstGeom>
          <a:noFill/>
        </p:spPr>
        <p:txBody>
          <a:bodyPr wrap="square" lIns="0" tIns="0" rIns="0" bIns="0" rtlCol="0" anchor="ctr"/>
          <a:lstStyle/>
          <a:p>
            <a:pPr marL="0" indent="0">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You Are the Treatment Agent.</a:t>
            </a:r>
            <a:endParaRPr lang="en-US" sz="2800" dirty="0"/>
          </a:p>
        </p:txBody>
      </p:sp>
      <p:sp>
        <p:nvSpPr>
          <p:cNvPr id="4" name="Text 2"/>
          <p:cNvSpPr txBox="1"/>
          <p:nvPr/>
        </p:nvSpPr>
        <p:spPr>
          <a:xfrm>
            <a:off x="640080" y="1280160"/>
            <a:ext cx="7315200" cy="365760"/>
          </a:xfrm>
          <a:prstGeom prst="rect">
            <a:avLst/>
          </a:prstGeom>
          <a:noFill/>
        </p:spPr>
        <p:txBody>
          <a:bodyPr wrap="square" lIns="0" tIns="0" rIns="0" bIns="0" rtlCol="0" anchor="ctr"/>
          <a:lstStyle/>
          <a:p>
            <a:pPr marL="0" indent="0">
              <a:buNone/>
            </a:pPr>
            <a:r>
              <a:rPr lang="en-US" sz="1300" i="1" dirty="0">
                <a:solidFill>
                  <a:srgbClr val="9FB3CC"/>
                </a:solidFill>
                <a:latin typeface="Calibri" panose="020F0502020204030204" pitchFamily="34" charset="0"/>
                <a:ea typeface="Calibri" panose="020F0502020204030204" pitchFamily="34" charset="-122"/>
                <a:cs typeface="Calibri" panose="020F0502020204030204" pitchFamily="34" charset="-120"/>
              </a:rPr>
              <a:t>What should the agent decide?</a:t>
            </a:r>
            <a:endParaRPr lang="en-US" sz="1300" dirty="0"/>
          </a:p>
        </p:txBody>
      </p:sp>
      <p:sp>
        <p:nvSpPr>
          <p:cNvPr id="5" name="Shape 3"/>
          <p:cNvSpPr/>
          <p:nvPr/>
        </p:nvSpPr>
        <p:spPr>
          <a:xfrm>
            <a:off x="640080" y="1828800"/>
            <a:ext cx="2514600" cy="1097280"/>
          </a:xfrm>
          <a:prstGeom prst="roundRect">
            <a:avLst>
              <a:gd name="adj" fmla="val 5000"/>
            </a:avLst>
          </a:prstGeom>
          <a:solidFill>
            <a:srgbClr val="17263B"/>
          </a:solidFill>
        </p:spPr>
        <p:txBody>
          <a:bodyPr/>
          <a:p/>
        </p:txBody>
      </p:sp>
      <p:sp>
        <p:nvSpPr>
          <p:cNvPr id="6" name="Text 4"/>
          <p:cNvSpPr txBox="1"/>
          <p:nvPr/>
        </p:nvSpPr>
        <p:spPr>
          <a:xfrm>
            <a:off x="777240" y="1965960"/>
            <a:ext cx="2240280" cy="320040"/>
          </a:xfrm>
          <a:prstGeom prst="rect">
            <a:avLst/>
          </a:prstGeom>
          <a:noFill/>
        </p:spPr>
        <p:txBody>
          <a:bodyPr wrap="square" lIns="0" tIns="0" rIns="0" bIns="0" rtlCol="0" anchor="ctr"/>
          <a:lstStyle/>
          <a:p>
            <a:pPr marL="0" indent="0">
              <a:buNone/>
            </a:pPr>
            <a:r>
              <a:rPr lang="en-US" sz="1300" b="1" dirty="0">
                <a:solidFill>
                  <a:srgbClr val="FFB627"/>
                </a:solidFill>
                <a:latin typeface="Calibri" panose="020F0502020204030204" pitchFamily="34" charset="0"/>
                <a:ea typeface="Calibri" panose="020F0502020204030204" pitchFamily="34" charset="-122"/>
                <a:cs typeface="Calibri" panose="020F0502020204030204" pitchFamily="34" charset="-120"/>
              </a:rPr>
              <a:t>Patient A</a:t>
            </a:r>
            <a:endParaRPr lang="en-US" sz="1300" dirty="0"/>
          </a:p>
        </p:txBody>
      </p:sp>
      <p:sp>
        <p:nvSpPr>
          <p:cNvPr id="7" name="Text 5"/>
          <p:cNvSpPr txBox="1"/>
          <p:nvPr/>
        </p:nvSpPr>
        <p:spPr>
          <a:xfrm>
            <a:off x="777240" y="2331720"/>
            <a:ext cx="2240280" cy="502920"/>
          </a:xfrm>
          <a:prstGeom prst="rect">
            <a:avLst/>
          </a:prstGeom>
          <a:noFill/>
        </p:spPr>
        <p:txBody>
          <a:bodyPr wrap="square" lIns="0" tIns="0" rIns="0" bIns="0" rtlCol="0" anchor="ctr"/>
          <a:lstStyle/>
          <a:p>
            <a:pPr marL="0" indent="0">
              <a:buNone/>
            </a:pPr>
            <a:r>
              <a:rPr lang="en-US" sz="1050" dirty="0">
                <a:solidFill>
                  <a:srgbClr val="E3E9F2"/>
                </a:solidFill>
                <a:latin typeface="Calibri" panose="020F0502020204030204" pitchFamily="34" charset="0"/>
                <a:ea typeface="Calibri" panose="020F0502020204030204" pitchFamily="34" charset="-122"/>
                <a:cs typeface="Calibri" panose="020F0502020204030204" pitchFamily="34" charset="-120"/>
              </a:rPr>
              <a:t>Severe · 6 rising readings · 1 trial slot</a:t>
            </a:r>
            <a:endParaRPr lang="en-US" sz="1050" dirty="0"/>
          </a:p>
        </p:txBody>
      </p:sp>
      <p:sp>
        <p:nvSpPr>
          <p:cNvPr id="8" name="Shape 6"/>
          <p:cNvSpPr/>
          <p:nvPr/>
        </p:nvSpPr>
        <p:spPr>
          <a:xfrm>
            <a:off x="3383280" y="1828800"/>
            <a:ext cx="2514600" cy="1097280"/>
          </a:xfrm>
          <a:prstGeom prst="roundRect">
            <a:avLst>
              <a:gd name="adj" fmla="val 5000"/>
            </a:avLst>
          </a:prstGeom>
          <a:solidFill>
            <a:srgbClr val="17263B"/>
          </a:solidFill>
        </p:spPr>
        <p:txBody>
          <a:bodyPr/>
          <a:p/>
        </p:txBody>
      </p:sp>
      <p:sp>
        <p:nvSpPr>
          <p:cNvPr id="9" name="Text 7"/>
          <p:cNvSpPr txBox="1"/>
          <p:nvPr/>
        </p:nvSpPr>
        <p:spPr>
          <a:xfrm>
            <a:off x="3520440" y="1965960"/>
            <a:ext cx="2240280" cy="320040"/>
          </a:xfrm>
          <a:prstGeom prst="rect">
            <a:avLst/>
          </a:prstGeom>
          <a:noFill/>
        </p:spPr>
        <p:txBody>
          <a:bodyPr wrap="square" lIns="0" tIns="0" rIns="0" bIns="0" rtlCol="0" anchor="ctr"/>
          <a:lstStyle/>
          <a:p>
            <a:pPr marL="0" indent="0">
              <a:buNone/>
            </a:pPr>
            <a:r>
              <a:rPr lang="en-US" sz="1300" b="1" dirty="0">
                <a:solidFill>
                  <a:srgbClr val="FFB627"/>
                </a:solidFill>
                <a:latin typeface="Calibri" panose="020F0502020204030204" pitchFamily="34" charset="0"/>
                <a:ea typeface="Calibri" panose="020F0502020204030204" pitchFamily="34" charset="-122"/>
                <a:cs typeface="Calibri" panose="020F0502020204030204" pitchFamily="34" charset="-120"/>
              </a:rPr>
              <a:t>Patient B</a:t>
            </a:r>
            <a:endParaRPr lang="en-US" sz="1300" dirty="0"/>
          </a:p>
        </p:txBody>
      </p:sp>
      <p:sp>
        <p:nvSpPr>
          <p:cNvPr id="10" name="Text 8"/>
          <p:cNvSpPr txBox="1"/>
          <p:nvPr/>
        </p:nvSpPr>
        <p:spPr>
          <a:xfrm>
            <a:off x="3520440" y="2331720"/>
            <a:ext cx="2240280" cy="502920"/>
          </a:xfrm>
          <a:prstGeom prst="rect">
            <a:avLst/>
          </a:prstGeom>
          <a:noFill/>
        </p:spPr>
        <p:txBody>
          <a:bodyPr wrap="square" lIns="0" tIns="0" rIns="0" bIns="0" rtlCol="0" anchor="ctr"/>
          <a:lstStyle/>
          <a:p>
            <a:pPr marL="0" indent="0">
              <a:buNone/>
            </a:pPr>
            <a:r>
              <a:rPr lang="en-US" sz="1050" dirty="0">
                <a:solidFill>
                  <a:srgbClr val="E3E9F2"/>
                </a:solidFill>
                <a:latin typeface="Calibri" panose="020F0502020204030204" pitchFamily="34" charset="0"/>
                <a:ea typeface="Calibri" panose="020F0502020204030204" pitchFamily="34" charset="-122"/>
                <a:cs typeface="Calibri" panose="020F0502020204030204" pitchFamily="34" charset="-120"/>
              </a:rPr>
              <a:t>Severe · 2 rising readings · 0 slots free</a:t>
            </a:r>
            <a:endParaRPr lang="en-US" sz="1050" dirty="0"/>
          </a:p>
        </p:txBody>
      </p:sp>
      <p:sp>
        <p:nvSpPr>
          <p:cNvPr id="11" name="Shape 9"/>
          <p:cNvSpPr/>
          <p:nvPr/>
        </p:nvSpPr>
        <p:spPr>
          <a:xfrm>
            <a:off x="6309360" y="1828800"/>
            <a:ext cx="5212080" cy="1097280"/>
          </a:xfrm>
          <a:prstGeom prst="roundRect">
            <a:avLst>
              <a:gd name="adj" fmla="val 5000"/>
            </a:avLst>
          </a:prstGeom>
          <a:solidFill>
            <a:srgbClr val="17263B"/>
          </a:solidFill>
        </p:spPr>
        <p:txBody>
          <a:bodyPr/>
          <a:p/>
        </p:txBody>
      </p:sp>
      <p:sp>
        <p:nvSpPr>
          <p:cNvPr id="12" name="Text 10"/>
          <p:cNvSpPr txBox="1"/>
          <p:nvPr/>
        </p:nvSpPr>
        <p:spPr>
          <a:xfrm>
            <a:off x="6537960" y="1828800"/>
            <a:ext cx="4754880" cy="1097280"/>
          </a:xfrm>
          <a:prstGeom prst="rect">
            <a:avLst/>
          </a:prstGeom>
          <a:noFill/>
        </p:spPr>
        <p:txBody>
          <a:bodyPr wrap="square" lIns="0" tIns="0" rIns="0" bIns="0" rtlCol="0" anchor="ctr"/>
          <a:lstStyle/>
          <a:p>
            <a:pPr marL="0" indent="0">
              <a:buNone/>
            </a:pPr>
            <a:r>
              <a:rPr lang="en-US" sz="1200" dirty="0">
                <a:solidFill>
                  <a:srgbClr val="E3E9F2"/>
                </a:solidFill>
                <a:latin typeface="Calibri" panose="020F0502020204030204" pitchFamily="34" charset="0"/>
                <a:ea typeface="Calibri" panose="020F0502020204030204" pitchFamily="34" charset="-122"/>
                <a:cs typeface="Calibri" panose="020F0502020204030204" pitchFamily="34" charset="-120"/>
              </a:rPr>
              <a:t>Only 1 trial slot is available across both patients.</a:t>
            </a:r>
            <a:endParaRPr lang="en-US" sz="1200" dirty="0"/>
          </a:p>
        </p:txBody>
      </p:sp>
      <p:sp>
        <p:nvSpPr>
          <p:cNvPr id="13" name="Shape 11"/>
          <p:cNvSpPr/>
          <p:nvPr/>
        </p:nvSpPr>
        <p:spPr>
          <a:xfrm>
            <a:off x="640080" y="3291840"/>
            <a:ext cx="10881360" cy="548640"/>
          </a:xfrm>
          <a:prstGeom prst="roundRect">
            <a:avLst>
              <a:gd name="adj" fmla="val 50000"/>
            </a:avLst>
          </a:prstGeom>
          <a:solidFill>
            <a:srgbClr val="2A9D8F"/>
          </a:solidFill>
        </p:spPr>
        <p:txBody>
          <a:bodyPr/>
          <a:p/>
        </p:txBody>
      </p:sp>
      <p:sp>
        <p:nvSpPr>
          <p:cNvPr id="14" name="Text 12"/>
          <p:cNvSpPr txBox="1"/>
          <p:nvPr/>
        </p:nvSpPr>
        <p:spPr>
          <a:xfrm>
            <a:off x="640080" y="3291840"/>
            <a:ext cx="10881360" cy="54864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 Enroll Patient B</a:t>
            </a:r>
            <a:endParaRPr lang="en-US" sz="1400" dirty="0"/>
          </a:p>
        </p:txBody>
      </p:sp>
      <p:sp>
        <p:nvSpPr>
          <p:cNvPr id="15" name="Shape 13"/>
          <p:cNvSpPr/>
          <p:nvPr/>
        </p:nvSpPr>
        <p:spPr>
          <a:xfrm>
            <a:off x="640080" y="3977640"/>
            <a:ext cx="10881360" cy="548640"/>
          </a:xfrm>
          <a:prstGeom prst="roundRect">
            <a:avLst>
              <a:gd name="adj" fmla="val 50000"/>
            </a:avLst>
          </a:prstGeom>
          <a:solidFill>
            <a:srgbClr val="F4A300"/>
          </a:solidFill>
        </p:spPr>
        <p:txBody>
          <a:bodyPr/>
          <a:p/>
        </p:txBody>
      </p:sp>
      <p:sp>
        <p:nvSpPr>
          <p:cNvPr id="16" name="Text 14"/>
          <p:cNvSpPr txBox="1"/>
          <p:nvPr/>
        </p:nvSpPr>
        <p:spPr>
          <a:xfrm>
            <a:off x="640080" y="3977640"/>
            <a:ext cx="10881360" cy="54864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 Split resources</a:t>
            </a:r>
            <a:endParaRPr lang="en-US" sz="1400" dirty="0"/>
          </a:p>
        </p:txBody>
      </p:sp>
      <p:sp>
        <p:nvSpPr>
          <p:cNvPr id="17" name="Shape 15"/>
          <p:cNvSpPr/>
          <p:nvPr/>
        </p:nvSpPr>
        <p:spPr>
          <a:xfrm>
            <a:off x="640080" y="4663440"/>
            <a:ext cx="10881360" cy="548640"/>
          </a:xfrm>
          <a:prstGeom prst="roundRect">
            <a:avLst>
              <a:gd name="adj" fmla="val 50000"/>
            </a:avLst>
          </a:prstGeom>
          <a:solidFill>
            <a:srgbClr val="E63946"/>
          </a:solidFill>
        </p:spPr>
        <p:txBody>
          <a:bodyPr/>
          <a:p/>
        </p:txBody>
      </p:sp>
      <p:sp>
        <p:nvSpPr>
          <p:cNvPr id="18" name="Text 16"/>
          <p:cNvSpPr txBox="1"/>
          <p:nvPr/>
        </p:nvSpPr>
        <p:spPr>
          <a:xfrm>
            <a:off x="640080" y="4663440"/>
            <a:ext cx="10881360" cy="54864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 Enroll Patient A + reroute Patient B</a:t>
            </a:r>
            <a:endParaRPr lang="en-US" sz="1400" dirty="0"/>
          </a:p>
        </p:txBody>
      </p:sp>
      <p:sp>
        <p:nvSpPr>
          <p:cNvPr id="19" name="Shape 17"/>
          <p:cNvSpPr/>
          <p:nvPr/>
        </p:nvSpPr>
        <p:spPr>
          <a:xfrm>
            <a:off x="640080" y="5486400"/>
            <a:ext cx="10881360" cy="502920"/>
          </a:xfrm>
          <a:prstGeom prst="roundRect">
            <a:avLst>
              <a:gd name="adj" fmla="val 9091"/>
            </a:avLst>
          </a:prstGeom>
          <a:solidFill>
            <a:srgbClr val="FFB627"/>
          </a:solidFill>
        </p:spPr>
        <p:txBody>
          <a:bodyPr/>
          <a:p/>
        </p:txBody>
      </p:sp>
      <p:sp>
        <p:nvSpPr>
          <p:cNvPr id="20" name="Text 18"/>
          <p:cNvSpPr txBox="1"/>
          <p:nvPr/>
        </p:nvSpPr>
        <p:spPr>
          <a:xfrm>
            <a:off x="640080" y="5486400"/>
            <a:ext cx="10881360" cy="502920"/>
          </a:xfrm>
          <a:prstGeom prst="rect">
            <a:avLst/>
          </a:prstGeom>
          <a:noFill/>
        </p:spPr>
        <p:txBody>
          <a:bodyPr wrap="square" lIns="0" tIns="0" rIns="0" bIns="0" rtlCol="0" anchor="ctr"/>
          <a:lstStyle/>
          <a:p>
            <a:pPr marL="0" indent="0" algn="ctr">
              <a:buNone/>
            </a:pPr>
            <a:r>
              <a:rPr lang="en-US" sz="1300" b="1" dirty="0">
                <a:solidFill>
                  <a:srgbClr val="081527"/>
                </a:solidFill>
                <a:latin typeface="Calibri" panose="020F0502020204030204" pitchFamily="34" charset="0"/>
                <a:ea typeface="Calibri" panose="020F0502020204030204" pitchFamily="34" charset="-122"/>
                <a:cs typeface="Calibri" panose="020F0502020204030204" pitchFamily="34" charset="-120"/>
              </a:rPr>
              <a:t>Let's see if the trained agent agrees with you.</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515600" cy="502920"/>
          </a:xfrm>
          <a:prstGeom prst="rect">
            <a:avLst/>
          </a:prstGeom>
          <a:noFill/>
        </p:spPr>
        <p:txBody>
          <a:bodyPr wrap="square" lIns="0" tIns="0" rIns="0" bIns="0" rtlCol="0" anchor="ctr"/>
          <a:lstStyle/>
          <a:p>
            <a:pPr marL="0" indent="0">
              <a:buNone/>
            </a:pPr>
            <a:r>
              <a:rPr lang="en-US" sz="2500" b="1" dirty="0">
                <a:solidFill>
                  <a:srgbClr val="0F2843"/>
                </a:solidFill>
                <a:latin typeface="Cambria" panose="02040503050406030204" pitchFamily="34" charset="0"/>
                <a:ea typeface="Cambria" panose="02040503050406030204" pitchFamily="34" charset="-122"/>
                <a:cs typeface="Cambria" panose="02040503050406030204" pitchFamily="34" charset="-120"/>
              </a:rPr>
              <a:t>What You Did Manually → What the Agent Does</a:t>
            </a:r>
            <a:endParaRPr lang="en-US" sz="2500" dirty="0"/>
          </a:p>
        </p:txBody>
      </p:sp>
      <p:sp>
        <p:nvSpPr>
          <p:cNvPr id="3" name="Shape 1"/>
          <p:cNvSpPr/>
          <p:nvPr/>
        </p:nvSpPr>
        <p:spPr>
          <a:xfrm>
            <a:off x="640080" y="1280160"/>
            <a:ext cx="4846320" cy="566928"/>
          </a:xfrm>
          <a:prstGeom prst="roundRect">
            <a:avLst>
              <a:gd name="adj" fmla="val 9677"/>
            </a:avLst>
          </a:prstGeom>
          <a:solidFill>
            <a:srgbClr val="FFFFFF"/>
          </a:solidFill>
          <a:ln w="12700">
            <a:solidFill>
              <a:srgbClr val="EEF2F7"/>
            </a:solidFill>
            <a:prstDash val="solid"/>
          </a:ln>
        </p:spPr>
        <p:txBody>
          <a:bodyPr/>
          <a:p/>
        </p:txBody>
      </p:sp>
      <p:sp>
        <p:nvSpPr>
          <p:cNvPr id="4" name="Text 2"/>
          <p:cNvSpPr txBox="1"/>
          <p:nvPr/>
        </p:nvSpPr>
        <p:spPr>
          <a:xfrm>
            <a:off x="868680" y="1280160"/>
            <a:ext cx="4389120" cy="566928"/>
          </a:xfrm>
          <a:prstGeom prst="rect">
            <a:avLst/>
          </a:prstGeom>
          <a:noFill/>
        </p:spPr>
        <p:txBody>
          <a:bodyPr wrap="square" lIns="0" tIns="0" rIns="0" bIns="0" rtlCol="0" anchor="ctr"/>
          <a:lstStyle/>
          <a:p>
            <a:pPr marL="0" indent="0">
              <a:buNone/>
            </a:pPr>
            <a:r>
              <a:rPr lang="en-US" sz="1200" dirty="0">
                <a:solidFill>
                  <a:srgbClr val="0F2843"/>
                </a:solidFill>
                <a:latin typeface="Calibri" panose="020F0502020204030204" pitchFamily="34" charset="0"/>
                <a:ea typeface="Calibri" panose="020F0502020204030204" pitchFamily="34" charset="-122"/>
                <a:cs typeface="Calibri" panose="020F0502020204030204" pitchFamily="34" charset="-120"/>
              </a:rPr>
              <a:t>You structured the SOPs</a:t>
            </a:r>
            <a:endParaRPr lang="en-US" sz="1200" dirty="0"/>
          </a:p>
        </p:txBody>
      </p:sp>
      <p:sp>
        <p:nvSpPr>
          <p:cNvPr id="5" name="Text 3"/>
          <p:cNvSpPr txBox="1"/>
          <p:nvPr/>
        </p:nvSpPr>
        <p:spPr>
          <a:xfrm>
            <a:off x="5532120" y="1280160"/>
            <a:ext cx="457200" cy="566928"/>
          </a:xfrm>
          <a:prstGeom prst="rect">
            <a:avLst/>
          </a:prstGeom>
          <a:noFill/>
        </p:spPr>
        <p:txBody>
          <a:bodyPr wrap="square" lIns="0" tIns="0" rIns="0" bIns="0" rtlCol="0" anchor="ctr"/>
          <a:lstStyle/>
          <a:p>
            <a:pPr marL="0" indent="0" algn="ctr">
              <a:buNone/>
            </a:pPr>
            <a:r>
              <a:rPr lang="en-US" sz="1600" dirty="0">
                <a:solidFill>
                  <a:srgbClr val="5B6B82"/>
                </a:solidFill>
              </a:rPr>
              <a:t>→</a:t>
            </a:r>
            <a:endParaRPr lang="en-US" sz="1600" dirty="0"/>
          </a:p>
        </p:txBody>
      </p:sp>
      <p:sp>
        <p:nvSpPr>
          <p:cNvPr id="6" name="Shape 4"/>
          <p:cNvSpPr/>
          <p:nvPr/>
        </p:nvSpPr>
        <p:spPr>
          <a:xfrm>
            <a:off x="6035040" y="1280160"/>
            <a:ext cx="5486400" cy="566928"/>
          </a:xfrm>
          <a:prstGeom prst="roundRect">
            <a:avLst>
              <a:gd name="adj" fmla="val 9677"/>
            </a:avLst>
          </a:prstGeom>
          <a:solidFill>
            <a:srgbClr val="0F2843"/>
          </a:solidFill>
        </p:spPr>
        <p:txBody>
          <a:bodyPr/>
          <a:p/>
        </p:txBody>
      </p:sp>
      <p:sp>
        <p:nvSpPr>
          <p:cNvPr id="7" name="Text 5"/>
          <p:cNvSpPr txBox="1"/>
          <p:nvPr/>
        </p:nvSpPr>
        <p:spPr>
          <a:xfrm>
            <a:off x="6263640" y="1280160"/>
            <a:ext cx="5029200" cy="566928"/>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Knowledge base indexes SOPs</a:t>
            </a:r>
            <a:endParaRPr lang="en-US" sz="1200" dirty="0"/>
          </a:p>
        </p:txBody>
      </p:sp>
      <p:sp>
        <p:nvSpPr>
          <p:cNvPr id="8" name="Shape 6"/>
          <p:cNvSpPr/>
          <p:nvPr/>
        </p:nvSpPr>
        <p:spPr>
          <a:xfrm>
            <a:off x="640080" y="1965960"/>
            <a:ext cx="4846320" cy="566928"/>
          </a:xfrm>
          <a:prstGeom prst="roundRect">
            <a:avLst>
              <a:gd name="adj" fmla="val 9677"/>
            </a:avLst>
          </a:prstGeom>
          <a:solidFill>
            <a:srgbClr val="FFFFFF"/>
          </a:solidFill>
          <a:ln w="12700">
            <a:solidFill>
              <a:srgbClr val="EEF2F7"/>
            </a:solidFill>
            <a:prstDash val="solid"/>
          </a:ln>
        </p:spPr>
        <p:txBody>
          <a:bodyPr/>
          <a:p/>
        </p:txBody>
      </p:sp>
      <p:sp>
        <p:nvSpPr>
          <p:cNvPr id="9" name="Text 7"/>
          <p:cNvSpPr txBox="1"/>
          <p:nvPr/>
        </p:nvSpPr>
        <p:spPr>
          <a:xfrm>
            <a:off x="868680" y="1965960"/>
            <a:ext cx="4389120" cy="566928"/>
          </a:xfrm>
          <a:prstGeom prst="rect">
            <a:avLst/>
          </a:prstGeom>
          <a:noFill/>
        </p:spPr>
        <p:txBody>
          <a:bodyPr wrap="square" lIns="0" tIns="0" rIns="0" bIns="0" rtlCol="0" anchor="ctr"/>
          <a:lstStyle/>
          <a:p>
            <a:pPr marL="0" indent="0">
              <a:buNone/>
            </a:pPr>
            <a:r>
              <a:rPr lang="en-US" sz="1200" dirty="0">
                <a:solidFill>
                  <a:srgbClr val="0F2843"/>
                </a:solidFill>
                <a:latin typeface="Calibri" panose="020F0502020204030204" pitchFamily="34" charset="0"/>
                <a:ea typeface="Calibri" panose="020F0502020204030204" pitchFamily="34" charset="-122"/>
                <a:cs typeface="Calibri" panose="020F0502020204030204" pitchFamily="34" charset="-120"/>
              </a:rPr>
              <a:t>You broke the goal into steps</a:t>
            </a:r>
            <a:endParaRPr lang="en-US" sz="1200" dirty="0"/>
          </a:p>
        </p:txBody>
      </p:sp>
      <p:sp>
        <p:nvSpPr>
          <p:cNvPr id="10" name="Text 8"/>
          <p:cNvSpPr txBox="1"/>
          <p:nvPr/>
        </p:nvSpPr>
        <p:spPr>
          <a:xfrm>
            <a:off x="5532120" y="1965960"/>
            <a:ext cx="457200" cy="566928"/>
          </a:xfrm>
          <a:prstGeom prst="rect">
            <a:avLst/>
          </a:prstGeom>
          <a:noFill/>
        </p:spPr>
        <p:txBody>
          <a:bodyPr wrap="square" lIns="0" tIns="0" rIns="0" bIns="0" rtlCol="0" anchor="ctr"/>
          <a:lstStyle/>
          <a:p>
            <a:pPr marL="0" indent="0" algn="ctr">
              <a:buNone/>
            </a:pPr>
            <a:r>
              <a:rPr lang="en-US" sz="1600" dirty="0">
                <a:solidFill>
                  <a:srgbClr val="5B6B82"/>
                </a:solidFill>
              </a:rPr>
              <a:t>→</a:t>
            </a:r>
            <a:endParaRPr lang="en-US" sz="1600" dirty="0"/>
          </a:p>
        </p:txBody>
      </p:sp>
      <p:sp>
        <p:nvSpPr>
          <p:cNvPr id="11" name="Shape 9"/>
          <p:cNvSpPr/>
          <p:nvPr/>
        </p:nvSpPr>
        <p:spPr>
          <a:xfrm>
            <a:off x="6035040" y="1965960"/>
            <a:ext cx="5486400" cy="566928"/>
          </a:xfrm>
          <a:prstGeom prst="roundRect">
            <a:avLst>
              <a:gd name="adj" fmla="val 9677"/>
            </a:avLst>
          </a:prstGeom>
          <a:solidFill>
            <a:srgbClr val="0F2843"/>
          </a:solidFill>
        </p:spPr>
        <p:txBody>
          <a:bodyPr/>
          <a:p/>
        </p:txBody>
      </p:sp>
      <p:sp>
        <p:nvSpPr>
          <p:cNvPr id="12" name="Text 10"/>
          <p:cNvSpPr txBox="1"/>
          <p:nvPr/>
        </p:nvSpPr>
        <p:spPr>
          <a:xfrm>
            <a:off x="6263640" y="1965960"/>
            <a:ext cx="5029200" cy="566928"/>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Workflow engine decomposes goals</a:t>
            </a:r>
            <a:endParaRPr lang="en-US" sz="1200" dirty="0"/>
          </a:p>
        </p:txBody>
      </p:sp>
      <p:sp>
        <p:nvSpPr>
          <p:cNvPr id="13" name="Shape 11"/>
          <p:cNvSpPr/>
          <p:nvPr/>
        </p:nvSpPr>
        <p:spPr>
          <a:xfrm>
            <a:off x="640080" y="2651760"/>
            <a:ext cx="4846320" cy="566928"/>
          </a:xfrm>
          <a:prstGeom prst="roundRect">
            <a:avLst>
              <a:gd name="adj" fmla="val 9677"/>
            </a:avLst>
          </a:prstGeom>
          <a:solidFill>
            <a:srgbClr val="FFFFFF"/>
          </a:solidFill>
          <a:ln w="12700">
            <a:solidFill>
              <a:srgbClr val="EEF2F7"/>
            </a:solidFill>
            <a:prstDash val="solid"/>
          </a:ln>
        </p:spPr>
        <p:txBody>
          <a:bodyPr/>
          <a:p/>
        </p:txBody>
      </p:sp>
      <p:sp>
        <p:nvSpPr>
          <p:cNvPr id="14" name="Text 12"/>
          <p:cNvSpPr txBox="1"/>
          <p:nvPr/>
        </p:nvSpPr>
        <p:spPr>
          <a:xfrm>
            <a:off x="868680" y="2651760"/>
            <a:ext cx="4389120" cy="566928"/>
          </a:xfrm>
          <a:prstGeom prst="rect">
            <a:avLst/>
          </a:prstGeom>
          <a:noFill/>
        </p:spPr>
        <p:txBody>
          <a:bodyPr wrap="square" lIns="0" tIns="0" rIns="0" bIns="0" rtlCol="0" anchor="ctr"/>
          <a:lstStyle/>
          <a:p>
            <a:pPr marL="0" indent="0">
              <a:buNone/>
            </a:pPr>
            <a:r>
              <a:rPr lang="en-US" sz="1200" dirty="0">
                <a:solidFill>
                  <a:srgbClr val="0F2843"/>
                </a:solidFill>
                <a:latin typeface="Calibri" panose="020F0502020204030204" pitchFamily="34" charset="0"/>
                <a:ea typeface="Calibri" panose="020F0502020204030204" pitchFamily="34" charset="-122"/>
                <a:cs typeface="Calibri" panose="020F0502020204030204" pitchFamily="34" charset="-120"/>
              </a:rPr>
              <a:t>You reasoned through the trade-off</a:t>
            </a:r>
            <a:endParaRPr lang="en-US" sz="1200" dirty="0"/>
          </a:p>
        </p:txBody>
      </p:sp>
      <p:sp>
        <p:nvSpPr>
          <p:cNvPr id="15" name="Text 13"/>
          <p:cNvSpPr txBox="1"/>
          <p:nvPr/>
        </p:nvSpPr>
        <p:spPr>
          <a:xfrm>
            <a:off x="5532120" y="2651760"/>
            <a:ext cx="457200" cy="566928"/>
          </a:xfrm>
          <a:prstGeom prst="rect">
            <a:avLst/>
          </a:prstGeom>
          <a:noFill/>
        </p:spPr>
        <p:txBody>
          <a:bodyPr wrap="square" lIns="0" tIns="0" rIns="0" bIns="0" rtlCol="0" anchor="ctr"/>
          <a:lstStyle/>
          <a:p>
            <a:pPr marL="0" indent="0" algn="ctr">
              <a:buNone/>
            </a:pPr>
            <a:r>
              <a:rPr lang="en-US" sz="1600" dirty="0">
                <a:solidFill>
                  <a:srgbClr val="5B6B82"/>
                </a:solidFill>
              </a:rPr>
              <a:t>→</a:t>
            </a:r>
            <a:endParaRPr lang="en-US" sz="1600" dirty="0"/>
          </a:p>
        </p:txBody>
      </p:sp>
      <p:sp>
        <p:nvSpPr>
          <p:cNvPr id="16" name="Shape 14"/>
          <p:cNvSpPr/>
          <p:nvPr/>
        </p:nvSpPr>
        <p:spPr>
          <a:xfrm>
            <a:off x="6035040" y="2651760"/>
            <a:ext cx="5486400" cy="566928"/>
          </a:xfrm>
          <a:prstGeom prst="roundRect">
            <a:avLst>
              <a:gd name="adj" fmla="val 9677"/>
            </a:avLst>
          </a:prstGeom>
          <a:solidFill>
            <a:srgbClr val="0F2843"/>
          </a:solidFill>
        </p:spPr>
        <p:txBody>
          <a:bodyPr/>
          <a:p/>
        </p:txBody>
      </p:sp>
      <p:sp>
        <p:nvSpPr>
          <p:cNvPr id="17" name="Text 15"/>
          <p:cNvSpPr txBox="1"/>
          <p:nvPr/>
        </p:nvSpPr>
        <p:spPr>
          <a:xfrm>
            <a:off x="6263640" y="2651760"/>
            <a:ext cx="5029200" cy="566928"/>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Agent reasons via ReAct loop</a:t>
            </a:r>
            <a:endParaRPr lang="en-US" sz="1200" dirty="0"/>
          </a:p>
        </p:txBody>
      </p:sp>
      <p:sp>
        <p:nvSpPr>
          <p:cNvPr id="18" name="Shape 16"/>
          <p:cNvSpPr/>
          <p:nvPr/>
        </p:nvSpPr>
        <p:spPr>
          <a:xfrm>
            <a:off x="640080" y="3337560"/>
            <a:ext cx="4846320" cy="566928"/>
          </a:xfrm>
          <a:prstGeom prst="roundRect">
            <a:avLst>
              <a:gd name="adj" fmla="val 9677"/>
            </a:avLst>
          </a:prstGeom>
          <a:solidFill>
            <a:srgbClr val="FFFFFF"/>
          </a:solidFill>
          <a:ln w="12700">
            <a:solidFill>
              <a:srgbClr val="EEF2F7"/>
            </a:solidFill>
            <a:prstDash val="solid"/>
          </a:ln>
        </p:spPr>
        <p:txBody>
          <a:bodyPr/>
          <a:p/>
        </p:txBody>
      </p:sp>
      <p:sp>
        <p:nvSpPr>
          <p:cNvPr id="19" name="Text 17"/>
          <p:cNvSpPr txBox="1"/>
          <p:nvPr/>
        </p:nvSpPr>
        <p:spPr>
          <a:xfrm>
            <a:off x="868680" y="3337560"/>
            <a:ext cx="4389120" cy="566928"/>
          </a:xfrm>
          <a:prstGeom prst="rect">
            <a:avLst/>
          </a:prstGeom>
          <a:noFill/>
        </p:spPr>
        <p:txBody>
          <a:bodyPr wrap="square" lIns="0" tIns="0" rIns="0" bIns="0" rtlCol="0" anchor="ctr"/>
          <a:lstStyle/>
          <a:p>
            <a:pPr marL="0" indent="0">
              <a:buNone/>
            </a:pPr>
            <a:r>
              <a:rPr lang="en-US" sz="1200" dirty="0">
                <a:solidFill>
                  <a:srgbClr val="0F2843"/>
                </a:solidFill>
                <a:latin typeface="Calibri" panose="020F0502020204030204" pitchFamily="34" charset="0"/>
                <a:ea typeface="Calibri" panose="020F0502020204030204" pitchFamily="34" charset="-122"/>
                <a:cs typeface="Calibri" panose="020F0502020204030204" pitchFamily="34" charset="-120"/>
              </a:rPr>
              <a:t>You checked if the plan made sense</a:t>
            </a:r>
            <a:endParaRPr lang="en-US" sz="1200" dirty="0"/>
          </a:p>
        </p:txBody>
      </p:sp>
      <p:sp>
        <p:nvSpPr>
          <p:cNvPr id="20" name="Text 18"/>
          <p:cNvSpPr txBox="1"/>
          <p:nvPr/>
        </p:nvSpPr>
        <p:spPr>
          <a:xfrm>
            <a:off x="5532120" y="3337560"/>
            <a:ext cx="457200" cy="566928"/>
          </a:xfrm>
          <a:prstGeom prst="rect">
            <a:avLst/>
          </a:prstGeom>
          <a:noFill/>
        </p:spPr>
        <p:txBody>
          <a:bodyPr wrap="square" lIns="0" tIns="0" rIns="0" bIns="0" rtlCol="0" anchor="ctr"/>
          <a:lstStyle/>
          <a:p>
            <a:pPr marL="0" indent="0" algn="ctr">
              <a:buNone/>
            </a:pPr>
            <a:r>
              <a:rPr lang="en-US" sz="1600" dirty="0">
                <a:solidFill>
                  <a:srgbClr val="5B6B82"/>
                </a:solidFill>
              </a:rPr>
              <a:t>→</a:t>
            </a:r>
            <a:endParaRPr lang="en-US" sz="1600" dirty="0"/>
          </a:p>
        </p:txBody>
      </p:sp>
      <p:sp>
        <p:nvSpPr>
          <p:cNvPr id="21" name="Shape 19"/>
          <p:cNvSpPr/>
          <p:nvPr/>
        </p:nvSpPr>
        <p:spPr>
          <a:xfrm>
            <a:off x="6035040" y="3337560"/>
            <a:ext cx="5486400" cy="566928"/>
          </a:xfrm>
          <a:prstGeom prst="roundRect">
            <a:avLst>
              <a:gd name="adj" fmla="val 9677"/>
            </a:avLst>
          </a:prstGeom>
          <a:solidFill>
            <a:srgbClr val="0F2843"/>
          </a:solidFill>
        </p:spPr>
        <p:txBody>
          <a:bodyPr/>
          <a:p/>
        </p:txBody>
      </p:sp>
      <p:sp>
        <p:nvSpPr>
          <p:cNvPr id="22" name="Text 20"/>
          <p:cNvSpPr txBox="1"/>
          <p:nvPr/>
        </p:nvSpPr>
        <p:spPr>
          <a:xfrm>
            <a:off x="6263640" y="3337560"/>
            <a:ext cx="5029200" cy="566928"/>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Evaluation tests decision quality</a:t>
            </a:r>
            <a:endParaRPr lang="en-US" sz="1200" dirty="0"/>
          </a:p>
        </p:txBody>
      </p:sp>
      <p:sp>
        <p:nvSpPr>
          <p:cNvPr id="23" name="Shape 21"/>
          <p:cNvSpPr/>
          <p:nvPr/>
        </p:nvSpPr>
        <p:spPr>
          <a:xfrm>
            <a:off x="640080" y="4023360"/>
            <a:ext cx="4846320" cy="566928"/>
          </a:xfrm>
          <a:prstGeom prst="roundRect">
            <a:avLst>
              <a:gd name="adj" fmla="val 9677"/>
            </a:avLst>
          </a:prstGeom>
          <a:solidFill>
            <a:srgbClr val="FFFFFF"/>
          </a:solidFill>
          <a:ln w="12700">
            <a:solidFill>
              <a:srgbClr val="EEF2F7"/>
            </a:solidFill>
            <a:prstDash val="solid"/>
          </a:ln>
        </p:spPr>
        <p:txBody>
          <a:bodyPr/>
          <a:p/>
        </p:txBody>
      </p:sp>
      <p:sp>
        <p:nvSpPr>
          <p:cNvPr id="24" name="Text 22"/>
          <p:cNvSpPr txBox="1"/>
          <p:nvPr/>
        </p:nvSpPr>
        <p:spPr>
          <a:xfrm>
            <a:off x="868680" y="4023360"/>
            <a:ext cx="4389120" cy="566928"/>
          </a:xfrm>
          <a:prstGeom prst="rect">
            <a:avLst/>
          </a:prstGeom>
          <a:noFill/>
        </p:spPr>
        <p:txBody>
          <a:bodyPr wrap="square" lIns="0" tIns="0" rIns="0" bIns="0" rtlCol="0" anchor="ctr"/>
          <a:lstStyle/>
          <a:p>
            <a:pPr marL="0" indent="0">
              <a:buNone/>
            </a:pPr>
            <a:r>
              <a:rPr lang="en-US" sz="1200" dirty="0">
                <a:solidFill>
                  <a:srgbClr val="0F2843"/>
                </a:solidFill>
                <a:latin typeface="Calibri" panose="020F0502020204030204" pitchFamily="34" charset="0"/>
                <a:ea typeface="Calibri" panose="020F0502020204030204" pitchFamily="34" charset="-122"/>
                <a:cs typeface="Calibri" panose="020F0502020204030204" pitchFamily="34" charset="-120"/>
              </a:rPr>
              <a:t>You gave the final order</a:t>
            </a:r>
            <a:endParaRPr lang="en-US" sz="1200" dirty="0"/>
          </a:p>
        </p:txBody>
      </p:sp>
      <p:sp>
        <p:nvSpPr>
          <p:cNvPr id="25" name="Text 23"/>
          <p:cNvSpPr txBox="1"/>
          <p:nvPr/>
        </p:nvSpPr>
        <p:spPr>
          <a:xfrm>
            <a:off x="5532120" y="4023360"/>
            <a:ext cx="457200" cy="566928"/>
          </a:xfrm>
          <a:prstGeom prst="rect">
            <a:avLst/>
          </a:prstGeom>
          <a:noFill/>
        </p:spPr>
        <p:txBody>
          <a:bodyPr wrap="square" lIns="0" tIns="0" rIns="0" bIns="0" rtlCol="0" anchor="ctr"/>
          <a:lstStyle/>
          <a:p>
            <a:pPr marL="0" indent="0" algn="ctr">
              <a:buNone/>
            </a:pPr>
            <a:r>
              <a:rPr lang="en-US" sz="1600" dirty="0">
                <a:solidFill>
                  <a:srgbClr val="5B6B82"/>
                </a:solidFill>
              </a:rPr>
              <a:t>→</a:t>
            </a:r>
            <a:endParaRPr lang="en-US" sz="1600" dirty="0"/>
          </a:p>
        </p:txBody>
      </p:sp>
      <p:sp>
        <p:nvSpPr>
          <p:cNvPr id="26" name="Shape 24"/>
          <p:cNvSpPr/>
          <p:nvPr/>
        </p:nvSpPr>
        <p:spPr>
          <a:xfrm>
            <a:off x="6035040" y="4023360"/>
            <a:ext cx="5486400" cy="566928"/>
          </a:xfrm>
          <a:prstGeom prst="roundRect">
            <a:avLst>
              <a:gd name="adj" fmla="val 9677"/>
            </a:avLst>
          </a:prstGeom>
          <a:solidFill>
            <a:srgbClr val="0F2843"/>
          </a:solidFill>
        </p:spPr>
        <p:txBody>
          <a:bodyPr/>
          <a:p/>
        </p:txBody>
      </p:sp>
      <p:sp>
        <p:nvSpPr>
          <p:cNvPr id="27" name="Text 25"/>
          <p:cNvSpPr txBox="1"/>
          <p:nvPr/>
        </p:nvSpPr>
        <p:spPr>
          <a:xfrm>
            <a:off x="6263640" y="4023360"/>
            <a:ext cx="5029200" cy="566928"/>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Integration executes &amp; enrolls via API</a:t>
            </a:r>
            <a:endParaRPr lang="en-US" sz="1200" dirty="0"/>
          </a:p>
        </p:txBody>
      </p:sp>
      <p:sp>
        <p:nvSpPr>
          <p:cNvPr id="28" name="Shape 26"/>
          <p:cNvSpPr/>
          <p:nvPr/>
        </p:nvSpPr>
        <p:spPr>
          <a:xfrm>
            <a:off x="640080" y="4800600"/>
            <a:ext cx="10881360" cy="777240"/>
          </a:xfrm>
          <a:prstGeom prst="roundRect">
            <a:avLst>
              <a:gd name="adj" fmla="val 7059"/>
            </a:avLst>
          </a:prstGeom>
          <a:solidFill>
            <a:srgbClr val="FFB627"/>
          </a:solidFill>
        </p:spPr>
        <p:txBody>
          <a:bodyPr/>
          <a:p/>
        </p:txBody>
      </p:sp>
      <p:sp>
        <p:nvSpPr>
          <p:cNvPr id="29" name="Text 27"/>
          <p:cNvSpPr txBox="1"/>
          <p:nvPr/>
        </p:nvSpPr>
        <p:spPr>
          <a:xfrm>
            <a:off x="914400" y="4800600"/>
            <a:ext cx="10332720" cy="777240"/>
          </a:xfrm>
          <a:prstGeom prst="rect">
            <a:avLst/>
          </a:prstGeom>
          <a:noFill/>
        </p:spPr>
        <p:txBody>
          <a:bodyPr wrap="square" lIns="0" tIns="0" rIns="0" bIns="0" rtlCol="0" anchor="ctr"/>
          <a:lstStyle/>
          <a:p>
            <a:pPr marL="0" indent="0">
              <a:lnSpc>
                <a:spcPct val="120000"/>
              </a:lnSpc>
              <a:buNone/>
            </a:pPr>
            <a:r>
              <a:rPr lang="en-US" sz="1300" b="1" dirty="0">
                <a:solidFill>
                  <a:srgbClr val="081527"/>
                </a:solidFill>
                <a:latin typeface="Calibri" panose="020F0502020204030204" pitchFamily="34" charset="0"/>
                <a:ea typeface="Calibri" panose="020F0502020204030204" pitchFamily="34" charset="-122"/>
                <a:cs typeface="Calibri" panose="020F0502020204030204" pitchFamily="34" charset="-120"/>
              </a:rPr>
              <a:t>First, you understood the process manually.</a:t>
            </a:r>
            <a:endParaRPr lang="en-US" sz="1300" dirty="0"/>
          </a:p>
          <a:p>
            <a:pPr marL="0" indent="0">
              <a:lnSpc>
                <a:spcPct val="120000"/>
              </a:lnSpc>
              <a:buNone/>
            </a:pPr>
            <a:r>
              <a:rPr lang="en-US" sz="1300" b="1" dirty="0">
                <a:solidFill>
                  <a:srgbClr val="081527"/>
                </a:solidFill>
                <a:latin typeface="Calibri" panose="020F0502020204030204" pitchFamily="34" charset="0"/>
                <a:ea typeface="Calibri" panose="020F0502020204030204" pitchFamily="34" charset="-122"/>
                <a:cs typeface="Calibri" panose="020F0502020204030204" pitchFamily="34" charset="-120"/>
              </a:rPr>
              <a:t>Now, the agent automates the same reasoning.</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515600" cy="640080"/>
          </a:xfrm>
          <a:prstGeom prst="rect">
            <a:avLst/>
          </a:prstGeom>
          <a:noFill/>
        </p:spPr>
        <p:txBody>
          <a:bodyPr wrap="square" lIns="0" tIns="0" rIns="0" bIns="0" rtlCol="0" anchor="ctr"/>
          <a:lstStyle/>
          <a:p>
            <a:pPr marL="0" indent="0">
              <a:buNone/>
            </a:pPr>
            <a:r>
              <a:rPr lang="en-US" sz="2700" b="1" i="1" dirty="0">
                <a:solidFill>
                  <a:srgbClr val="FFB627"/>
                </a:solidFill>
                <a:latin typeface="Cambria" panose="02040503050406030204" pitchFamily="34" charset="0"/>
                <a:ea typeface="Cambria" panose="02040503050406030204" pitchFamily="34" charset="-122"/>
                <a:cs typeface="Cambria" panose="02040503050406030204" pitchFamily="34" charset="-120"/>
              </a:rPr>
              <a:t>"Today, You Didn't Just Learn Agentic AI."</a:t>
            </a:r>
            <a:endParaRPr lang="en-US" sz="2700" dirty="0"/>
          </a:p>
        </p:txBody>
      </p:sp>
      <p:sp>
        <p:nvSpPr>
          <p:cNvPr id="3" name="Shape 1"/>
          <p:cNvSpPr/>
          <p:nvPr/>
        </p:nvSpPr>
        <p:spPr>
          <a:xfrm>
            <a:off x="640080" y="1371600"/>
            <a:ext cx="310896" cy="310896"/>
          </a:xfrm>
          <a:prstGeom prst="ellipse">
            <a:avLst/>
          </a:prstGeom>
          <a:solidFill>
            <a:srgbClr val="17263B"/>
          </a:solidFill>
          <a:ln w="15240">
            <a:solidFill>
              <a:srgbClr val="2A9D8F"/>
            </a:solidFill>
            <a:prstDash val="solid"/>
          </a:ln>
        </p:spPr>
        <p:txBody>
          <a:bodyPr/>
          <a:p/>
        </p:txBody>
      </p:sp>
      <p:sp>
        <p:nvSpPr>
          <p:cNvPr id="4" name="Text 2"/>
          <p:cNvSpPr txBox="1"/>
          <p:nvPr/>
        </p:nvSpPr>
        <p:spPr>
          <a:xfrm>
            <a:off x="640080" y="1371600"/>
            <a:ext cx="310896" cy="310896"/>
          </a:xfrm>
          <a:prstGeom prst="rect">
            <a:avLst/>
          </a:prstGeom>
          <a:noFill/>
        </p:spPr>
        <p:txBody>
          <a:bodyPr wrap="square" lIns="0" tIns="0" rIns="0" bIns="0" rtlCol="0" anchor="ctr"/>
          <a:lstStyle/>
          <a:p>
            <a:pPr marL="0" indent="0" algn="ctr">
              <a:buNone/>
            </a:pPr>
            <a:r>
              <a:rPr lang="en-US" sz="1300" b="1" dirty="0">
                <a:solidFill>
                  <a:srgbClr val="2A9D8F"/>
                </a:solidFill>
                <a:latin typeface="Calibri" panose="020F0502020204030204" pitchFamily="34" charset="0"/>
                <a:ea typeface="Calibri" panose="020F0502020204030204" pitchFamily="34" charset="-122"/>
                <a:cs typeface="Calibri" panose="020F0502020204030204" pitchFamily="34" charset="-120"/>
              </a:rPr>
              <a:t>✓</a:t>
            </a:r>
            <a:endParaRPr lang="en-US" sz="1300" dirty="0"/>
          </a:p>
        </p:txBody>
      </p:sp>
      <p:sp>
        <p:nvSpPr>
          <p:cNvPr id="5" name="Text 3"/>
          <p:cNvSpPr txBox="1"/>
          <p:nvPr/>
        </p:nvSpPr>
        <p:spPr>
          <a:xfrm>
            <a:off x="1097280" y="1353312"/>
            <a:ext cx="9875520" cy="347472"/>
          </a:xfrm>
          <a:prstGeom prst="rect">
            <a:avLst/>
          </a:prstGeom>
          <a:noFill/>
        </p:spPr>
        <p:txBody>
          <a:bodyPr wrap="square" lIns="0" tIns="0" rIns="0" bIns="0" rtlCol="0" anchor="ctr"/>
          <a:lstStyle/>
          <a:p>
            <a:pPr marL="0" indent="0">
              <a:buNone/>
            </a:pPr>
            <a:r>
              <a:rPr lang="en-US" sz="1300" dirty="0">
                <a:solidFill>
                  <a:srgbClr val="E3E9F2"/>
                </a:solidFill>
                <a:latin typeface="Calibri" panose="020F0502020204030204" pitchFamily="34" charset="0"/>
                <a:ea typeface="Calibri" panose="020F0502020204030204" pitchFamily="34" charset="-122"/>
                <a:cs typeface="Calibri" panose="020F0502020204030204" pitchFamily="34" charset="-120"/>
              </a:rPr>
              <a:t>You were the oncology tumor board lead</a:t>
            </a:r>
            <a:endParaRPr lang="en-US" sz="1300" dirty="0"/>
          </a:p>
        </p:txBody>
      </p:sp>
      <p:sp>
        <p:nvSpPr>
          <p:cNvPr id="6" name="Shape 4"/>
          <p:cNvSpPr/>
          <p:nvPr/>
        </p:nvSpPr>
        <p:spPr>
          <a:xfrm>
            <a:off x="640080" y="1828800"/>
            <a:ext cx="310896" cy="310896"/>
          </a:xfrm>
          <a:prstGeom prst="ellipse">
            <a:avLst/>
          </a:prstGeom>
          <a:solidFill>
            <a:srgbClr val="17263B"/>
          </a:solidFill>
          <a:ln w="15240">
            <a:solidFill>
              <a:srgbClr val="2A9D8F"/>
            </a:solidFill>
            <a:prstDash val="solid"/>
          </a:ln>
        </p:spPr>
        <p:txBody>
          <a:bodyPr/>
          <a:p/>
        </p:txBody>
      </p:sp>
      <p:sp>
        <p:nvSpPr>
          <p:cNvPr id="7" name="Text 5"/>
          <p:cNvSpPr txBox="1"/>
          <p:nvPr/>
        </p:nvSpPr>
        <p:spPr>
          <a:xfrm>
            <a:off x="640080" y="1828800"/>
            <a:ext cx="310896" cy="310896"/>
          </a:xfrm>
          <a:prstGeom prst="rect">
            <a:avLst/>
          </a:prstGeom>
          <a:noFill/>
        </p:spPr>
        <p:txBody>
          <a:bodyPr wrap="square" lIns="0" tIns="0" rIns="0" bIns="0" rtlCol="0" anchor="ctr"/>
          <a:lstStyle/>
          <a:p>
            <a:pPr marL="0" indent="0" algn="ctr">
              <a:buNone/>
            </a:pPr>
            <a:r>
              <a:rPr lang="en-US" sz="1300" b="1" dirty="0">
                <a:solidFill>
                  <a:srgbClr val="2A9D8F"/>
                </a:solidFill>
                <a:latin typeface="Calibri" panose="020F0502020204030204" pitchFamily="34" charset="0"/>
                <a:ea typeface="Calibri" panose="020F0502020204030204" pitchFamily="34" charset="-122"/>
                <a:cs typeface="Calibri" panose="020F0502020204030204" pitchFamily="34" charset="-120"/>
              </a:rPr>
              <a:t>✓</a:t>
            </a:r>
            <a:endParaRPr lang="en-US" sz="1300" dirty="0"/>
          </a:p>
        </p:txBody>
      </p:sp>
      <p:sp>
        <p:nvSpPr>
          <p:cNvPr id="8" name="Text 6"/>
          <p:cNvSpPr txBox="1"/>
          <p:nvPr/>
        </p:nvSpPr>
        <p:spPr>
          <a:xfrm>
            <a:off x="1097280" y="1810512"/>
            <a:ext cx="9875520" cy="347472"/>
          </a:xfrm>
          <a:prstGeom prst="rect">
            <a:avLst/>
          </a:prstGeom>
          <a:noFill/>
        </p:spPr>
        <p:txBody>
          <a:bodyPr wrap="square" lIns="0" tIns="0" rIns="0" bIns="0" rtlCol="0" anchor="ctr"/>
          <a:lstStyle/>
          <a:p>
            <a:pPr marL="0" indent="0">
              <a:buNone/>
            </a:pPr>
            <a:r>
              <a:rPr lang="en-US" sz="1300" dirty="0">
                <a:solidFill>
                  <a:srgbClr val="E3E9F2"/>
                </a:solidFill>
                <a:latin typeface="Calibri" panose="020F0502020204030204" pitchFamily="34" charset="0"/>
                <a:ea typeface="Calibri" panose="020F0502020204030204" pitchFamily="34" charset="-122"/>
                <a:cs typeface="Calibri" panose="020F0502020204030204" pitchFamily="34" charset="-120"/>
              </a:rPr>
              <a:t>You reasoned through competing priorities</a:t>
            </a:r>
            <a:endParaRPr lang="en-US" sz="1300" dirty="0"/>
          </a:p>
        </p:txBody>
      </p:sp>
      <p:sp>
        <p:nvSpPr>
          <p:cNvPr id="9" name="Shape 7"/>
          <p:cNvSpPr/>
          <p:nvPr/>
        </p:nvSpPr>
        <p:spPr>
          <a:xfrm>
            <a:off x="640080" y="2286000"/>
            <a:ext cx="310896" cy="310896"/>
          </a:xfrm>
          <a:prstGeom prst="ellipse">
            <a:avLst/>
          </a:prstGeom>
          <a:solidFill>
            <a:srgbClr val="17263B"/>
          </a:solidFill>
          <a:ln w="15240">
            <a:solidFill>
              <a:srgbClr val="2A9D8F"/>
            </a:solidFill>
            <a:prstDash val="solid"/>
          </a:ln>
        </p:spPr>
        <p:txBody>
          <a:bodyPr/>
          <a:p/>
        </p:txBody>
      </p:sp>
      <p:sp>
        <p:nvSpPr>
          <p:cNvPr id="10" name="Text 8"/>
          <p:cNvSpPr txBox="1"/>
          <p:nvPr/>
        </p:nvSpPr>
        <p:spPr>
          <a:xfrm>
            <a:off x="640080" y="2286000"/>
            <a:ext cx="310896" cy="310896"/>
          </a:xfrm>
          <a:prstGeom prst="rect">
            <a:avLst/>
          </a:prstGeom>
          <a:noFill/>
        </p:spPr>
        <p:txBody>
          <a:bodyPr wrap="square" lIns="0" tIns="0" rIns="0" bIns="0" rtlCol="0" anchor="ctr"/>
          <a:lstStyle/>
          <a:p>
            <a:pPr marL="0" indent="0" algn="ctr">
              <a:buNone/>
            </a:pPr>
            <a:r>
              <a:rPr lang="en-US" sz="1300" b="1" dirty="0">
                <a:solidFill>
                  <a:srgbClr val="2A9D8F"/>
                </a:solidFill>
                <a:latin typeface="Calibri" panose="020F0502020204030204" pitchFamily="34" charset="0"/>
                <a:ea typeface="Calibri" panose="020F0502020204030204" pitchFamily="34" charset="-122"/>
                <a:cs typeface="Calibri" panose="020F0502020204030204" pitchFamily="34" charset="-120"/>
              </a:rPr>
              <a:t>✓</a:t>
            </a:r>
            <a:endParaRPr lang="en-US" sz="1300" dirty="0"/>
          </a:p>
        </p:txBody>
      </p:sp>
      <p:sp>
        <p:nvSpPr>
          <p:cNvPr id="11" name="Text 9"/>
          <p:cNvSpPr txBox="1"/>
          <p:nvPr/>
        </p:nvSpPr>
        <p:spPr>
          <a:xfrm>
            <a:off x="1097280" y="2267712"/>
            <a:ext cx="9875520" cy="347472"/>
          </a:xfrm>
          <a:prstGeom prst="rect">
            <a:avLst/>
          </a:prstGeom>
          <a:noFill/>
        </p:spPr>
        <p:txBody>
          <a:bodyPr wrap="square" lIns="0" tIns="0" rIns="0" bIns="0" rtlCol="0" anchor="ctr"/>
          <a:lstStyle/>
          <a:p>
            <a:pPr marL="0" indent="0">
              <a:buNone/>
            </a:pPr>
            <a:r>
              <a:rPr lang="en-US" sz="1300" dirty="0">
                <a:solidFill>
                  <a:srgbClr val="E3E9F2"/>
                </a:solidFill>
                <a:latin typeface="Calibri" panose="020F0502020204030204" pitchFamily="34" charset="0"/>
                <a:ea typeface="Calibri" panose="020F0502020204030204" pitchFamily="34" charset="-122"/>
                <a:cs typeface="Calibri" panose="020F0502020204030204" pitchFamily="34" charset="-120"/>
              </a:rPr>
              <a:t>You built a ReAct reasoning loop</a:t>
            </a:r>
            <a:endParaRPr lang="en-US" sz="1300" dirty="0"/>
          </a:p>
        </p:txBody>
      </p:sp>
      <p:sp>
        <p:nvSpPr>
          <p:cNvPr id="12" name="Shape 10"/>
          <p:cNvSpPr/>
          <p:nvPr/>
        </p:nvSpPr>
        <p:spPr>
          <a:xfrm>
            <a:off x="640080" y="2743200"/>
            <a:ext cx="310896" cy="310896"/>
          </a:xfrm>
          <a:prstGeom prst="ellipse">
            <a:avLst/>
          </a:prstGeom>
          <a:solidFill>
            <a:srgbClr val="17263B"/>
          </a:solidFill>
          <a:ln w="15240">
            <a:solidFill>
              <a:srgbClr val="2A9D8F"/>
            </a:solidFill>
            <a:prstDash val="solid"/>
          </a:ln>
        </p:spPr>
        <p:txBody>
          <a:bodyPr/>
          <a:p/>
        </p:txBody>
      </p:sp>
      <p:sp>
        <p:nvSpPr>
          <p:cNvPr id="13" name="Text 11"/>
          <p:cNvSpPr txBox="1"/>
          <p:nvPr/>
        </p:nvSpPr>
        <p:spPr>
          <a:xfrm>
            <a:off x="640080" y="2743200"/>
            <a:ext cx="310896" cy="310896"/>
          </a:xfrm>
          <a:prstGeom prst="rect">
            <a:avLst/>
          </a:prstGeom>
          <a:noFill/>
        </p:spPr>
        <p:txBody>
          <a:bodyPr wrap="square" lIns="0" tIns="0" rIns="0" bIns="0" rtlCol="0" anchor="ctr"/>
          <a:lstStyle/>
          <a:p>
            <a:pPr marL="0" indent="0" algn="ctr">
              <a:buNone/>
            </a:pPr>
            <a:r>
              <a:rPr lang="en-US" sz="1300" b="1" dirty="0">
                <a:solidFill>
                  <a:srgbClr val="2A9D8F"/>
                </a:solidFill>
                <a:latin typeface="Calibri" panose="020F0502020204030204" pitchFamily="34" charset="0"/>
                <a:ea typeface="Calibri" panose="020F0502020204030204" pitchFamily="34" charset="-122"/>
                <a:cs typeface="Calibri" panose="020F0502020204030204" pitchFamily="34" charset="-120"/>
              </a:rPr>
              <a:t>✓</a:t>
            </a:r>
            <a:endParaRPr lang="en-US" sz="1300" dirty="0"/>
          </a:p>
        </p:txBody>
      </p:sp>
      <p:sp>
        <p:nvSpPr>
          <p:cNvPr id="14" name="Text 12"/>
          <p:cNvSpPr txBox="1"/>
          <p:nvPr/>
        </p:nvSpPr>
        <p:spPr>
          <a:xfrm>
            <a:off x="1097280" y="2724912"/>
            <a:ext cx="9875520" cy="347472"/>
          </a:xfrm>
          <a:prstGeom prst="rect">
            <a:avLst/>
          </a:prstGeom>
          <a:noFill/>
        </p:spPr>
        <p:txBody>
          <a:bodyPr wrap="square" lIns="0" tIns="0" rIns="0" bIns="0" rtlCol="0" anchor="ctr"/>
          <a:lstStyle/>
          <a:p>
            <a:pPr marL="0" indent="0">
              <a:buNone/>
            </a:pPr>
            <a:r>
              <a:rPr lang="en-US" sz="1300" dirty="0">
                <a:solidFill>
                  <a:srgbClr val="E3E9F2"/>
                </a:solidFill>
                <a:latin typeface="Calibri" panose="020F0502020204030204" pitchFamily="34" charset="0"/>
                <a:ea typeface="Calibri" panose="020F0502020204030204" pitchFamily="34" charset="-122"/>
                <a:cs typeface="Calibri" panose="020F0502020204030204" pitchFamily="34" charset="-120"/>
              </a:rPr>
              <a:t>You discovered why tools need a curated knowledge base</a:t>
            </a:r>
            <a:endParaRPr lang="en-US" sz="1300" dirty="0"/>
          </a:p>
        </p:txBody>
      </p:sp>
      <p:sp>
        <p:nvSpPr>
          <p:cNvPr id="15" name="Shape 13"/>
          <p:cNvSpPr/>
          <p:nvPr/>
        </p:nvSpPr>
        <p:spPr>
          <a:xfrm>
            <a:off x="640080" y="3200400"/>
            <a:ext cx="310896" cy="310896"/>
          </a:xfrm>
          <a:prstGeom prst="ellipse">
            <a:avLst/>
          </a:prstGeom>
          <a:solidFill>
            <a:srgbClr val="17263B"/>
          </a:solidFill>
          <a:ln w="15240">
            <a:solidFill>
              <a:srgbClr val="2A9D8F"/>
            </a:solidFill>
            <a:prstDash val="solid"/>
          </a:ln>
        </p:spPr>
        <p:txBody>
          <a:bodyPr/>
          <a:p/>
        </p:txBody>
      </p:sp>
      <p:sp>
        <p:nvSpPr>
          <p:cNvPr id="16" name="Text 14"/>
          <p:cNvSpPr txBox="1"/>
          <p:nvPr/>
        </p:nvSpPr>
        <p:spPr>
          <a:xfrm>
            <a:off x="640080" y="3200400"/>
            <a:ext cx="310896" cy="310896"/>
          </a:xfrm>
          <a:prstGeom prst="rect">
            <a:avLst/>
          </a:prstGeom>
          <a:noFill/>
        </p:spPr>
        <p:txBody>
          <a:bodyPr wrap="square" lIns="0" tIns="0" rIns="0" bIns="0" rtlCol="0" anchor="ctr"/>
          <a:lstStyle/>
          <a:p>
            <a:pPr marL="0" indent="0" algn="ctr">
              <a:buNone/>
            </a:pPr>
            <a:r>
              <a:rPr lang="en-US" sz="1300" b="1" dirty="0">
                <a:solidFill>
                  <a:srgbClr val="2A9D8F"/>
                </a:solidFill>
                <a:latin typeface="Calibri" panose="020F0502020204030204" pitchFamily="34" charset="0"/>
                <a:ea typeface="Calibri" panose="020F0502020204030204" pitchFamily="34" charset="-122"/>
                <a:cs typeface="Calibri" panose="020F0502020204030204" pitchFamily="34" charset="-120"/>
              </a:rPr>
              <a:t>✓</a:t>
            </a:r>
            <a:endParaRPr lang="en-US" sz="1300" dirty="0"/>
          </a:p>
        </p:txBody>
      </p:sp>
      <p:sp>
        <p:nvSpPr>
          <p:cNvPr id="17" name="Text 15"/>
          <p:cNvSpPr txBox="1"/>
          <p:nvPr/>
        </p:nvSpPr>
        <p:spPr>
          <a:xfrm>
            <a:off x="1097280" y="3182112"/>
            <a:ext cx="9875520" cy="347472"/>
          </a:xfrm>
          <a:prstGeom prst="rect">
            <a:avLst/>
          </a:prstGeom>
          <a:noFill/>
        </p:spPr>
        <p:txBody>
          <a:bodyPr wrap="square" lIns="0" tIns="0" rIns="0" bIns="0" rtlCol="0" anchor="ctr"/>
          <a:lstStyle/>
          <a:p>
            <a:pPr marL="0" indent="0">
              <a:buNone/>
            </a:pPr>
            <a:r>
              <a:rPr lang="en-US" sz="1300" dirty="0">
                <a:solidFill>
                  <a:srgbClr val="E3E9F2"/>
                </a:solidFill>
                <a:latin typeface="Calibri" panose="020F0502020204030204" pitchFamily="34" charset="0"/>
                <a:ea typeface="Calibri" panose="020F0502020204030204" pitchFamily="34" charset="-122"/>
                <a:cs typeface="Calibri" panose="020F0502020204030204" pitchFamily="34" charset="-120"/>
              </a:rPr>
              <a:t>You tested whether the agent could be trusted</a:t>
            </a:r>
            <a:endParaRPr lang="en-US" sz="1300" dirty="0"/>
          </a:p>
        </p:txBody>
      </p:sp>
      <p:sp>
        <p:nvSpPr>
          <p:cNvPr id="18" name="Shape 16"/>
          <p:cNvSpPr/>
          <p:nvPr/>
        </p:nvSpPr>
        <p:spPr>
          <a:xfrm>
            <a:off x="640080" y="3657600"/>
            <a:ext cx="310896" cy="310896"/>
          </a:xfrm>
          <a:prstGeom prst="ellipse">
            <a:avLst/>
          </a:prstGeom>
          <a:solidFill>
            <a:srgbClr val="17263B"/>
          </a:solidFill>
          <a:ln w="15240">
            <a:solidFill>
              <a:srgbClr val="2A9D8F"/>
            </a:solidFill>
            <a:prstDash val="solid"/>
          </a:ln>
        </p:spPr>
        <p:txBody>
          <a:bodyPr/>
          <a:p/>
        </p:txBody>
      </p:sp>
      <p:sp>
        <p:nvSpPr>
          <p:cNvPr id="19" name="Text 17"/>
          <p:cNvSpPr txBox="1"/>
          <p:nvPr/>
        </p:nvSpPr>
        <p:spPr>
          <a:xfrm>
            <a:off x="640080" y="3657600"/>
            <a:ext cx="310896" cy="310896"/>
          </a:xfrm>
          <a:prstGeom prst="rect">
            <a:avLst/>
          </a:prstGeom>
          <a:noFill/>
        </p:spPr>
        <p:txBody>
          <a:bodyPr wrap="square" lIns="0" tIns="0" rIns="0" bIns="0" rtlCol="0" anchor="ctr"/>
          <a:lstStyle/>
          <a:p>
            <a:pPr marL="0" indent="0" algn="ctr">
              <a:buNone/>
            </a:pPr>
            <a:r>
              <a:rPr lang="en-US" sz="1300" b="1" dirty="0">
                <a:solidFill>
                  <a:srgbClr val="2A9D8F"/>
                </a:solidFill>
                <a:latin typeface="Calibri" panose="020F0502020204030204" pitchFamily="34" charset="0"/>
                <a:ea typeface="Calibri" panose="020F0502020204030204" pitchFamily="34" charset="-122"/>
                <a:cs typeface="Calibri" panose="020F0502020204030204" pitchFamily="34" charset="-120"/>
              </a:rPr>
              <a:t>✓</a:t>
            </a:r>
            <a:endParaRPr lang="en-US" sz="1300" dirty="0"/>
          </a:p>
        </p:txBody>
      </p:sp>
      <p:sp>
        <p:nvSpPr>
          <p:cNvPr id="20" name="Text 18"/>
          <p:cNvSpPr txBox="1"/>
          <p:nvPr/>
        </p:nvSpPr>
        <p:spPr>
          <a:xfrm>
            <a:off x="1097280" y="3639312"/>
            <a:ext cx="9875520" cy="347472"/>
          </a:xfrm>
          <a:prstGeom prst="rect">
            <a:avLst/>
          </a:prstGeom>
          <a:noFill/>
        </p:spPr>
        <p:txBody>
          <a:bodyPr wrap="square" lIns="0" tIns="0" rIns="0" bIns="0" rtlCol="0" anchor="ctr"/>
          <a:lstStyle/>
          <a:p>
            <a:pPr marL="0" indent="0">
              <a:buNone/>
            </a:pPr>
            <a:r>
              <a:rPr lang="en-US" sz="1300" dirty="0">
                <a:solidFill>
                  <a:srgbClr val="E3E9F2"/>
                </a:solidFill>
                <a:latin typeface="Calibri" panose="020F0502020204030204" pitchFamily="34" charset="0"/>
                <a:ea typeface="Calibri" panose="020F0502020204030204" pitchFamily="34" charset="-122"/>
                <a:cs typeface="Calibri" panose="020F0502020204030204" pitchFamily="34" charset="-120"/>
              </a:rPr>
              <a:t>You saw how autonomous reasoning becomes a real clinical command system</a:t>
            </a:r>
            <a:endParaRPr lang="en-US" sz="1300" dirty="0"/>
          </a:p>
        </p:txBody>
      </p:sp>
      <p:sp>
        <p:nvSpPr>
          <p:cNvPr id="21" name="Shape 19"/>
          <p:cNvSpPr/>
          <p:nvPr/>
        </p:nvSpPr>
        <p:spPr>
          <a:xfrm>
            <a:off x="640080" y="4114800"/>
            <a:ext cx="310896" cy="310896"/>
          </a:xfrm>
          <a:prstGeom prst="ellipse">
            <a:avLst/>
          </a:prstGeom>
          <a:solidFill>
            <a:srgbClr val="17263B"/>
          </a:solidFill>
          <a:ln w="15240">
            <a:solidFill>
              <a:srgbClr val="2A9D8F"/>
            </a:solidFill>
            <a:prstDash val="solid"/>
          </a:ln>
        </p:spPr>
        <p:txBody>
          <a:bodyPr/>
          <a:p/>
        </p:txBody>
      </p:sp>
      <p:sp>
        <p:nvSpPr>
          <p:cNvPr id="22" name="Text 20"/>
          <p:cNvSpPr txBox="1"/>
          <p:nvPr/>
        </p:nvSpPr>
        <p:spPr>
          <a:xfrm>
            <a:off x="640080" y="4114800"/>
            <a:ext cx="310896" cy="310896"/>
          </a:xfrm>
          <a:prstGeom prst="rect">
            <a:avLst/>
          </a:prstGeom>
          <a:noFill/>
        </p:spPr>
        <p:txBody>
          <a:bodyPr wrap="square" lIns="0" tIns="0" rIns="0" bIns="0" rtlCol="0" anchor="ctr"/>
          <a:lstStyle/>
          <a:p>
            <a:pPr marL="0" indent="0" algn="ctr">
              <a:buNone/>
            </a:pPr>
            <a:r>
              <a:rPr lang="en-US" sz="1300" b="1" dirty="0">
                <a:solidFill>
                  <a:srgbClr val="2A9D8F"/>
                </a:solidFill>
                <a:latin typeface="Calibri" panose="020F0502020204030204" pitchFamily="34" charset="0"/>
                <a:ea typeface="Calibri" panose="020F0502020204030204" pitchFamily="34" charset="-122"/>
                <a:cs typeface="Calibri" panose="020F0502020204030204" pitchFamily="34" charset="-120"/>
              </a:rPr>
              <a:t>✓</a:t>
            </a:r>
            <a:endParaRPr lang="en-US" sz="1300" dirty="0"/>
          </a:p>
        </p:txBody>
      </p:sp>
      <p:sp>
        <p:nvSpPr>
          <p:cNvPr id="23" name="Text 21"/>
          <p:cNvSpPr txBox="1"/>
          <p:nvPr/>
        </p:nvSpPr>
        <p:spPr>
          <a:xfrm>
            <a:off x="1097280" y="4096512"/>
            <a:ext cx="9875520" cy="347472"/>
          </a:xfrm>
          <a:prstGeom prst="rect">
            <a:avLst/>
          </a:prstGeom>
          <a:noFill/>
        </p:spPr>
        <p:txBody>
          <a:bodyPr wrap="square" lIns="0" tIns="0" rIns="0" bIns="0" rtlCol="0" anchor="ctr"/>
          <a:lstStyle/>
          <a:p>
            <a:pPr marL="0" indent="0">
              <a:buNone/>
            </a:pPr>
            <a:r>
              <a:rPr lang="en-US" sz="1300" dirty="0">
                <a:solidFill>
                  <a:srgbClr val="E3E9F2"/>
                </a:solidFill>
                <a:latin typeface="Calibri" panose="020F0502020204030204" pitchFamily="34" charset="0"/>
                <a:ea typeface="Calibri" panose="020F0502020204030204" pitchFamily="34" charset="-122"/>
                <a:cs typeface="Calibri" panose="020F0502020204030204" pitchFamily="34" charset="-120"/>
              </a:rPr>
              <a:t>You decided when a human must stay in control</a:t>
            </a:r>
            <a:endParaRPr lang="en-US" sz="1300" dirty="0"/>
          </a:p>
        </p:txBody>
      </p:sp>
      <p:sp>
        <p:nvSpPr>
          <p:cNvPr id="24" name="Shape 22"/>
          <p:cNvSpPr/>
          <p:nvPr/>
        </p:nvSpPr>
        <p:spPr>
          <a:xfrm>
            <a:off x="640080" y="4709160"/>
            <a:ext cx="10881360" cy="914400"/>
          </a:xfrm>
          <a:prstGeom prst="roundRect">
            <a:avLst>
              <a:gd name="adj" fmla="val 6000"/>
            </a:avLst>
          </a:prstGeom>
          <a:solidFill>
            <a:srgbClr val="17263B"/>
          </a:solidFill>
        </p:spPr>
        <p:txBody>
          <a:bodyPr/>
          <a:p/>
        </p:txBody>
      </p:sp>
      <p:sp>
        <p:nvSpPr>
          <p:cNvPr id="25" name="Text 23"/>
          <p:cNvSpPr txBox="1"/>
          <p:nvPr/>
        </p:nvSpPr>
        <p:spPr>
          <a:xfrm>
            <a:off x="914400" y="4709160"/>
            <a:ext cx="10332720" cy="914400"/>
          </a:xfrm>
          <a:prstGeom prst="rect">
            <a:avLst/>
          </a:prstGeom>
          <a:noFill/>
        </p:spPr>
        <p:txBody>
          <a:bodyPr wrap="square" lIns="0" tIns="0" rIns="0" bIns="0" rtlCol="0" anchor="ctr"/>
          <a:lstStyle/>
          <a:p>
            <a:pPr marL="0" indent="0">
              <a:lnSpc>
                <a:spcPct val="125000"/>
              </a:lnSpc>
              <a:buNone/>
            </a:pPr>
            <a:r>
              <a:rPr lang="en-US" sz="1400" b="1" i="1" dirty="0">
                <a:solidFill>
                  <a:srgbClr val="FFFFFF"/>
                </a:solidFill>
                <a:latin typeface="Calibri" panose="020F0502020204030204" pitchFamily="34" charset="0"/>
                <a:ea typeface="Calibri" panose="020F0502020204030204" pitchFamily="34" charset="-122"/>
                <a:cs typeface="Calibri" panose="020F0502020204030204" pitchFamily="34" charset="-120"/>
              </a:rPr>
              <a:t>Agentic AI is not just calling an LLM in a loop.
</a:t>
            </a:r>
            <a:r>
              <a:rPr lang="en-US" sz="1400" b="1" i="1" dirty="0">
                <a:solidFill>
                  <a:srgbClr val="FFFFFF"/>
                </a:solidFill>
                <a:latin typeface="Calibri" panose="020F0502020204030204" pitchFamily="34" charset="0"/>
                <a:ea typeface="Calibri" panose="020F0502020204030204" pitchFamily="34" charset="-122"/>
                <a:cs typeface="Calibri" panose="020F0502020204030204" pitchFamily="34" charset="-120"/>
              </a:rPr>
              <a:t>It is a complete journey from raw judgment to a trustworthy autonomous system.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12447</Words>
  <Application>WPS Presentation</Application>
  <PresentationFormat>On-screen Show (16:9)</PresentationFormat>
  <Paragraphs>911</Paragraphs>
  <Slides>25</Slides>
  <Notes>25</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25</vt:i4>
      </vt:variant>
    </vt:vector>
  </HeadingPairs>
  <TitlesOfParts>
    <vt:vector size="37" baseType="lpstr">
      <vt:lpstr>Arial</vt:lpstr>
      <vt:lpstr>SimSun</vt:lpstr>
      <vt:lpstr>Wingdings</vt:lpstr>
      <vt:lpstr>Cambria</vt:lpstr>
      <vt:lpstr>Cambria</vt:lpstr>
      <vt:lpstr>Cambria</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 Precision Oncology Treatment Optimization</dc:title>
  <dc:creator>PptxGenJS</dc:creator>
  <dc:subject>Day 9 Agentic AI Lecture</dc:subject>
  <cp:lastModifiedBy>Nivatha selvan</cp:lastModifiedBy>
  <cp:revision>2</cp:revision>
  <dcterms:created xsi:type="dcterms:W3CDTF">2026-08-28T05:56:00Z</dcterms:created>
  <dcterms:modified xsi:type="dcterms:W3CDTF">2026-08-28T10:25:48Z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16F93AC6207842C299B5463D98A971D7_12</vt:lpwstr>
  </property>
  <property fmtid="{D5CDD505-2E9C-101B-9397-08002B2CF9AE}" pid="3" name="KSOProductBuildVer">
    <vt:lpwstr>1033-12.1.0.28032</vt:lpwstr>
  </property>
</Properties>
</file>
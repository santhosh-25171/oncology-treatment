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tone: this is a mission, not a lecture. Speak slowly, like a control-room briefing. Do not mention 'Deep Learning' by name yet — let the story carry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question out loud and pause. Let the room sit in the uncertainty for a few seconds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a real show-of-hands vote for A / B / C. Do not reveal which is truly ambiguous — the reveal comes naturally two slides later, on the ambiguous night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say 'no, numbers alone can't tell us' in their own words before you reveal the navy statement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example rows left to right before asking the closing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a quick vote (Benign / Atypical / Malignant) before revealing the red MALIGNANT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'ANN alone' and 'RNN alone' to one line each in discussion — they are context, not the lesson. The point is: our data has both images and sequences, so we need both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dwell equally on all eight — the point is 'a CNN is a stack of simple jobs.' Spend most of the time on cards 1, 2 and 4 (Convolution, Pooling, Fully Connected), since that's exactly the pipeline the class walks through two slides from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this pipeline live with the class — ask 'what happens next?' after each layer, the way you'd build a decision tree.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duplicate row and the missing/corrupted cells — let students name the problems before you label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back to Slide 16's messy table — this role fixes exactly what students just flagged.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argue both sides — 'false alarm' vs 'real malignancy' — before naming the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where 'training' finally gets a face — the DL Engineer, not magic.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analogy: memorizing exam answers vs actually understanding the subject.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mock is the payoff moment — this is what all five roles were building toward.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full chain slowly, left to right, top row then bottom row — this is the 'aha' recap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the vote, then transition straight into the live code / mini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bridge slide before opening the notebook for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students to say, in one sentence, which of the 5 DL roles they'd want to be on a real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48640"/>
            <a:ext cx="685800" cy="685800"/>
          </a:xfrm>
          <a:prstGeom prst="ellipse">
            <a:avLst/>
          </a:prstGeom>
          <a:solidFill>
            <a:srgbClr val="0F3D5C"/>
          </a:solidFill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10469880" y="530352"/>
            <a:ext cx="960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02920"/>
            <a:ext cx="777240" cy="777240"/>
          </a:xfrm>
          <a:prstGeom prst="ellipse">
            <a:avLst/>
          </a:prstGeom>
          <a:ln w="15875">
            <a:solidFill>
              <a:srgbClr val="FFB627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278892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DEEP </a:t>
            </a:r>
            <a:r>
              <a:rPr lang="en-US" sz="4800" b="1" dirty="0">
                <a:solidFill>
                  <a:srgbClr val="FFB6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LEARNING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370332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2 · Precision Oncology Treatment Optimization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TODAY'S 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9144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Six stages — from raw pathology slides to a working vision 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0241280" cy="585216"/>
          </a:xfrm>
          <a:prstGeom prst="roundRect">
            <a:avLst>
              <a:gd name="adj" fmla="val 10938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31520" y="1783080"/>
            <a:ext cx="402336" cy="402336"/>
          </a:xfrm>
          <a:prstGeom prst="ellipse">
            <a:avLst/>
          </a:prstGeom>
          <a:solidFill>
            <a:srgbClr val="FFB627"/>
          </a:solidFill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31520" y="178308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73736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Case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1737360"/>
            <a:ext cx="4343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numbers alone can't tell you what a tissue slide is showing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404872"/>
            <a:ext cx="10241280" cy="585216"/>
          </a:xfrm>
          <a:prstGeom prst="roundRect">
            <a:avLst>
              <a:gd name="adj" fmla="val 10938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31520" y="2496312"/>
            <a:ext cx="402336" cy="402336"/>
          </a:xfrm>
          <a:prstGeom prst="ellipse">
            <a:avLst/>
          </a:prstGeom>
          <a:solidFill>
            <a:srgbClr val="FFB627"/>
          </a:solidFill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31520" y="249631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450592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Deep Learning?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450592"/>
            <a:ext cx="4343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Learning visual &amp; temporal patterns directly from raw pixels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118104"/>
            <a:ext cx="10241280" cy="585216"/>
          </a:xfrm>
          <a:prstGeom prst="roundRect">
            <a:avLst>
              <a:gd name="adj" fmla="val 10938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31520" y="3209544"/>
            <a:ext cx="402336" cy="402336"/>
          </a:xfrm>
          <a:prstGeom prst="ellipse">
            <a:avLst/>
          </a:prstGeom>
          <a:solidFill>
            <a:srgbClr val="FFB627"/>
          </a:solidFill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31520" y="320954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163824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Types &amp; Architectures of DL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3163824"/>
            <a:ext cx="4343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ANN, CNN, RNN/LSTM — and what each is built for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831336"/>
            <a:ext cx="10241280" cy="585216"/>
          </a:xfrm>
          <a:prstGeom prst="roundRect">
            <a:avLst>
              <a:gd name="adj" fmla="val 10938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31520" y="3922776"/>
            <a:ext cx="402336" cy="402336"/>
          </a:xfrm>
          <a:prstGeom prst="ellipse">
            <a:avLst/>
          </a:prstGeom>
          <a:solidFill>
            <a:srgbClr val="FFB627"/>
          </a:solidFill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731520" y="392277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3877056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Meet the 5 DL Roles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3877056"/>
            <a:ext cx="4343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Engineer → EDA → DL → Evaluation → Integration Engineer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544568"/>
            <a:ext cx="10241280" cy="585216"/>
          </a:xfrm>
          <a:prstGeom prst="roundRect">
            <a:avLst>
              <a:gd name="adj" fmla="val 10938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31520" y="4636008"/>
            <a:ext cx="402336" cy="402336"/>
          </a:xfrm>
          <a:prstGeom prst="ellipse">
            <a:avLst/>
          </a:prstGeom>
          <a:solidFill>
            <a:srgbClr val="FFB627"/>
          </a:solidFill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731520" y="463600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4590288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Building &amp; Trusting the CNN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309360" y="4590288"/>
            <a:ext cx="4343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Walking the CNN pipeline together, then testing if it can be trusted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257800"/>
            <a:ext cx="10241280" cy="585216"/>
          </a:xfrm>
          <a:prstGeom prst="roundRect">
            <a:avLst>
              <a:gd name="adj" fmla="val 10938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731520" y="5349240"/>
            <a:ext cx="402336" cy="402336"/>
          </a:xfrm>
          <a:prstGeom prst="ellipse">
            <a:avLst/>
          </a:prstGeom>
          <a:solidFill>
            <a:srgbClr val="FFB627"/>
          </a:solidFill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731520" y="534924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325880" y="530352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Case &amp; Recap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309360" y="5303520"/>
            <a:ext cx="4343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Watch the trained model classify a pathology tile — then recap the journey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02920"/>
            <a:ext cx="640080" cy="640080"/>
          </a:xfrm>
          <a:prstGeom prst="ellipse">
            <a:avLst/>
          </a:prstGeom>
          <a:solidFill>
            <a:srgbClr val="0F3D5C"/>
          </a:solidFill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10469880" y="484632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🔬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31720"/>
            <a:ext cx="987552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CAN AN AI SPOT TUMOR PROGRESSION</a:t>
            </a:r>
            <a:endParaRPr lang="en-US" sz="3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BEFORE IT SPREADS?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37033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Learning through a Real Precision Oncology Case Study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6583680" cy="777240"/>
          </a:xfrm>
          <a:prstGeom prst="roundRect">
            <a:avLst>
              <a:gd name="adj" fmla="val 9412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868680" y="4343400"/>
            <a:ext cx="6126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Today, you are not just students.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are the AI Oncology Vision Team.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Case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22960" y="1591056"/>
            <a:ext cx="502920" cy="502920"/>
          </a:xfrm>
          <a:prstGeom prst="ellipse">
            <a:avLst/>
          </a:prstGeom>
          <a:solidFill>
            <a:srgbClr val="0F3D5C"/>
          </a:solidFill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572768"/>
            <a:ext cx="777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🔬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536192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Histopathology Slide Scanner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47088"/>
            <a:ext cx="4480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Digitizing tissue biopsy slides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22960" y="2551176"/>
            <a:ext cx="502920" cy="502920"/>
          </a:xfrm>
          <a:prstGeom prst="ellipse">
            <a:avLst/>
          </a:prstGeom>
          <a:solidFill>
            <a:srgbClr val="0F3D5C"/>
          </a:solidFill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85800" y="2532888"/>
            <a:ext cx="777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🧫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496312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Stain Variation, Artifacts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807208"/>
            <a:ext cx="4480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Different labs, different staining protocols, scanner noise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38328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22960" y="3511296"/>
            <a:ext cx="502920" cy="502920"/>
          </a:xfrm>
          <a:prstGeom prst="ellipse">
            <a:avLst/>
          </a:prstGeom>
          <a:solidFill>
            <a:srgbClr val="0F3D5C"/>
          </a:solidFill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85800" y="3493008"/>
            <a:ext cx="777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🩻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456432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Radiological Scans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767328"/>
            <a:ext cx="4480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MRI/CT series, wide anatomical coverage but slow to update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434340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22960" y="4471416"/>
            <a:ext cx="502920" cy="502920"/>
          </a:xfrm>
          <a:prstGeom prst="ellipse">
            <a:avLst/>
          </a:prstGeom>
          <a:solidFill>
            <a:srgbClr val="0F3D5C"/>
          </a:solidFill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85800" y="4453128"/>
            <a:ext cx="777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🩺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4416552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Oncologist Waiting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727448"/>
            <a:ext cx="4480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Need a fast, reliable read on tumor progression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92240" y="1554480"/>
            <a:ext cx="5074920" cy="1280160"/>
          </a:xfrm>
          <a:prstGeom prst="roundRect">
            <a:avLst>
              <a:gd name="adj" fmla="val 5714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6720840" y="1554480"/>
            <a:ext cx="461772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have thousands of tissue tiles and scan slices arriving every day.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ones actually show malignant progression?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Which Tile Would You Flag as Malignant?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2A9D8F"/>
          </a:solidFill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TILE 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24612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2788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STAIN QUALITY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04872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Clean, well-stained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770632"/>
            <a:ext cx="2788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CELL PATTERN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026664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Regular, uniform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392424"/>
            <a:ext cx="2788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MALIGNANCY SIGNS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648456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None visible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06240" y="1371600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E63946"/>
          </a:solidFill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4206240" y="137160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TILE B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206240" y="1965960"/>
            <a:ext cx="324612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4434840" y="2148840"/>
            <a:ext cx="2788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STAIN QUALITY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434840" y="2404872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Clean, well-stained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434840" y="2770632"/>
            <a:ext cx="2788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CELL PATTERN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434840" y="3026664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Regular, uniform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434840" y="3392424"/>
            <a:ext cx="2788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MALIGNANCY SIGNS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434840" y="3648456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Clear atypia present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1371600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B8860B"/>
          </a:solidFill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7772400" y="137160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TILE C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772400" y="1965960"/>
            <a:ext cx="324612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8001000" y="2148840"/>
            <a:ext cx="2788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STAIN QUALITY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001000" y="2404872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Faded, artifact-heavy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001000" y="2770632"/>
            <a:ext cx="2788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CELL PATTERN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001000" y="3026664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Blurred, overlapping cells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001000" y="3392424"/>
            <a:ext cx="2788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MALIGNANCY SIGNS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8001000" y="3648456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Uncertain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434340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868680" y="4343400"/>
            <a:ext cx="10424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pairs, vote A, B, or C — which tile is actually malignant?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REAL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32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Can lab values and biomarker numbers alone tell us</a:t>
            </a: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32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a tissue slide is actually showing?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4688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2468880" cy="68580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Millions of pixels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2103120"/>
            <a:ext cx="228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46120" y="2103120"/>
            <a:ext cx="24688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246120" y="2103120"/>
            <a:ext cx="2468880" cy="68580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single tile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715000" y="2103120"/>
            <a:ext cx="228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0" y="2103120"/>
            <a:ext cx="24688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5943600" y="2103120"/>
            <a:ext cx="2468880" cy="68580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Changing stains &amp; scanners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2103120"/>
            <a:ext cx="228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641080" y="2103120"/>
            <a:ext cx="24688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641080" y="2103120"/>
            <a:ext cx="2468880" cy="68580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Need for instant identification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777240" y="320040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need a system that can learn directly from raw images —</a:t>
            </a:r>
            <a:endParaRPr lang="en-US" sz="16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is where Deep Learning enters the story.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3434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Yesterday's model only understood numbers. It never saw a single pixel.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Deep Learning?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331720" cy="822960"/>
          </a:xfrm>
          <a:prstGeom prst="roundRect">
            <a:avLst>
              <a:gd name="adj" fmla="val 7778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PIXELS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971800" y="1188720"/>
            <a:ext cx="457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429000" y="1188720"/>
            <a:ext cx="2331720" cy="822960"/>
          </a:xfrm>
          <a:prstGeom prst="roundRect">
            <a:avLst>
              <a:gd name="adj" fmla="val 7778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3429000" y="1188720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 VISUAL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PATTERNS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1188720"/>
            <a:ext cx="457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17920" y="1188720"/>
            <a:ext cx="2331720" cy="822960"/>
          </a:xfrm>
          <a:prstGeom prst="roundRect">
            <a:avLst>
              <a:gd name="adj" fmla="val 7778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217920" y="1188720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TILE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549640" y="1188720"/>
            <a:ext cx="457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006840" y="1188720"/>
            <a:ext cx="2331720" cy="822960"/>
          </a:xfrm>
          <a:prstGeom prst="roundRect">
            <a:avLst>
              <a:gd name="adj" fmla="val 7778"/>
            </a:avLst>
          </a:prstGeom>
          <a:solidFill>
            <a:srgbClr val="FFB627"/>
          </a:solidFill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9006840" y="1188720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LABEL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24028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Learning means teaching a network of artificial neurons to find its own patterns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directly in images, scans, or sequences — no hand-crafted rules needed.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063240"/>
            <a:ext cx="10607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868680" y="306324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Normal tissue architecture — no atypia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321040" y="3136392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2A9D8F"/>
          </a:solidFill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8321040" y="313639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BENIGN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685032"/>
            <a:ext cx="10607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68680" y="3685032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Mild nuclear atypia, some crowding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321040" y="3758184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B8860B"/>
          </a:solidFill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8321040" y="3758184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ATYPICAL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306824"/>
            <a:ext cx="10607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868680" y="4306824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Dense malignant clusters, disrupted architecture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321040" y="4379976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E63946"/>
          </a:solidFill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8321040" y="4379976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MALIGNANT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5074920"/>
            <a:ext cx="10607040" cy="594360"/>
          </a:xfrm>
          <a:prstGeom prst="roundRect">
            <a:avLst>
              <a:gd name="adj" fmla="val 12308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868680" y="5074920"/>
            <a:ext cx="10149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a new tile looks similar to the Malignant examples, what should the model predict?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FIRST PREDICTION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New Tile Incoming...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120640" cy="640080"/>
          </a:xfrm>
          <a:prstGeom prst="roundRect">
            <a:avLst>
              <a:gd name="adj" fmla="val 7143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146304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Stain Quality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46304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Faded, artifact-heavy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5120640" cy="640080"/>
          </a:xfrm>
          <a:prstGeom prst="roundRect">
            <a:avLst>
              <a:gd name="adj" fmla="val 7143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68680" y="224028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Cell Density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224028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High, overlapping nuclei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5120640" cy="640080"/>
          </a:xfrm>
          <a:prstGeom prst="roundRect">
            <a:avLst>
              <a:gd name="adj" fmla="val 7143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68680" y="301752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ctDNA Trend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301752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Rising, 3 readings up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97764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 = ???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1463040"/>
            <a:ext cx="5394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Based on past examples,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predict: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214884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E63946"/>
          </a:solidFill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126480" y="2148840"/>
            <a:ext cx="5394960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🚨 MALIGNANT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640080" y="47091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868680" y="4709160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just performed the basic idea of Deep Learning:</a:t>
            </a:r>
            <a:endParaRPr lang="en-US" sz="13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 from thousands of past tiles → Predict a new tile.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Types of Deep Learning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different architectures — before we pick the ones for our oncology project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744200" cy="502920"/>
          </a:xfrm>
          <a:prstGeom prst="rect">
            <a:avLst/>
          </a:prstGeom>
          <a:solidFill>
            <a:srgbClr val="132A45"/>
          </a:solidFill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2880360" y="1371600"/>
            <a:ext cx="3429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37160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CNN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89720" y="1371600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RNN / LSTM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10744200" cy="64008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85800" y="187452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given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971800" y="1874520"/>
            <a:ext cx="3246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Structured, tabular signals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(labs, vitals, dosage)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874520"/>
            <a:ext cx="2697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 histopathology &amp; scan images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281160" y="187452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Sequences over time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514600"/>
            <a:ext cx="10744200" cy="640080"/>
          </a:xfrm>
          <a:prstGeom prst="rect">
            <a:avLst/>
          </a:prstGeom>
          <a:solidFill>
            <a:srgbClr val="E3E9F2"/>
          </a:solidFill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85800" y="251460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learns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971800" y="2514600"/>
            <a:ext cx="3246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Basic layered network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neurons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514600"/>
            <a:ext cx="2697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Scans images in small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patches for visual patterns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251460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Remembers order, learns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sequences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154680"/>
            <a:ext cx="10744200" cy="64008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685800" y="315468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oncology example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2971800" y="3154680"/>
            <a:ext cx="3246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Labs + vitals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basic toxicity risk score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3154680"/>
            <a:ext cx="2697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Pathology tile →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Malignant or Benign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315468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ctDNA level, last 6 readings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next reading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794760"/>
            <a:ext cx="10744200" cy="640080"/>
          </a:xfrm>
          <a:prstGeom prst="rect">
            <a:avLst/>
          </a:prstGeom>
          <a:solidFill>
            <a:srgbClr val="E3E9F2"/>
          </a:solidFill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685800" y="379476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in our project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2971800" y="3794760"/>
            <a:ext cx="3246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3794760"/>
            <a:ext cx="2697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Yes — our approach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281160" y="379476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Yes — our approach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617720"/>
            <a:ext cx="10744200" cy="594360"/>
          </a:xfrm>
          <a:prstGeom prst="roundRect">
            <a:avLst>
              <a:gd name="adj" fmla="val 12308"/>
            </a:avLst>
          </a:prstGeom>
          <a:solidFill>
            <a:srgbClr val="FFB627"/>
          </a:solidFill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777240" y="4617720"/>
            <a:ext cx="10287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oncology project uses CNN for images and LSTM/Transformer for time-series — because we have both tissue slides and biomarker sequences.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32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CNN vs RNN/LSTM — Same Oncology Project, Different Data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key difference: is the input a single image, or a sequence over time?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029200" cy="365760"/>
          </a:xfrm>
          <a:prstGeom prst="roundRect">
            <a:avLst>
              <a:gd name="adj" fmla="val 50000"/>
            </a:avLst>
          </a:prstGeom>
          <a:solidFill>
            <a:srgbClr val="2A9D8F"/>
          </a:solidFill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🟢 CNN — SINGLE IMAGE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554480" cy="320040"/>
          </a:xfrm>
          <a:prstGeom prst="rect">
            <a:avLst/>
          </a:prstGeom>
          <a:solidFill>
            <a:srgbClr val="132A45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Tile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03120" y="1828800"/>
            <a:ext cx="1920240" cy="320040"/>
          </a:xfrm>
          <a:prstGeom prst="rect">
            <a:avLst/>
          </a:prstGeom>
          <a:solidFill>
            <a:srgbClr val="132A45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2103120" y="182880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Atypical Cells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23360" y="1828800"/>
            <a:ext cx="1554480" cy="320040"/>
          </a:xfrm>
          <a:prstGeom prst="rect">
            <a:avLst/>
          </a:prstGeom>
          <a:solidFill>
            <a:srgbClr val="132A45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023360" y="182880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Label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15544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48640" y="214884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Tile_01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103120" y="2148840"/>
            <a:ext cx="19202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2103120" y="214884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023360" y="2148840"/>
            <a:ext cx="15544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4023360" y="214884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Benign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2468880"/>
            <a:ext cx="15544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548640" y="246888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Tile_02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03120" y="2468880"/>
            <a:ext cx="19202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2103120" y="246888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Mild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023360" y="2468880"/>
            <a:ext cx="15544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4023360" y="246888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Atypical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8640" y="2788920"/>
            <a:ext cx="15544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548640" y="278892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Tile_03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103120" y="2788920"/>
            <a:ext cx="19202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2103120" y="278892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Clear atypia present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023360" y="2788920"/>
            <a:ext cx="15544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4023360" y="278892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Malignant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32461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 IMAGE → CNN SCANS SPATIAL PATTERNS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3566160"/>
            <a:ext cx="5029200" cy="594360"/>
          </a:xfrm>
          <a:prstGeom prst="roundRect">
            <a:avLst>
              <a:gd name="adj" fmla="val 12308"/>
            </a:avLst>
          </a:prstGeom>
          <a:solidFill>
            <a:srgbClr val="2A9D8F"/>
          </a:solidFill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777240" y="3566160"/>
            <a:ext cx="4572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TILE (faded stain)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Model predicts: MALIGNANT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1325880"/>
            <a:ext cx="5029200" cy="365760"/>
          </a:xfrm>
          <a:prstGeom prst="roundRect">
            <a:avLst>
              <a:gd name="adj" fmla="val 50000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34" name="Text 32"/>
          <p:cNvSpPr txBox="1"/>
          <p:nvPr/>
        </p:nvSpPr>
        <p:spPr>
          <a:xfrm>
            <a:off x="6309360" y="13258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🔵 RNN/LSTM — SEQUENCE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09360" y="1828800"/>
            <a:ext cx="1737360" cy="320040"/>
          </a:xfrm>
          <a:prstGeom prst="rect">
            <a:avLst/>
          </a:prstGeom>
          <a:solidFill>
            <a:srgbClr val="132A45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6309360" y="182880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Reading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046720" y="1828800"/>
            <a:ext cx="3291840" cy="320040"/>
          </a:xfrm>
          <a:prstGeom prst="rect">
            <a:avLst/>
          </a:prstGeom>
          <a:solidFill>
            <a:srgbClr val="132A45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 txBox="1"/>
          <p:nvPr/>
        </p:nvSpPr>
        <p:spPr>
          <a:xfrm>
            <a:off x="8046720" y="182880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ctDNA (ng/mL)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309360" y="2148840"/>
            <a:ext cx="1737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 txBox="1"/>
          <p:nvPr/>
        </p:nvSpPr>
        <p:spPr>
          <a:xfrm>
            <a:off x="6309360" y="2148840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R-4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046720" y="2148840"/>
            <a:ext cx="32918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 txBox="1"/>
          <p:nvPr/>
        </p:nvSpPr>
        <p:spPr>
          <a:xfrm>
            <a:off x="8046720" y="2148840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1.2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309360" y="2404872"/>
            <a:ext cx="1737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 txBox="1"/>
          <p:nvPr/>
        </p:nvSpPr>
        <p:spPr>
          <a:xfrm>
            <a:off x="6309360" y="2404872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R-3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046720" y="2404872"/>
            <a:ext cx="32918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 txBox="1"/>
          <p:nvPr/>
        </p:nvSpPr>
        <p:spPr>
          <a:xfrm>
            <a:off x="8046720" y="2404872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1.8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309360" y="2660904"/>
            <a:ext cx="1737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 txBox="1"/>
          <p:nvPr/>
        </p:nvSpPr>
        <p:spPr>
          <a:xfrm>
            <a:off x="6309360" y="2660904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R-2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046720" y="2660904"/>
            <a:ext cx="32918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 txBox="1"/>
          <p:nvPr/>
        </p:nvSpPr>
        <p:spPr>
          <a:xfrm>
            <a:off x="8046720" y="2660904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2.6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309360" y="2916936"/>
            <a:ext cx="1737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 txBox="1"/>
          <p:nvPr/>
        </p:nvSpPr>
        <p:spPr>
          <a:xfrm>
            <a:off x="6309360" y="2916936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R-1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8046720" y="2916936"/>
            <a:ext cx="32918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 txBox="1"/>
          <p:nvPr/>
        </p:nvSpPr>
        <p:spPr>
          <a:xfrm>
            <a:off x="8046720" y="2916936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309360" y="3172968"/>
            <a:ext cx="1737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 txBox="1"/>
          <p:nvPr/>
        </p:nvSpPr>
        <p:spPr>
          <a:xfrm>
            <a:off x="6309360" y="3172968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Now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8046720" y="3172968"/>
            <a:ext cx="32918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 txBox="1"/>
          <p:nvPr/>
        </p:nvSpPr>
        <p:spPr>
          <a:xfrm>
            <a:off x="8046720" y="3172968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4.3</a:t>
            </a:r>
            <a:endParaRPr lang="en-US" sz="850" dirty="0"/>
          </a:p>
        </p:txBody>
      </p:sp>
      <p:sp>
        <p:nvSpPr>
          <p:cNvPr id="59" name="Text 57"/>
          <p:cNvSpPr txBox="1"/>
          <p:nvPr/>
        </p:nvSpPr>
        <p:spPr>
          <a:xfrm>
            <a:off x="6309360" y="356616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3D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SEQUENCE OVER TIME → LSTM LEARNS THE TREND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309360" y="3886200"/>
            <a:ext cx="5029200" cy="594360"/>
          </a:xfrm>
          <a:prstGeom prst="roundRect">
            <a:avLst>
              <a:gd name="adj" fmla="val 12308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61" name="Text 59"/>
          <p:cNvSpPr txBox="1"/>
          <p:nvPr/>
        </p:nvSpPr>
        <p:spPr>
          <a:xfrm>
            <a:off x="6537960" y="3886200"/>
            <a:ext cx="4572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 READING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Model predicts: 5.1 ng/mL, rising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48640" y="5989320"/>
            <a:ext cx="10835640" cy="457200"/>
          </a:xfrm>
          <a:prstGeom prst="roundRect">
            <a:avLst>
              <a:gd name="adj" fmla="val 16000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63" name="Text 61"/>
          <p:cNvSpPr txBox="1"/>
          <p:nvPr/>
        </p:nvSpPr>
        <p:spPr>
          <a:xfrm>
            <a:off x="777240" y="5989320"/>
            <a:ext cx="10378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CNN = LEARN SPATIAL PATTERNS IN ONE IMAGE   |   RNN/LSTM = LEARN PATTERNS ACROSS TIME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2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 We Have Both Images AND Time-Series Data?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we already have both kinds of data in our project?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035040" cy="50292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77240" y="1600200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Histopathology slides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160020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6035040" cy="502920"/>
          </a:xfrm>
          <a:prstGeom prst="rect">
            <a:avLst/>
          </a:prstGeom>
          <a:solidFill>
            <a:srgbClr val="E3E9F2"/>
          </a:solidFill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77240" y="2103120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Radiology scans (MRI/CT)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10312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6035040" cy="50292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77240" y="2606040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ctDNA/biomarker readings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60604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Sequence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291840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9D8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YES.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949440" y="1051560"/>
            <a:ext cx="4572000" cy="3108960"/>
          </a:xfrm>
          <a:prstGeom prst="roundRect">
            <a:avLst>
              <a:gd name="adj" fmla="val 2353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178040" y="1280160"/>
            <a:ext cx="502920" cy="502920"/>
          </a:xfrm>
          <a:prstGeom prst="ellipse">
            <a:avLst/>
          </a:prstGeom>
          <a:solidFill>
            <a:srgbClr val="0F3D5C"/>
          </a:solidFill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7040880" y="1261872"/>
            <a:ext cx="777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📘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818120" y="132588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CNN + LSTM TOGETHER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1874520"/>
            <a:ext cx="4023360" cy="2148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have both tissue images and time-ordered biomarker readings.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Images need CNN.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 needs LSTM/Transformer.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Alone, neither model can do the other's job.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526280"/>
            <a:ext cx="10972800" cy="640080"/>
          </a:xfrm>
          <a:prstGeom prst="roundRect">
            <a:avLst>
              <a:gd name="adj" fmla="val 11429"/>
            </a:avLst>
          </a:prstGeom>
          <a:solidFill>
            <a:srgbClr val="FFB627"/>
          </a:solidFill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777240" y="45262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oncology project uses CNN + LSTM/Transformer together — vision confirms the current tumor state, the sequence model predicts the trajectory.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32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CNN — Layers &amp; Architectures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pathology tiles • Layer by layer • Different jobs in the pipeline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0744200" cy="365760"/>
          </a:xfrm>
          <a:prstGeom prst="roundRect">
            <a:avLst>
              <a:gd name="adj" fmla="val 50000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0744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🔬 SAME PATHOLOGY TILE:  Tissue Patch  →  Predict MALIGNANT or BENIGN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57860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FFB627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85800" y="1874520"/>
            <a:ext cx="320040" cy="320040"/>
          </a:xfrm>
          <a:prstGeom prst="ellipse">
            <a:avLst/>
          </a:prstGeom>
          <a:solidFill>
            <a:srgbClr val="132A45"/>
          </a:solidFill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187452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624328" y="18288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🔲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267712"/>
            <a:ext cx="230428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Convolution Layer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578608"/>
            <a:ext cx="230428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Slides small filters across the image to detect edges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36976" y="1737360"/>
            <a:ext cx="257860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FFB627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374136" y="1874520"/>
            <a:ext cx="320040" cy="320040"/>
          </a:xfrm>
          <a:prstGeom prst="ellipse">
            <a:avLst/>
          </a:prstGeom>
          <a:solidFill>
            <a:srgbClr val="132A45"/>
          </a:solidFill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3374136" y="187452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312664" y="18288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🔽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374136" y="2267712"/>
            <a:ext cx="230428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Pooling Layer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374136" y="2578608"/>
            <a:ext cx="230428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Shrinks the image, keeping only the strongest signals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25312" y="1737360"/>
            <a:ext cx="257860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062472" y="1874520"/>
            <a:ext cx="320040" cy="320040"/>
          </a:xfrm>
          <a:prstGeom prst="ellipse">
            <a:avLst/>
          </a:prstGeom>
          <a:solidFill>
            <a:srgbClr val="132A45"/>
          </a:solidFill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062472" y="187452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001000" y="18288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062472" y="2267712"/>
            <a:ext cx="230428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ReLU Activation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062472" y="2578608"/>
            <a:ext cx="230428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Keeps only meaningful, non-negative signals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613648" y="1737360"/>
            <a:ext cx="257860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FFB627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750808" y="1874520"/>
            <a:ext cx="320040" cy="320040"/>
          </a:xfrm>
          <a:prstGeom prst="ellipse">
            <a:avLst/>
          </a:prstGeom>
          <a:solidFill>
            <a:srgbClr val="132A45"/>
          </a:solidFill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8750808" y="187452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689336" y="18288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750808" y="2267712"/>
            <a:ext cx="230428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Fully Connected Layer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750808" y="2578608"/>
            <a:ext cx="230428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Combines all features into a final decision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3291840"/>
            <a:ext cx="257860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685800" y="3429000"/>
            <a:ext cx="320040" cy="320040"/>
          </a:xfrm>
          <a:prstGeom prst="ellipse">
            <a:avLst/>
          </a:prstGeom>
          <a:solidFill>
            <a:srgbClr val="132A45"/>
          </a:solidFill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685800" y="342900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2624328" y="33832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🏛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3822192"/>
            <a:ext cx="230428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LeNet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4133088"/>
            <a:ext cx="230428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of the earliest CNNs — built for digit recognition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36976" y="3291840"/>
            <a:ext cx="257860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3374136" y="3429000"/>
            <a:ext cx="320040" cy="320040"/>
          </a:xfrm>
          <a:prstGeom prst="ellipse">
            <a:avLst/>
          </a:prstGeom>
          <a:solidFill>
            <a:srgbClr val="132A45"/>
          </a:solidFill>
        </p:spPr>
        <p:txBody>
          <a:bodyPr/>
          <a:p/>
        </p:txBody>
      </p:sp>
      <p:sp>
        <p:nvSpPr>
          <p:cNvPr id="38" name="Text 36"/>
          <p:cNvSpPr txBox="1"/>
          <p:nvPr/>
        </p:nvSpPr>
        <p:spPr>
          <a:xfrm>
            <a:off x="3374136" y="342900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312664" y="33832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🏗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3374136" y="3822192"/>
            <a:ext cx="230428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ResNet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3374136" y="4133088"/>
            <a:ext cx="230428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Very deep network using “skip connections”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925312" y="3291840"/>
            <a:ext cx="257860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6062472" y="3429000"/>
            <a:ext cx="320040" cy="320040"/>
          </a:xfrm>
          <a:prstGeom prst="ellipse">
            <a:avLst/>
          </a:prstGeom>
          <a:solidFill>
            <a:srgbClr val="132A45"/>
          </a:solidFill>
        </p:spPr>
        <p:txBody>
          <a:bodyPr/>
          <a:p/>
        </p:txBody>
      </p:sp>
      <p:sp>
        <p:nvSpPr>
          <p:cNvPr id="44" name="Text 42"/>
          <p:cNvSpPr txBox="1"/>
          <p:nvPr/>
        </p:nvSpPr>
        <p:spPr>
          <a:xfrm>
            <a:off x="6062472" y="342900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8001000" y="33832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📚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6062472" y="3822192"/>
            <a:ext cx="230428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VGGNet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6062472" y="4133088"/>
            <a:ext cx="230428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Deep, simple stacked-layer design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613648" y="3291840"/>
            <a:ext cx="257860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8750808" y="3429000"/>
            <a:ext cx="320040" cy="320040"/>
          </a:xfrm>
          <a:prstGeom prst="ellipse">
            <a:avLst/>
          </a:prstGeom>
          <a:solidFill>
            <a:srgbClr val="132A45"/>
          </a:solidFill>
        </p:spPr>
        <p:txBody>
          <a:bodyPr/>
          <a:p/>
        </p:txBody>
      </p:sp>
      <p:sp>
        <p:nvSpPr>
          <p:cNvPr id="50" name="Text 48"/>
          <p:cNvSpPr txBox="1"/>
          <p:nvPr/>
        </p:nvSpPr>
        <p:spPr>
          <a:xfrm>
            <a:off x="8750808" y="342900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10689336" y="33832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⚙</a:t>
            </a:r>
            <a:endParaRPr lang="en-US" sz="1600" dirty="0"/>
          </a:p>
        </p:txBody>
      </p:sp>
      <p:sp>
        <p:nvSpPr>
          <p:cNvPr id="52" name="Text 50"/>
          <p:cNvSpPr txBox="1"/>
          <p:nvPr/>
        </p:nvSpPr>
        <p:spPr>
          <a:xfrm>
            <a:off x="8750808" y="3822192"/>
            <a:ext cx="230428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EfficientNet</a:t>
            </a:r>
            <a:endParaRPr lang="en-US" sz="1150" dirty="0"/>
          </a:p>
        </p:txBody>
      </p:sp>
      <p:sp>
        <p:nvSpPr>
          <p:cNvPr id="53" name="Text 51"/>
          <p:cNvSpPr txBox="1"/>
          <p:nvPr/>
        </p:nvSpPr>
        <p:spPr>
          <a:xfrm>
            <a:off x="8750808" y="4133088"/>
            <a:ext cx="230428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Balances accuracy vs speed for edge devices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48640" y="4892040"/>
            <a:ext cx="10744200" cy="457200"/>
          </a:xfrm>
          <a:prstGeom prst="roundRect">
            <a:avLst>
              <a:gd name="adj" fmla="val 16000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55" name="Text 53"/>
          <p:cNvSpPr txBox="1"/>
          <p:nvPr/>
        </p:nvSpPr>
        <p:spPr>
          <a:xfrm>
            <a:off x="777240" y="4892040"/>
            <a:ext cx="10287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REMEMBER:  EDGES • SHRINK • ACTIVATE • COMBINE • DIGITS • DEPTH • STACK • BALANCE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32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RNN / LSTM — Architectures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Remembers order • Learns from sequences • The model discovers trends over time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0744200" cy="365760"/>
          </a:xfrm>
          <a:prstGeom prst="roundRect">
            <a:avLst>
              <a:gd name="adj" fmla="val 50000"/>
            </a:avLst>
          </a:prstGeom>
          <a:solidFill>
            <a:srgbClr val="E63946"/>
          </a:solidFill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0744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📉 ONCOLOGY DATA:  ctDNA Levels • Tumor Volume • Protein Markers  →  PROJECT NEXT READING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048256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85800" y="1874520"/>
            <a:ext cx="320040" cy="320040"/>
          </a:xfrm>
          <a:prstGeom prst="ellipse">
            <a:avLst/>
          </a:prstGeom>
          <a:solidFill>
            <a:srgbClr val="E63946"/>
          </a:solidFill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187452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240280"/>
            <a:ext cx="204825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2633472"/>
            <a:ext cx="18105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Vanilla RNN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3108960"/>
            <a:ext cx="18105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Passes memory forward, one step at a time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06624" y="1737360"/>
            <a:ext cx="2048256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FFB627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843784" y="1874520"/>
            <a:ext cx="320040" cy="320040"/>
          </a:xfrm>
          <a:prstGeom prst="ellipse">
            <a:avLst/>
          </a:prstGeom>
          <a:solidFill>
            <a:srgbClr val="E63946"/>
          </a:solidFill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2843784" y="187452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706624" y="2240280"/>
            <a:ext cx="204825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🧵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2825496" y="2633472"/>
            <a:ext cx="18105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LSTM (Long Short-Term Memory)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825496" y="3108960"/>
            <a:ext cx="18105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Remembers important signals over long sequences, forgets noise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64608" y="1737360"/>
            <a:ext cx="2048256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001768" y="1874520"/>
            <a:ext cx="320040" cy="320040"/>
          </a:xfrm>
          <a:prstGeom prst="ellipse">
            <a:avLst/>
          </a:prstGeom>
          <a:solidFill>
            <a:srgbClr val="E63946"/>
          </a:solidFill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5001768" y="187452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864608" y="2240280"/>
            <a:ext cx="204825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983480" y="2633472"/>
            <a:ext cx="18105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GRU (Gated Recurrent Unit)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983480" y="3108960"/>
            <a:ext cx="18105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lighter, faster version of LSTM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022592" y="1737360"/>
            <a:ext cx="2048256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159752" y="1874520"/>
            <a:ext cx="320040" cy="320040"/>
          </a:xfrm>
          <a:prstGeom prst="ellipse">
            <a:avLst/>
          </a:prstGeom>
          <a:solidFill>
            <a:srgbClr val="E63946"/>
          </a:solidFill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7159752" y="187452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2240280"/>
            <a:ext cx="204825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↔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141464" y="2633472"/>
            <a:ext cx="18105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Bidirectional RNN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141464" y="3108960"/>
            <a:ext cx="18105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Reads the sequence forwards AND backwards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180576" y="1737360"/>
            <a:ext cx="2048256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9317736" y="1874520"/>
            <a:ext cx="320040" cy="320040"/>
          </a:xfrm>
          <a:prstGeom prst="ellipse">
            <a:avLst/>
          </a:prstGeom>
          <a:solidFill>
            <a:srgbClr val="E63946"/>
          </a:solidFill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9317736" y="187452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180576" y="2240280"/>
            <a:ext cx="204825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9299448" y="2633472"/>
            <a:ext cx="18105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Transformer (Attention)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9299448" y="3108960"/>
            <a:ext cx="18105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Looks at all time-steps at once, not just step-by-step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48640" y="3794760"/>
            <a:ext cx="10744200" cy="457200"/>
          </a:xfrm>
          <a:prstGeom prst="roundRect">
            <a:avLst>
              <a:gd name="adj" fmla="val 16000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37" name="Text 35"/>
          <p:cNvSpPr txBox="1"/>
          <p:nvPr/>
        </p:nvSpPr>
        <p:spPr>
          <a:xfrm>
            <a:off x="777240" y="3794760"/>
            <a:ext cx="10287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🧠 REMEMBER:  MEMORY • LONG-TERM • LIGHT • BOTH DIRECTIONS • ATTENTION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32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ANN — Core Building Blocks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images, no sequences yet — the foundation every other DL architecture builds 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0744200" cy="365760"/>
          </a:xfrm>
          <a:prstGeom prst="roundRect">
            <a:avLst>
              <a:gd name="adj" fmla="val 50000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0744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🔵 STRUCTURED SIGNALS:  Labs • Vitals • Dosage  →  BASIC TOXICITY RISK SCORE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048256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85800" y="1874520"/>
            <a:ext cx="320040" cy="320040"/>
          </a:xfrm>
          <a:prstGeom prst="ellipse">
            <a:avLst/>
          </a:prstGeom>
          <a:solidFill>
            <a:srgbClr val="0F3D5C"/>
          </a:solidFill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187452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240280"/>
            <a:ext cx="204825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🔵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2633472"/>
            <a:ext cx="18105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Perceptron / Neuron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3072384"/>
            <a:ext cx="18105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Basic unit — weighs inputs and fires a signal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06624" y="1737360"/>
            <a:ext cx="2048256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843784" y="1874520"/>
            <a:ext cx="320040" cy="320040"/>
          </a:xfrm>
          <a:prstGeom prst="ellipse">
            <a:avLst/>
          </a:prstGeom>
          <a:solidFill>
            <a:srgbClr val="0F3D5C"/>
          </a:solidFill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2843784" y="187452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706624" y="2240280"/>
            <a:ext cx="204825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⚖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2825496" y="2633472"/>
            <a:ext cx="18105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Weights &amp; Bias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825496" y="3072384"/>
            <a:ext cx="18105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Numbers the network adjusts as it learns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64608" y="1737360"/>
            <a:ext cx="2048256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001768" y="1874520"/>
            <a:ext cx="320040" cy="320040"/>
          </a:xfrm>
          <a:prstGeom prst="ellipse">
            <a:avLst/>
          </a:prstGeom>
          <a:solidFill>
            <a:srgbClr val="0F3D5C"/>
          </a:solidFill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5001768" y="187452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864608" y="2240280"/>
            <a:ext cx="204825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🔥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983480" y="2633472"/>
            <a:ext cx="18105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Activation Function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983480" y="3072384"/>
            <a:ext cx="18105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Decides whether a neuron “fires” or stays silent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022592" y="1737360"/>
            <a:ext cx="2048256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159752" y="1874520"/>
            <a:ext cx="320040" cy="320040"/>
          </a:xfrm>
          <a:prstGeom prst="ellipse">
            <a:avLst/>
          </a:prstGeom>
          <a:solidFill>
            <a:srgbClr val="0F3D5C"/>
          </a:solidFill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7159752" y="187452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2240280"/>
            <a:ext cx="204825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141464" y="2633472"/>
            <a:ext cx="18105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Backpropagation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141464" y="3072384"/>
            <a:ext cx="18105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Sends the error backward to correct every weight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180576" y="1737360"/>
            <a:ext cx="2048256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9317736" y="1874520"/>
            <a:ext cx="320040" cy="320040"/>
          </a:xfrm>
          <a:prstGeom prst="ellipse">
            <a:avLst/>
          </a:prstGeom>
          <a:solidFill>
            <a:srgbClr val="0F3D5C"/>
          </a:solidFill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9317736" y="187452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180576" y="2240280"/>
            <a:ext cx="204825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9299448" y="2633472"/>
            <a:ext cx="18105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Gradient Descent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9299448" y="3072384"/>
            <a:ext cx="18105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Nudges weights step-by-step toward fewer errors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48640" y="3794760"/>
            <a:ext cx="10744200" cy="457200"/>
          </a:xfrm>
          <a:prstGeom prst="roundRect">
            <a:avLst>
              <a:gd name="adj" fmla="val 16000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37" name="Text 35"/>
          <p:cNvSpPr txBox="1"/>
          <p:nvPr/>
        </p:nvSpPr>
        <p:spPr>
          <a:xfrm>
            <a:off x="777240" y="3794760"/>
            <a:ext cx="10287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🎯 REMEMBER:  FIRE • ADJUST • DECIDE • CORRECT • IMPROVE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Does the CNN Decide?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pathology tile comes in. What should the network check first?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86400" cy="502920"/>
          </a:xfrm>
          <a:prstGeom prst="roundRect">
            <a:avLst>
              <a:gd name="adj" fmla="val 9091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1508760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Image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 processing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486400" cy="502920"/>
          </a:xfrm>
          <a:prstGeom prst="roundRect">
            <a:avLst>
              <a:gd name="adj" fmla="val 9091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2286000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Convolution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7889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 processing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5486400" cy="502920"/>
          </a:xfrm>
          <a:prstGeom prst="roundRect">
            <a:avLst>
              <a:gd name="adj" fmla="val 9091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2960" y="3063240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Pooling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56616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 processing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5486400" cy="502920"/>
          </a:xfrm>
          <a:prstGeom prst="roundRect">
            <a:avLst>
              <a:gd name="adj" fmla="val 9091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22960" y="3840480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Fully Connected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3434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 processing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5486400" cy="548640"/>
          </a:xfrm>
          <a:prstGeom prst="roundRect">
            <a:avLst>
              <a:gd name="adj" fmla="val 8333"/>
            </a:avLst>
          </a:prstGeom>
          <a:solidFill>
            <a:srgbClr val="E63946"/>
          </a:solidFill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548640" y="461772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🚨 MALIGNANT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0" y="1508760"/>
            <a:ext cx="5166360" cy="2011680"/>
          </a:xfrm>
          <a:prstGeom prst="roundRect">
            <a:avLst>
              <a:gd name="adj" fmla="val 3636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6629400" y="1508760"/>
            <a:ext cx="470916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just walked through a CNN.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CNN makes a decision by scanning the image in layers — edges, then textures, then shapes — until it reaches an answer.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11018520" cy="594360"/>
          </a:xfrm>
          <a:prstGeom prst="roundRect">
            <a:avLst>
              <a:gd name="adj" fmla="val 12308"/>
            </a:avLst>
          </a:prstGeom>
          <a:solidFill>
            <a:srgbClr val="FFB627"/>
          </a:solidFill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77240" y="5074920"/>
            <a:ext cx="105613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this project, we use a CNN (for images) + an LSTM/Transformer (for sequences) — because they see what numbers alone can't.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2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Can We Train a Model on Raw, Unlabeled Slides?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463040" cy="365760"/>
          </a:xfrm>
          <a:prstGeom prst="rect">
            <a:avLst/>
          </a:prstGeom>
          <a:solidFill>
            <a:srgbClr val="132A45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Tile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11680" y="1600200"/>
            <a:ext cx="1097280" cy="365760"/>
          </a:xfrm>
          <a:prstGeom prst="rect">
            <a:avLst/>
          </a:prstGeom>
          <a:solidFill>
            <a:srgbClr val="132A45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2011680" y="160020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Stain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08960" y="1600200"/>
            <a:ext cx="1005840" cy="365760"/>
          </a:xfrm>
          <a:prstGeom prst="rect">
            <a:avLst/>
          </a:prstGeom>
          <a:solidFill>
            <a:srgbClr val="132A45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3108960" y="160020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0" y="1600200"/>
            <a:ext cx="1737360" cy="365760"/>
          </a:xfrm>
          <a:prstGeom prst="rect">
            <a:avLst/>
          </a:prstGeom>
          <a:solidFill>
            <a:srgbClr val="132A45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114800" y="160020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Label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1965960"/>
            <a:ext cx="1463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48640" y="196596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Tile_014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011680" y="1965960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2011680" y="196596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Faded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08960" y="1965960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3108960" y="196596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3.8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0" y="1965960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4114800" y="196596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2331720"/>
            <a:ext cx="1463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548640" y="233172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Tile_014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011680" y="2331720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2011680" y="233172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Faded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08960" y="2331720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3108960" y="233172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3.8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0" y="2331720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4114800" y="23317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 Duplicate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2697480"/>
            <a:ext cx="1463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548640" y="269748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Tile_027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011680" y="2697480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2011680" y="269748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108960" y="2697480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3108960" y="269748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2.1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14800" y="2697480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 txBox="1"/>
          <p:nvPr/>
        </p:nvSpPr>
        <p:spPr>
          <a:xfrm>
            <a:off x="4114800" y="269748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corrupted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09360" y="160020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37" name="Text 35"/>
          <p:cNvSpPr txBox="1"/>
          <p:nvPr/>
        </p:nvSpPr>
        <p:spPr>
          <a:xfrm>
            <a:off x="6537960" y="1600200"/>
            <a:ext cx="48006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we directly train a Deep Learning model using raw, unlabeled slides?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309360" y="2971800"/>
            <a:ext cx="5257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39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NO.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548640" y="3840480"/>
            <a:ext cx="10972800" cy="594360"/>
          </a:xfrm>
          <a:prstGeom prst="roundRect">
            <a:avLst>
              <a:gd name="adj" fmla="val 12308"/>
            </a:avLst>
          </a:prstGeom>
          <a:solidFill>
            <a:srgbClr val="FFB627"/>
          </a:solidFill>
        </p:spPr>
        <p:txBody>
          <a:bodyPr/>
          <a:p/>
        </p:txBody>
      </p:sp>
      <p:sp>
        <p:nvSpPr>
          <p:cNvPr id="40" name="Text 38"/>
          <p:cNvSpPr txBox="1"/>
          <p:nvPr/>
        </p:nvSpPr>
        <p:spPr>
          <a:xfrm>
            <a:off x="777240" y="384048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DL system needs someone to label and clean the slides first.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MEET THE ROLE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594360" cy="594360"/>
          </a:xfrm>
          <a:prstGeom prst="ellipse">
            <a:avLst/>
          </a:prstGeom>
          <a:solidFill>
            <a:srgbClr val="132A45"/>
          </a:solidFill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411480" y="850392"/>
            <a:ext cx="868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🏷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914400"/>
            <a:ext cx="5486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2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ENGINEER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852160" cy="594360"/>
          </a:xfrm>
          <a:prstGeom prst="roundRect">
            <a:avLst>
              <a:gd name="adj" fmla="val 7692"/>
            </a:avLst>
          </a:prstGeom>
          <a:solidFill>
            <a:srgbClr val="FDEDEC"/>
          </a:solidFill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1691640"/>
            <a:ext cx="53949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Problem:  Raw slides and scans are unlabeled and come from multiple sources.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5852160" cy="457200"/>
          </a:xfrm>
          <a:prstGeom prst="roundRect">
            <a:avLst>
              <a:gd name="adj" fmla="val 10000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548640" y="2514600"/>
            <a:ext cx="5852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Multiple raw sources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81528"/>
            <a:ext cx="5852160" cy="457200"/>
          </a:xfrm>
          <a:prstGeom prst="roundRect">
            <a:avLst>
              <a:gd name="adj" fmla="val 10000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548640" y="3081528"/>
            <a:ext cx="5852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Label malignant / benign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48456"/>
            <a:ext cx="5852160" cy="457200"/>
          </a:xfrm>
          <a:prstGeom prst="roundRect">
            <a:avLst>
              <a:gd name="adj" fmla="val 10000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48640" y="3648456"/>
            <a:ext cx="5852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Augment for stain &amp; scanner variation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15384"/>
            <a:ext cx="5852160" cy="457200"/>
          </a:xfrm>
          <a:prstGeom prst="roundRect">
            <a:avLst>
              <a:gd name="adj" fmla="val 10000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548640" y="4215384"/>
            <a:ext cx="5852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 sources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782312"/>
            <a:ext cx="5852160" cy="502920"/>
          </a:xfrm>
          <a:prstGeom prst="roundRect">
            <a:avLst>
              <a:gd name="adj" fmla="val 9091"/>
            </a:avLst>
          </a:prstGeom>
          <a:solidFill>
            <a:srgbClr val="FFB627"/>
          </a:solidFill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548640" y="4782312"/>
            <a:ext cx="5852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CLEAN LABELED DATASET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75120" y="169164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6903720" y="1691640"/>
            <a:ext cx="4480560" cy="3566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Data Engineer prepares labeled, usable slides for the next stage.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downstream role — EDA, DL training, evaluation — depends on this dataset being clean.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2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Is the Model Looking at the Right Thing?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1206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77240" y="1691640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SAYS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29384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🚨 MALIGNANT (91%)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58568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WHAT'S ACTUALLY THERE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96312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Normal inflammation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825496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ATYPICAL CELLS?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06324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38328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Does this look normal? Or could this be a false alarm on inflammation?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548640" cy="548640"/>
          </a:xfrm>
          <a:prstGeom prst="ellipse">
            <a:avLst/>
          </a:prstGeom>
          <a:solidFill>
            <a:srgbClr val="132A45"/>
          </a:solidFill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989320" y="1536192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🔍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16002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EDA ENGINEER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194560"/>
            <a:ext cx="55321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EDA Engineer inspects saliency maps to check if the model focuses on real cellular atypia — not inflammation or slide artifacts.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0" y="3200400"/>
            <a:ext cx="1298448" cy="685800"/>
          </a:xfrm>
          <a:prstGeom prst="roundRect">
            <a:avLst>
              <a:gd name="adj" fmla="val 6667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126480" y="3200400"/>
            <a:ext cx="1298448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Labeled</a:t>
            </a:r>
            <a:endParaRPr lang="en-US" sz="8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498080" y="3200400"/>
            <a:ext cx="1298448" cy="685800"/>
          </a:xfrm>
          <a:prstGeom prst="roundRect">
            <a:avLst>
              <a:gd name="adj" fmla="val 6667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7498080" y="3200400"/>
            <a:ext cx="1298448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Inspect</a:t>
            </a:r>
            <a:endParaRPr lang="en-US" sz="8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Saliency Maps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869680" y="3200400"/>
            <a:ext cx="1298448" cy="685800"/>
          </a:xfrm>
          <a:prstGeom prst="roundRect">
            <a:avLst>
              <a:gd name="adj" fmla="val 6667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8869680" y="3200400"/>
            <a:ext cx="1298448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</a:t>
            </a:r>
            <a:endParaRPr lang="en-US" sz="8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Blind Spots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0241280" y="3200400"/>
            <a:ext cx="1298448" cy="685800"/>
          </a:xfrm>
          <a:prstGeom prst="roundRect">
            <a:avLst>
              <a:gd name="adj" fmla="val 6667"/>
            </a:avLst>
          </a:prstGeom>
          <a:solidFill>
            <a:srgbClr val="FFB627"/>
          </a:solidFill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10241280" y="3200400"/>
            <a:ext cx="1298448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Verified</a:t>
            </a:r>
            <a:endParaRPr lang="en-US" sz="8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 Signal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0" cy="548640"/>
          </a:xfrm>
          <a:prstGeom prst="roundRect">
            <a:avLst>
              <a:gd name="adj" fmla="val 13333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77240" y="4572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Now our slides are labeled and verified. What should we do next?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94360" cy="594360"/>
          </a:xfrm>
          <a:prstGeom prst="ellipse">
            <a:avLst/>
          </a:prstGeom>
          <a:solidFill>
            <a:srgbClr val="132A45"/>
          </a:solidFill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411480" y="1261872"/>
            <a:ext cx="868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🧠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325880"/>
            <a:ext cx="5486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2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DL ENGINEER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24688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92608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Pathology Tile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ctDNA Sequence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063240" y="30175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794760" y="2103120"/>
            <a:ext cx="3017520" cy="2377440"/>
          </a:xfrm>
          <a:prstGeom prst="roundRect">
            <a:avLst>
              <a:gd name="adj" fmla="val 2308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3794760" y="265176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6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CNN + LSTM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B6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MODEL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342900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Trains on labeled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images &amp; sequences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30175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7863840" y="2103120"/>
            <a:ext cx="3703320" cy="502920"/>
          </a:xfrm>
          <a:prstGeom prst="roundRect">
            <a:avLst>
              <a:gd name="adj" fmla="val 50909"/>
            </a:avLst>
          </a:prstGeom>
          <a:solidFill>
            <a:srgbClr val="2A9D8F"/>
          </a:solidFill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7863840" y="2103120"/>
            <a:ext cx="3703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Benign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63840" y="2697480"/>
            <a:ext cx="3703320" cy="502920"/>
          </a:xfrm>
          <a:prstGeom prst="roundRect">
            <a:avLst>
              <a:gd name="adj" fmla="val 50909"/>
            </a:avLst>
          </a:prstGeom>
          <a:solidFill>
            <a:srgbClr val="B8860B"/>
          </a:solidFill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863840" y="2697480"/>
            <a:ext cx="3703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Atypical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863840" y="3291840"/>
            <a:ext cx="3703320" cy="502920"/>
          </a:xfrm>
          <a:prstGeom prst="roundRect">
            <a:avLst>
              <a:gd name="adj" fmla="val 50909"/>
            </a:avLst>
          </a:prstGeom>
          <a:solidFill>
            <a:srgbClr val="E63946"/>
          </a:solidFill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7863840" y="3291840"/>
            <a:ext cx="3703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Malignant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863840" y="3886200"/>
            <a:ext cx="3703320" cy="502920"/>
          </a:xfrm>
          <a:prstGeom prst="roundRect">
            <a:avLst>
              <a:gd name="adj" fmla="val 50909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863840" y="3886200"/>
            <a:ext cx="3703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Biomarker trend, next reading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709160"/>
            <a:ext cx="11018520" cy="685800"/>
          </a:xfrm>
          <a:prstGeom prst="roundRect">
            <a:avLst>
              <a:gd name="adj" fmla="val 10667"/>
            </a:avLst>
          </a:prstGeom>
          <a:solidFill>
            <a:srgbClr val="FFB627"/>
          </a:solidFill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777240" y="4709160"/>
            <a:ext cx="105613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DL Engineer trains the CNN + LSTM/Transformer on labeled slides and biomarker sequences so it can classify new tiles and forecast tumor trajectory.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WE TRUST IT?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32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model says it is 100% correct on the training slides.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32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Should we trust it immediately?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39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212080" cy="914400"/>
          </a:xfrm>
          <a:prstGeom prst="roundRect">
            <a:avLst>
              <a:gd name="adj" fmla="val 6000"/>
            </a:avLst>
          </a:prstGeom>
          <a:solidFill>
            <a:srgbClr val="2A9D8F"/>
          </a:solidFill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TILES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0604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has already seen it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89320" y="2194560"/>
            <a:ext cx="5212080" cy="914400"/>
          </a:xfrm>
          <a:prstGeom prst="roundRect">
            <a:avLst>
              <a:gd name="adj" fmla="val 6000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5989320" y="2286000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UNSEEN TEST TILES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89320" y="260604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has never seen it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502920" cy="502920"/>
          </a:xfrm>
          <a:prstGeom prst="ellipse">
            <a:avLst/>
          </a:prstGeom>
          <a:solidFill>
            <a:srgbClr val="132A45"/>
          </a:solidFill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11480" y="3319272"/>
            <a:ext cx="777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38328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EVALUATION ENGINEER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840480"/>
            <a:ext cx="10652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Tests the model on unseen slides to check whether it really learned the malignancy pattern — or only memorized the training images.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48056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Actual Label  vs  Predicted Label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52120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77240" y="502920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3492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many predictions are correct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89320" y="4892040"/>
            <a:ext cx="5212080" cy="914400"/>
          </a:xfrm>
          <a:prstGeom prst="roundRect">
            <a:avLst>
              <a:gd name="adj" fmla="val 6000"/>
            </a:avLst>
          </a:prstGeom>
          <a:solidFill>
            <a:srgbClr val="FDEDEC"/>
          </a:solidFill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217920" y="502920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Confusion (Overconfidence)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53492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Mistaking inflammation for malignancy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32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Can an oncologist open a Jupyter notebook and read raw CNN output during tumor board?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39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8640" cy="548640"/>
          </a:xfrm>
          <a:prstGeom prst="ellipse">
            <a:avLst/>
          </a:prstGeom>
          <a:solidFill>
            <a:srgbClr val="132A45"/>
          </a:solidFill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411480" y="2039112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🔌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10312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INTEGRATION ENGINEER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394960" cy="502920"/>
          </a:xfrm>
          <a:prstGeom prst="roundRect">
            <a:avLst>
              <a:gd name="adj" fmla="val 9091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77240" y="2743200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Pathology Tile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743200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🚨 Malignant, 92% confidence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227832"/>
            <a:ext cx="5394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5394960" cy="502920"/>
          </a:xfrm>
          <a:prstGeom prst="roundRect">
            <a:avLst>
              <a:gd name="adj" fmla="val 9091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777240" y="3337560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Trained CNN + LSTM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337560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Confidence: 92%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822192"/>
            <a:ext cx="5394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5394960" cy="502920"/>
          </a:xfrm>
          <a:prstGeom prst="roundRect">
            <a:avLst>
              <a:gd name="adj" fmla="val 9091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77240" y="3931920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2743200"/>
            <a:ext cx="5394960" cy="2011680"/>
          </a:xfrm>
          <a:prstGeom prst="roundRect">
            <a:avLst>
              <a:gd name="adj" fmla="val 2727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6492240" y="292608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Recommended Action: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291840"/>
            <a:ext cx="493776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Flag case for oncologist review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Recommend biopsy confirmation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983480"/>
            <a:ext cx="11064240" cy="548640"/>
          </a:xfrm>
          <a:prstGeom prst="roundRect">
            <a:avLst>
              <a:gd name="adj" fmla="val 50000"/>
            </a:avLst>
          </a:prstGeom>
          <a:solidFill>
            <a:srgbClr val="FFB627"/>
          </a:solidFill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548640" y="498348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DASHBOARD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Integration Engineer connects the trained model to a usable application or dashboard.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FULL JOURNEY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From Raw Slides to AI System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383280" cy="685800"/>
          </a:xfrm>
          <a:prstGeom prst="roundRect">
            <a:avLst>
              <a:gd name="adj" fmla="val 8000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33832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CLINICAL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463040"/>
            <a:ext cx="2743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06240" y="1463040"/>
            <a:ext cx="3383280" cy="685800"/>
          </a:xfrm>
          <a:prstGeom prst="roundRect">
            <a:avLst>
              <a:gd name="adj" fmla="val 8000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206240" y="1463040"/>
            <a:ext cx="33832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PIXELS &amp;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SEQUENCES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1463040"/>
            <a:ext cx="2743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863840" y="1463040"/>
            <a:ext cx="3383280" cy="685800"/>
          </a:xfrm>
          <a:prstGeom prst="roundRect">
            <a:avLst>
              <a:gd name="adj" fmla="val 8000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863840" y="1463040"/>
            <a:ext cx="33832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14600"/>
            <a:ext cx="2048256" cy="777240"/>
          </a:xfrm>
          <a:prstGeom prst="roundRect">
            <a:avLst>
              <a:gd name="adj" fmla="val 7059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48640" y="2514600"/>
            <a:ext cx="204825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06624" y="2514600"/>
            <a:ext cx="2048256" cy="777240"/>
          </a:xfrm>
          <a:prstGeom prst="roundRect">
            <a:avLst>
              <a:gd name="adj" fmla="val 7059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2706624" y="2514600"/>
            <a:ext cx="204825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64608" y="2514600"/>
            <a:ext cx="2048256" cy="777240"/>
          </a:xfrm>
          <a:prstGeom prst="roundRect">
            <a:avLst>
              <a:gd name="adj" fmla="val 7059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4864608" y="2514600"/>
            <a:ext cx="204825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DL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022592" y="2514600"/>
            <a:ext cx="2048256" cy="777240"/>
          </a:xfrm>
          <a:prstGeom prst="roundRect">
            <a:avLst>
              <a:gd name="adj" fmla="val 7059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7022592" y="2514600"/>
            <a:ext cx="204825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80576" y="2514600"/>
            <a:ext cx="2048256" cy="777240"/>
          </a:xfrm>
          <a:prstGeom prst="roundRect">
            <a:avLst>
              <a:gd name="adj" fmla="val 7059"/>
            </a:avLst>
          </a:prstGeom>
          <a:solidFill>
            <a:srgbClr val="FFB627"/>
          </a:solidFill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9180576" y="2514600"/>
            <a:ext cx="204825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INTEGRATION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383280"/>
            <a:ext cx="2048256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information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we need?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2706624" y="3383280"/>
            <a:ext cx="2048256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But are the raw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slides labeled?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864608" y="3383280"/>
            <a:ext cx="2048256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Does the model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focus on atypia?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7022592" y="3383280"/>
            <a:ext cx="2048256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we trust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model?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9180576" y="3383280"/>
            <a:ext cx="2048256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oncologists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it?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7091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E63946"/>
          </a:solidFill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548640" y="470916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🔬 LIVE ONCOLOGY COMMAND DASHBOARD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CASE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You Are the CNN.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the predicted label?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577840" cy="548640"/>
          </a:xfrm>
          <a:prstGeom prst="roundRect">
            <a:avLst>
              <a:gd name="adj" fmla="val 8333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77240" y="192024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Stain Quality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192024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Faded, heavy artifact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578608"/>
            <a:ext cx="5577840" cy="548640"/>
          </a:xfrm>
          <a:prstGeom prst="roundRect">
            <a:avLst>
              <a:gd name="adj" fmla="val 8333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77240" y="2578608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Cell Density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2578608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Dense, overlapping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5577840" cy="548640"/>
          </a:xfrm>
          <a:prstGeom prst="roundRect">
            <a:avLst>
              <a:gd name="adj" fmla="val 8333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77240" y="3236976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ctDNA Trend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3236976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Sharp rise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92240" y="1920240"/>
            <a:ext cx="1600200" cy="2286000"/>
          </a:xfrm>
          <a:prstGeom prst="roundRect">
            <a:avLst>
              <a:gd name="adj" fmla="val 3429"/>
            </a:avLst>
          </a:prstGeom>
          <a:solidFill>
            <a:srgbClr val="2A9D8F"/>
          </a:solidFill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537960" y="1920240"/>
            <a:ext cx="150876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🟢 BENIGN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75320" y="1920240"/>
            <a:ext cx="1600200" cy="2286000"/>
          </a:xfrm>
          <a:prstGeom prst="roundRect">
            <a:avLst>
              <a:gd name="adj" fmla="val 3429"/>
            </a:avLst>
          </a:prstGeom>
          <a:solidFill>
            <a:srgbClr val="B8860B"/>
          </a:solidFill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321040" y="1920240"/>
            <a:ext cx="150876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🟡 ATYPICAL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058400" y="1920240"/>
            <a:ext cx="1600200" cy="2286000"/>
          </a:xfrm>
          <a:prstGeom prst="roundRect">
            <a:avLst>
              <a:gd name="adj" fmla="val 3429"/>
            </a:avLst>
          </a:prstGeom>
          <a:solidFill>
            <a:srgbClr val="E63946"/>
          </a:solidFill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10104120" y="1920240"/>
            <a:ext cx="150876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🔴 MALIGNANT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77240" y="4617720"/>
            <a:ext cx="10607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Let's see if our trained model agrees with you.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32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You Did Manually → What Python Does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566928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77240" y="1280160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spotted atypia by eye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577840" y="1280160"/>
            <a:ext cx="548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1280160"/>
            <a:ext cx="52120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CNN scans pixels for malignancy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847088"/>
            <a:ext cx="11064240" cy="566928"/>
          </a:xfrm>
          <a:prstGeom prst="rect">
            <a:avLst/>
          </a:prstGeom>
          <a:solidFill>
            <a:srgbClr val="E3E9F2"/>
          </a:solidFill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77240" y="1847088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noticed the trend rising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577840" y="1847088"/>
            <a:ext cx="548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847088"/>
            <a:ext cx="52120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LSTM/Transformer projects the next reading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414016"/>
            <a:ext cx="11064240" cy="566928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77240" y="2414016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labeled benign vs malignant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2414016"/>
            <a:ext cx="548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414016"/>
            <a:ext cx="52120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Engineer's labels train the network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980944"/>
            <a:ext cx="11064240" cy="566928"/>
          </a:xfrm>
          <a:prstGeom prst="rect">
            <a:avLst/>
          </a:prstGeom>
          <a:solidFill>
            <a:srgbClr val="E3E9F2"/>
          </a:solidFill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777240" y="2980944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checked your confidence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577840" y="2980944"/>
            <a:ext cx="548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2980944"/>
            <a:ext cx="52120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 tests the confusion matrix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547872"/>
            <a:ext cx="11064240" cy="566928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777240" y="3547872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decided the action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577840" y="3547872"/>
            <a:ext cx="548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3547872"/>
            <a:ext cx="52120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Integration sends the result to the dashboard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34340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777240" y="434340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First, you understood the process manually.</a:t>
            </a:r>
            <a:endParaRPr lang="en-US" sz="1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Now, the computer automates the same process.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10515600" cy="5394960"/>
          </a:xfrm>
          <a:prstGeom prst="roundRect">
            <a:avLst>
              <a:gd name="adj" fmla="val 1356"/>
            </a:avLst>
          </a:prstGeom>
          <a:solidFill>
            <a:srgbClr val="132A45"/>
          </a:solidFill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1188720" y="914400"/>
            <a:ext cx="9784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FFB6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“Today, You Didn't Just Learn Deep Learning.”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188720" y="1691640"/>
            <a:ext cx="274320" cy="274320"/>
          </a:xfrm>
          <a:prstGeom prst="ellipse">
            <a:avLst/>
          </a:prstGeom>
          <a:solidFill>
            <a:srgbClr val="FFB627"/>
          </a:solidFill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188720" y="16916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45920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were the pathology / vision officer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88720" y="2130552"/>
            <a:ext cx="274320" cy="274320"/>
          </a:xfrm>
          <a:prstGeom prst="ellipse">
            <a:avLst/>
          </a:prstGeom>
          <a:solidFill>
            <a:srgbClr val="FFB627"/>
          </a:solidFill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1188720" y="213055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084832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spotted the difference between inflammation and real malignancy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188720" y="2569464"/>
            <a:ext cx="274320" cy="274320"/>
          </a:xfrm>
          <a:prstGeom prst="ellipse">
            <a:avLst/>
          </a:prstGeom>
          <a:solidFill>
            <a:srgbClr val="FFB627"/>
          </a:solidFill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1188720" y="256946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2523744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learned from thousands of past tiles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188720" y="3008376"/>
            <a:ext cx="274320" cy="274320"/>
          </a:xfrm>
          <a:prstGeom prst="ellipse">
            <a:avLst/>
          </a:prstGeom>
          <a:solidFill>
            <a:srgbClr val="FFB627"/>
          </a:solidFill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1188720" y="300837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2962656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walked through a CNN's layers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188720" y="3447288"/>
            <a:ext cx="274320" cy="274320"/>
          </a:xfrm>
          <a:prstGeom prst="ellipse">
            <a:avLst/>
          </a:prstGeom>
          <a:solidFill>
            <a:srgbClr val="FFB627"/>
          </a:solidFill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1188720" y="344728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401568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discovered why slides must be labeled first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188720" y="3886200"/>
            <a:ext cx="274320" cy="274320"/>
          </a:xfrm>
          <a:prstGeom prst="ellipse">
            <a:avLst/>
          </a:prstGeom>
          <a:solidFill>
            <a:srgbClr val="FFB627"/>
          </a:solidFill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1188720" y="38862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3840480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tested whether the model can be trusted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188720" y="4325112"/>
            <a:ext cx="274320" cy="274320"/>
          </a:xfrm>
          <a:prstGeom prst="ellipse">
            <a:avLst/>
          </a:prstGeom>
          <a:solidFill>
            <a:srgbClr val="FFB627"/>
          </a:solidFill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1188720" y="432511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600200" y="4279392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saw how vision becomes a real clinical dashboard alert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188720" y="4946904"/>
            <a:ext cx="9784080" cy="868680"/>
          </a:xfrm>
          <a:prstGeom prst="roundRect">
            <a:avLst>
              <a:gd name="adj" fmla="val 8421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1417320" y="4946904"/>
            <a:ext cx="93268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Learning is not just writing model.fit() on images.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is teaching a network to see — layer by layer — what numbers alone could never capture.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10799</Words>
  <Application>WPS Presentation</Application>
  <PresentationFormat>On-screen Show (16:9)</PresentationFormat>
  <Paragraphs>902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- Precision Oncology Treatment Optimization</dc:title>
  <dc:creator>PptxGenJS</dc:creator>
  <dc:subject>Day 3 Deep Learning Lecture</dc:subject>
  <cp:lastModifiedBy>Nivatha selvan</cp:lastModifiedBy>
  <cp:revision>2</cp:revision>
  <dcterms:created xsi:type="dcterms:W3CDTF">2026-08-27T09:33:00Z</dcterms:created>
  <dcterms:modified xsi:type="dcterms:W3CDTF">2026-08-28T10:21:46Z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6A3F1C4D09EC42B1AEA1E05A94ADEE7E_12</vt:lpwstr>
  </property>
  <property fmtid="{D5CDD505-2E9C-101B-9397-08002B2CF9AE}" pid="3" name="KSOProductBuildVer">
    <vt:lpwstr>1033-12.1.0.28032</vt:lpwstr>
  </property>
</Properties>
</file>